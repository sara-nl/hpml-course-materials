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79"/>
  </p:notesMasterIdLst>
  <p:sldIdLst>
    <p:sldId id="327" r:id="rId2"/>
    <p:sldId id="432" r:id="rId3"/>
    <p:sldId id="2076136829" r:id="rId4"/>
    <p:sldId id="434" r:id="rId5"/>
    <p:sldId id="437" r:id="rId6"/>
    <p:sldId id="331" r:id="rId7"/>
    <p:sldId id="2076136794" r:id="rId8"/>
    <p:sldId id="436" r:id="rId9"/>
    <p:sldId id="278" r:id="rId10"/>
    <p:sldId id="289" r:id="rId11"/>
    <p:sldId id="298" r:id="rId12"/>
    <p:sldId id="314" r:id="rId13"/>
    <p:sldId id="313" r:id="rId14"/>
    <p:sldId id="312" r:id="rId15"/>
    <p:sldId id="311" r:id="rId16"/>
    <p:sldId id="310" r:id="rId17"/>
    <p:sldId id="525" r:id="rId18"/>
    <p:sldId id="320" r:id="rId19"/>
    <p:sldId id="308" r:id="rId20"/>
    <p:sldId id="322" r:id="rId21"/>
    <p:sldId id="323" r:id="rId22"/>
    <p:sldId id="324" r:id="rId23"/>
    <p:sldId id="325" r:id="rId24"/>
    <p:sldId id="326" r:id="rId25"/>
    <p:sldId id="532" r:id="rId26"/>
    <p:sldId id="2076136831" r:id="rId27"/>
    <p:sldId id="2076136836" r:id="rId28"/>
    <p:sldId id="303" r:id="rId29"/>
    <p:sldId id="302" r:id="rId30"/>
    <p:sldId id="301" r:id="rId31"/>
    <p:sldId id="300" r:id="rId32"/>
    <p:sldId id="299" r:id="rId33"/>
    <p:sldId id="321" r:id="rId34"/>
    <p:sldId id="531" r:id="rId35"/>
    <p:sldId id="536" r:id="rId36"/>
    <p:sldId id="538" r:id="rId37"/>
    <p:sldId id="537" r:id="rId38"/>
    <p:sldId id="2076136800" r:id="rId39"/>
    <p:sldId id="288" r:id="rId40"/>
    <p:sldId id="287" r:id="rId41"/>
    <p:sldId id="2076136832" r:id="rId42"/>
    <p:sldId id="2076136833" r:id="rId43"/>
    <p:sldId id="285" r:id="rId44"/>
    <p:sldId id="2076136834" r:id="rId45"/>
    <p:sldId id="286" r:id="rId46"/>
    <p:sldId id="2076136835" r:id="rId47"/>
    <p:sldId id="317" r:id="rId48"/>
    <p:sldId id="284" r:id="rId49"/>
    <p:sldId id="2076136827" r:id="rId50"/>
    <p:sldId id="2076136828" r:id="rId51"/>
    <p:sldId id="295" r:id="rId52"/>
    <p:sldId id="534" r:id="rId53"/>
    <p:sldId id="529" r:id="rId54"/>
    <p:sldId id="526" r:id="rId55"/>
    <p:sldId id="530" r:id="rId56"/>
    <p:sldId id="291" r:id="rId57"/>
    <p:sldId id="282" r:id="rId58"/>
    <p:sldId id="292" r:id="rId59"/>
    <p:sldId id="533" r:id="rId60"/>
    <p:sldId id="293" r:id="rId61"/>
    <p:sldId id="294" r:id="rId62"/>
    <p:sldId id="2076136822" r:id="rId63"/>
    <p:sldId id="2076136824" r:id="rId64"/>
    <p:sldId id="435" r:id="rId65"/>
    <p:sldId id="431" r:id="rId66"/>
    <p:sldId id="2076136826" r:id="rId67"/>
    <p:sldId id="2076136802" r:id="rId68"/>
    <p:sldId id="2076136796" r:id="rId69"/>
    <p:sldId id="2076136797" r:id="rId70"/>
    <p:sldId id="423" r:id="rId71"/>
    <p:sldId id="422" r:id="rId72"/>
    <p:sldId id="425" r:id="rId73"/>
    <p:sldId id="426" r:id="rId74"/>
    <p:sldId id="427" r:id="rId75"/>
    <p:sldId id="429" r:id="rId76"/>
    <p:sldId id="430" r:id="rId77"/>
    <p:sldId id="2076136798" r:id="rId78"/>
  </p:sldIdLst>
  <p:sldSz cx="12192000" cy="6858000"/>
  <p:notesSz cx="6858000" cy="9144000"/>
  <p:custDataLst>
    <p:tags r:id="rId8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6E202A-49AF-485F-B6F0-4593203464F0}">
          <p14:sldIdLst>
            <p14:sldId id="327"/>
            <p14:sldId id="432"/>
            <p14:sldId id="2076136829"/>
            <p14:sldId id="434"/>
            <p14:sldId id="437"/>
            <p14:sldId id="331"/>
            <p14:sldId id="2076136794"/>
            <p14:sldId id="436"/>
            <p14:sldId id="278"/>
            <p14:sldId id="289"/>
            <p14:sldId id="298"/>
            <p14:sldId id="314"/>
            <p14:sldId id="313"/>
            <p14:sldId id="312"/>
            <p14:sldId id="311"/>
            <p14:sldId id="310"/>
            <p14:sldId id="525"/>
            <p14:sldId id="320"/>
            <p14:sldId id="308"/>
            <p14:sldId id="322"/>
            <p14:sldId id="323"/>
            <p14:sldId id="324"/>
            <p14:sldId id="325"/>
            <p14:sldId id="326"/>
            <p14:sldId id="532"/>
            <p14:sldId id="2076136831"/>
            <p14:sldId id="2076136836"/>
            <p14:sldId id="303"/>
            <p14:sldId id="302"/>
            <p14:sldId id="301"/>
            <p14:sldId id="300"/>
            <p14:sldId id="299"/>
            <p14:sldId id="321"/>
            <p14:sldId id="531"/>
            <p14:sldId id="536"/>
            <p14:sldId id="538"/>
            <p14:sldId id="537"/>
            <p14:sldId id="2076136800"/>
            <p14:sldId id="288"/>
            <p14:sldId id="287"/>
            <p14:sldId id="2076136832"/>
            <p14:sldId id="2076136833"/>
            <p14:sldId id="285"/>
            <p14:sldId id="2076136834"/>
            <p14:sldId id="286"/>
            <p14:sldId id="2076136835"/>
            <p14:sldId id="317"/>
            <p14:sldId id="284"/>
            <p14:sldId id="2076136827"/>
            <p14:sldId id="2076136828"/>
            <p14:sldId id="295"/>
            <p14:sldId id="534"/>
            <p14:sldId id="529"/>
            <p14:sldId id="526"/>
            <p14:sldId id="530"/>
            <p14:sldId id="291"/>
            <p14:sldId id="282"/>
            <p14:sldId id="292"/>
            <p14:sldId id="533"/>
            <p14:sldId id="293"/>
            <p14:sldId id="294"/>
            <p14:sldId id="2076136822"/>
            <p14:sldId id="2076136824"/>
            <p14:sldId id="435"/>
            <p14:sldId id="431"/>
            <p14:sldId id="2076136826"/>
            <p14:sldId id="2076136802"/>
            <p14:sldId id="2076136796"/>
            <p14:sldId id="2076136797"/>
            <p14:sldId id="423"/>
            <p14:sldId id="422"/>
            <p14:sldId id="425"/>
            <p14:sldId id="426"/>
            <p14:sldId id="427"/>
            <p14:sldId id="429"/>
            <p14:sldId id="430"/>
            <p14:sldId id="20761367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380" userDrawn="1">
          <p15:clr>
            <a:srgbClr val="A4A3A4"/>
          </p15:clr>
        </p15:guide>
        <p15:guide id="4" orient="horz" pos="240" userDrawn="1">
          <p15:clr>
            <a:srgbClr val="A4A3A4"/>
          </p15:clr>
        </p15:guide>
        <p15:guide id="5" orient="horz" pos="40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472A"/>
    <a:srgbClr val="FFFFFF"/>
    <a:srgbClr val="F3F3F3"/>
    <a:srgbClr val="211F26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837FCA-BA3B-47B5-9E21-332D52DE920C}" v="8" dt="2025-11-14T12:46:02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42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198" y="162"/>
      </p:cViewPr>
      <p:guideLst>
        <p:guide orient="horz" pos="2160"/>
        <p:guide pos="257"/>
        <p:guide pos="7380"/>
        <p:guide orient="horz" pos="240"/>
        <p:guide orient="horz" pos="40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gs" Target="tags/tag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Jan Schlimbach" userId="0c94c441-ce93-4d43-a528-96b08e01ed9e" providerId="ADAL" clId="{CD79E3D5-A23E-45B6-900C-CE8933DA8460}"/>
    <pc:docChg chg="undo custSel addSld delSld modSld sldOrd modSection">
      <pc:chgData name="Robert Jan Schlimbach" userId="0c94c441-ce93-4d43-a528-96b08e01ed9e" providerId="ADAL" clId="{CD79E3D5-A23E-45B6-900C-CE8933DA8460}" dt="2025-11-14T12:49:40.997" v="625" actId="20577"/>
      <pc:docMkLst>
        <pc:docMk/>
      </pc:docMkLst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57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58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59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60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61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62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63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64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65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66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67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68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0" sldId="269"/>
        </pc:sldMkLst>
      </pc:sldChg>
      <pc:sldChg chg="modSp mod ord">
        <pc:chgData name="Robert Jan Schlimbach" userId="0c94c441-ce93-4d43-a528-96b08e01ed9e" providerId="ADAL" clId="{CD79E3D5-A23E-45B6-900C-CE8933DA8460}" dt="2025-11-14T12:41:28.615" v="455" actId="20577"/>
        <pc:sldMkLst>
          <pc:docMk/>
          <pc:sldMk cId="4056994034" sldId="285"/>
        </pc:sldMkLst>
        <pc:spChg chg="mod">
          <ac:chgData name="Robert Jan Schlimbach" userId="0c94c441-ce93-4d43-a528-96b08e01ed9e" providerId="ADAL" clId="{CD79E3D5-A23E-45B6-900C-CE8933DA8460}" dt="2025-11-14T12:41:28.615" v="455" actId="20577"/>
          <ac:spMkLst>
            <pc:docMk/>
            <pc:sldMk cId="4056994034" sldId="285"/>
            <ac:spMk id="938" creationId="{00000000-0000-0000-0000-000000000000}"/>
          </ac:spMkLst>
        </pc:spChg>
      </pc:sldChg>
      <pc:sldChg chg="addSp modSp mod">
        <pc:chgData name="Robert Jan Schlimbach" userId="0c94c441-ce93-4d43-a528-96b08e01ed9e" providerId="ADAL" clId="{CD79E3D5-A23E-45B6-900C-CE8933DA8460}" dt="2025-11-14T10:27:30.670" v="92" actId="20577"/>
        <pc:sldMkLst>
          <pc:docMk/>
          <pc:sldMk cId="1025912297" sldId="287"/>
        </pc:sldMkLst>
        <pc:spChg chg="mod">
          <ac:chgData name="Robert Jan Schlimbach" userId="0c94c441-ce93-4d43-a528-96b08e01ed9e" providerId="ADAL" clId="{CD79E3D5-A23E-45B6-900C-CE8933DA8460}" dt="2025-11-14T10:27:30.670" v="92" actId="20577"/>
          <ac:spMkLst>
            <pc:docMk/>
            <pc:sldMk cId="1025912297" sldId="287"/>
            <ac:spMk id="939" creationId="{00000000-0000-0000-0000-000000000000}"/>
          </ac:spMkLst>
        </pc:spChg>
        <pc:picChg chg="add mod">
          <ac:chgData name="Robert Jan Schlimbach" userId="0c94c441-ce93-4d43-a528-96b08e01ed9e" providerId="ADAL" clId="{CD79E3D5-A23E-45B6-900C-CE8933DA8460}" dt="2025-11-14T10:27:00.274" v="60" actId="1076"/>
          <ac:picMkLst>
            <pc:docMk/>
            <pc:sldMk cId="1025912297" sldId="287"/>
            <ac:picMk id="4" creationId="{0E4C0BE0-EFD0-A3FD-5614-30CB5F308C10}"/>
          </ac:picMkLst>
        </pc:picChg>
      </pc:sldChg>
      <pc:sldChg chg="delSp mod">
        <pc:chgData name="Robert Jan Schlimbach" userId="0c94c441-ce93-4d43-a528-96b08e01ed9e" providerId="ADAL" clId="{CD79E3D5-A23E-45B6-900C-CE8933DA8460}" dt="2025-11-14T12:48:34.147" v="590" actId="478"/>
        <pc:sldMkLst>
          <pc:docMk/>
          <pc:sldMk cId="2968347135" sldId="314"/>
        </pc:sldMkLst>
        <pc:picChg chg="del">
          <ac:chgData name="Robert Jan Schlimbach" userId="0c94c441-ce93-4d43-a528-96b08e01ed9e" providerId="ADAL" clId="{CD79E3D5-A23E-45B6-900C-CE8933DA8460}" dt="2025-11-14T12:48:34.147" v="590" actId="478"/>
          <ac:picMkLst>
            <pc:docMk/>
            <pc:sldMk cId="2968347135" sldId="314"/>
            <ac:picMk id="6" creationId="{DE13FA06-9AB1-C1E8-AC51-E2F1DEC194F3}"/>
          </ac:picMkLst>
        </pc:picChg>
      </pc:sldChg>
      <pc:sldChg chg="delSp mod">
        <pc:chgData name="Robert Jan Schlimbach" userId="0c94c441-ce93-4d43-a528-96b08e01ed9e" providerId="ADAL" clId="{CD79E3D5-A23E-45B6-900C-CE8933DA8460}" dt="2025-11-13T15:25:37.506" v="0" actId="478"/>
        <pc:sldMkLst>
          <pc:docMk/>
          <pc:sldMk cId="2212955866" sldId="327"/>
        </pc:sldMkLst>
        <pc:picChg chg="del">
          <ac:chgData name="Robert Jan Schlimbach" userId="0c94c441-ce93-4d43-a528-96b08e01ed9e" providerId="ADAL" clId="{CD79E3D5-A23E-45B6-900C-CE8933DA8460}" dt="2025-11-13T15:25:37.506" v="0" actId="478"/>
          <ac:picMkLst>
            <pc:docMk/>
            <pc:sldMk cId="2212955866" sldId="327"/>
            <ac:picMk id="7" creationId="{CB55209D-5D5A-741A-D86D-8D951C022096}"/>
          </ac:picMkLst>
        </pc:picChg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1124127401" sldId="369"/>
        </pc:sldMkLst>
      </pc:sldChg>
      <pc:sldChg chg="modSp mod">
        <pc:chgData name="Robert Jan Schlimbach" userId="0c94c441-ce93-4d43-a528-96b08e01ed9e" providerId="ADAL" clId="{CD79E3D5-A23E-45B6-900C-CE8933DA8460}" dt="2025-11-14T12:47:36.277" v="589" actId="20577"/>
        <pc:sldMkLst>
          <pc:docMk/>
          <pc:sldMk cId="2891110826" sldId="431"/>
        </pc:sldMkLst>
        <pc:spChg chg="mod">
          <ac:chgData name="Robert Jan Schlimbach" userId="0c94c441-ce93-4d43-a528-96b08e01ed9e" providerId="ADAL" clId="{CD79E3D5-A23E-45B6-900C-CE8933DA8460}" dt="2025-11-14T12:47:36.277" v="589" actId="20577"/>
          <ac:spMkLst>
            <pc:docMk/>
            <pc:sldMk cId="2891110826" sldId="431"/>
            <ac:spMk id="5" creationId="{780E3EA3-57EE-A024-6A65-767C2FF2EF5F}"/>
          </ac:spMkLst>
        </pc:spChg>
      </pc:sldChg>
      <pc:sldChg chg="delSp mod">
        <pc:chgData name="Robert Jan Schlimbach" userId="0c94c441-ce93-4d43-a528-96b08e01ed9e" providerId="ADAL" clId="{CD79E3D5-A23E-45B6-900C-CE8933DA8460}" dt="2025-11-14T12:39:09.016" v="347" actId="478"/>
        <pc:sldMkLst>
          <pc:docMk/>
          <pc:sldMk cId="163971024" sldId="437"/>
        </pc:sldMkLst>
        <pc:picChg chg="del">
          <ac:chgData name="Robert Jan Schlimbach" userId="0c94c441-ce93-4d43-a528-96b08e01ed9e" providerId="ADAL" clId="{CD79E3D5-A23E-45B6-900C-CE8933DA8460}" dt="2025-11-14T12:39:09.016" v="347" actId="478"/>
          <ac:picMkLst>
            <pc:docMk/>
            <pc:sldMk cId="163971024" sldId="437"/>
            <ac:picMk id="5" creationId="{78E1213E-606A-0264-A1BB-E5D778302AAD}"/>
          </ac:picMkLst>
        </pc:picChg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1636006915" sldId="468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775635136" sldId="469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788184298" sldId="472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602144769" sldId="513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734736231" sldId="514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2165959614" sldId="515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492154898" sldId="516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88345604" sldId="518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2646770872" sldId="519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992203940" sldId="520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426974936" sldId="523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750118576" sldId="524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699725898" sldId="527"/>
        </pc:sldMkLst>
      </pc:sldChg>
      <pc:sldChg chg="del">
        <pc:chgData name="Robert Jan Schlimbach" userId="0c94c441-ce93-4d43-a528-96b08e01ed9e" providerId="ADAL" clId="{CD79E3D5-A23E-45B6-900C-CE8933DA8460}" dt="2025-11-13T15:25:48.676" v="1" actId="47"/>
        <pc:sldMkLst>
          <pc:docMk/>
          <pc:sldMk cId="0" sldId="2076136791"/>
        </pc:sldMkLst>
      </pc:sldChg>
      <pc:sldChg chg="del">
        <pc:chgData name="Robert Jan Schlimbach" userId="0c94c441-ce93-4d43-a528-96b08e01ed9e" providerId="ADAL" clId="{CD79E3D5-A23E-45B6-900C-CE8933DA8460}" dt="2025-11-13T15:25:51.579" v="2" actId="47"/>
        <pc:sldMkLst>
          <pc:docMk/>
          <pc:sldMk cId="4137850083" sldId="2076136792"/>
        </pc:sldMkLst>
      </pc:sldChg>
      <pc:sldChg chg="modSp mod">
        <pc:chgData name="Robert Jan Schlimbach" userId="0c94c441-ce93-4d43-a528-96b08e01ed9e" providerId="ADAL" clId="{CD79E3D5-A23E-45B6-900C-CE8933DA8460}" dt="2025-11-13T15:26:30.631" v="16" actId="20577"/>
        <pc:sldMkLst>
          <pc:docMk/>
          <pc:sldMk cId="1295815359" sldId="2076136794"/>
        </pc:sldMkLst>
        <pc:spChg chg="mod">
          <ac:chgData name="Robert Jan Schlimbach" userId="0c94c441-ce93-4d43-a528-96b08e01ed9e" providerId="ADAL" clId="{CD79E3D5-A23E-45B6-900C-CE8933DA8460}" dt="2025-11-13T15:26:30.631" v="16" actId="20577"/>
          <ac:spMkLst>
            <pc:docMk/>
            <pc:sldMk cId="1295815359" sldId="2076136794"/>
            <ac:spMk id="939" creationId="{1953AEC7-999F-FC31-BD90-ADD05B3FE9DE}"/>
          </ac:spMkLst>
        </pc:spChg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2677395787" sldId="2076136799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1549598168" sldId="2076136801"/>
        </pc:sldMkLst>
      </pc:sldChg>
      <pc:sldChg chg="modSp mod">
        <pc:chgData name="Robert Jan Schlimbach" userId="0c94c441-ce93-4d43-a528-96b08e01ed9e" providerId="ADAL" clId="{CD79E3D5-A23E-45B6-900C-CE8933DA8460}" dt="2025-11-14T12:47:13.942" v="578" actId="20577"/>
        <pc:sldMkLst>
          <pc:docMk/>
          <pc:sldMk cId="3217048590" sldId="2076136802"/>
        </pc:sldMkLst>
        <pc:spChg chg="mod">
          <ac:chgData name="Robert Jan Schlimbach" userId="0c94c441-ce93-4d43-a528-96b08e01ed9e" providerId="ADAL" clId="{CD79E3D5-A23E-45B6-900C-CE8933DA8460}" dt="2025-11-14T12:47:13.942" v="578" actId="20577"/>
          <ac:spMkLst>
            <pc:docMk/>
            <pc:sldMk cId="3217048590" sldId="2076136802"/>
            <ac:spMk id="5" creationId="{749FB30B-C7D8-7CAF-6B47-B5DE9E4A2585}"/>
          </ac:spMkLst>
        </pc:spChg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392418730" sldId="2076136805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2381069248" sldId="2076136806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1658602132" sldId="2076136807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651509067" sldId="2076136808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672694476" sldId="2076136809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1566638135" sldId="2076136810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2891249875" sldId="2076136811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4266054150" sldId="2076136812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1349418028" sldId="2076136813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689377996" sldId="2076136814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2812463533" sldId="2076136815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4057751536" sldId="2076136816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665803627" sldId="2076136817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2853517719" sldId="2076136818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614710719" sldId="2076136820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3822930267" sldId="2076136821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2320989492" sldId="2076136823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250787124" sldId="2076136825"/>
        </pc:sldMkLst>
      </pc:sldChg>
      <pc:sldChg chg="del">
        <pc:chgData name="Robert Jan Schlimbach" userId="0c94c441-ce93-4d43-a528-96b08e01ed9e" providerId="ADAL" clId="{CD79E3D5-A23E-45B6-900C-CE8933DA8460}" dt="2025-11-14T11:53:10.641" v="93" actId="47"/>
        <pc:sldMkLst>
          <pc:docMk/>
          <pc:sldMk cId="1834773480" sldId="2076136830"/>
        </pc:sldMkLst>
      </pc:sldChg>
      <pc:sldChg chg="modSp add mod">
        <pc:chgData name="Robert Jan Schlimbach" userId="0c94c441-ce93-4d43-a528-96b08e01ed9e" providerId="ADAL" clId="{CD79E3D5-A23E-45B6-900C-CE8933DA8460}" dt="2025-11-13T15:27:40.585" v="26" actId="20577"/>
        <pc:sldMkLst>
          <pc:docMk/>
          <pc:sldMk cId="2786179834" sldId="2076136831"/>
        </pc:sldMkLst>
        <pc:spChg chg="mod">
          <ac:chgData name="Robert Jan Schlimbach" userId="0c94c441-ce93-4d43-a528-96b08e01ed9e" providerId="ADAL" clId="{CD79E3D5-A23E-45B6-900C-CE8933DA8460}" dt="2025-11-13T15:27:40.585" v="26" actId="20577"/>
          <ac:spMkLst>
            <pc:docMk/>
            <pc:sldMk cId="2786179834" sldId="2076136831"/>
            <ac:spMk id="10" creationId="{A476C87D-9F68-5230-40AD-99DE247A74F9}"/>
          </ac:spMkLst>
        </pc:spChg>
      </pc:sldChg>
      <pc:sldChg chg="modSp add mod">
        <pc:chgData name="Robert Jan Schlimbach" userId="0c94c441-ce93-4d43-a528-96b08e01ed9e" providerId="ADAL" clId="{CD79E3D5-A23E-45B6-900C-CE8933DA8460}" dt="2025-11-14T11:53:57.785" v="115" actId="20577"/>
        <pc:sldMkLst>
          <pc:docMk/>
          <pc:sldMk cId="465996722" sldId="2076136832"/>
        </pc:sldMkLst>
        <pc:spChg chg="mod">
          <ac:chgData name="Robert Jan Schlimbach" userId="0c94c441-ce93-4d43-a528-96b08e01ed9e" providerId="ADAL" clId="{CD79E3D5-A23E-45B6-900C-CE8933DA8460}" dt="2025-11-14T11:53:57.785" v="115" actId="20577"/>
          <ac:spMkLst>
            <pc:docMk/>
            <pc:sldMk cId="465996722" sldId="2076136832"/>
            <ac:spMk id="10" creationId="{ED86392B-9344-0F74-F856-30A8BF6A9D94}"/>
          </ac:spMkLst>
        </pc:spChg>
      </pc:sldChg>
      <pc:sldChg chg="delSp modSp add mod ord">
        <pc:chgData name="Robert Jan Schlimbach" userId="0c94c441-ce93-4d43-a528-96b08e01ed9e" providerId="ADAL" clId="{CD79E3D5-A23E-45B6-900C-CE8933DA8460}" dt="2025-11-14T12:40:51.286" v="450" actId="5793"/>
        <pc:sldMkLst>
          <pc:docMk/>
          <pc:sldMk cId="3012307261" sldId="2076136833"/>
        </pc:sldMkLst>
        <pc:spChg chg="mod">
          <ac:chgData name="Robert Jan Schlimbach" userId="0c94c441-ce93-4d43-a528-96b08e01ed9e" providerId="ADAL" clId="{CD79E3D5-A23E-45B6-900C-CE8933DA8460}" dt="2025-11-14T11:54:41.170" v="171" actId="20577"/>
          <ac:spMkLst>
            <pc:docMk/>
            <pc:sldMk cId="3012307261" sldId="2076136833"/>
            <ac:spMk id="938" creationId="{F9DF4384-86F0-761C-371C-D45E249ACC50}"/>
          </ac:spMkLst>
        </pc:spChg>
        <pc:spChg chg="mod">
          <ac:chgData name="Robert Jan Schlimbach" userId="0c94c441-ce93-4d43-a528-96b08e01ed9e" providerId="ADAL" clId="{CD79E3D5-A23E-45B6-900C-CE8933DA8460}" dt="2025-11-14T12:40:51.286" v="450" actId="5793"/>
          <ac:spMkLst>
            <pc:docMk/>
            <pc:sldMk cId="3012307261" sldId="2076136833"/>
            <ac:spMk id="939" creationId="{3B11E731-5524-E4F5-E6E6-7667CDA70F0E}"/>
          </ac:spMkLst>
        </pc:spChg>
        <pc:picChg chg="del">
          <ac:chgData name="Robert Jan Schlimbach" userId="0c94c441-ce93-4d43-a528-96b08e01ed9e" providerId="ADAL" clId="{CD79E3D5-A23E-45B6-900C-CE8933DA8460}" dt="2025-11-14T11:54:32.354" v="145" actId="478"/>
          <ac:picMkLst>
            <pc:docMk/>
            <pc:sldMk cId="3012307261" sldId="2076136833"/>
            <ac:picMk id="3" creationId="{8074ECF8-E148-B79B-651E-73F8D1B0C40E}"/>
          </ac:picMkLst>
        </pc:picChg>
        <pc:picChg chg="del">
          <ac:chgData name="Robert Jan Schlimbach" userId="0c94c441-ce93-4d43-a528-96b08e01ed9e" providerId="ADAL" clId="{CD79E3D5-A23E-45B6-900C-CE8933DA8460}" dt="2025-11-14T11:54:31.738" v="144" actId="478"/>
          <ac:picMkLst>
            <pc:docMk/>
            <pc:sldMk cId="3012307261" sldId="2076136833"/>
            <ac:picMk id="5" creationId="{18722139-8680-94F5-6097-B0013B2CAE20}"/>
          </ac:picMkLst>
        </pc:picChg>
      </pc:sldChg>
      <pc:sldChg chg="modSp add mod">
        <pc:chgData name="Robert Jan Schlimbach" userId="0c94c441-ce93-4d43-a528-96b08e01ed9e" providerId="ADAL" clId="{CD79E3D5-A23E-45B6-900C-CE8933DA8460}" dt="2025-11-14T12:49:40.997" v="625" actId="20577"/>
        <pc:sldMkLst>
          <pc:docMk/>
          <pc:sldMk cId="2921054936" sldId="2076136834"/>
        </pc:sldMkLst>
        <pc:spChg chg="mod">
          <ac:chgData name="Robert Jan Schlimbach" userId="0c94c441-ce93-4d43-a528-96b08e01ed9e" providerId="ADAL" clId="{CD79E3D5-A23E-45B6-900C-CE8933DA8460}" dt="2025-11-14T12:49:40.997" v="625" actId="20577"/>
          <ac:spMkLst>
            <pc:docMk/>
            <pc:sldMk cId="2921054936" sldId="2076136834"/>
            <ac:spMk id="10" creationId="{08267F2C-3172-7556-4159-5F6DE87A0E62}"/>
          </ac:spMkLst>
        </pc:spChg>
      </pc:sldChg>
      <pc:sldChg chg="modSp add mod">
        <pc:chgData name="Robert Jan Schlimbach" userId="0c94c441-ce93-4d43-a528-96b08e01ed9e" providerId="ADAL" clId="{CD79E3D5-A23E-45B6-900C-CE8933DA8460}" dt="2025-11-14T12:44:49.032" v="572" actId="20577"/>
        <pc:sldMkLst>
          <pc:docMk/>
          <pc:sldMk cId="385266765" sldId="2076136835"/>
        </pc:sldMkLst>
        <pc:spChg chg="mod">
          <ac:chgData name="Robert Jan Schlimbach" userId="0c94c441-ce93-4d43-a528-96b08e01ed9e" providerId="ADAL" clId="{CD79E3D5-A23E-45B6-900C-CE8933DA8460}" dt="2025-11-14T12:44:49.032" v="572" actId="20577"/>
          <ac:spMkLst>
            <pc:docMk/>
            <pc:sldMk cId="385266765" sldId="2076136835"/>
            <ac:spMk id="10" creationId="{D1C1E0BA-5196-EB3A-AE07-AD02EF28F9D5}"/>
          </ac:spMkLst>
        </pc:spChg>
      </pc:sldChg>
      <pc:sldChg chg="modSp add mod">
        <pc:chgData name="Robert Jan Schlimbach" userId="0c94c441-ce93-4d43-a528-96b08e01ed9e" providerId="ADAL" clId="{CD79E3D5-A23E-45B6-900C-CE8933DA8460}" dt="2025-11-14T12:46:17.497" v="574" actId="20577"/>
        <pc:sldMkLst>
          <pc:docMk/>
          <pc:sldMk cId="2498398042" sldId="2076136836"/>
        </pc:sldMkLst>
        <pc:spChg chg="mod">
          <ac:chgData name="Robert Jan Schlimbach" userId="0c94c441-ce93-4d43-a528-96b08e01ed9e" providerId="ADAL" clId="{CD79E3D5-A23E-45B6-900C-CE8933DA8460}" dt="2025-11-14T12:46:17.497" v="574" actId="20577"/>
          <ac:spMkLst>
            <pc:docMk/>
            <pc:sldMk cId="2498398042" sldId="2076136836"/>
            <ac:spMk id="5" creationId="{F01268D1-C610-A7B6-C775-B3834474D8DB}"/>
          </ac:spMkLst>
        </pc:spChg>
      </pc:sldChg>
      <pc:sldMasterChg chg="delSldLayout">
        <pc:chgData name="Robert Jan Schlimbach" userId="0c94c441-ce93-4d43-a528-96b08e01ed9e" providerId="ADAL" clId="{CD79E3D5-A23E-45B6-900C-CE8933DA8460}" dt="2025-11-14T11:53:10.641" v="93" actId="47"/>
        <pc:sldMasterMkLst>
          <pc:docMk/>
          <pc:sldMasterMk cId="1405780546" sldId="2147483656"/>
        </pc:sldMasterMkLst>
        <pc:sldLayoutChg chg="del">
          <pc:chgData name="Robert Jan Schlimbach" userId="0c94c441-ce93-4d43-a528-96b08e01ed9e" providerId="ADAL" clId="{CD79E3D5-A23E-45B6-900C-CE8933DA8460}" dt="2025-11-14T11:53:10.641" v="93" actId="47"/>
          <pc:sldLayoutMkLst>
            <pc:docMk/>
            <pc:sldMasterMk cId="1405780546" sldId="2147483656"/>
            <pc:sldLayoutMk cId="1272626947" sldId="2147483666"/>
          </pc:sldLayoutMkLst>
        </pc:sldLayoutChg>
        <pc:sldLayoutChg chg="del">
          <pc:chgData name="Robert Jan Schlimbach" userId="0c94c441-ce93-4d43-a528-96b08e01ed9e" providerId="ADAL" clId="{CD79E3D5-A23E-45B6-900C-CE8933DA8460}" dt="2025-11-14T11:53:10.641" v="93" actId="47"/>
          <pc:sldLayoutMkLst>
            <pc:docMk/>
            <pc:sldMasterMk cId="1405780546" sldId="2147483656"/>
            <pc:sldLayoutMk cId="2867008778" sldId="2147483667"/>
          </pc:sldLayoutMkLst>
        </pc:sldLayoutChg>
        <pc:sldLayoutChg chg="del">
          <pc:chgData name="Robert Jan Schlimbach" userId="0c94c441-ce93-4d43-a528-96b08e01ed9e" providerId="ADAL" clId="{CD79E3D5-A23E-45B6-900C-CE8933DA8460}" dt="2025-11-14T11:53:10.641" v="93" actId="47"/>
          <pc:sldLayoutMkLst>
            <pc:docMk/>
            <pc:sldMasterMk cId="1405780546" sldId="2147483656"/>
            <pc:sldLayoutMk cId="2008023562" sldId="214748366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9A05A-C030-404F-84CE-DF89B2719958}" type="datetimeFigureOut">
              <a:rPr lang="en-NL" smtClean="0"/>
              <a:t>14/11/2025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E3CD5-403F-42A1-A26B-48E265B3963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59280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10BC492-4473-4B0E-93D5-D38953E1EC75}" type="slidenum">
              <a:rPr lang="en-GB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874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025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3734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6920-CABF-6EC8-3DB9-A9A8191D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AF18A2FB-4A5A-AFB6-A797-66D5ECCF6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4FC205E-3D83-14FC-BD70-C794F203DC6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E65EF09-C826-3B43-A078-03DA267CC21E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5631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382B-261A-0B86-9009-E4ABCD5C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F52190B-A81E-73CC-9E23-D2E2C83E9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7594DD9-5ACD-5105-715F-DA6383C74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F1413B-279A-96C2-521A-B1A20C5D2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8642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3055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7859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5702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5303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2591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084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1908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8039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0151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A935-BCC0-817F-6F5F-C40AF9E3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8D36A11-FBE7-9F62-0BC6-0960E1BC1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67D31B2-75F2-0D0C-3F1E-10289D69F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1EF6990-2940-8B26-334A-18919D554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513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7184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7129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0752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E9454-B6A0-8BFD-6E85-90ECA456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A37D029-D36B-4645-709A-B32732367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7C9ED81-BAAB-869E-EA52-146F558EA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0158143-8F39-78C4-AC08-9F10A3B96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7248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9C3A5-AF47-AC66-E0B2-12380875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CE70B0CD-C15E-3E46-360F-12AD6372D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1BD90D81-203E-C35B-E885-3DDAD000D88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727DEEC0-9499-01BD-BF7F-16DB46DAB110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05684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8134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C7B27-FBD1-C8B1-1D5E-1234C470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E247CE3-834F-3726-4A9F-C186F6EEF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0DE499D-F862-ADE8-546C-78543308A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7122006-D29B-08AA-85BF-57B1A908C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589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4074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A73F1-E858-6B5C-46B7-641E82FD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24F16AA-7FCA-A5CB-930D-FAE9AB411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8EB8F4A-28A1-BD65-2A00-1093BB75E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560C7A4-E064-76EB-173B-C77F0EF3C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0552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02026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41689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85250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C82B7-ADD2-F2BA-CD97-EEE6E5E7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493340BA-FB7C-C69E-1A16-58D7B52C6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0280CF6B-E5B7-77AD-A602-FFDCE886CC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896FFF3-FF0A-4726-A7D5-62F08A2D8C15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79461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72280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E7CDD-9A3F-69B2-F6C0-36DC4C7B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D1331920-8ACE-813F-C074-75C2AD560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8DFC69C-E28B-5AC4-7159-32EA4B652C2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520E9EF3-13AD-1B08-75F6-A3E0011CE262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93669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C4845-059E-E129-F7C0-84ABAE7F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26ACA935-9802-B5DD-86DD-73BA3046C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8195796C-2455-ED59-A059-933CA57673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73189C1-A766-3C3C-195B-94DF57BD4B5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88071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3D06-A37B-C00E-7C6B-445803C0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4BED263-B719-4EFF-CFCF-E19CACD5F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404ADE15-5A2D-F184-5D65-32F92A2977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3787B4DD-C181-EE66-F08C-D2F347A280B8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60434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6320-44D6-065A-2FC7-49DBA316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6296E1CE-9D22-1889-2BE6-0519AAA7E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1F13CDCA-7DEE-2F0B-AA77-7C5439BA8C8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E9ECD347-1225-4FE2-45BB-53D77AE81A83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83311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90918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30937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87007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2D71-BB6E-AED5-0BC6-7F6586B3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B3DFD432-E8AE-2800-05A5-EB29F2E08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A8188AAD-26E8-25E6-5863-EBA103DD6F6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5489ED2F-A0C2-5C57-0B40-4EDD3BF51D4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91902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60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5734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61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98763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6B26B-19A9-76AA-20CA-BDEC5CA25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79C79BA-9518-10B0-2E0F-7EC21415D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E4D399D-80AB-157C-FF43-0F94536A3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ADD49EC-3FC9-21B9-9E6A-C0D894000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369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5DED-2D91-4C0E-8D91-9F431318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2E52DCC-11C7-18A9-F92B-AE1972FBA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60936480-744B-867B-4CA9-DCDF297FB3B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FFC9738-8C74-094D-012F-FAE6D56D7346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63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60031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9AAE4-856A-F2C6-3AC7-D10498F59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EDCE900-9E92-EFF2-FEDF-0CFDCB30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A841525-461C-2DD1-B0B1-FBB40F4B0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DC1B443-28CA-7D8A-E94F-FCC93B578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005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E48AD39F-D1BD-4A94-927C-E2D6B75091D7}"/>
              </a:ext>
            </a:extLst>
          </p:cNvPr>
          <p:cNvSpPr/>
          <p:nvPr userDrawn="1"/>
        </p:nvSpPr>
        <p:spPr>
          <a:xfrm>
            <a:off x="0" y="-367937"/>
            <a:ext cx="600998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EE76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Text #1</a:t>
            </a:r>
          </a:p>
        </p:txBody>
      </p:sp>
      <p:sp>
        <p:nvSpPr>
          <p:cNvPr id="11" name="Tijdelijke aanduiding voor tekst 15">
            <a:extLst>
              <a:ext uri="{FF2B5EF4-FFF2-40B4-BE49-F238E27FC236}">
                <a16:creationId xmlns:a16="http://schemas.microsoft.com/office/drawing/2014/main" id="{44E27EC2-81EE-5DE0-2BEB-2F38F88501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6060536"/>
            <a:ext cx="932400" cy="475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2" name="Tijdelijke aanduiding voor tekst 12">
            <a:extLst>
              <a:ext uri="{FF2B5EF4-FFF2-40B4-BE49-F238E27FC236}">
                <a16:creationId xmlns:a16="http://schemas.microsoft.com/office/drawing/2014/main" id="{24E34CC7-AE46-F291-A9D4-1A35660FE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8207" y="707795"/>
            <a:ext cx="36000" cy="396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3" name="Tijdelijke aanduiding voor titel 1">
            <a:extLst>
              <a:ext uri="{FF2B5EF4-FFF2-40B4-BE49-F238E27FC236}">
                <a16:creationId xmlns:a16="http://schemas.microsoft.com/office/drawing/2014/main" id="{F9DB1A5B-74FB-7FED-54E6-CE4B949D30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162" y="722313"/>
            <a:ext cx="10559000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the title of the slide here</a:t>
            </a:r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3649715A-38D2-03F3-4957-40291419259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65162" y="1592262"/>
            <a:ext cx="7428606" cy="40603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Plain text #1</a:t>
            </a:r>
          </a:p>
          <a:p>
            <a:pPr lvl="1"/>
            <a:r>
              <a:rPr lang="en-GB" noProof="0" dirty="0"/>
              <a:t>Plain text #2</a:t>
            </a:r>
          </a:p>
          <a:p>
            <a:pPr lvl="2"/>
            <a:r>
              <a:rPr lang="en-GB" noProof="0" dirty="0"/>
              <a:t>Heading #1</a:t>
            </a:r>
          </a:p>
          <a:p>
            <a:pPr lvl="3"/>
            <a:r>
              <a:rPr lang="en-GB" noProof="0" dirty="0" err="1"/>
              <a:t>Tekst</a:t>
            </a:r>
            <a:endParaRPr lang="en-GB" noProof="0" dirty="0"/>
          </a:p>
          <a:p>
            <a:pPr lvl="4"/>
            <a:r>
              <a:rPr lang="en-GB" noProof="0" dirty="0"/>
              <a:t>Heading #3</a:t>
            </a:r>
          </a:p>
          <a:p>
            <a:pPr lvl="5"/>
            <a:r>
              <a:rPr lang="en-GB" noProof="0" dirty="0"/>
              <a:t>Heading #4</a:t>
            </a:r>
          </a:p>
          <a:p>
            <a:pPr lvl="6"/>
            <a:r>
              <a:rPr lang="en-GB" noProof="0" dirty="0"/>
              <a:t>Numbers</a:t>
            </a:r>
          </a:p>
          <a:p>
            <a:pPr lvl="7"/>
            <a:r>
              <a:rPr lang="en-GB" noProof="0" dirty="0"/>
              <a:t>Letters</a:t>
            </a:r>
          </a:p>
          <a:p>
            <a:pPr marL="0" marR="0" lvl="8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GB" noProof="0" dirty="0" err="1"/>
              <a:t>Bronvermelding</a:t>
            </a:r>
            <a:endParaRPr lang="en-GB" noProof="0" dirty="0"/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3FEF774C-6798-2CDA-D16D-C524570ADC2D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6C887830-2765-2EDF-1DA5-B8B813D42CB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1200" cap="all" spc="0" normalizeH="0" baseline="0" noProof="0" dirty="0">
                  <a:ln>
                    <a:noFill/>
                  </a:ln>
                  <a:solidFill>
                    <a:srgbClr val="EE7628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Choosing text levels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0BB465B5-C8D4-B502-B678-11BA2D7237D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77F1385A-0947-0C9B-6095-7C4DBE0B35F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E7628"/>
                </a:buClr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Bullet</a:t>
              </a:r>
            </a:p>
          </p:txBody>
        </p: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D7A0CFB7-14E9-2162-DD49-1110B0585DB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F8663F83-FDBC-5858-0553-8827C57A96C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Choose from: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D816201-5D05-9BDF-A219-5C8E92E16186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47675" marR="0" lvl="1" indent="-2667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70809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Sub-Bullet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A7263C7-DC6C-20B5-B758-9483DBF4E79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392C7286-28F9-42B3-542F-602CE6C04936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628650" marR="0" lvl="2" indent="-2667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70809"/>
                </a:buClr>
                <a:buSzTx/>
                <a:buFont typeface="Aptos" panose="020B0004020202020204" pitchFamily="34" charset="0"/>
                <a:buChar char="−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Sub-Bullet #2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A48B0F26-01BB-C45A-2F59-310190A07A6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3D0E261B-2F93-798B-E787-622F218D75D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3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ptos" panose="020B0004020202020204" pitchFamily="34" charset="0"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Tekst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B020055E-166C-3158-879C-C224A56131E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0C8ABA8A-0B4A-E81A-D133-0EC4ED7224D9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ptos" panose="020B0004020202020204" pitchFamily="34" charset="0"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EE7628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Heading #1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244793F5-D9DD-654B-784C-D90BF2A3128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7BECC238-2E71-96C5-293C-F37E35DE905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6" indent="-3429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E7628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Numbers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559D0670-FB1B-2BF9-3B2E-930B448EBD7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678816AE-188B-76B9-60B3-56439C4021E7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7" indent="-3429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E7628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Letters</a:t>
              </a: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26BD8EF6-0DF0-D04F-F158-50EEAAB216F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E5240D22-ED3C-7CC8-1A53-5013DAE22990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70809"/>
                </a:buClr>
                <a:buSzTx/>
                <a:buFontTx/>
                <a:buNone/>
                <a:tabLst/>
                <a:defRPr/>
              </a:pPr>
              <a:r>
                <a:rPr kumimoji="0" lang="en-GB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177AB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Bronvermelding</a:t>
              </a:r>
              <a:endParaRPr kumimoji="0" lang="en-GB" sz="1100" b="0" i="1" u="none" strike="noStrike" kern="1200" cap="none" spc="0" normalizeH="0" baseline="0" noProof="0" dirty="0">
                <a:ln>
                  <a:noFill/>
                </a:ln>
                <a:solidFill>
                  <a:srgbClr val="177AB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C8DD6130-4C4C-0190-1E03-E2640DF51A70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42DA1508-64A2-BABE-CCF4-A593C9FAB4B0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E7628"/>
                </a:buClr>
                <a:buSzTx/>
                <a:buFont typeface="Aptos" panose="020B0004020202020204" pitchFamily="34" charset="0"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2CA055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Heading #2</a:t>
              </a:r>
            </a:p>
          </p:txBody>
        </p:sp>
        <p:sp>
          <p:nvSpPr>
            <p:cNvPr id="36" name="Rechthoek 35">
              <a:extLst>
                <a:ext uri="{FF2B5EF4-FFF2-40B4-BE49-F238E27FC236}">
                  <a16:creationId xmlns:a16="http://schemas.microsoft.com/office/drawing/2014/main" id="{9F9EE05A-AFF4-24AE-B9F6-E02875DDF77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Want to know more?</a:t>
              </a:r>
              <a:br>
                <a:rPr kumimoji="0" lang="en-GB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</a:b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Go to the tab</a:t>
              </a:r>
              <a:r>
                <a:rPr kumimoji="0" lang="en-GB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'SLIDEBUILDER’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and click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</a:b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on the button </a:t>
              </a:r>
              <a:r>
                <a:rPr kumimoji="0" lang="en-GB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‘Inspiration'</a:t>
              </a:r>
            </a:p>
          </p:txBody>
        </p:sp>
        <p:grpSp>
          <p:nvGrpSpPr>
            <p:cNvPr id="37" name="ICOON_info">
              <a:extLst>
                <a:ext uri="{FF2B5EF4-FFF2-40B4-BE49-F238E27FC236}">
                  <a16:creationId xmlns:a16="http://schemas.microsoft.com/office/drawing/2014/main" id="{73944E8F-C20F-CCE1-C826-938B982F4DE8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5" name="Ovaal 84">
                <a:extLst>
                  <a:ext uri="{FF2B5EF4-FFF2-40B4-BE49-F238E27FC236}">
                    <a16:creationId xmlns:a16="http://schemas.microsoft.com/office/drawing/2014/main" id="{C4D91959-95B8-5423-4E25-EFA8E8BC3B2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sp>
            <p:nvSpPr>
              <p:cNvPr id="151" name="Graphic 163" descr="Informatie">
                <a:extLst>
                  <a:ext uri="{FF2B5EF4-FFF2-40B4-BE49-F238E27FC236}">
                    <a16:creationId xmlns:a16="http://schemas.microsoft.com/office/drawing/2014/main" id="{271CA4C8-0FA3-7E83-18B4-8CC86959EE3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VOORBEELD">
              <a:extLst>
                <a:ext uri="{FF2B5EF4-FFF2-40B4-BE49-F238E27FC236}">
                  <a16:creationId xmlns:a16="http://schemas.microsoft.com/office/drawing/2014/main" id="{8D9883B6-8F0C-C857-633E-62F166D199B8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058B320-70FE-AA62-7D85-7A20FE357D7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Home</a:t>
                </a:r>
              </a:p>
            </p:txBody>
          </p: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7B603348-B5C2-6BA4-4005-85FD7389A59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370B9387-5D54-D3CD-E7E1-849346E7F8E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8" name="Groep 77">
                  <a:extLst>
                    <a:ext uri="{FF2B5EF4-FFF2-40B4-BE49-F238E27FC236}">
                      <a16:creationId xmlns:a16="http://schemas.microsoft.com/office/drawing/2014/main" id="{6544E565-DCE5-BA9D-98D5-E5F6F913B26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43D9AEF6-1005-4224-249A-86D94282904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AF5C623F-D2B9-0FB8-C480-61D67C8B1B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2" name="Rechte verbindingslijn 81">
                    <a:extLst>
                      <a:ext uri="{FF2B5EF4-FFF2-40B4-BE49-F238E27FC236}">
                        <a16:creationId xmlns:a16="http://schemas.microsoft.com/office/drawing/2014/main" id="{2E9B7A5A-69BF-AEA1-9CCC-F70B98EBB9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3" name="Rechte verbindingslijn 82">
                    <a:extLst>
                      <a:ext uri="{FF2B5EF4-FFF2-40B4-BE49-F238E27FC236}">
                        <a16:creationId xmlns:a16="http://schemas.microsoft.com/office/drawing/2014/main" id="{688886BB-B10B-7212-1D55-A5D6C62B65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B168F5AD-F3AB-7C81-945B-226A4B0C56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9" name="Pijl: rechts 78">
                  <a:extLst>
                    <a:ext uri="{FF2B5EF4-FFF2-40B4-BE49-F238E27FC236}">
                      <a16:creationId xmlns:a16="http://schemas.microsoft.com/office/drawing/2014/main" id="{F72C0390-499E-B728-36D3-44974CBDE54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716C285-ACB3-02BD-4DE0-07B1A74B219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1" name="Groep 70">
                  <a:extLst>
                    <a:ext uri="{FF2B5EF4-FFF2-40B4-BE49-F238E27FC236}">
                      <a16:creationId xmlns:a16="http://schemas.microsoft.com/office/drawing/2014/main" id="{031B30A8-6900-6EB0-44AF-63D387740D4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6E777EE3-725D-1839-12D6-D81852C827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21144C2B-2AF6-A1E9-4EF8-8F1A5A64AB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923271AE-3859-EE92-619E-ECCCDA76AE1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55CA7C6F-8D94-98FF-55EA-4BCEE5C454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276E2D7C-35D2-48AB-8F7C-BE84A03194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2" name="Pijl: rechts 71">
                  <a:extLst>
                    <a:ext uri="{FF2B5EF4-FFF2-40B4-BE49-F238E27FC236}">
                      <a16:creationId xmlns:a16="http://schemas.microsoft.com/office/drawing/2014/main" id="{5483392B-A6DF-4EF2-5CDB-0EC2EB028C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49" name="Rechte verbindingslijn 48">
                <a:extLst>
                  <a:ext uri="{FF2B5EF4-FFF2-40B4-BE49-F238E27FC236}">
                    <a16:creationId xmlns:a16="http://schemas.microsoft.com/office/drawing/2014/main" id="{499CA73A-204E-C16A-9452-3B5EA1F5DC2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0" name="Rechte verbindingslijn 49">
                <a:extLst>
                  <a:ext uri="{FF2B5EF4-FFF2-40B4-BE49-F238E27FC236}">
                    <a16:creationId xmlns:a16="http://schemas.microsoft.com/office/drawing/2014/main" id="{2A45536C-7CB7-360A-734F-F3614513934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1" name="Rechthoek 50">
                <a:extLst>
                  <a:ext uri="{FF2B5EF4-FFF2-40B4-BE49-F238E27FC236}">
                    <a16:creationId xmlns:a16="http://schemas.microsoft.com/office/drawing/2014/main" id="{02544CF3-6710-4F22-8B7E-D66F927D617A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Text level down</a:t>
                </a:r>
              </a:p>
            </p:txBody>
          </p:sp>
          <p:sp>
            <p:nvSpPr>
              <p:cNvPr id="52" name="Rechthoek 51">
                <a:extLst>
                  <a:ext uri="{FF2B5EF4-FFF2-40B4-BE49-F238E27FC236}">
                    <a16:creationId xmlns:a16="http://schemas.microsoft.com/office/drawing/2014/main" id="{1BF297FE-405B-B694-1E41-460B4BCF8B4B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Text level up</a:t>
                </a:r>
              </a:p>
            </p:txBody>
          </p:sp>
          <p:grpSp>
            <p:nvGrpSpPr>
              <p:cNvPr id="53" name="Groep 52">
                <a:extLst>
                  <a:ext uri="{FF2B5EF4-FFF2-40B4-BE49-F238E27FC236}">
                    <a16:creationId xmlns:a16="http://schemas.microsoft.com/office/drawing/2014/main" id="{E124E1C4-63F8-B2B3-4B57-DE15A94B915A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3" name="Rechthoek 62">
                  <a:extLst>
                    <a:ext uri="{FF2B5EF4-FFF2-40B4-BE49-F238E27FC236}">
                      <a16:creationId xmlns:a16="http://schemas.microsoft.com/office/drawing/2014/main" id="{71E94031-4368-45C4-C018-2C243C184957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  <p:grpSp>
              <p:nvGrpSpPr>
                <p:cNvPr id="64" name="Groep 63">
                  <a:extLst>
                    <a:ext uri="{FF2B5EF4-FFF2-40B4-BE49-F238E27FC236}">
                      <a16:creationId xmlns:a16="http://schemas.microsoft.com/office/drawing/2014/main" id="{09E25DA7-63D4-DDDF-D074-44A977F5D1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6C2E312B-0EFA-2D4F-89CA-265C05B361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BC264D4A-8AA3-A244-C2BD-6729511999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97ACB481-B2CA-251D-38CB-E057534846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7FB5BA4E-2F7B-5EB3-0364-05B5130D9EC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618F701-BE00-DC3D-F243-BD4F326C6FD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5" name="Pijl: rechts 64">
                  <a:extLst>
                    <a:ext uri="{FF2B5EF4-FFF2-40B4-BE49-F238E27FC236}">
                      <a16:creationId xmlns:a16="http://schemas.microsoft.com/office/drawing/2014/main" id="{14366743-ECD8-A7FB-85D8-069A07865C3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4" name="Groep 53">
                <a:extLst>
                  <a:ext uri="{FF2B5EF4-FFF2-40B4-BE49-F238E27FC236}">
                    <a16:creationId xmlns:a16="http://schemas.microsoft.com/office/drawing/2014/main" id="{52C2B9AE-A456-0F63-584A-78ED89F558D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B87C63E3-EE8E-AD5D-CAC7-A8E95070846C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  <p:grpSp>
              <p:nvGrpSpPr>
                <p:cNvPr id="56" name="Groep 55">
                  <a:extLst>
                    <a:ext uri="{FF2B5EF4-FFF2-40B4-BE49-F238E27FC236}">
                      <a16:creationId xmlns:a16="http://schemas.microsoft.com/office/drawing/2014/main" id="{CB368817-BE93-3F2B-0AD8-9F211B73A47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F3F227DE-628A-DA18-52C1-254949A97C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0A5BB5E1-8F09-1BAB-7ABC-76B71E6D429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7E2900F5-8328-D9F2-E857-BF236260689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2F58D699-8C5E-92A8-C9A5-6752DE0A90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F126E799-B0F4-B038-50F2-40DACF67CA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7" name="Pijl: rechts 56">
                  <a:extLst>
                    <a:ext uri="{FF2B5EF4-FFF2-40B4-BE49-F238E27FC236}">
                      <a16:creationId xmlns:a16="http://schemas.microsoft.com/office/drawing/2014/main" id="{74F5E1BB-D2F4-B03B-02CA-95FCC9B2E61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9" name="Groep 38">
              <a:extLst>
                <a:ext uri="{FF2B5EF4-FFF2-40B4-BE49-F238E27FC236}">
                  <a16:creationId xmlns:a16="http://schemas.microsoft.com/office/drawing/2014/main" id="{6C0C7519-CA89-6D9E-4E9A-7E53D680B94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40" name="Inspireren">
                <a:extLst>
                  <a:ext uri="{FF2B5EF4-FFF2-40B4-BE49-F238E27FC236}">
                    <a16:creationId xmlns:a16="http://schemas.microsoft.com/office/drawing/2014/main" id="{60C48C1E-132D-CB24-9B6B-CCC32669D59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2" name="Freeform 12">
                  <a:extLst>
                    <a:ext uri="{FF2B5EF4-FFF2-40B4-BE49-F238E27FC236}">
                      <a16:creationId xmlns:a16="http://schemas.microsoft.com/office/drawing/2014/main" id="{B3DBD062-451C-9B51-6D4F-3985A74DB3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Freeform 13">
                  <a:extLst>
                    <a:ext uri="{FF2B5EF4-FFF2-40B4-BE49-F238E27FC236}">
                      <a16:creationId xmlns:a16="http://schemas.microsoft.com/office/drawing/2014/main" id="{A5E87810-7C59-2CEF-4023-1E6A345011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Freeform 14">
                  <a:extLst>
                    <a:ext uri="{FF2B5EF4-FFF2-40B4-BE49-F238E27FC236}">
                      <a16:creationId xmlns:a16="http://schemas.microsoft.com/office/drawing/2014/main" id="{220D2964-5C51-A85F-17A5-B1F01D02316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1" name="Tekstvak 40">
                <a:extLst>
                  <a:ext uri="{FF2B5EF4-FFF2-40B4-BE49-F238E27FC236}">
                    <a16:creationId xmlns:a16="http://schemas.microsoft.com/office/drawing/2014/main" id="{76CB6002-89AB-50F0-B337-E1D44F24002B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4473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jdelijke aanduiding voor titel 1">
            <a:extLst>
              <a:ext uri="{FF2B5EF4-FFF2-40B4-BE49-F238E27FC236}">
                <a16:creationId xmlns:a16="http://schemas.microsoft.com/office/drawing/2014/main" id="{6487721E-6D8E-22A6-150E-48B5B7398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67937"/>
            <a:ext cx="2086708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3054860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54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14-11-2025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413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65163" y="722313"/>
            <a:ext cx="10582630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the title of the slide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720000" y="1592262"/>
            <a:ext cx="10752000" cy="42139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 err="1"/>
              <a:t>Tekst</a:t>
            </a:r>
            <a:endParaRPr lang="en-GB" noProof="0" dirty="0"/>
          </a:p>
          <a:p>
            <a:pPr lvl="4"/>
            <a:r>
              <a:rPr lang="en-GB" noProof="0" dirty="0"/>
              <a:t>Heading #1</a:t>
            </a:r>
          </a:p>
          <a:p>
            <a:pPr lvl="5"/>
            <a:r>
              <a:rPr lang="en-GB" noProof="0" dirty="0"/>
              <a:t>Heading #2</a:t>
            </a:r>
          </a:p>
          <a:p>
            <a:pPr lvl="6"/>
            <a:r>
              <a:rPr lang="en-GB" noProof="0" dirty="0"/>
              <a:t>Numbers</a:t>
            </a:r>
          </a:p>
          <a:p>
            <a:pPr lvl="7"/>
            <a:r>
              <a:rPr lang="en-GB" noProof="0" dirty="0"/>
              <a:t>Letters</a:t>
            </a:r>
          </a:p>
          <a:p>
            <a:pPr marL="0" marR="0" lvl="8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GB" noProof="0" dirty="0" err="1"/>
              <a:t>Bronvermelding</a:t>
            </a:r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3B2B64-2362-45C8-9E78-5ECAAAF3478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2266793" y="7267316"/>
            <a:ext cx="4114800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|  Published under cc-by licence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175566" y="7255814"/>
            <a:ext cx="284597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000" b="1">
                <a:solidFill>
                  <a:schemeClr val="tx1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chemeClr val="tx1">
              <a:alpha val="20000"/>
            </a:schemeClr>
          </a:solidFill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0" y="0"/>
              <a:ext cx="12192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-12032" y="-542026"/>
            <a:ext cx="2129051" cy="1501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000" b="0" cap="all" baseline="0" noProof="0" dirty="0">
                <a:latin typeface="+mj-lt"/>
              </a:rPr>
              <a:t>Name of the layout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E8839A4-EDB3-CD18-65F6-1247F05B0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00" y="7267317"/>
            <a:ext cx="1451700" cy="1517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35A72ECF-8B84-41B2-B55D-F6FF3126552C}" type="datetime3">
              <a:rPr lang="en-GB" smtClean="0"/>
              <a:t>14 November,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78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3" r:id="rId2"/>
    <p:sldLayoutId id="2147483664" r:id="rId3"/>
    <p:sldLayoutId id="2147483665" r:id="rId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2"/>
        </a:buClr>
        <a:buFont typeface="Aptos" panose="020B0004020202020204" pitchFamily="34" charset="0"/>
        <a:buChar char="−"/>
        <a:defRPr sz="18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ptos" panose="020B0004020202020204" pitchFamily="34" charset="0"/>
        <a:buNone/>
        <a:defRPr sz="18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ptos" panose="020B0004020202020204" pitchFamily="34" charset="0"/>
        <a:buNone/>
        <a:defRPr sz="2000" b="1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ptos" panose="020B0004020202020204" pitchFamily="34" charset="0"/>
        <a:buNone/>
        <a:defRPr sz="2000" b="1" i="0" kern="1200" cap="none" baseline="0">
          <a:solidFill>
            <a:schemeClr val="accent4"/>
          </a:solidFill>
          <a:latin typeface="+mj-lt"/>
          <a:ea typeface="+mn-ea"/>
          <a:cs typeface="+mn-cs"/>
        </a:defRPr>
      </a:lvl6pPr>
      <a:lvl7pPr marL="342900" indent="-3429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3429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2"/>
        </a:buClr>
        <a:buFontTx/>
        <a:buNone/>
        <a:tabLst/>
        <a:defRPr sz="1400" i="1" kern="120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display/WIKI/Snellius+hardware+and+file+system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e-ri.eu/wp-content/uploads/Best-Practice-Guide_Deep-Learning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en.wikipedia.org/wiki/Ampere_(microarchitecture)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ervicedesk.surf.nl/wiki/display/WIKI/Deep+Learning+on+A100+GPU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l/intel-extension-for-pytorch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www.lumi-supercomputer.eu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atalog.ngc.nvidia.com/orgs/nvidia/containers/pytorch" TargetMode="External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github.com/pytorch/pytorch/tree/main/third_party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display/WIKI/Deep+Learning+on+A100+GPU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ezyang.com/2020/09/lets-talk-about-the-pytorch-dispatcher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notes/cuda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hyperlink" Target="https://docs.nvidia.com/deeplearning/performance/index.html" TargetMode="External"/><Relationship Id="rId4" Type="http://schemas.openxmlformats.org/officeDocument/2006/relationships/hyperlink" Target="https://docs.nvidia.com/deeplearning/performance/dl-performance-memory-limited/index.html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SURF-ML/HPML-course-materials.git" TargetMode="External"/><Relationship Id="rId4" Type="http://schemas.openxmlformats.org/officeDocument/2006/relationships/hyperlink" Target="https://github.com/SURF-ML/HPML-course-materials/blob/august2025/Day2/notebooks/PyTorch_profiling.ipynb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hyperlink" Target="https://arxiv.org/pdf/2412.19437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7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/>
          </p:nvPr>
        </p:nvSpPr>
        <p:spPr>
          <a:xfrm>
            <a:off x="423360" y="524520"/>
            <a:ext cx="5556240" cy="2644920"/>
          </a:xfrm>
          <a:prstGeom prst="rect">
            <a:avLst/>
          </a:prstGeom>
          <a:blipFill rotWithShape="0">
            <a:blip r:embed="rId3">
              <a:alphaModFix amt="90000"/>
            </a:blip>
            <a:stretch/>
          </a:blipFill>
          <a:ln w="0">
            <a:noFill/>
          </a:ln>
        </p:spPr>
        <p:txBody>
          <a:bodyPr lIns="900000" tIns="720000" rIns="288000" bIns="1800000" anchor="t">
            <a:noAutofit/>
          </a:bodyPr>
          <a:lstStyle/>
          <a:p>
            <a:pPr>
              <a:lnSpc>
                <a:spcPct val="114999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GB" sz="2500" b="1" spc="-1" dirty="0">
                <a:solidFill>
                  <a:srgbClr val="000000"/>
                </a:solidFill>
                <a:latin typeface="Arial"/>
              </a:rPr>
              <a:t>High-Performance</a:t>
            </a:r>
            <a:br>
              <a:rPr lang="en-GB" sz="2500" b="1" spc="-1" dirty="0">
                <a:solidFill>
                  <a:srgbClr val="000000"/>
                </a:solidFill>
                <a:latin typeface="Arial"/>
              </a:rPr>
            </a:br>
            <a:r>
              <a:rPr lang="en-GB" sz="2500" b="1" spc="-1" dirty="0">
                <a:solidFill>
                  <a:srgbClr val="000000"/>
                </a:solidFill>
                <a:latin typeface="Arial"/>
              </a:rPr>
              <a:t>Machine-Learning</a:t>
            </a:r>
            <a:endParaRPr lang="nl-NL" dirty="0"/>
          </a:p>
        </p:txBody>
      </p:sp>
      <p:sp>
        <p:nvSpPr>
          <p:cNvPr id="931" name="PlaceHolder 2"/>
          <p:cNvSpPr>
            <a:spLocks noGrp="1"/>
          </p:cNvSpPr>
          <p:nvPr>
            <p:ph/>
          </p:nvPr>
        </p:nvSpPr>
        <p:spPr>
          <a:xfrm>
            <a:off x="1013040" y="2183760"/>
            <a:ext cx="4875120" cy="973800"/>
          </a:xfrm>
          <a:prstGeom prst="rect">
            <a:avLst/>
          </a:prstGeom>
          <a:noFill/>
          <a:ln w="0">
            <a:noFill/>
          </a:ln>
        </p:spPr>
        <p:txBody>
          <a:bodyPr lIns="324000" tIns="0" rIns="252000" bIns="0" anchor="t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lang="en-GB" sz="1800" spc="-1" dirty="0">
                <a:solidFill>
                  <a:srgbClr val="000000"/>
                </a:solidFill>
                <a:latin typeface="Calibri"/>
              </a:rPr>
              <a:t>Robert Jan Schlimbach</a:t>
            </a:r>
            <a:endParaRPr lang="en-US" sz="1800" spc="-1" dirty="0" err="1">
              <a:solidFill>
                <a:srgbClr val="000000"/>
              </a:solidFill>
              <a:latin typeface="Arial"/>
            </a:endParaRPr>
          </a:p>
          <a:p>
            <a:pPr>
              <a:buNone/>
              <a:tabLst>
                <a:tab pos="0" algn="l"/>
              </a:tabLst>
            </a:pPr>
            <a:r>
              <a:rPr lang="en-GB" sz="1800" spc="-1" dirty="0">
                <a:solidFill>
                  <a:srgbClr val="000000"/>
                </a:solidFill>
                <a:latin typeface="Calibri"/>
              </a:rPr>
              <a:t>Team High-Performance Machine-Learning</a:t>
            </a:r>
            <a:endParaRPr lang="en-GB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Google Shape;226;p23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4" name="Google Shape;227;p23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5" name="Google Shape;228;p23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6" name="Google Shape;229;p23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7" name="Google Shape;230;p23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Afbeelding 1" descr="Afbeelding met overdekt, muur&#10;&#10;Automatisch gegenereerde beschrijving">
            <a:extLst>
              <a:ext uri="{FF2B5EF4-FFF2-40B4-BE49-F238E27FC236}">
                <a16:creationId xmlns:a16="http://schemas.microsoft.com/office/drawing/2014/main" id="{5E179440-CA2A-E3A5-961A-432D77DB3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5176" y="-1587"/>
            <a:ext cx="6343650" cy="4757738"/>
          </a:xfrm>
          <a:prstGeom prst="rect">
            <a:avLst/>
          </a:prstGeom>
        </p:spPr>
      </p:pic>
      <p:pic>
        <p:nvPicPr>
          <p:cNvPr id="3" name="Afbeelding 2" descr="Afbeelding met elektronica, Elektrische bedrading, server, Elektronische engineering&#10;&#10;Automatisch gegenereerde beschrijving">
            <a:extLst>
              <a:ext uri="{FF2B5EF4-FFF2-40B4-BE49-F238E27FC236}">
                <a16:creationId xmlns:a16="http://schemas.microsoft.com/office/drawing/2014/main" id="{2731C261-ABC9-5567-C5BA-58F99BC4F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175" y="3038474"/>
            <a:ext cx="2863850" cy="3821113"/>
          </a:xfrm>
          <a:prstGeom prst="rect">
            <a:avLst/>
          </a:prstGeom>
        </p:spPr>
      </p:pic>
      <p:pic>
        <p:nvPicPr>
          <p:cNvPr id="4" name="Afbeelding 3" descr="Afbeelding met elektronica, Elektronische engineering, Computeronderdeel, Elektrische bedrading&#10;&#10;Automatisch gegenereerde beschrijving">
            <a:extLst>
              <a:ext uri="{FF2B5EF4-FFF2-40B4-BE49-F238E27FC236}">
                <a16:creationId xmlns:a16="http://schemas.microsoft.com/office/drawing/2014/main" id="{AA44F28F-FC9A-23BE-5E7B-72FDFE0B9E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700" y="3038474"/>
            <a:ext cx="2863850" cy="382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5586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87A890E-C00D-9197-00A6-88BD19A651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79" y="6286088"/>
            <a:ext cx="932400" cy="475200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C98650D-C22E-DF84-F100-67830B77CE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DCA0AD4-71FD-E7CA-1CA5-7959F1F2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 this presentation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10DA4847-4A36-C5BF-512D-1661932BFC1E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44207" y="1342326"/>
            <a:ext cx="10275278" cy="4060393"/>
          </a:xfrm>
        </p:spPr>
        <p:txBody>
          <a:bodyPr/>
          <a:lstStyle/>
          <a:p>
            <a:pPr lvl="3"/>
            <a:r>
              <a:rPr lang="nl-NL" sz="3600" dirty="0"/>
              <a:t>Making (AI) workloads go fast</a:t>
            </a:r>
          </a:p>
          <a:p>
            <a:pPr lvl="3"/>
            <a:endParaRPr lang="nl-NL" sz="3600" dirty="0"/>
          </a:p>
          <a:p>
            <a:pPr lvl="3"/>
            <a:r>
              <a:rPr lang="nl-NL" sz="3600" dirty="0"/>
              <a:t>Warning: this will be messy</a:t>
            </a:r>
          </a:p>
          <a:p>
            <a:pPr lvl="3"/>
            <a:endParaRPr lang="nl-NL" sz="3600" dirty="0"/>
          </a:p>
          <a:p>
            <a:pPr lvl="3"/>
            <a:endParaRPr lang="nl-NL" sz="3600" dirty="0"/>
          </a:p>
          <a:p>
            <a:pPr lvl="3"/>
            <a:r>
              <a:rPr lang="nl-NL" sz="3600" dirty="0"/>
              <a:t>Material is available at </a:t>
            </a:r>
            <a:br>
              <a:rPr lang="nl-NL" sz="3600" dirty="0"/>
            </a:br>
            <a:r>
              <a:rPr lang="nl-NL" sz="3200" dirty="0"/>
              <a:t>https://github.com/SURF-ML/HPML-course-materials</a:t>
            </a:r>
          </a:p>
        </p:txBody>
      </p:sp>
      <p:pic>
        <p:nvPicPr>
          <p:cNvPr id="7" name="Picture 6" descr="A firefighter spraying water on a fire&#10;&#10;AI-generated content may be incorrect.">
            <a:extLst>
              <a:ext uri="{FF2B5EF4-FFF2-40B4-BE49-F238E27FC236}">
                <a16:creationId xmlns:a16="http://schemas.microsoft.com/office/drawing/2014/main" id="{FB4F60AC-C95B-3247-D34B-BED58BC82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60" y="628307"/>
            <a:ext cx="4837100" cy="322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8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E24CD-E146-B678-D912-C461DE63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49DEEC0-5F21-9F3B-54F0-078494B189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79" y="6286088"/>
            <a:ext cx="932400" cy="475200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C44529F-B658-22C9-5720-49D0391A8E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21D4EBC-51A8-6827-4B09-03D5DB2A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 this presentation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1371A7E3-3A14-B863-4BA8-487434043E7C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44207" y="1342326"/>
            <a:ext cx="10275278" cy="4060393"/>
          </a:xfrm>
        </p:spPr>
        <p:txBody>
          <a:bodyPr/>
          <a:lstStyle/>
          <a:p>
            <a:pPr lvl="3"/>
            <a:r>
              <a:rPr lang="nl-NL" sz="3600" dirty="0"/>
              <a:t>Please:</a:t>
            </a:r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nl-NL" sz="3600" dirty="0"/>
              <a:t>Interrupt me</a:t>
            </a:r>
            <a:br>
              <a:rPr lang="nl-NL" sz="3600" dirty="0"/>
            </a:br>
            <a:r>
              <a:rPr lang="nl-NL" sz="3600" dirty="0"/>
              <a:t>if you have a question</a:t>
            </a:r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nl-NL" sz="3600" dirty="0"/>
              <a:t>Let me know</a:t>
            </a:r>
            <a:br>
              <a:rPr lang="nl-NL" sz="3600" dirty="0"/>
            </a:br>
            <a:r>
              <a:rPr lang="nl-NL" sz="3600" dirty="0"/>
              <a:t>if something is unclear</a:t>
            </a:r>
            <a:br>
              <a:rPr lang="nl-NL" sz="3200" dirty="0"/>
            </a:br>
            <a:r>
              <a:rPr lang="nl-NL" sz="3200" dirty="0"/>
              <a:t>(it’s probably me, not you)</a:t>
            </a:r>
            <a:endParaRPr lang="nl-NL" sz="3600" dirty="0"/>
          </a:p>
        </p:txBody>
      </p:sp>
      <p:pic>
        <p:nvPicPr>
          <p:cNvPr id="7" name="Picture 6" descr="A firefighter spraying water on a fire&#10;&#10;AI-generated content may be incorrect.">
            <a:extLst>
              <a:ext uri="{FF2B5EF4-FFF2-40B4-BE49-F238E27FC236}">
                <a16:creationId xmlns:a16="http://schemas.microsoft.com/office/drawing/2014/main" id="{D89D88F9-9272-E713-9B15-D4AE2E2DB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60" y="628307"/>
            <a:ext cx="4837100" cy="322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9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185BA-5495-BF3E-CCEF-973974A4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C537ADBB-B8D9-C08E-E653-9C7C468D439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A2BFDBF-96C6-C8BA-BD1E-A7DBE1275965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Macro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D4D6133-BFE7-F90D-F68E-4948213CA1A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E456379-F52C-CE62-0FB7-438431150BCC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871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Who am I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440293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b="1" spc="-1" dirty="0">
                <a:solidFill>
                  <a:srgbClr val="000000"/>
                </a:solidFill>
                <a:latin typeface="Arial"/>
              </a:rPr>
              <a:t>Robert Jan: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Arial"/>
              </a:rPr>
              <a:t>UvA</a:t>
            </a:r>
            <a:r>
              <a:rPr lang="en-GB" sz="1600" spc="-1" dirty="0">
                <a:solidFill>
                  <a:srgbClr val="000000"/>
                </a:solidFill>
                <a:latin typeface="Arial"/>
              </a:rPr>
              <a:t> CS&amp;AI grad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HPC ML advisor at SURF</a:t>
            </a:r>
            <a:endParaRPr lang="en-US" sz="1600" spc="-1" dirty="0"/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Love making code go fast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Love running, climbing, and mountains</a:t>
            </a:r>
            <a:endParaRPr lang="en-US" sz="1600" spc="-1" dirty="0"/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b="1" dirty="0"/>
              <a:t>SURF</a:t>
            </a:r>
            <a:endParaRPr lang="en-GB" sz="1600" dirty="0"/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Help academia in a very broad sense</a:t>
            </a:r>
            <a:endParaRPr lang="en-US" sz="1600" spc="-1" dirty="0"/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 err="1"/>
              <a:t>Eduroam</a:t>
            </a:r>
            <a:r>
              <a:rPr lang="en-GB" sz="1600" dirty="0"/>
              <a:t>, </a:t>
            </a:r>
            <a:r>
              <a:rPr lang="en-GB" sz="1600" dirty="0" err="1"/>
              <a:t>SurfConext</a:t>
            </a:r>
            <a:r>
              <a:rPr lang="en-GB" sz="1600" dirty="0"/>
              <a:t>, </a:t>
            </a:r>
            <a:r>
              <a:rPr lang="en-GB" sz="1600" dirty="0" err="1"/>
              <a:t>SurfMarket</a:t>
            </a:r>
            <a:r>
              <a:rPr lang="en-GB" sz="1600" dirty="0"/>
              <a:t>, National Supercomputer, etc...</a:t>
            </a:r>
            <a:endParaRPr lang="en-US" sz="1600" spc="-1" dirty="0"/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Collaborate a lot in (Inter-)National projects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Bulwark against our Microsoft overlords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b="1" dirty="0"/>
              <a:t>High-Performance Machine-Learning group</a:t>
            </a:r>
          </a:p>
          <a:p>
            <a:pPr>
              <a:lnSpc>
                <a:spcPct val="100000"/>
              </a:lnSpc>
              <a:buClr>
                <a:srgbClr val="EA7600"/>
              </a:buClr>
            </a:pPr>
            <a:r>
              <a:rPr lang="en-GB" sz="1600" dirty="0"/>
              <a:t>Very diverse set of people interested in everything AI &amp; Science &amp; HPC &amp; …</a:t>
            </a:r>
            <a:br>
              <a:rPr lang="en-GB" sz="2000" dirty="0"/>
            </a:br>
            <a:r>
              <a:rPr lang="en-GB" sz="2000" spc="-1" dirty="0">
                <a:solidFill>
                  <a:srgbClr val="000000"/>
                </a:solidFill>
                <a:latin typeface="Calibri"/>
              </a:rPr>
              <a:t> 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050" name="Picture 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A76DEC36-97B1-94DD-AC3B-4F1908010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603" y="271116"/>
            <a:ext cx="2379874" cy="238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71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Snellius</a:t>
            </a: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72040" y="87264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~1300 CPU-based nodes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128-192 cores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256-378 GB RAM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~100 high-memory nodes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1TB-8TB RAM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160 </a:t>
            </a:r>
            <a:r>
              <a:rPr lang="en-GB" sz="2000" spc="-1" dirty="0">
                <a:latin typeface="Calibri"/>
              </a:rPr>
              <a:t>GPU nodes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x4 </a:t>
            </a:r>
            <a:r>
              <a:rPr lang="en-GB" sz="1600" spc="-1" dirty="0" err="1">
                <a:latin typeface="Calibri"/>
              </a:rPr>
              <a:t>nvidia</a:t>
            </a:r>
            <a:r>
              <a:rPr lang="en-GB" sz="1600" spc="-1" dirty="0">
                <a:latin typeface="Calibri"/>
              </a:rPr>
              <a:t> A100s / H100s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512GB RAM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40GB /94 GB VRAM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400" spc="-1" dirty="0">
                <a:latin typeface="Calibri"/>
              </a:rPr>
              <a:t>Storage: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~13PB of medium-speed storage project space</a:t>
            </a:r>
            <a:endParaRPr lang="en-GB" sz="1600" dirty="0"/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720TB of home-</a:t>
            </a:r>
            <a:r>
              <a:rPr lang="en-GB" sz="1600" spc="-1" dirty="0" err="1">
                <a:latin typeface="Calibri"/>
              </a:rPr>
              <a:t>dir</a:t>
            </a:r>
            <a:endParaRPr lang="en-GB" sz="1600" spc="-1" dirty="0">
              <a:latin typeface="Calibri"/>
            </a:endParaRP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210TB of NVME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Interconnect: 100GBps </a:t>
            </a:r>
            <a:r>
              <a:rPr lang="en-GB" sz="2000" spc="-1" dirty="0" err="1">
                <a:latin typeface="Calibri"/>
              </a:rPr>
              <a:t>Infiniband</a:t>
            </a:r>
            <a:r>
              <a:rPr lang="en-GB" sz="2000" spc="-1" dirty="0">
                <a:latin typeface="Calibri"/>
              </a:rPr>
              <a:t> fat-tree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latin typeface="Calibri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3" name="Afbeelding 2" descr="Fat-Tree Topology">
            <a:extLst>
              <a:ext uri="{FF2B5EF4-FFF2-40B4-BE49-F238E27FC236}">
                <a16:creationId xmlns:a16="http://schemas.microsoft.com/office/drawing/2014/main" id="{EE3F339D-19D0-CBD9-16B5-EAC610DD2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507" y="4018745"/>
            <a:ext cx="5278335" cy="2511755"/>
          </a:xfrm>
          <a:prstGeom prst="rect">
            <a:avLst/>
          </a:prstGeom>
        </p:spPr>
      </p:pic>
      <p:pic>
        <p:nvPicPr>
          <p:cNvPr id="4" name="Afbeelding 3" descr="Afbeelding met elektronica, Elektronische engineering, Computeronderdeel, Elektrische bedrading&#10;&#10;Automatisch gegenereerde beschrijving">
            <a:extLst>
              <a:ext uri="{FF2B5EF4-FFF2-40B4-BE49-F238E27FC236}">
                <a16:creationId xmlns:a16="http://schemas.microsoft.com/office/drawing/2014/main" id="{88FD844E-B483-68AB-5248-AEA8D4609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754" y="15367"/>
            <a:ext cx="2863850" cy="3821113"/>
          </a:xfrm>
          <a:prstGeom prst="rect">
            <a:avLst/>
          </a:prstGeom>
        </p:spPr>
      </p:pic>
      <p:pic>
        <p:nvPicPr>
          <p:cNvPr id="5" name="Afbeelding 1" descr="Afbeelding met overdekt, muur&#10;&#10;Automatisch gegenereerde beschrijving">
            <a:extLst>
              <a:ext uri="{FF2B5EF4-FFF2-40B4-BE49-F238E27FC236}">
                <a16:creationId xmlns:a16="http://schemas.microsoft.com/office/drawing/2014/main" id="{8480D8B8-C127-B362-3414-1D30C54EF3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7284" y="-1"/>
            <a:ext cx="4711542" cy="353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5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BA66-F70F-419D-ED09-DD1079F7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F3F1CCB2-60D9-2646-F83D-646C87F61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latin typeface="Calibri"/>
              </a:rPr>
              <a:t>Access mechanisms</a:t>
            </a: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1953AEC7-999F-FC31-BD90-ADD05B3FE9D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72040" y="872640"/>
            <a:ext cx="8973720" cy="489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Direct access through institute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NWO small: &lt;=1M SBUs, &lt;= 10TB storage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NWO big: &gt;1M SBUs, &gt;10TB storage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LUMI access through SURF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LUMI/MN5/Leonardo/Jupiter: through EuroHPC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We also offer Spider HTC (‘small compute &amp; large data) and HPC Cloud (‘always on’) and </a:t>
            </a:r>
            <a:r>
              <a:rPr lang="en-GB" sz="2000" spc="-1" dirty="0" err="1">
                <a:latin typeface="Calibri"/>
              </a:rPr>
              <a:t>dCache</a:t>
            </a:r>
            <a:r>
              <a:rPr lang="en-GB" sz="2000" spc="-1" dirty="0">
                <a:latin typeface="Calibri"/>
              </a:rPr>
              <a:t> (data caching)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latin typeface="Calibri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We offer consultancy!</a:t>
            </a: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4 hours ‘default’</a:t>
            </a: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Up to 160 hours ‘if we think your project is important’</a:t>
            </a: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NWO large: a lot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800" spc="-1" dirty="0">
              <a:latin typeface="Calibri"/>
            </a:endParaRP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pc="-1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22B114CF-F80F-13DF-FB40-1A9692525067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04D0848E-5218-C80E-519B-AA41761A02FB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C3DEA03E-867B-531F-665E-1ACFD3A54177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2D9BDBC-74A4-5AFE-6E15-464C8E8BF150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1155E43B-B9E1-FEB5-BEF1-D97B2EA3742A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9B007DF9-9655-C2CE-AECA-86C5F40C3A81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95815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6662B-63D9-4F68-03BF-1866A360B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043365A-A5C9-F175-C388-89F24D14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797948C5-3EA3-311A-BBF0-16706C8351B1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2A19A8D4-141A-F941-0B4E-14F3FB388514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Micro: fast(er) code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A0E0BA05-62F3-89D8-A561-A30C0B336D6D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30DC7E04-32C2-816F-E21D-24EA21F34C31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169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The three S'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Calibri"/>
              </a:rPr>
              <a:t>Know your System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What kind of hardware do I have?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What features does my hardware support?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Calibri"/>
              </a:rPr>
              <a:t>Know your Software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Does my software do what I want to do efficiently?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Does my software support my hardware features?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Calibri"/>
              </a:rPr>
              <a:t>Know your Stack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What version of software am I running?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Is my stack compiled for my hardware?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31867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System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872640"/>
            <a:ext cx="8973720" cy="5907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Which CPUs?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Architectures: X86_64, ARM64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What kind of storage?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SSD,  HDD, Tape?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SATA, NVMe or full PCI-E, Network?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What kind of Networking?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Ethernet? InfiniBand (IB)?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IOPs vs Throughput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What kind of RAM?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High Bandwidth Memory (HBM) or Double Data Rate (DDR)?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How much? Enough for a </a:t>
            </a:r>
            <a:r>
              <a:rPr lang="en-GB" sz="1400" spc="-1" dirty="0" err="1">
                <a:cs typeface="Arial"/>
              </a:rPr>
              <a:t>RAMdisk</a:t>
            </a:r>
            <a:r>
              <a:rPr lang="en-GB" sz="1400" spc="-1" dirty="0">
                <a:cs typeface="Arial"/>
              </a:rPr>
              <a:t>? (/dev/</a:t>
            </a:r>
            <a:r>
              <a:rPr lang="en-GB" sz="1400" spc="-1" dirty="0" err="1">
                <a:cs typeface="Arial"/>
              </a:rPr>
              <a:t>shm</a:t>
            </a:r>
            <a:r>
              <a:rPr lang="en-GB" sz="1400" spc="-1" dirty="0">
                <a:cs typeface="Arial"/>
              </a:rPr>
              <a:t>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You (AI person) are always memory limited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Which GPUs?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AMD? Good raw performance, </a:t>
            </a:r>
            <a:r>
              <a:rPr lang="en-GB" sz="1400" spc="-1" dirty="0" err="1">
                <a:cs typeface="Arial"/>
              </a:rPr>
              <a:t>PyTorch</a:t>
            </a:r>
            <a:r>
              <a:rPr lang="en-GB" sz="1400" spc="-1" dirty="0">
                <a:cs typeface="Arial"/>
              </a:rPr>
              <a:t> support is improving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NVIDIA? Optimized for AI with good </a:t>
            </a:r>
            <a:r>
              <a:rPr lang="en-GB" sz="1400" spc="-1" dirty="0" err="1">
                <a:cs typeface="Arial"/>
              </a:rPr>
              <a:t>PyTorch</a:t>
            </a:r>
            <a:r>
              <a:rPr lang="en-GB" sz="1400" spc="-1" dirty="0">
                <a:cs typeface="Arial"/>
              </a:rPr>
              <a:t> support.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Intel? Technically supported in </a:t>
            </a:r>
            <a:r>
              <a:rPr lang="en-GB" sz="1400" spc="-1" dirty="0" err="1">
                <a:cs typeface="Arial"/>
              </a:rPr>
              <a:t>PyTorch</a:t>
            </a:r>
            <a:r>
              <a:rPr lang="en-GB" sz="1400" spc="-1" dirty="0">
                <a:cs typeface="Arial"/>
              </a:rPr>
              <a:t>.</a:t>
            </a:r>
          </a:p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600" spc="-1" dirty="0">
              <a:cs typeface="Arial"/>
            </a:endParaRP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2000" spc="-1" dirty="0"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4B8C8-0F66-2ED2-1A48-2790AB937D1F}"/>
              </a:ext>
            </a:extLst>
          </p:cNvPr>
          <p:cNvSpPr txBox="1"/>
          <p:nvPr/>
        </p:nvSpPr>
        <p:spPr>
          <a:xfrm>
            <a:off x="3917079" y="6585840"/>
            <a:ext cx="8972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800" spc="-1" dirty="0">
                <a:ea typeface="+mn-lt"/>
                <a:cs typeface="+mn-lt"/>
                <a:hlinkClick r:id="rId3"/>
              </a:rPr>
              <a:t>https://servicedesk.surf.nl/wiki/display/WIKI/Snellius+hardware+and+file+systems</a:t>
            </a:r>
            <a:endParaRPr lang="nl-NL" sz="1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588467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System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Goals:</a:t>
            </a:r>
          </a:p>
          <a:p>
            <a:r>
              <a:rPr lang="nl-NL" dirty="0"/>
              <a:t>Understand </a:t>
            </a:r>
            <a:r>
              <a:rPr lang="nl-NL" dirty="0" err="1"/>
              <a:t>what</a:t>
            </a:r>
            <a:r>
              <a:rPr lang="nl-NL" dirty="0"/>
              <a:t> hardware bottlenecks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limiting</a:t>
            </a:r>
            <a:endParaRPr lang="nl-NL" dirty="0"/>
          </a:p>
          <a:p>
            <a:r>
              <a:rPr lang="nl-NL" dirty="0"/>
              <a:t>Understand pro’s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con’s</a:t>
            </a:r>
            <a:r>
              <a:rPr lang="nl-NL" dirty="0"/>
              <a:t> of </a:t>
            </a:r>
            <a:r>
              <a:rPr lang="nl-NL" dirty="0" err="1"/>
              <a:t>various</a:t>
            </a:r>
            <a:r>
              <a:rPr lang="nl-NL" dirty="0"/>
              <a:t> hardware</a:t>
            </a:r>
          </a:p>
          <a:p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appropriate</a:t>
            </a:r>
            <a:r>
              <a:rPr lang="nl-NL" dirty="0"/>
              <a:t> hardware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DL </a:t>
            </a:r>
            <a:r>
              <a:rPr lang="nl-NL" dirty="0" err="1"/>
              <a:t>task</a:t>
            </a:r>
            <a:endParaRPr lang="nl-NL" dirty="0"/>
          </a:p>
          <a:p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mitigate</a:t>
            </a:r>
            <a:r>
              <a:rPr lang="nl-NL" dirty="0"/>
              <a:t> bottlenecks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137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Fundamental bottlenecks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12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7237683" y="1079058"/>
            <a:ext cx="3468787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E.g. training a compute intensive network on a single node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642100" y="12700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34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Fundamental bottlenecks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13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32483" y="1551498"/>
            <a:ext cx="4547917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/>
              <a:t>Data </a:t>
            </a:r>
            <a:r>
              <a:rPr lang="nl-NL" err="1"/>
              <a:t>needs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get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processor in time in order </a:t>
            </a:r>
            <a:r>
              <a:rPr lang="nl-NL" err="1"/>
              <a:t>to</a:t>
            </a:r>
            <a:r>
              <a:rPr lang="nl-NL"/>
              <a:t> do </a:t>
            </a:r>
            <a:r>
              <a:rPr lang="nl-NL" err="1"/>
              <a:t>compute</a:t>
            </a:r>
            <a:r>
              <a:rPr lang="nl-NL"/>
              <a:t>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err="1"/>
              <a:t>Many</a:t>
            </a:r>
            <a:r>
              <a:rPr lang="nl-NL"/>
              <a:t> codes are </a:t>
            </a:r>
            <a:r>
              <a:rPr lang="nl-NL" err="1"/>
              <a:t>limited</a:t>
            </a:r>
            <a:r>
              <a:rPr lang="nl-NL"/>
              <a:t> </a:t>
            </a:r>
            <a:r>
              <a:rPr lang="nl-NL" err="1"/>
              <a:t>by</a:t>
            </a:r>
            <a:r>
              <a:rPr lang="nl-NL"/>
              <a:t> memory </a:t>
            </a:r>
            <a:r>
              <a:rPr lang="nl-NL" err="1"/>
              <a:t>bandwidth</a:t>
            </a:r>
            <a:endParaRPr lang="nl-NL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36900" y="18034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0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Fundamental bottlenecks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14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32483" y="1588869"/>
            <a:ext cx="5337256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(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) </a:t>
            </a:r>
            <a:r>
              <a:rPr lang="nl-NL" dirty="0" err="1"/>
              <a:t>limited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memory: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 err="1"/>
              <a:t>Deep</a:t>
            </a:r>
            <a:r>
              <a:rPr lang="nl-NL" dirty="0"/>
              <a:t>/</a:t>
            </a:r>
            <a:r>
              <a:rPr lang="nl-NL" dirty="0" err="1"/>
              <a:t>wide</a:t>
            </a:r>
            <a:r>
              <a:rPr lang="nl-NL" dirty="0"/>
              <a:t> </a:t>
            </a:r>
            <a:r>
              <a:rPr lang="nl-NL" dirty="0" err="1"/>
              <a:t>networks</a:t>
            </a:r>
            <a:endParaRPr lang="nl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Networks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large input/output </a:t>
            </a:r>
            <a:r>
              <a:rPr lang="nl-NL" dirty="0" err="1"/>
              <a:t>layers</a:t>
            </a:r>
            <a:r>
              <a:rPr lang="nl-NL" dirty="0"/>
              <a:t> (e.g. high </a:t>
            </a:r>
            <a:r>
              <a:rPr lang="nl-NL" dirty="0" err="1"/>
              <a:t>res</a:t>
            </a:r>
            <a:r>
              <a:rPr lang="nl-NL" dirty="0"/>
              <a:t> images)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Not</a:t>
            </a:r>
            <a:r>
              <a:rPr lang="nl-NL" dirty="0"/>
              <a:t> a performance bottleneck, but a no-go!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But: </a:t>
            </a:r>
            <a:r>
              <a:rPr lang="nl-NL" dirty="0" err="1"/>
              <a:t>unified</a:t>
            </a:r>
            <a:r>
              <a:rPr lang="nl-NL" dirty="0"/>
              <a:t> memory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73683" y="22352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07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Fundamental bottlenecks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15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07083" y="1932970"/>
            <a:ext cx="5337256" cy="24006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HPC systems </a:t>
            </a:r>
            <a:r>
              <a:rPr lang="nl-NL" dirty="0" err="1"/>
              <a:t>typically</a:t>
            </a:r>
            <a:r>
              <a:rPr lang="nl-NL" dirty="0"/>
              <a:t> have shared file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bandwitdh</a:t>
            </a:r>
            <a:endParaRPr lang="nl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(</a:t>
            </a:r>
            <a:r>
              <a:rPr lang="nl-NL" dirty="0" err="1"/>
              <a:t>relatively</a:t>
            </a:r>
            <a:r>
              <a:rPr lang="nl-NL" dirty="0"/>
              <a:t>) low I/O operations per second (IOPS)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Common bottleneck in </a:t>
            </a:r>
            <a:r>
              <a:rPr lang="nl-NL" dirty="0" err="1"/>
              <a:t>distributed</a:t>
            </a:r>
            <a:r>
              <a:rPr lang="nl-NL" dirty="0"/>
              <a:t> </a:t>
            </a:r>
            <a:r>
              <a:rPr lang="nl-NL" dirty="0" err="1"/>
              <a:t>learning</a:t>
            </a:r>
            <a:r>
              <a:rPr lang="nl-NL" dirty="0"/>
              <a:t>!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reading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filesystem.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Other</a:t>
            </a:r>
            <a:r>
              <a:rPr lang="nl-NL" dirty="0"/>
              <a:t> users (&amp; </a:t>
            </a:r>
            <a:r>
              <a:rPr lang="nl-NL" dirty="0" err="1"/>
              <a:t>sysadmins</a:t>
            </a:r>
            <a:r>
              <a:rPr lang="nl-NL" dirty="0"/>
              <a:t>)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dislike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do I/O in a </a:t>
            </a:r>
            <a:r>
              <a:rPr lang="nl-NL" dirty="0" err="1"/>
              <a:t>naive</a:t>
            </a:r>
            <a:r>
              <a:rPr lang="nl-NL" dirty="0"/>
              <a:t> way!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48283" y="27178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21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Fundamental bottlenecks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16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07082" y="2295800"/>
            <a:ext cx="6033817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 anchor="t">
            <a:spAutoFit/>
          </a:bodyPr>
          <a:lstStyle/>
          <a:p>
            <a:r>
              <a:rPr lang="nl-NL" dirty="0"/>
              <a:t>Communication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limiting</a:t>
            </a:r>
            <a:r>
              <a:rPr lang="nl-NL" dirty="0"/>
              <a:t> in </a:t>
            </a:r>
            <a:r>
              <a:rPr lang="nl-NL" dirty="0" err="1"/>
              <a:t>several</a:t>
            </a:r>
            <a:r>
              <a:rPr lang="nl-NL" dirty="0"/>
              <a:t> </a:t>
            </a:r>
            <a:r>
              <a:rPr lang="nl-NL" dirty="0" err="1"/>
              <a:t>ways</a:t>
            </a:r>
            <a:r>
              <a:rPr lang="nl-NL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Latency</a:t>
            </a:r>
            <a:r>
              <a:rPr lang="nl-NL" dirty="0"/>
              <a:t> (</a:t>
            </a:r>
            <a:r>
              <a:rPr lang="nl-NL" dirty="0" err="1"/>
              <a:t>many</a:t>
            </a:r>
            <a:r>
              <a:rPr lang="nl-NL" dirty="0"/>
              <a:t>, small </a:t>
            </a:r>
            <a:r>
              <a:rPr lang="nl-NL" dirty="0" err="1"/>
              <a:t>message</a:t>
            </a:r>
            <a:r>
              <a:rPr lang="nl-NL" dirty="0"/>
              <a:t> </a:t>
            </a:r>
            <a:r>
              <a:rPr lang="nl-NL" dirty="0" err="1"/>
              <a:t>send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Bandwidth</a:t>
            </a:r>
            <a:r>
              <a:rPr lang="nl-NL" dirty="0"/>
              <a:t> (few, large </a:t>
            </a:r>
            <a:r>
              <a:rPr lang="nl-NL" dirty="0" err="1"/>
              <a:t>messages</a:t>
            </a:r>
            <a:r>
              <a:rPr lang="nl-NL" dirty="0"/>
              <a:t> </a:t>
            </a:r>
            <a:r>
              <a:rPr lang="nl-NL" dirty="0" err="1"/>
              <a:t>send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Load </a:t>
            </a:r>
            <a:r>
              <a:rPr lang="nl-NL" dirty="0" err="1"/>
              <a:t>imbalance</a:t>
            </a:r>
            <a:r>
              <a:rPr lang="nl-NL" dirty="0"/>
              <a:t> (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workers</a:t>
            </a:r>
            <a:r>
              <a:rPr lang="nl-NL" dirty="0"/>
              <a:t> in </a:t>
            </a:r>
            <a:r>
              <a:rPr lang="nl-NL" dirty="0" err="1"/>
              <a:t>distributed</a:t>
            </a:r>
            <a:r>
              <a:rPr lang="nl-NL" dirty="0"/>
              <a:t> job are slower / have more </a:t>
            </a:r>
            <a:r>
              <a:rPr lang="nl-NL" dirty="0" err="1"/>
              <a:t>work</a:t>
            </a:r>
            <a:r>
              <a:rPr lang="nl-NL" dirty="0"/>
              <a:t>; </a:t>
            </a:r>
            <a:r>
              <a:rPr lang="nl-NL" dirty="0" err="1"/>
              <a:t>others</a:t>
            </a:r>
            <a:r>
              <a:rPr lang="nl-NL" dirty="0"/>
              <a:t> have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wait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synchronization</a:t>
            </a:r>
            <a:r>
              <a:rPr lang="nl-NL" dirty="0"/>
              <a:t> is </a:t>
            </a:r>
            <a:r>
              <a:rPr lang="nl-NL" dirty="0" err="1"/>
              <a:t>needed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CPU &lt;-&gt;</a:t>
            </a:r>
            <a:r>
              <a:rPr lang="nl-NL" dirty="0">
                <a:sym typeface="Wingdings" panose="05000000000000000000" pitchFamily="2" charset="2"/>
              </a:rPr>
              <a:t> GPU sync</a:t>
            </a:r>
            <a:endParaRPr lang="nl-NL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48283" y="316953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2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06" y="151652"/>
            <a:ext cx="11149188" cy="600744"/>
          </a:xfrm>
        </p:spPr>
        <p:txBody>
          <a:bodyPr/>
          <a:lstStyle/>
          <a:p>
            <a:r>
              <a:rPr kumimoji="0" lang="nl-NL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Some</a:t>
            </a: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context</a:t>
            </a:r>
            <a:endParaRPr lang="nl-NL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17</a:t>
            </a:fld>
            <a:endParaRPr lang="nl-NL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D057561-C84D-F8F1-7628-7604D5A5853D}"/>
              </a:ext>
            </a:extLst>
          </p:cNvPr>
          <p:cNvGraphicFramePr>
            <a:graphicFrameLocks noGrp="1"/>
          </p:cNvGraphicFramePr>
          <p:nvPr/>
        </p:nvGraphicFramePr>
        <p:xfrm>
          <a:off x="3235319" y="78889"/>
          <a:ext cx="7858683" cy="664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147">
                  <a:extLst>
                    <a:ext uri="{9D8B030D-6E8A-4147-A177-3AD203B41FA5}">
                      <a16:colId xmlns:a16="http://schemas.microsoft.com/office/drawing/2014/main" val="3122299815"/>
                    </a:ext>
                  </a:extLst>
                </a:gridCol>
                <a:gridCol w="1768268">
                  <a:extLst>
                    <a:ext uri="{9D8B030D-6E8A-4147-A177-3AD203B41FA5}">
                      <a16:colId xmlns:a16="http://schemas.microsoft.com/office/drawing/2014/main" val="4182471653"/>
                    </a:ext>
                  </a:extLst>
                </a:gridCol>
                <a:gridCol w="1768268">
                  <a:extLst>
                    <a:ext uri="{9D8B030D-6E8A-4147-A177-3AD203B41FA5}">
                      <a16:colId xmlns:a16="http://schemas.microsoft.com/office/drawing/2014/main" val="411628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Equivalent to N CPU 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75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 ns (@4GHz)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04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ns (@1 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555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L1 CPU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48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L2 CPU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78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main CPU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014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=&gt; GPU latency (PCI)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68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 GPU latency (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NVLink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570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Infiniband</a:t>
                      </a:r>
                      <a:r>
                        <a:rPr lang="en-US" dirty="0"/>
                        <a:t> network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917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Ethernet network latency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10-1000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40k-4M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7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Seek time (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59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Seek time (Sata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4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Seek time (hard disk)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2-5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8-20M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8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File System (NFS) response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10-40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40-120M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43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Robot Fetch time (Tape)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+- 60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73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46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185BA-5495-BF3E-CCEF-973974A4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C537ADBB-B8D9-C08E-E653-9C7C468D439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A2BFDBF-96C6-C8BA-BD1E-A7DBE1275965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Micro: compute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D4D6133-BFE7-F90D-F68E-4948213CA1A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E456379-F52C-CE62-0FB7-438431150BCC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403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19</a:t>
            </a:fld>
            <a:endParaRPr lang="nl-N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0BFC-7F82-2B9C-3AF3-D75E3A00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19031"/>
              </p:ext>
            </p:extLst>
          </p:nvPr>
        </p:nvGraphicFramePr>
        <p:xfrm>
          <a:off x="0" y="625353"/>
          <a:ext cx="12192001" cy="6384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58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4157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8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5237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130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130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31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351DD8E-B6E3-0246-0847-973C54C27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060776"/>
              </p:ext>
            </p:extLst>
          </p:nvPr>
        </p:nvGraphicFramePr>
        <p:xfrm>
          <a:off x="0" y="625353"/>
          <a:ext cx="12192001" cy="64582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58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4157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8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5237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3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INT8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607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337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20</a:t>
            </a:fld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7BE87-189C-884D-5BDC-FEFCF3582353}"/>
              </a:ext>
            </a:extLst>
          </p:cNvPr>
          <p:cNvSpPr txBox="1"/>
          <p:nvPr/>
        </p:nvSpPr>
        <p:spPr>
          <a:xfrm>
            <a:off x="3297286" y="6293816"/>
            <a:ext cx="43201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>
                <a:hlinkClick r:id="rId3"/>
              </a:rPr>
              <a:t>Prace best practice guide – deep learning </a:t>
            </a:r>
            <a:endParaRPr lang="en-US" sz="1400"/>
          </a:p>
          <a:p>
            <a:pPr algn="ctr"/>
            <a:r>
              <a:rPr lang="nl-NL" sz="1400">
                <a:hlinkClick r:id="rId4"/>
              </a:rPr>
              <a:t>https://en.wikipedia.org/wiki/Ampere_(microarchitecture)</a:t>
            </a:r>
            <a:r>
              <a:rPr lang="en-US" sz="1400"/>
              <a:t> </a:t>
            </a:r>
            <a:endParaRPr lang="nl-NL" sz="14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7DB686-0C81-F3D5-44A9-20E886913C4E}"/>
              </a:ext>
            </a:extLst>
          </p:cNvPr>
          <p:cNvCxnSpPr/>
          <p:nvPr/>
        </p:nvCxnSpPr>
        <p:spPr>
          <a:xfrm flipH="1">
            <a:off x="4056065" y="526419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30EC93-7FF2-9F22-58D1-FC670331CD90}"/>
              </a:ext>
            </a:extLst>
          </p:cNvPr>
          <p:cNvSpPr txBox="1"/>
          <p:nvPr/>
        </p:nvSpPr>
        <p:spPr>
          <a:xfrm>
            <a:off x="4338770" y="28618"/>
            <a:ext cx="3865951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GPUs support reduced precision, which has higher performance</a:t>
            </a:r>
          </a:p>
        </p:txBody>
      </p:sp>
    </p:spTree>
    <p:extLst>
      <p:ext uri="{BB962C8B-B14F-4D97-AF65-F5344CB8AC3E}">
        <p14:creationId xmlns:p14="http://schemas.microsoft.com/office/powerpoint/2010/main" val="403381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9BDB8C-DE9E-3178-7B69-D2C63FE8E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99955"/>
              </p:ext>
            </p:extLst>
          </p:nvPr>
        </p:nvGraphicFramePr>
        <p:xfrm>
          <a:off x="0" y="625353"/>
          <a:ext cx="12192001" cy="64582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58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4157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8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5237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3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INT8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607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337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21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BC485-EAAB-A98C-2DE9-8C6789F5D377}"/>
              </a:ext>
            </a:extLst>
          </p:cNvPr>
          <p:cNvSpPr txBox="1"/>
          <p:nvPr/>
        </p:nvSpPr>
        <p:spPr>
          <a:xfrm>
            <a:off x="5942388" y="4318"/>
            <a:ext cx="2711383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182880" tIns="91440" rIns="182880" bIns="91440" rtlCol="0">
            <a:spAutoFit/>
          </a:bodyPr>
          <a:lstStyle/>
          <a:p>
            <a:pPr algn="l"/>
            <a:r>
              <a:rPr lang="nl-NL" err="1"/>
              <a:t>GPUs</a:t>
            </a:r>
            <a:r>
              <a:rPr lang="nl-NL"/>
              <a:t> have a lot of FLOPS</a:t>
            </a:r>
          </a:p>
          <a:p>
            <a:pPr algn="l"/>
            <a:r>
              <a:rPr lang="nl-NL" err="1"/>
              <a:t>compared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CPUs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729CC2-8B68-0717-ED83-B5A8E623E08C}"/>
              </a:ext>
            </a:extLst>
          </p:cNvPr>
          <p:cNvCxnSpPr/>
          <p:nvPr/>
        </p:nvCxnSpPr>
        <p:spPr>
          <a:xfrm flipH="1">
            <a:off x="5659683" y="466743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4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59D99F-2F82-21E9-1F25-820EC2E3F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335783"/>
              </p:ext>
            </p:extLst>
          </p:nvPr>
        </p:nvGraphicFramePr>
        <p:xfrm>
          <a:off x="0" y="625352"/>
          <a:ext cx="12192001" cy="6433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58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4157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8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5237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259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3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583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9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9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9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45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45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274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5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22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D39A9-9E50-6DA9-2926-D6F2CB983487}"/>
              </a:ext>
            </a:extLst>
          </p:cNvPr>
          <p:cNvSpPr txBox="1"/>
          <p:nvPr/>
        </p:nvSpPr>
        <p:spPr>
          <a:xfrm>
            <a:off x="7236648" y="46071"/>
            <a:ext cx="495535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CPUs have a lot of memory compared to GPUs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153666-E48C-5B95-0E8E-2D2A727EA3CD}"/>
              </a:ext>
            </a:extLst>
          </p:cNvPr>
          <p:cNvCxnSpPr/>
          <p:nvPr/>
        </p:nvCxnSpPr>
        <p:spPr>
          <a:xfrm flipH="1">
            <a:off x="7396614" y="507736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45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132FC6-94F1-3435-3466-5AC0D800E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603412"/>
              </p:ext>
            </p:extLst>
          </p:nvPr>
        </p:nvGraphicFramePr>
        <p:xfrm>
          <a:off x="-1" y="625353"/>
          <a:ext cx="12165952" cy="6384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7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84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214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99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4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5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7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4061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2576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130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130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15.75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23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0260A-49D4-2DEC-7218-1E7EB3B7D756}"/>
              </a:ext>
            </a:extLst>
          </p:cNvPr>
          <p:cNvSpPr txBox="1"/>
          <p:nvPr/>
        </p:nvSpPr>
        <p:spPr>
          <a:xfrm>
            <a:off x="8630785" y="-84954"/>
            <a:ext cx="3871499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/>
              <a:t>Memory </a:t>
            </a:r>
            <a:r>
              <a:rPr lang="nl-NL" err="1"/>
              <a:t>bandwidth</a:t>
            </a:r>
            <a:r>
              <a:rPr lang="nl-NL"/>
              <a:t> </a:t>
            </a:r>
            <a:r>
              <a:rPr lang="nl-NL" err="1"/>
              <a:t>relative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FLOPS is </a:t>
            </a:r>
            <a:r>
              <a:rPr lang="nl-NL" err="1"/>
              <a:t>approximately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same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22F13-0734-C067-C4DE-5BA2C16B5F21}"/>
              </a:ext>
            </a:extLst>
          </p:cNvPr>
          <p:cNvCxnSpPr/>
          <p:nvPr/>
        </p:nvCxnSpPr>
        <p:spPr>
          <a:xfrm flipH="1">
            <a:off x="8915639" y="562111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1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217A1B-AC7E-455E-CB4E-A8BC02067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361117"/>
              </p:ext>
            </p:extLst>
          </p:nvPr>
        </p:nvGraphicFramePr>
        <p:xfrm>
          <a:off x="0" y="625353"/>
          <a:ext cx="12192001" cy="6384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58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4157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8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5237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130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130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24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0260A-49D4-2DEC-7218-1E7EB3B7D756}"/>
              </a:ext>
            </a:extLst>
          </p:cNvPr>
          <p:cNvSpPr txBox="1"/>
          <p:nvPr/>
        </p:nvSpPr>
        <p:spPr>
          <a:xfrm>
            <a:off x="6984787" y="-20598"/>
            <a:ext cx="3715593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GPU </a:t>
            </a:r>
            <a:r>
              <a:rPr lang="nl-NL" dirty="0" err="1"/>
              <a:t>price</a:t>
            </a:r>
            <a:r>
              <a:rPr lang="nl-NL" dirty="0"/>
              <a:t> is </a:t>
            </a:r>
            <a:r>
              <a:rPr lang="nl-NL" dirty="0" err="1"/>
              <a:t>often</a:t>
            </a:r>
            <a:r>
              <a:rPr lang="nl-NL" dirty="0"/>
              <a:t> irrelevant, but </a:t>
            </a:r>
            <a:r>
              <a:rPr lang="nl-NL" dirty="0" err="1"/>
              <a:t>the</a:t>
            </a:r>
            <a:r>
              <a:rPr lang="nl-NL" dirty="0"/>
              <a:t> performance per Watt is.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22F13-0734-C067-C4DE-5BA2C16B5F21}"/>
              </a:ext>
            </a:extLst>
          </p:cNvPr>
          <p:cNvCxnSpPr>
            <a:cxnSpLocks/>
          </p:cNvCxnSpPr>
          <p:nvPr/>
        </p:nvCxnSpPr>
        <p:spPr>
          <a:xfrm>
            <a:off x="10700380" y="369332"/>
            <a:ext cx="443802" cy="697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89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B324-1AEE-D9E1-E4C0-114FD804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in practice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65B87-0A40-BDA1-1A4B-C41FB84F6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958173"/>
            <a:ext cx="8974163" cy="4456846"/>
          </a:xfrm>
        </p:spPr>
        <p:txBody>
          <a:bodyPr/>
          <a:lstStyle/>
          <a:p>
            <a:r>
              <a:rPr lang="en-US" dirty="0"/>
              <a:t>In practice, the performance can be different (depending on software)</a:t>
            </a:r>
          </a:p>
          <a:p>
            <a:r>
              <a:rPr lang="en-US" dirty="0"/>
              <a:t>GPUs: observed FLOPS is ~2/3 of theoretical FLOPS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EC745-8DEA-01B4-0F5A-AF622F0719E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D2D0E-D091-A820-D223-4BE8D193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25</a:t>
            </a:fld>
            <a:endParaRPr lang="nl-NL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46153D-AA2E-9A40-9E19-EAC2DC03B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4259" y="1833963"/>
            <a:ext cx="6588145" cy="454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216B5EE-3EB9-1630-C5E5-2ACF73060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149" y="1833963"/>
            <a:ext cx="6866423" cy="455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30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27A7A-1EB9-9ADC-1B18-341BA4E2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D6D611F-B69F-CC88-CA5B-BF79F10C0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A7013766-60C8-51F9-C3AC-EE4AE355C2D8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A476C87D-9F68-5230-40AD-99DE247A74F9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Micro: precision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F45B1845-171C-421F-25C9-D161C98ABE3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E8208AE6-9F85-20E3-930E-99625033AAFB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617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C0AA-43CD-4F9E-2421-F9BC4CCE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BC6300-795C-8960-C376-A3A3EC660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981" y="2181735"/>
            <a:ext cx="6062019" cy="4684287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25A488-A123-739E-8F7B-FD675AA7F5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E4385-1553-80B4-66D2-CB661C60B0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6E72F0-724E-5AF5-B03B-7F8123528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innovations for AI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1268D1-C610-A7B6-C775-B3834474D8D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149379"/>
            <a:ext cx="7428606" cy="4429497"/>
          </a:xfrm>
        </p:spPr>
        <p:txBody>
          <a:bodyPr/>
          <a:lstStyle/>
          <a:p>
            <a:endParaRPr lang="en-US" dirty="0"/>
          </a:p>
          <a:p>
            <a:r>
              <a:rPr lang="en-US" dirty="0" err="1"/>
              <a:t>Matmuls</a:t>
            </a:r>
            <a:r>
              <a:rPr lang="en-US" dirty="0"/>
              <a:t> are unreasonably efficient</a:t>
            </a:r>
          </a:p>
          <a:p>
            <a:r>
              <a:rPr lang="en-US" dirty="0"/>
              <a:t>Reduced precision (FP64 is dead)</a:t>
            </a:r>
          </a:p>
          <a:p>
            <a:pPr lvl="1"/>
            <a:r>
              <a:rPr lang="en-US" sz="1400" dirty="0"/>
              <a:t>double whammy of increased FLOPS</a:t>
            </a:r>
            <a:br>
              <a:rPr lang="en-US" sz="1400" dirty="0"/>
            </a:br>
            <a:r>
              <a:rPr lang="en-US" sz="1400" dirty="0"/>
              <a:t>and reduced memory footprint</a:t>
            </a:r>
            <a:br>
              <a:rPr lang="en-US" sz="1400" dirty="0"/>
            </a:br>
            <a:r>
              <a:rPr lang="en-US" sz="1400" dirty="0"/>
              <a:t>(many workloads are </a:t>
            </a:r>
            <a:r>
              <a:rPr lang="en-US" sz="1400" dirty="0" err="1"/>
              <a:t>membw</a:t>
            </a:r>
            <a:r>
              <a:rPr lang="en-US" sz="1400" dirty="0"/>
              <a:t> bound)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05CC42-715A-C65B-62D0-22BA2E56F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8" y="99665"/>
            <a:ext cx="4636361" cy="235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9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Tensor cores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58" y="872921"/>
            <a:ext cx="9882007" cy="4456846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Lower 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Increasingly specialized</a:t>
            </a:r>
          </a:p>
          <a:p>
            <a:r>
              <a:rPr lang="nl-NL" dirty="0"/>
              <a:t>Pack as many instructions in one go to avoid instruction overhead, &amp; avoid data movement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cs typeface="Calibri"/>
              </a:rPr>
              <a:t>H=Half, I=Integer, FMA=Fused Multiply Add, DP=Dot Product, MMA = Matrix Multiplication Add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cs typeface="Calibri"/>
              </a:rPr>
              <a:t>Previously:                                                        Now:</a:t>
            </a:r>
          </a:p>
          <a:p>
            <a:pPr marL="0" indent="0">
              <a:buNone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28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372" y="0"/>
            <a:ext cx="7172473" cy="1916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768C3F-355C-436D-0CC6-17C41B6C6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784" y="3676039"/>
            <a:ext cx="3900061" cy="2316724"/>
          </a:xfrm>
          <a:prstGeom prst="rect">
            <a:avLst/>
          </a:prstGeom>
        </p:spPr>
      </p:pic>
      <p:pic>
        <p:nvPicPr>
          <p:cNvPr id="7" name="Picture 6" descr="Diagram of a diagram of a machine&#10;&#10;AI-generated content may be incorrect.">
            <a:extLst>
              <a:ext uri="{FF2B5EF4-FFF2-40B4-BE49-F238E27FC236}">
                <a16:creationId xmlns:a16="http://schemas.microsoft.com/office/drawing/2014/main" id="{754E57AA-F5DC-9E44-2151-99B824CEED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0" y="3704412"/>
            <a:ext cx="3094250" cy="2912946"/>
          </a:xfrm>
          <a:prstGeom prst="rect">
            <a:avLst/>
          </a:prstGeom>
        </p:spPr>
      </p:pic>
      <p:pic>
        <p:nvPicPr>
          <p:cNvPr id="13" name="Picture 12" descr="A diagram of a machine&#10;&#10;AI-generated content may be incorrect.">
            <a:extLst>
              <a:ext uri="{FF2B5EF4-FFF2-40B4-BE49-F238E27FC236}">
                <a16:creationId xmlns:a16="http://schemas.microsoft.com/office/drawing/2014/main" id="{60E08D4E-3D05-9BF5-B896-6CC561E270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725" y="3694726"/>
            <a:ext cx="3556113" cy="278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7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71681" y="1330870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29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1104882" y="4511467"/>
            <a:ext cx="5003905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Mixed </a:t>
            </a:r>
            <a:r>
              <a:rPr lang="nl-NL" dirty="0" err="1"/>
              <a:t>precision</a:t>
            </a:r>
            <a:r>
              <a:rPr lang="nl-NL" dirty="0"/>
              <a:t> </a:t>
            </a:r>
            <a:r>
              <a:rPr lang="nl-NL" dirty="0" err="1"/>
              <a:t>uses</a:t>
            </a:r>
            <a:r>
              <a:rPr lang="nl-NL" dirty="0"/>
              <a:t> FP16. </a:t>
            </a:r>
            <a:r>
              <a:rPr lang="nl-NL" dirty="0" err="1"/>
              <a:t>Reduced</a:t>
            </a:r>
            <a:r>
              <a:rPr lang="nl-NL" dirty="0"/>
              <a:t> range </a:t>
            </a:r>
            <a:r>
              <a:rPr lang="nl-NL" dirty="0" err="1"/>
              <a:t>causes</a:t>
            </a:r>
            <a:r>
              <a:rPr lang="nl-NL" dirty="0"/>
              <a:t> (</a:t>
            </a:r>
            <a:r>
              <a:rPr lang="nl-NL" dirty="0" err="1"/>
              <a:t>potential</a:t>
            </a:r>
            <a:r>
              <a:rPr lang="nl-NL" dirty="0"/>
              <a:t>)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gradient</a:t>
            </a:r>
            <a:r>
              <a:rPr lang="nl-NL" dirty="0"/>
              <a:t> </a:t>
            </a:r>
            <a:r>
              <a:rPr lang="nl-NL" dirty="0" err="1"/>
              <a:t>scaling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prevent</a:t>
            </a:r>
            <a:r>
              <a:rPr lang="nl-NL" dirty="0"/>
              <a:t> </a:t>
            </a:r>
            <a:r>
              <a:rPr lang="nl-NL" dirty="0" err="1"/>
              <a:t>underflows</a:t>
            </a:r>
            <a:endParaRPr lang="nl-N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>
            <a:off x="6223518" y="4823927"/>
            <a:ext cx="597160" cy="14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5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30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232646" y="4581732"/>
            <a:ext cx="5358857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TF32 tries to combine best of both worlds: range of an FP32 (no gradient scaling needed), but with reduced precision (for speedup &amp; less memory)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 flipV="1">
            <a:off x="5236551" y="4577183"/>
            <a:ext cx="1397514" cy="51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99EAED24-A7F3-9F4D-C968-31D09C65F466}"/>
              </a:ext>
            </a:extLst>
          </p:cNvPr>
          <p:cNvSpPr txBox="1">
            <a:spLocks/>
          </p:cNvSpPr>
          <p:nvPr/>
        </p:nvSpPr>
        <p:spPr>
          <a:xfrm>
            <a:off x="668762" y="1297498"/>
            <a:ext cx="9882007" cy="44568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Font typeface="Arial" panose="020B0604020202020204" pitchFamily="34" charset="0"/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lvl="1" indent="0">
              <a:buFont typeface="Arial" panose="020B0604020202020204" pitchFamily="34" charset="0"/>
              <a:buNone/>
            </a:pPr>
            <a:endParaRPr lang="nl-NL" sz="1400" dirty="0"/>
          </a:p>
          <a:p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116240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71681" y="1285102"/>
            <a:ext cx="9882007" cy="4456846"/>
          </a:xfrm>
        </p:spPr>
        <p:txBody>
          <a:bodyPr/>
          <a:lstStyle/>
          <a:p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31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232646" y="4487932"/>
            <a:ext cx="5003905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 err="1"/>
              <a:t>Automatically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i="1" dirty="0" err="1"/>
              <a:t>unless</a:t>
            </a:r>
            <a:r>
              <a:rPr lang="nl-NL" dirty="0"/>
              <a:t> </a:t>
            </a:r>
          </a:p>
          <a:p>
            <a:pPr marL="285750" indent="-285750">
              <a:buFontTx/>
              <a:buChar char="-"/>
            </a:pPr>
            <a:r>
              <a:rPr lang="nl-NL" dirty="0"/>
              <a:t>Environment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en-US" i="1" dirty="0"/>
              <a:t>NVIDIA_TF32_OVERRIDE=0</a:t>
            </a:r>
            <a:r>
              <a:rPr lang="nl-NL" dirty="0"/>
              <a:t> is set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torch.backends.cuda.matmul.allow_tf32 = False </a:t>
            </a:r>
            <a:r>
              <a:rPr lang="en-US" dirty="0"/>
              <a:t>and torch.</a:t>
            </a:r>
            <a:r>
              <a:rPr lang="en-US" i="1" dirty="0"/>
              <a:t>backends.cudnn.allow_tf32 = False</a:t>
            </a:r>
            <a:r>
              <a:rPr lang="en-US" dirty="0"/>
              <a:t> are set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 flipV="1">
            <a:off x="5236551" y="4577183"/>
            <a:ext cx="1397514" cy="51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09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768" y="6368914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32</a:t>
            </a:fld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4CE7A0-9C5B-A7C2-EFF8-4745C13BAB70}"/>
              </a:ext>
            </a:extLst>
          </p:cNvPr>
          <p:cNvSpPr txBox="1"/>
          <p:nvPr/>
        </p:nvSpPr>
        <p:spPr>
          <a:xfrm>
            <a:off x="1371600" y="6368914"/>
            <a:ext cx="80200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/>
              <a:t>Source: </a:t>
            </a:r>
            <a:r>
              <a:rPr lang="en-US">
                <a:hlinkClick r:id="rId2"/>
              </a:rPr>
              <a:t>https://servicedesk.surf.nl/wiki/display/WIKI/Deep+Learning+on+A100+GPUs</a:t>
            </a:r>
            <a:r>
              <a:rPr lang="en-US"/>
              <a:t>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B271578-81FA-1580-AD07-DA262105E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74" y="1289480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685F74-E954-CA78-BB4B-0BA884045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989" y="2631410"/>
            <a:ext cx="3095887" cy="285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7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7f899dffe16b4de2bfe03da0c1f57bc6">
            <a:extLst>
              <a:ext uri="{FF2B5EF4-FFF2-40B4-BE49-F238E27FC236}">
                <a16:creationId xmlns:a16="http://schemas.microsoft.com/office/drawing/2014/main" id="{68B73E62-F9AB-F1F0-1B1A-8B81E1BE8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54" y="969228"/>
            <a:ext cx="6555698" cy="36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Nvidia Hopper (e.g. H100)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r>
              <a:rPr lang="nl-NL" sz="1400" dirty="0"/>
              <a:t>FP8 support</a:t>
            </a:r>
          </a:p>
          <a:p>
            <a:pPr marL="233363" indent="-233363"/>
            <a:r>
              <a:rPr lang="nl-NL" sz="1400" dirty="0" err="1"/>
              <a:t>Transformer</a:t>
            </a:r>
            <a:r>
              <a:rPr lang="nl-NL" sz="1400" dirty="0"/>
              <a:t> Engine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transformer</a:t>
            </a:r>
            <a:r>
              <a:rPr lang="nl-NL" sz="1400" dirty="0"/>
              <a:t> </a:t>
            </a:r>
            <a:r>
              <a:rPr lang="nl-NL" sz="1400" dirty="0" err="1"/>
              <a:t>specific</a:t>
            </a:r>
            <a:r>
              <a:rPr lang="nl-NL" sz="1400" dirty="0"/>
              <a:t> </a:t>
            </a:r>
            <a:r>
              <a:rPr lang="nl-NL" sz="1400" dirty="0" err="1"/>
              <a:t>improvements</a:t>
            </a:r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522288" lvl="1" indent="-222250"/>
            <a:endParaRPr lang="nl-NL" sz="1400" dirty="0"/>
          </a:p>
          <a:p>
            <a:pPr lvl="2"/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33</a:t>
            </a:fld>
            <a:endParaRPr lang="nl-N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EE0F52-89EB-1B17-E035-C29676E1A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250" y="2651869"/>
            <a:ext cx="4006462" cy="26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8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4FB7B-DCB7-DBCB-9C22-B10707F6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8506-4B39-A044-EDD0-17F56C95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Nvidia Blackwell GPUs (e.g. B300)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67F02-19B4-19EC-D5CC-2E5E8F4BB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FP4 support</a:t>
            </a:r>
          </a:p>
          <a:p>
            <a:r>
              <a:rPr lang="nl-NL" sz="1400" dirty="0"/>
              <a:t>Second-generation Transformer Engine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ADBA8-4969-EE44-B074-3E34820D6E1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14BF9-0200-CAAB-C8D1-58069B34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34</a:t>
            </a:fld>
            <a:endParaRPr lang="nl-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DF32CD-3423-0F1E-E9CC-28A6D975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75" y="955569"/>
            <a:ext cx="5013390" cy="39700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92F697C-1714-75B9-EFA5-27819F34B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298" y="2666393"/>
            <a:ext cx="6047553" cy="264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3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C7D1BB84-7AA5-8050-79ED-E9B5B897B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910" y="1198328"/>
            <a:ext cx="10042728" cy="565967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14977-E55E-C17B-292D-41BEEA82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14-11-2025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34580-5602-47E3-76D0-3C0909668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A76517-F04C-CDD4-E97F-487837B2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195DA1-C643-5637-E646-E4DCCA2A651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1757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AD22-DC10-728A-F6D2-1034DC1F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5C811-9622-E3CE-20BB-EDB3BB17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14-11-2025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D3C88-F216-811A-0AF0-A043380D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DC7BE9-5A06-DFA6-9EC1-E58E76B7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FB6D69-A654-1447-A8DA-560374A2542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572CF-3E50-CF01-84B4-54CA1247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00"/>
            <a:ext cx="12198624" cy="5630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4D2FBB-F40A-707A-DBA2-794F27B22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82" y="2747104"/>
            <a:ext cx="2904737" cy="199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6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6CE9E-7DA0-E597-E554-23AFE7F8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E765D0-1BBC-46A9-B3CA-0BCD1D68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14-11-2025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D9B05-3084-C582-E712-38D79734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07BAE3-ADA8-F503-7E51-651BC7CF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DD8720-1FF7-DE97-B8A6-D1EAEB7D9C7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333AA2-047B-66A6-790B-BB508904C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34601"/>
            <a:ext cx="12192001" cy="5517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965C05-A68E-A6BD-F72E-F6AB2D4C4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82" y="2747104"/>
            <a:ext cx="2904737" cy="199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4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185BA-5495-BF3E-CCEF-973974A4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C537ADBB-B8D9-C08E-E653-9C7C468D439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A2BFDBF-96C6-C8BA-BD1E-A7DBE1275965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Continuing with the S’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D4D6133-BFE7-F90D-F68E-4948213CA1A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E456379-F52C-CE62-0FB7-438431150BCC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860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Second S: Software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/TensorFlow vs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Numpy</a:t>
            </a:r>
            <a:endParaRPr lang="en-GB" sz="2000" spc="-1" dirty="0">
              <a:solidFill>
                <a:srgbClr val="000000"/>
              </a:solidFill>
              <a:latin typeface="Calibri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and TensorFlow have GPU support,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Numpy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does not</a:t>
            </a: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Support for CUDA (Nvidia),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ROCm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 (AMD),  </a:t>
            </a:r>
            <a:br>
              <a:rPr lang="en-GB" sz="2000" spc="-1" dirty="0">
                <a:solidFill>
                  <a:srgbClr val="000000"/>
                </a:solidFill>
                <a:latin typeface="Calibri"/>
              </a:rPr>
            </a:br>
            <a:r>
              <a:rPr lang="en-GB" sz="2000" spc="-1" dirty="0">
                <a:solidFill>
                  <a:srgbClr val="000000"/>
                </a:solidFill>
                <a:latin typeface="Calibri"/>
              </a:rPr>
              <a:t>&lt;insert exotic hardware here&gt;?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E.g.: Intel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SapphireRapids</a:t>
            </a:r>
            <a:endParaRPr lang="en-GB" sz="1600" spc="-1" dirty="0">
              <a:solidFill>
                <a:srgbClr val="000000"/>
              </a:solidFill>
              <a:latin typeface="Calibri"/>
              <a:cs typeface="Arial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IPEX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: </a:t>
            </a:r>
            <a:r>
              <a:rPr lang="en-GB" sz="2000" spc="-1" dirty="0">
                <a:ea typeface="+mn-lt"/>
                <a:cs typeface="+mn-lt"/>
                <a:hlinkClick r:id="rId3"/>
              </a:rPr>
              <a:t>https://github.com/intel/intel-extension-for-pytorch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LUMI </a:t>
            </a:r>
            <a:r>
              <a:rPr lang="en-GB" sz="2000" spc="-1" dirty="0">
                <a:ea typeface="+mn-lt"/>
                <a:cs typeface="+mn-lt"/>
                <a:hlinkClick r:id="rId4"/>
              </a:rPr>
              <a:t>https://www.lumi-supercomputer.eu/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GDRDMA / SHARP / </a:t>
            </a:r>
            <a:r>
              <a:rPr lang="en-GB" sz="2000" spc="-1" dirty="0" err="1">
                <a:latin typeface="Calibri"/>
                <a:ea typeface="+mn-lt"/>
                <a:cs typeface="+mn-lt"/>
              </a:rPr>
              <a:t>cuDNN</a:t>
            </a:r>
            <a:r>
              <a:rPr lang="en-GB" sz="2000" spc="-1" dirty="0">
                <a:latin typeface="Calibri"/>
                <a:ea typeface="+mn-lt"/>
                <a:cs typeface="+mn-lt"/>
              </a:rPr>
              <a:t> / etc / etc / etc</a:t>
            </a:r>
            <a:br>
              <a:rPr lang="en-GB" sz="2000" spc="-1" dirty="0">
                <a:latin typeface="Calibri"/>
                <a:ea typeface="+mn-lt"/>
                <a:cs typeface="+mn-lt"/>
              </a:rPr>
            </a:br>
            <a:r>
              <a:rPr lang="en-GB" sz="2000" spc="-1" dirty="0">
                <a:latin typeface="Calibri"/>
                <a:ea typeface="+mn-lt"/>
                <a:cs typeface="+mn-lt"/>
              </a:rPr>
              <a:t>Not withstanding all the sys level dependencies</a:t>
            </a:r>
            <a:endParaRPr lang="en-GB" sz="2000" spc="-1" dirty="0">
              <a:ea typeface="+mn-lt"/>
              <a:cs typeface="+mn-lt"/>
              <a:hlinkClick r:id="rId4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Support for lower precision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</a:rPr>
              <a:t>BFloat16, Float16? FP8? FP4?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8E0B80-3616-250F-EA71-C6F91AA67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3883" y="3709440"/>
            <a:ext cx="4583114" cy="3030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F2664F-0E54-9084-39F5-C1C64343C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7181" y="601154"/>
            <a:ext cx="4856518" cy="282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55075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Third S: Stack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822884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Is my software compiled for my hardware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Pip install … 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Module load </a:t>
            </a:r>
            <a:r>
              <a:rPr lang="en-GB" sz="1600" spc="-1" dirty="0" err="1">
                <a:ea typeface="+mn-lt"/>
                <a:cs typeface="+mn-lt"/>
              </a:rPr>
              <a:t>PyTorch</a:t>
            </a:r>
            <a:r>
              <a:rPr lang="en-GB" sz="1600" spc="-1" dirty="0">
                <a:ea typeface="+mn-lt"/>
                <a:cs typeface="+mn-lt"/>
              </a:rPr>
              <a:t>/2.1.2-foss-2023a-CUDA-12.1.1 ( so old :’( 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</a:rPr>
              <a:t>Use containers!</a:t>
            </a:r>
          </a:p>
          <a:p>
            <a:pPr marL="908050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https://catalog.ngc.nvidia.com/orgs/nvidia/containers/pytorch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Again: Consider the hardware/platform that you’re using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GPU: Nvidia/CUDA? AMD/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ROCm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? 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CPUs: AVX512?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Cerebras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/ Gaudi3 / etc. / etc.</a:t>
            </a: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 is crazy: </a:t>
            </a:r>
            <a:r>
              <a:rPr lang="en-GB" sz="2000" spc="-1" dirty="0">
                <a:ea typeface="+mn-lt"/>
                <a:cs typeface="+mn-lt"/>
                <a:hlinkClick r:id="rId4"/>
              </a:rPr>
              <a:t>https://github.com/pytorch/pytorch/tree/main/third_party</a:t>
            </a:r>
            <a:endParaRPr lang="en-GB" sz="2000" spc="-1" dirty="0">
              <a:solidFill>
                <a:srgbClr val="000000"/>
              </a:solidFill>
              <a:latin typeface="Calibri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 has given up on generic software management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ea typeface="+mn-lt"/>
                <a:cs typeface="+mn-lt"/>
              </a:rPr>
              <a:t>Ptrblck</a:t>
            </a:r>
            <a:r>
              <a:rPr lang="en-GB" sz="1600" spc="-1" dirty="0">
                <a:ea typeface="+mn-lt"/>
                <a:cs typeface="+mn-lt"/>
              </a:rPr>
              <a:t>:”                                                ”              </a:t>
            </a:r>
            <a:endParaRPr lang="en-GB" sz="16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25C250-33E1-FD51-4588-F371C3CC00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3883" y="3709440"/>
            <a:ext cx="4583114" cy="30306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7E4A50-40B0-2903-60D1-07F66B9C6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7181" y="601154"/>
            <a:ext cx="4856518" cy="2827846"/>
          </a:xfrm>
          <a:prstGeom prst="rect">
            <a:avLst/>
          </a:prstGeom>
        </p:spPr>
      </p:pic>
      <p:pic>
        <p:nvPicPr>
          <p:cNvPr id="4" name="Afbeelding 2" descr="Afbeelding met tekst, krant, pak&#10;&#10;Automatisch gegenereerde beschrijving">
            <a:extLst>
              <a:ext uri="{FF2B5EF4-FFF2-40B4-BE49-F238E27FC236}">
                <a16:creationId xmlns:a16="http://schemas.microsoft.com/office/drawing/2014/main" id="{0E4C0BE0-EFD0-A3FD-5614-30CB5F308C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8105" y="5308594"/>
            <a:ext cx="1825704" cy="140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12297"/>
      </p:ext>
    </p:extLst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66833-639A-659F-ABDF-DF14497B0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25ECCE4-2B54-3BE6-D842-894F57FD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9B69392D-58AB-317A-B7C1-58F161FC346C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ED86392B-9344-0F74-F856-30A8BF6A9D94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 conclusion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99B5C085-63DC-3E12-600D-FA0162637B93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DA7AF6CC-C7D3-652D-6F75-864ADC8F390A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599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4C2C4-1199-FEDE-5E8C-6F59F89A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F9DF4384-86F0-761C-371C-D45E249A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In conclusion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3B11E731-5524-E4F5-E6E6-7667CDA70F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Fit your workload to your system</a:t>
            </a: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Think about your fundamental bottlenecks</a:t>
            </a: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Think about the bottlenecks of your system</a:t>
            </a:r>
          </a:p>
          <a:p>
            <a:pPr marL="180975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600" spc="-1" dirty="0">
              <a:solidFill>
                <a:srgbClr val="000000"/>
              </a:solidFill>
              <a:latin typeface="Calibri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Fit your system to your workload</a:t>
            </a: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Which is partly our job</a:t>
            </a: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But you should also think about this </a:t>
            </a:r>
            <a:r>
              <a:rPr lang="en-GB" sz="1600" spc="-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Wingdings" panose="05000000000000000000" pitchFamily="2" charset="2"/>
              </a:rPr>
              <a:t></a:t>
            </a:r>
            <a:endParaRPr lang="en-GB" sz="1600" spc="-1" dirty="0">
              <a:latin typeface="Calibri"/>
              <a:ea typeface="+mn-lt"/>
              <a:cs typeface="+mn-lt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CD1FA189-9B51-9367-70F1-D0999EC18388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CC300D10-D1A8-D8BD-BC35-782A9EDD7B31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C57D634D-A1BD-A025-8C84-5BF3DE660A3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1523860A-67C6-B5EB-28AA-BF35CE0C2B9E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D2B8F6A-36AF-4F21-FE24-3471D90DB56D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81E8F2CA-B266-3A4D-C727-A5D4D3E87341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07261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In practice: Snellius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We only have NVIDIA GPUs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72x4=288 NVIDIA A100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88x4=352 NVIDIA H100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Makes optimization a bit easier for you</a:t>
            </a:r>
            <a:endParaRPr lang="en-GB" sz="20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You only need to spend a year sifting through documentation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ea typeface="+mn-lt"/>
                <a:cs typeface="+mn-lt"/>
                <a:hlinkClick r:id="rId3"/>
              </a:rPr>
              <a:t>https://servicedesk.surf.nl/wiki/display/WIKI/Deep+Learning+on+A100+GPUs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Or ask us... :)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Every EINF/NWO small grants has a default of 4 consultancy hours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94034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A8FE8-36B8-2990-68CB-3242934B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69CA045-6B61-CABC-BC0B-16A4582E9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DC5FD9F9-E496-1EED-19CF-467E8E57BBC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8267F2C-3172-7556-4159-5F6DE87A0E62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600" b="1" dirty="0">
                <a:solidFill>
                  <a:srgbClr val="FFFFFF"/>
                </a:solidFill>
                <a:latin typeface="Aptos"/>
              </a:rPr>
              <a:t>How does </a:t>
            </a:r>
            <a:r>
              <a:rPr lang="en-GB" sz="6600" b="1" dirty="0" err="1">
                <a:solidFill>
                  <a:srgbClr val="FFFFFF"/>
                </a:solidFill>
                <a:latin typeface="Aptos"/>
              </a:rPr>
              <a:t>PyTorch</a:t>
            </a:r>
            <a:r>
              <a:rPr lang="en-GB" sz="6600" b="1" dirty="0">
                <a:solidFill>
                  <a:srgbClr val="FFFFFF"/>
                </a:solidFill>
                <a:latin typeface="Aptos"/>
              </a:rPr>
              <a:t> deal with </a:t>
            </a:r>
            <a:r>
              <a:rPr lang="en-GB" sz="6600" b="1">
                <a:solidFill>
                  <a:srgbClr val="FFFFFF"/>
                </a:solidFill>
                <a:latin typeface="Aptos"/>
              </a:rPr>
              <a:t>the three S’?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9A43C88D-7BC4-04D1-0664-E1F156F31991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8D84CB3D-FC59-A10C-7D5F-2E6B33A1F078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105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System + Software + Stack</a:t>
            </a:r>
            <a:br>
              <a:rPr lang="en-GB" sz="3200" b="1" spc="-1" dirty="0">
                <a:solidFill>
                  <a:srgbClr val="000000"/>
                </a:solidFill>
                <a:latin typeface="Calibri"/>
              </a:rPr>
            </a:b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Wait ... so what happens in torch?</a:t>
            </a:r>
            <a:endParaRPr lang="en-GB" sz="32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You call torch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200" spc="-1" dirty="0">
                <a:solidFill>
                  <a:srgbClr val="000000"/>
                </a:solidFill>
                <a:latin typeface="Calibri"/>
              </a:rPr>
              <a:t>E.g. </a:t>
            </a:r>
            <a:r>
              <a:rPr lang="en-GB" sz="1200" spc="-1" dirty="0" err="1">
                <a:solidFill>
                  <a:srgbClr val="000000"/>
                </a:solidFill>
                <a:latin typeface="Calibri"/>
              </a:rPr>
              <a:t>scatter_add</a:t>
            </a:r>
            <a:r>
              <a:rPr lang="en-GB" sz="1200" spc="-1" dirty="0">
                <a:solidFill>
                  <a:srgbClr val="000000"/>
                </a:solidFill>
                <a:latin typeface="Calibri"/>
              </a:rPr>
              <a:t>_ -&gt; Message passing in Graph-NNs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(Manual) Dispatching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Torch (python) determines the most appropriate function to call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1600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Torch (C++/CU) calls the CPU/GPU kernel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400" spc="-1" dirty="0">
                <a:solidFill>
                  <a:srgbClr val="000000"/>
                </a:solidFill>
                <a:latin typeface="Calibri"/>
              </a:rPr>
              <a:t>Low-level C++/CU library performs actual calculation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ea typeface="+mn-lt"/>
                <a:cs typeface="+mn-lt"/>
              </a:rPr>
              <a:t>PyTorch</a:t>
            </a:r>
            <a:r>
              <a:rPr lang="en-GB" sz="2000" spc="-1" dirty="0">
                <a:ea typeface="+mn-lt"/>
                <a:cs typeface="+mn-lt"/>
              </a:rPr>
              <a:t> Dispatcher: </a:t>
            </a:r>
          </a:p>
          <a:p>
            <a:pPr marL="41275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2000" spc="-1" dirty="0">
                <a:ea typeface="+mn-lt"/>
                <a:cs typeface="+mn-lt"/>
                <a:hlinkClick r:id="rId3"/>
              </a:rPr>
              <a:t>http://blog.ezyang.com/2020/09/lets-talk-about-the-pytorch-dispatcher/</a:t>
            </a:r>
            <a:endParaRPr lang="en-GB" sz="2000" spc="-1" dirty="0">
              <a:ea typeface="+mn-lt"/>
              <a:cs typeface="+mn-lt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 descr="A drawing of a hand with a few icons&#10;&#10;AI-generated content may be incorrect.">
            <a:extLst>
              <a:ext uri="{FF2B5EF4-FFF2-40B4-BE49-F238E27FC236}">
                <a16:creationId xmlns:a16="http://schemas.microsoft.com/office/drawing/2014/main" id="{7D7DA8A8-B97A-9647-3A82-B7729B747B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193" y="0"/>
            <a:ext cx="4114807" cy="308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582245"/>
      </p:ext>
    </p:extLst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64463-FFEA-3D47-0FBA-0716AF99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2ADE015-8077-565D-843C-6100E276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790FC471-7AC8-4AC3-96EF-AF596C62D3F2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1C1E0BA-5196-EB3A-AE07-AD02EF28F9D5}"/>
              </a:ext>
            </a:extLst>
          </p:cNvPr>
          <p:cNvSpPr txBox="1"/>
          <p:nvPr/>
        </p:nvSpPr>
        <p:spPr>
          <a:xfrm>
            <a:off x="969057" y="2358323"/>
            <a:ext cx="9521181" cy="289035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600" b="1" dirty="0">
                <a:solidFill>
                  <a:srgbClr val="FFFFFF"/>
                </a:solidFill>
                <a:latin typeface="Aptos"/>
              </a:rPr>
              <a:t>Ask not</a:t>
            </a:r>
            <a:br>
              <a:rPr lang="en-GB" sz="6600" b="1" dirty="0">
                <a:solidFill>
                  <a:srgbClr val="FFFFFF"/>
                </a:solidFill>
                <a:latin typeface="Aptos"/>
              </a:rPr>
            </a:br>
            <a:r>
              <a:rPr lang="en-GB" sz="4800" b="1" dirty="0">
                <a:solidFill>
                  <a:srgbClr val="FFFFFF"/>
                </a:solidFill>
                <a:latin typeface="Aptos"/>
              </a:rPr>
              <a:t>“what can </a:t>
            </a:r>
            <a:r>
              <a:rPr lang="en-GB" sz="4800" b="1" dirty="0" err="1">
                <a:solidFill>
                  <a:srgbClr val="FFFFFF"/>
                </a:solidFill>
                <a:latin typeface="Aptos"/>
              </a:rPr>
              <a:t>PyTorch</a:t>
            </a:r>
            <a:r>
              <a:rPr lang="en-GB" sz="4800" b="1" dirty="0">
                <a:solidFill>
                  <a:srgbClr val="FFFFFF"/>
                </a:solidFill>
                <a:latin typeface="Aptos"/>
              </a:rPr>
              <a:t> do for me?”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GB" sz="6600" b="1" dirty="0">
                <a:solidFill>
                  <a:srgbClr val="FFFFFF"/>
                </a:solidFill>
                <a:latin typeface="Aptos"/>
              </a:rPr>
            </a:br>
            <a:r>
              <a:rPr lang="en-GB" sz="6600" b="1" dirty="0">
                <a:solidFill>
                  <a:srgbClr val="FFFFFF"/>
                </a:solidFill>
                <a:latin typeface="Aptos"/>
              </a:rPr>
              <a:t>Ask</a:t>
            </a:r>
            <a:br>
              <a:rPr lang="en-GB" sz="6600" b="1" dirty="0">
                <a:solidFill>
                  <a:srgbClr val="FFFFFF"/>
                </a:solidFill>
                <a:latin typeface="Aptos"/>
              </a:rPr>
            </a:br>
            <a:r>
              <a:rPr lang="en-GB" sz="4800" b="1" dirty="0">
                <a:solidFill>
                  <a:srgbClr val="FFFFFF"/>
                </a:solidFill>
                <a:latin typeface="Aptos"/>
              </a:rPr>
              <a:t>“What can I do for </a:t>
            </a:r>
            <a:r>
              <a:rPr lang="en-GB" sz="4800" b="1" dirty="0" err="1">
                <a:solidFill>
                  <a:srgbClr val="FFFFFF"/>
                </a:solidFill>
                <a:latin typeface="Aptos"/>
              </a:rPr>
              <a:t>PyTorch</a:t>
            </a:r>
            <a:r>
              <a:rPr lang="en-GB" sz="4800" b="1" dirty="0">
                <a:solidFill>
                  <a:srgbClr val="FFFFFF"/>
                </a:solidFill>
                <a:latin typeface="Aptos"/>
              </a:rPr>
              <a:t>?”</a:t>
            </a:r>
            <a:endParaRPr kumimoji="0" lang="en-GB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8D815DB1-EFB6-5F5B-5E14-A0782A031CEF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C2173FB5-DEB1-44D7-3565-343DEE0D6618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26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How fast do you want to go?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What is your goal?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Largest model possible?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Best validation performance?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Submit a paper to ISC ‘25?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CF36BB38-B2F5-E81C-4088-8D17B0824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20" y="3794331"/>
            <a:ext cx="7997825" cy="25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53909"/>
      </p:ext>
    </p:extLst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Some useful resources: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ea typeface="+mn-lt"/>
                <a:cs typeface="+mn-lt"/>
                <a:hlinkClick r:id="rId3"/>
              </a:rPr>
              <a:t>https://pytorch.org/docs/stable/notes/cuda.html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1600" spc="-1" dirty="0">
                <a:cs typeface="Arial"/>
                <a:hlinkClick r:id="rId4"/>
              </a:rPr>
              <a:t>https</a:t>
            </a:r>
            <a:r>
              <a:rPr lang="en-GB" sz="1600" spc="-1" dirty="0">
                <a:solidFill>
                  <a:srgbClr val="0077C8"/>
                </a:solidFill>
                <a:cs typeface="Arial"/>
                <a:hlinkClick r:id="rId4"/>
              </a:rPr>
              <a:t>://docs.nvidia.com/deeplearning/performance/dl-performance-memory-limited/index.html</a:t>
            </a:r>
            <a:endParaRPr lang="en-GB" sz="1600" spc="-1" dirty="0">
              <a:solidFill>
                <a:srgbClr val="0077C8"/>
              </a:solidFill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1600" spc="-1" dirty="0">
                <a:solidFill>
                  <a:srgbClr val="0077C8"/>
                </a:solidFill>
                <a:cs typeface="Arial"/>
                <a:hlinkClick r:id="rId5"/>
              </a:rPr>
              <a:t>https://docs.nvidia.com/deeplearning/performance/index.html</a:t>
            </a:r>
            <a:endParaRPr lang="en-US" sz="1600" spc="-1" dirty="0"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Duncan: </a:t>
            </a:r>
            <a:r>
              <a:rPr lang="en-GB" sz="2000" i="1" spc="-1" dirty="0">
                <a:solidFill>
                  <a:srgbClr val="000000"/>
                </a:solidFill>
                <a:latin typeface="Arial"/>
                <a:cs typeface="Arial"/>
              </a:rPr>
              <a:t>"You can take any piece of code, spend 6 months optimizing it, and then write a paper about it"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88460"/>
      </p:ext>
    </p:extLst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0: "oh my god": 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  <a:cs typeface="Arial"/>
              </a:rPr>
              <a:t>torch.amp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4508" y="573352"/>
            <a:ext cx="9507316" cy="52834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If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mixed precision isn’t working, probably you are doing something wrong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Gives you a free 2x+ speed boost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FP16 is probably better, BF16 is easier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FP8 is coming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475C9-CED3-5189-4B99-5512539D3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769" y="3638386"/>
            <a:ext cx="6047553" cy="2646262"/>
          </a:xfrm>
          <a:prstGeom prst="rect">
            <a:avLst/>
          </a:prstGeom>
        </p:spPr>
      </p:pic>
      <p:pic>
        <p:nvPicPr>
          <p:cNvPr id="4" name="Picture 3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EDEDB78E-6E84-8BFB-4D35-646C303CC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0930"/>
            <a:ext cx="5935098" cy="334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22117"/>
      </p:ext>
    </p:extLst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9E8EC-A57F-8314-2F92-67E5DA38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4D14ED34-F5F5-F0DD-3B35-FB6D25C8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0: "oh my god": 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  <a:cs typeface="Arial"/>
              </a:rPr>
              <a:t>torch.compile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973ABB89-AE67-F418-9537-3E4AD139CA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4508" y="573352"/>
            <a:ext cx="8983012" cy="52834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1 CPU core is pinned to 1 GPU (used to be worse)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CPU cannot keep up with the giant that is the GPU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Still (somewhat) need to know the magic incantation: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2DABA9B-CCB1-D431-DD42-9D6B6224B82F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6632C83-094C-5C04-69E5-08FE6859F0C4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F5339C71-9DCB-B6A3-A5C6-15EA7C748C99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BA35D25-606C-9ACF-E671-9CCFA6967C8E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D1DFEF66-4086-C994-2471-78C722A169D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9A4CB3A-3545-AA2A-0CBE-2D2EF42CA45D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Afbeelding 1" descr="Shadow of the Colossus review – a game of majesty and melancholy steps back  into the light | Games | The Guardian">
            <a:extLst>
              <a:ext uri="{FF2B5EF4-FFF2-40B4-BE49-F238E27FC236}">
                <a16:creationId xmlns:a16="http://schemas.microsoft.com/office/drawing/2014/main" id="{36BE5178-ADF3-6E3D-53CF-6D11E0C7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951" y="88977"/>
            <a:ext cx="4083901" cy="3046606"/>
          </a:xfrm>
          <a:prstGeom prst="rect">
            <a:avLst/>
          </a:prstGeom>
        </p:spPr>
      </p:pic>
      <p:pic>
        <p:nvPicPr>
          <p:cNvPr id="6" name="Afbeelding 5" descr="factory">
            <a:extLst>
              <a:ext uri="{FF2B5EF4-FFF2-40B4-BE49-F238E27FC236}">
                <a16:creationId xmlns:a16="http://schemas.microsoft.com/office/drawing/2014/main" id="{BC1395AE-170C-7310-D60A-ED2FE1F3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449" y="3130431"/>
            <a:ext cx="4081345" cy="3626550"/>
          </a:xfrm>
          <a:prstGeom prst="rect">
            <a:avLst/>
          </a:prstGeom>
        </p:spPr>
      </p:pic>
      <p:pic>
        <p:nvPicPr>
          <p:cNvPr id="8" name="Afbeelding 7" descr="factory">
            <a:extLst>
              <a:ext uri="{FF2B5EF4-FFF2-40B4-BE49-F238E27FC236}">
                <a16:creationId xmlns:a16="http://schemas.microsoft.com/office/drawing/2014/main" id="{65D54FB2-1E98-C888-60EF-F4D97C9F7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229" y="3127237"/>
            <a:ext cx="4016297" cy="3651525"/>
          </a:xfrm>
          <a:prstGeom prst="rect">
            <a:avLst/>
          </a:prstGeom>
        </p:spPr>
      </p:pic>
      <p:pic>
        <p:nvPicPr>
          <p:cNvPr id="9" name="Afbeelding 8" descr="chart">
            <a:extLst>
              <a:ext uri="{FF2B5EF4-FFF2-40B4-BE49-F238E27FC236}">
                <a16:creationId xmlns:a16="http://schemas.microsoft.com/office/drawing/2014/main" id="{886599FB-9B3F-B5AE-E63C-60C4CDC3D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" y="2981848"/>
            <a:ext cx="4248613" cy="3793620"/>
          </a:xfrm>
          <a:prstGeom prst="rect">
            <a:avLst/>
          </a:prstGeom>
        </p:spPr>
      </p:pic>
      <p:pic>
        <p:nvPicPr>
          <p:cNvPr id="10" name="Afbeelding 9" descr="Afbeelding met tekst, Lettertype, schermopname, lijn&#10;&#10;Automatisch gegenereerde beschrijving">
            <a:extLst>
              <a:ext uri="{FF2B5EF4-FFF2-40B4-BE49-F238E27FC236}">
                <a16:creationId xmlns:a16="http://schemas.microsoft.com/office/drawing/2014/main" id="{E264643D-5720-A308-98A1-FB5AF5BF09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693" y="2349075"/>
            <a:ext cx="84391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03034"/>
      </p:ext>
    </p:extLst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 descr="Afbeelding met tafel&#10;&#10;Automatisch gegenereerde beschrijving">
            <a:extLst>
              <a:ext uri="{FF2B5EF4-FFF2-40B4-BE49-F238E27FC236}">
                <a16:creationId xmlns:a16="http://schemas.microsoft.com/office/drawing/2014/main" id="{6ED36146-42C7-C63F-037E-DE94E5DCC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6" y="2340428"/>
            <a:ext cx="12093574" cy="4550664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51F16950-2F07-C126-F203-E7E430A52827}"/>
              </a:ext>
            </a:extLst>
          </p:cNvPr>
          <p:cNvSpPr txBox="1">
            <a:spLocks/>
          </p:cNvSpPr>
          <p:nvPr/>
        </p:nvSpPr>
        <p:spPr>
          <a:xfrm>
            <a:off x="676200" y="15528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 sure every single layer/input/operation is done on multiples of 2, and probably preferable multiples of 8</a:t>
            </a:r>
          </a:p>
        </p:txBody>
      </p:sp>
    </p:spTree>
    <p:extLst>
      <p:ext uri="{BB962C8B-B14F-4D97-AF65-F5344CB8AC3E}">
        <p14:creationId xmlns:p14="http://schemas.microsoft.com/office/powerpoint/2010/main" val="1834884858"/>
      </p:ext>
    </p:extLst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5CFE-EC98-50F3-AD05-C81CAB9E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39349BF3-83D5-FB0E-327A-FA573765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F45D0ECE-8521-D428-7DF2-73AA4009679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33F34B05-DDFE-F6EE-129A-A11EF115FA43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3AFEA02-7AF7-67B4-5B3B-DC6A092F12EA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9DCD77B1-410A-8866-50A7-F6FD57C3722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F6082525-B2F0-F179-BAE3-7F043041EB5B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9593888D-30B7-961D-4035-DD69B16FF9AE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AF103791-F395-859F-757D-4746D65B63B0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061BFF25-EE3C-B424-FFF3-FADCAF5E6478}"/>
              </a:ext>
            </a:extLst>
          </p:cNvPr>
          <p:cNvSpPr txBox="1">
            <a:spLocks/>
          </p:cNvSpPr>
          <p:nvPr/>
        </p:nvSpPr>
        <p:spPr>
          <a:xfrm>
            <a:off x="676200" y="15528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 sure every single layer/input/operation is done on multiples of 2, and probably preferable multiples of 8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32323A4-127B-39D4-98FE-E3EFCECA5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336478"/>
            <a:ext cx="12270090" cy="37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6466"/>
      </p:ext>
    </p:extLst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E404-6D2C-1D60-1408-92A39E01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E0031383-D852-7545-9692-C1C508F2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A739DF4-58B9-57C9-E708-FEBEEF8574D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Avoid CPU-GPU sync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Create tensors directly on the device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C1092067-89A1-0876-000E-FB1FE369E9F9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F1FD4F1-E1A5-4243-62DB-A1FC6F3516D5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EE1D38C-0D75-83A5-6958-2BBB9D345094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FE813371-2B12-85FC-F76C-5653839D61E5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8C90004-E7EE-46FA-88D6-1C9D47EA943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44487F0D-80CA-B4B7-69F1-0CC43A416D55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>
            <a:extLst>
              <a:ext uri="{FF2B5EF4-FFF2-40B4-BE49-F238E27FC236}">
                <a16:creationId xmlns:a16="http://schemas.microsoft.com/office/drawing/2014/main" id="{2C016500-D03F-0FAD-317F-933A968A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66"/>
          <a:stretch/>
        </p:blipFill>
        <p:spPr>
          <a:xfrm>
            <a:off x="330426" y="5278945"/>
            <a:ext cx="8236941" cy="145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38F1A5-AF4A-D438-5FBA-24858DAAA101}"/>
              </a:ext>
            </a:extLst>
          </p:cNvPr>
          <p:cNvSpPr txBox="1"/>
          <p:nvPr/>
        </p:nvSpPr>
        <p:spPr>
          <a:xfrm>
            <a:off x="6534670" y="2782474"/>
            <a:ext cx="824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✅ </a:t>
            </a:r>
          </a:p>
        </p:txBody>
      </p:sp>
      <p:pic>
        <p:nvPicPr>
          <p:cNvPr id="3" name="Picture 2" descr="Bad idea / Good idea Meme Generator - Imgflip">
            <a:extLst>
              <a:ext uri="{FF2B5EF4-FFF2-40B4-BE49-F238E27FC236}">
                <a16:creationId xmlns:a16="http://schemas.microsoft.com/office/drawing/2014/main" id="{AD1D36D8-1DC4-D760-DD69-505BBE258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9" b="2017"/>
          <a:stretch/>
        </p:blipFill>
        <p:spPr bwMode="auto">
          <a:xfrm>
            <a:off x="4721995" y="952034"/>
            <a:ext cx="6396726" cy="492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 up of a word&#10;&#10;AI-generated content may be incorrect.">
            <a:extLst>
              <a:ext uri="{FF2B5EF4-FFF2-40B4-BE49-F238E27FC236}">
                <a16:creationId xmlns:a16="http://schemas.microsoft.com/office/drawing/2014/main" id="{7E1DC08D-C0CC-BBAD-6E81-6092D839C2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288" y="1977701"/>
            <a:ext cx="2838632" cy="785902"/>
          </a:xfrm>
          <a:prstGeom prst="rect">
            <a:avLst/>
          </a:prstGeom>
        </p:spPr>
      </p:pic>
      <p:pic>
        <p:nvPicPr>
          <p:cNvPr id="9" name="Picture 8" descr="A computer code with text&#10;&#10;AI-generated content may be incorrect.">
            <a:extLst>
              <a:ext uri="{FF2B5EF4-FFF2-40B4-BE49-F238E27FC236}">
                <a16:creationId xmlns:a16="http://schemas.microsoft.com/office/drawing/2014/main" id="{EAABF550-4A33-BDFC-4D38-6DC677962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399" y="4189176"/>
            <a:ext cx="3667947" cy="132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47468"/>
      </p:ext>
    </p:extLst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7BF4-AC7E-D76A-B2C3-A3497E5B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B8440FBE-9F59-47A0-96AA-FFCBE708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001AD3E8-A9ED-AE26-A525-E901E9397EF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2556" y="1143604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Avoid doing these inside a training loop if possible:</a:t>
            </a:r>
            <a:br>
              <a:rPr lang="en-GB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F0F06E18-B143-B140-2DE2-21C69E7D7FD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FF2A9145-947B-A5A1-6587-31A8A43C1090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C4F3A042-9B02-4E5C-CFB1-A62828A289B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9BB8F131-225A-3CE8-5C6D-BF9CCB92F54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31FABE60-D209-2885-1B01-1FF31248256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F536526-60EF-2247-F21F-8954EA4EA66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3665F321-F656-9ACA-A354-CC4F1982B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40" y="2349875"/>
            <a:ext cx="9957647" cy="3629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42DC7-D802-CBF9-F94F-55A7E22DDA79}"/>
              </a:ext>
            </a:extLst>
          </p:cNvPr>
          <p:cNvSpPr txBox="1"/>
          <p:nvPr/>
        </p:nvSpPr>
        <p:spPr>
          <a:xfrm>
            <a:off x="5959040" y="5958023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This forces </a:t>
            </a:r>
            <a:r>
              <a:rPr lang="en-GB" sz="1400" dirty="0" err="1"/>
              <a:t>PyTorch</a:t>
            </a:r>
            <a:r>
              <a:rPr lang="en-GB" sz="1400" dirty="0"/>
              <a:t> to copy data from GPU to CPU, slowing performance.</a:t>
            </a:r>
            <a:endParaRPr lang="en-NL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2C645D-FE97-9FB5-EE2D-BF1CED8780DD}"/>
              </a:ext>
            </a:extLst>
          </p:cNvPr>
          <p:cNvCxnSpPr>
            <a:cxnSpLocks/>
          </p:cNvCxnSpPr>
          <p:nvPr/>
        </p:nvCxnSpPr>
        <p:spPr>
          <a:xfrm flipH="1" flipV="1">
            <a:off x="5582667" y="5681618"/>
            <a:ext cx="376373" cy="38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1786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4EB0F-4762-D3D4-E6FA-B45118A6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CEB8A7D4-4C82-9CAD-FACC-631318CA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F22EC75F-C9B9-CBD9-BC69-92B031D6790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6240" y="1077715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Don't aggregate tensors which still require grad, e.g.: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losses.append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(loss) (:o)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instead, detach (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loss.detach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())</a:t>
            </a: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9E64FFD8-7A8F-4AAC-8AE5-0206F164F11B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0B41BAD-F64C-92FF-309A-39821E7538A3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1E57614D-54A8-6512-7DF2-75151651F4EA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3C844159-507E-42F0-ED94-E93DFBC15A72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DB0DF2F7-D8C3-EE37-D0FA-460AC922C50F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D879B570-FCC3-7A5D-7EDD-E482F9F651A9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4F66AB-924C-886D-F532-91B3737CF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2" y="2961885"/>
            <a:ext cx="10396448" cy="2818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5FECB6-E925-759A-CD2E-2ACF173BA65B}"/>
              </a:ext>
            </a:extLst>
          </p:cNvPr>
          <p:cNvSpPr txBox="1"/>
          <p:nvPr/>
        </p:nvSpPr>
        <p:spPr>
          <a:xfrm>
            <a:off x="5841040" y="2357201"/>
            <a:ext cx="5905582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Each loss in </a:t>
            </a:r>
            <a:r>
              <a:rPr lang="en-GB" sz="1400" dirty="0" err="1"/>
              <a:t>losses.append</a:t>
            </a:r>
            <a:r>
              <a:rPr lang="en-GB" sz="1400" dirty="0"/>
              <a:t>(loss) stores the entire computation graph. </a:t>
            </a:r>
            <a:r>
              <a:rPr lang="en-GB" sz="1400" dirty="0" err="1"/>
              <a:t>PyTorch</a:t>
            </a:r>
            <a:r>
              <a:rPr lang="en-GB" sz="1400" dirty="0"/>
              <a:t> stores extra gradients unnecessarily!</a:t>
            </a:r>
            <a:endParaRPr lang="en-NL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40444A-307D-D510-BC5D-E4480127966D}"/>
              </a:ext>
            </a:extLst>
          </p:cNvPr>
          <p:cNvCxnSpPr>
            <a:cxnSpLocks/>
          </p:cNvCxnSpPr>
          <p:nvPr/>
        </p:nvCxnSpPr>
        <p:spPr>
          <a:xfrm flipH="1">
            <a:off x="3736623" y="2779732"/>
            <a:ext cx="2104417" cy="1871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70640C-1920-2812-A703-B4573D3103AE}"/>
              </a:ext>
            </a:extLst>
          </p:cNvPr>
          <p:cNvSpPr txBox="1"/>
          <p:nvPr/>
        </p:nvSpPr>
        <p:spPr>
          <a:xfrm>
            <a:off x="5226504" y="5962438"/>
            <a:ext cx="5003796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detach() creates a new tensor with the same values but removes the gradient tracking.</a:t>
            </a:r>
            <a:endParaRPr lang="en-NL" sz="1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105AB7-1210-5AB6-9B19-31E24F9DBB49}"/>
              </a:ext>
            </a:extLst>
          </p:cNvPr>
          <p:cNvCxnSpPr>
            <a:cxnSpLocks/>
          </p:cNvCxnSpPr>
          <p:nvPr/>
        </p:nvCxnSpPr>
        <p:spPr>
          <a:xfrm flipH="1" flipV="1">
            <a:off x="4357512" y="5557064"/>
            <a:ext cx="868992" cy="56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37341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968581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torch.backends.cuda.matmul.allow_tf32 = True</a:t>
            </a:r>
            <a:endParaRPr lang="nl-NL" dirty="0"/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The default in 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 (silently)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torch.set_float32_matmul_precision('high')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torch.backends.cudnn.benchmark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= True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Empirically benchmarks to find fastest method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Align bytes: multiples of 2, 8, 1024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DNN libraries want nicely aligned memory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torch.channels_last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Helps with memory alignment and reduces cache misses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Compile: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2.0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Big speedup, but sensitive to implementation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1BF109-1D74-7BC9-A96F-E3A56F33C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70" y="5174106"/>
            <a:ext cx="4597400" cy="106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497DAF-6847-9965-9E0A-FB7D7E05C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240" y="5174106"/>
            <a:ext cx="4775200" cy="1079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4EAEBA-6F9A-2C80-E4BE-5F8FA06FD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760" y="6270886"/>
            <a:ext cx="7772400" cy="5120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07CE38-F6FC-BACE-E58B-D86C540F3B67}"/>
              </a:ext>
            </a:extLst>
          </p:cNvPr>
          <p:cNvSpPr txBox="1"/>
          <p:nvPr/>
        </p:nvSpPr>
        <p:spPr>
          <a:xfrm>
            <a:off x="7138700" y="872640"/>
            <a:ext cx="4471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little reason </a:t>
            </a:r>
            <a:r>
              <a:rPr lang="en-GB" sz="1400" i="1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 use TensorFloat32 </a:t>
            </a:r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</a:t>
            </a:r>
            <a:endParaRPr lang="en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1D5802-F904-12C9-3B5B-E7FD8958958B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096000" y="1072695"/>
            <a:ext cx="1042700" cy="5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C3AC53-F74A-B814-27FE-C87489A7D069}"/>
              </a:ext>
            </a:extLst>
          </p:cNvPr>
          <p:cNvSpPr txBox="1"/>
          <p:nvPr/>
        </p:nvSpPr>
        <p:spPr>
          <a:xfrm>
            <a:off x="6722650" y="1576942"/>
            <a:ext cx="4953110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Helps maintain accuracy in cases where TF32 might introduce minor errors</a:t>
            </a:r>
            <a:endParaRPr lang="en-NL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AC30D4-29D1-FC65-B112-423CAD7272E7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679949" y="1831910"/>
            <a:ext cx="1042701" cy="52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6C147F-3C92-1672-0D5C-8A774CD567A1}"/>
              </a:ext>
            </a:extLst>
          </p:cNvPr>
          <p:cNvSpPr txBox="1"/>
          <p:nvPr/>
        </p:nvSpPr>
        <p:spPr>
          <a:xfrm>
            <a:off x="7488595" y="3460538"/>
            <a:ext cx="4573690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Stores images in NHWC format instead of NCHW (optimizes GPU cache usage)</a:t>
            </a:r>
            <a:endParaRPr lang="en-NL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28055A-EAFC-E574-AA7B-E6305B9128C3}"/>
              </a:ext>
            </a:extLst>
          </p:cNvPr>
          <p:cNvCxnSpPr>
            <a:cxnSpLocks/>
          </p:cNvCxnSpPr>
          <p:nvPr/>
        </p:nvCxnSpPr>
        <p:spPr>
          <a:xfrm flipH="1">
            <a:off x="3285067" y="3772407"/>
            <a:ext cx="4218358" cy="3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334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Level 2: Danger zone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torch.backends.cuda.matmul.allow_fp16_reduced_precision_reduction = True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Lol: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ea typeface="+mn-lt"/>
                <a:cs typeface="+mn-lt"/>
              </a:rPr>
              <a:t>torch.backends.cuda.matmul.allow_bf16_reduced_precision_reduction = True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Torch.set_float32_matmul_precision('medium')</a:t>
            </a:r>
            <a:endParaRPr lang="en-US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Cast model and data to (B)Float16 before the forward pass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We're not supposed to...but: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&#10;&#10;Automatisch gegenereerde beschrijving">
            <a:extLst>
              <a:ext uri="{FF2B5EF4-FFF2-40B4-BE49-F238E27FC236}">
                <a16:creationId xmlns:a16="http://schemas.microsoft.com/office/drawing/2014/main" id="{763B3421-2C79-FBA0-BDB3-57F0833F0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53" y="1753948"/>
            <a:ext cx="7996159" cy="572938"/>
          </a:xfrm>
          <a:prstGeom prst="rect">
            <a:avLst/>
          </a:prstGeom>
        </p:spPr>
      </p:pic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455" y="4419158"/>
            <a:ext cx="1478492" cy="1965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DCE398-D0F1-470F-102E-9ECF169A517A}"/>
              </a:ext>
            </a:extLst>
          </p:cNvPr>
          <p:cNvSpPr txBox="1"/>
          <p:nvPr/>
        </p:nvSpPr>
        <p:spPr>
          <a:xfrm>
            <a:off x="5959039" y="219409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Lower precision (FP16 or BF16) for matrix reductions instead of higher precision (FP32, advised). Can cause numerical instability!</a:t>
            </a:r>
            <a:endParaRPr lang="en-NL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E6B202-43CB-8B21-B8D5-2F886CF5CDE2}"/>
              </a:ext>
            </a:extLst>
          </p:cNvPr>
          <p:cNvCxnSpPr>
            <a:cxnSpLocks/>
          </p:cNvCxnSpPr>
          <p:nvPr/>
        </p:nvCxnSpPr>
        <p:spPr>
          <a:xfrm flipH="1">
            <a:off x="9561689" y="827153"/>
            <a:ext cx="876708" cy="586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3E4A6E-5B33-B6FA-0FA9-F0F4C826281A}"/>
              </a:ext>
            </a:extLst>
          </p:cNvPr>
          <p:cNvCxnSpPr>
            <a:cxnSpLocks/>
          </p:cNvCxnSpPr>
          <p:nvPr/>
        </p:nvCxnSpPr>
        <p:spPr>
          <a:xfrm flipH="1">
            <a:off x="9537209" y="852519"/>
            <a:ext cx="901188" cy="1329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D84707-DAE4-7FED-FC14-80907AAC9923}"/>
              </a:ext>
            </a:extLst>
          </p:cNvPr>
          <p:cNvSpPr txBox="1"/>
          <p:nvPr/>
        </p:nvSpPr>
        <p:spPr>
          <a:xfrm>
            <a:off x="6046652" y="2741726"/>
            <a:ext cx="610878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trades some accuracy for faster compute. Can affect model convergence</a:t>
            </a:r>
            <a:endParaRPr lang="en-NL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39EF1B-0CB4-8359-003F-754C9DB9BC53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5678311" y="2941781"/>
            <a:ext cx="368341" cy="200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648EA7E-5615-BF4A-2835-B66B24EC57FE}"/>
              </a:ext>
            </a:extLst>
          </p:cNvPr>
          <p:cNvSpPr txBox="1"/>
          <p:nvPr/>
        </p:nvSpPr>
        <p:spPr>
          <a:xfrm>
            <a:off x="6522374" y="4999996"/>
            <a:ext cx="5510849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Forces all computations to use lower precision, instead of letting </a:t>
            </a:r>
            <a:r>
              <a:rPr lang="en-GB" sz="1400" dirty="0" err="1"/>
              <a:t>autocast</a:t>
            </a:r>
            <a:r>
              <a:rPr lang="en-GB" sz="1400" dirty="0"/>
              <a:t>() to choose </a:t>
            </a:r>
            <a:endParaRPr lang="en-NL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41E917-D780-01AB-E3ED-30437B114D6C}"/>
              </a:ext>
            </a:extLst>
          </p:cNvPr>
          <p:cNvCxnSpPr>
            <a:cxnSpLocks/>
          </p:cNvCxnSpPr>
          <p:nvPr/>
        </p:nvCxnSpPr>
        <p:spPr>
          <a:xfrm flipH="1" flipV="1">
            <a:off x="5678311" y="3910829"/>
            <a:ext cx="1207911" cy="108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4204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2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latin typeface="Calibri"/>
              </a:rPr>
              <a:t>Or: Change your model</a:t>
            </a: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Worst case scenario: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60664DDD-B0AA-0BAC-77E4-652D5830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" y="2022455"/>
            <a:ext cx="12165013" cy="1701838"/>
          </a:xfrm>
          <a:prstGeom prst="rect">
            <a:avLst/>
          </a:prstGeom>
        </p:spPr>
      </p:pic>
      <p:pic>
        <p:nvPicPr>
          <p:cNvPr id="4" name="Afbeelding 4">
            <a:extLst>
              <a:ext uri="{FF2B5EF4-FFF2-40B4-BE49-F238E27FC236}">
                <a16:creationId xmlns:a16="http://schemas.microsoft.com/office/drawing/2014/main" id="{21FFE97D-BE6E-9AAC-991D-03EC04688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088" y="3161692"/>
            <a:ext cx="8902699" cy="34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68654"/>
      </p:ext>
    </p:extLst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5716F-DE4D-7677-D20C-465CA7AB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81F951FC-A7FF-FB15-2895-9180D45D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latin typeface="Calibri"/>
              </a:rPr>
              <a:t>Or: Change your model</a:t>
            </a: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4C2000A-EF03-1431-79EF-07ECDD3575A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2437" y="970926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Change model architecture to improve performance characteristics, e.g.: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Use </a:t>
            </a:r>
            <a:r>
              <a:rPr lang="en-GB" sz="1100" spc="-1" dirty="0" err="1">
                <a:solidFill>
                  <a:srgbClr val="000000"/>
                </a:solidFill>
                <a:latin typeface="Arial"/>
                <a:cs typeface="Arial"/>
              </a:rPr>
              <a:t>LoRA</a:t>
            </a: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 for fine-tuning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Use pre-trained model aka zero shot (@train VAE for latent space creation or use pre-trained model)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E.g. Llama, DINOv2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Incorporate </a:t>
            </a:r>
            <a:r>
              <a:rPr lang="en-GB" sz="1100" spc="-1" dirty="0" err="1">
                <a:solidFill>
                  <a:srgbClr val="000000"/>
                </a:solidFill>
                <a:latin typeface="Arial"/>
                <a:cs typeface="Arial"/>
              </a:rPr>
              <a:t>dataloading</a:t>
            </a: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 operations into the model instead of CPU pipeline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 err="1">
                <a:solidFill>
                  <a:srgbClr val="000000"/>
                </a:solidFill>
                <a:latin typeface="Arial"/>
                <a:cs typeface="Arial"/>
              </a:rPr>
              <a:t>ViT</a:t>
            </a: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 vs CNN vs GNN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Change non-linearities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Multiples of 2,8,1024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Channels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Hidden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Vocab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Batch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Input resolution/sequence length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Everything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For transformers: 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Patching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Masked attention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1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1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1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8E859C55-D5DC-31E1-DF64-276D364B3E9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B5DA00F-6A37-690A-60FA-98FC580117EE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8FCA34F8-8417-FCC7-0F15-DA2B967A25B3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E0D72F69-ABA9-3D35-A13A-379C4FB8ACD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439A953F-FDBC-C3EC-92B3-EEA96823A1B5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E48D71EA-AE8D-C84A-860C-746B4584BC57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45BD415B-0503-1652-91B9-0C2285BE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5" name="Picture 4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5194710C-8C79-4873-01DD-EDDF106D65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271" y="2518200"/>
            <a:ext cx="8298249" cy="43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14548"/>
      </p:ext>
    </p:extLst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Always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Have a baseline</a:t>
            </a:r>
            <a:endParaRPr lang="nl-NL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Check convergence statistics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60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2" name="Afbeelding 2" descr="Afbeelding met grafiek&#10;&#10;Automatisch gegenereerde beschrijving">
            <a:extLst>
              <a:ext uri="{FF2B5EF4-FFF2-40B4-BE49-F238E27FC236}">
                <a16:creationId xmlns:a16="http://schemas.microsoft.com/office/drawing/2014/main" id="{9313A08F-5E86-B1D2-6626-505D0D8B4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5" y="2495662"/>
            <a:ext cx="5783263" cy="35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74145"/>
      </p:ext>
    </p:extLst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Profile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Get a grip on your model’s performance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Profile</a:t>
            </a:r>
            <a:endParaRPr lang="nl-NL" dirty="0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Profile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Profile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61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wiel&#10;&#10;Automatisch gegenereerde beschrijving">
            <a:extLst>
              <a:ext uri="{FF2B5EF4-FFF2-40B4-BE49-F238E27FC236}">
                <a16:creationId xmlns:a16="http://schemas.microsoft.com/office/drawing/2014/main" id="{990048BE-1D46-0CDB-88C9-F4FB31A52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650" y="5357721"/>
            <a:ext cx="2743200" cy="142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12013"/>
      </p:ext>
    </p:extLst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7204-C478-6CF8-2D9A-B71AABBA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AE8607C-C392-2EB5-F656-CF9E9D83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87B89263-AC10-5925-0218-94FA3565CA9D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7638A75-00E2-DD1F-828E-DCFA25184CFC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600" b="1" dirty="0">
                <a:solidFill>
                  <a:srgbClr val="FFFFFF"/>
                </a:solidFill>
                <a:latin typeface="Aptos"/>
              </a:rPr>
              <a:t>On that note: Profiling!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99B5521B-C6BE-43F5-A73D-903E587569FB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9EB54BF-32F8-E858-55B8-4C60104C8734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779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2F21-6207-5954-4BD6-68C930E7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2" descr="Afbeelding met wiel&#10;&#10;Automatisch gegenereerde beschrijving">
            <a:extLst>
              <a:ext uri="{FF2B5EF4-FFF2-40B4-BE49-F238E27FC236}">
                <a16:creationId xmlns:a16="http://schemas.microsoft.com/office/drawing/2014/main" id="{628423C9-D829-5811-848A-5D96B93CA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666" y="5333657"/>
            <a:ext cx="2743200" cy="1428934"/>
          </a:xfrm>
          <a:prstGeom prst="rect">
            <a:avLst/>
          </a:prstGeom>
        </p:spPr>
      </p:pic>
      <p:sp>
        <p:nvSpPr>
          <p:cNvPr id="938" name="PlaceHolder 1">
            <a:extLst>
              <a:ext uri="{FF2B5EF4-FFF2-40B4-BE49-F238E27FC236}">
                <a16:creationId xmlns:a16="http://schemas.microsoft.com/office/drawing/2014/main" id="{CC5DA91E-2155-30E4-4895-380836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Profile</a:t>
            </a:r>
            <a:endParaRPr lang="nl-NL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EE6DF855-2CD5-8A1A-8BFE-6A76E1A9A3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Notebook available at 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  <a:hlinkClick r:id="rId4"/>
              </a:rPr>
              <a:t>https://github.com/SURF-ML/HPML-course-materials/blob/august2025/Day2/notebooks/PyTorch_profiling.ipynb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Reference traces are in https://github.com/SURF-ML/HPML-course-materials/tree/august2025/Day2/notebooks/logs</a:t>
            </a:r>
          </a:p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```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python3 -m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venv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venv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source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venv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/bin/activate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pip install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git+https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://github.com/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/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kineto.git#subdirectory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tb_plugin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git clone --depth=1 </a:t>
            </a:r>
            <a:r>
              <a:rPr lang="en-GB" sz="2000" spc="-1" dirty="0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https://github.com/SURF-ML/HPML-course-materials.git</a:t>
            </a:r>
            <a:br>
              <a:rPr lang="en-GB" sz="2000" spc="-1" dirty="0">
                <a:latin typeface="Arial"/>
                <a:cs typeface="Arial"/>
              </a:rPr>
            </a:br>
            <a:r>
              <a:rPr lang="en-GB" sz="2000" spc="-1" dirty="0" err="1">
                <a:latin typeface="Arial"/>
                <a:cs typeface="Arial"/>
              </a:rPr>
              <a:t>tensorboard</a:t>
            </a:r>
            <a:r>
              <a:rPr lang="en-GB" sz="2000" spc="-1" dirty="0">
                <a:latin typeface="Arial"/>
                <a:cs typeface="Arial"/>
              </a:rPr>
              <a:t> --</a:t>
            </a:r>
            <a:r>
              <a:rPr lang="en-GB" sz="2000" spc="-1" dirty="0" err="1">
                <a:latin typeface="Arial"/>
                <a:cs typeface="Arial"/>
              </a:rPr>
              <a:t>logdir</a:t>
            </a:r>
            <a:r>
              <a:rPr lang="en-GB" sz="2000" spc="-1" dirty="0">
                <a:latin typeface="Arial"/>
                <a:cs typeface="Arial"/>
              </a:rPr>
              <a:t> HPML-course-materials/Day2/notebooks/logs/</a:t>
            </a:r>
            <a:br>
              <a:rPr lang="en-GB" sz="2000" spc="-1" dirty="0">
                <a:latin typeface="Arial"/>
                <a:cs typeface="Arial"/>
              </a:rPr>
            </a:br>
            <a:r>
              <a:rPr lang="en-GB" sz="2000" spc="-1" dirty="0">
                <a:latin typeface="Arial"/>
                <a:cs typeface="Arial"/>
              </a:rPr>
              <a:t>```</a:t>
            </a:r>
            <a:br>
              <a:rPr lang="en-GB" sz="2000" spc="-1" dirty="0">
                <a:latin typeface="Arial"/>
                <a:cs typeface="Arial"/>
              </a:rPr>
            </a:br>
            <a:endParaRPr lang="en-GB" sz="2000" spc="-1" dirty="0"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E00228E6-A0AF-35E9-0876-FA464E1D493B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63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0D5459BD-C153-2099-50D9-DD597B8F0F4C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FC92CA4-371B-53AE-5232-3AF391AE283A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6515E3BE-3D45-607E-A1A7-B7F1E20E7E0B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48CC3998-876B-B75C-FD5C-CCA0A8CD02F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416A1926-09F3-5763-7943-4D287A3B0C3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2466"/>
      </p:ext>
    </p:extLst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C7F73-157D-F6F4-FD97-44454E295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4114854-148E-5248-5CEC-83F0A812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F8E013A9-1483-1597-7DB2-D21F3DD964AE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448B6F55-4340-ED9E-D31B-3FF4881688B6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600" b="1" dirty="0">
                <a:solidFill>
                  <a:srgbClr val="FFFFFF"/>
                </a:solidFill>
                <a:latin typeface="Aptos"/>
              </a:rPr>
              <a:t>Bonus</a:t>
            </a: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 AI Factory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1BF86EC-3F79-B3FE-1738-457168371CD7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992ACDE-D167-1DEC-1A50-B6C464C7B17A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7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A15784-66AE-E08A-230C-E324228692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78396-4D5F-3B62-1F02-E69153D064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F9DF40-9A7D-EC33-232A-17D6B1AB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factories recap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0E3EA3-57EE-A024-6A65-767C2FF2EF5F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Initiative by the EU to close the AI-gap</a:t>
            </a:r>
            <a:br>
              <a:rPr lang="en-US" dirty="0"/>
            </a:br>
            <a:r>
              <a:rPr lang="en-US" dirty="0"/>
              <a:t>to our ‘friends’ to the west </a:t>
            </a:r>
            <a:br>
              <a:rPr lang="en-US" dirty="0"/>
            </a:br>
            <a:r>
              <a:rPr lang="en-US" dirty="0"/>
              <a:t>and to our ‘friends’ to the east</a:t>
            </a:r>
          </a:p>
          <a:p>
            <a:r>
              <a:rPr lang="en-US" dirty="0"/>
              <a:t>Bootstrapping AI development</a:t>
            </a:r>
            <a:br>
              <a:rPr lang="en-US" dirty="0"/>
            </a:br>
            <a:r>
              <a:rPr lang="en-US" dirty="0"/>
              <a:t>and AI uptake in Europe</a:t>
            </a:r>
          </a:p>
          <a:p>
            <a:r>
              <a:rPr lang="en-US" dirty="0"/>
              <a:t>Budget ‘fluid’; up to EC discretion</a:t>
            </a:r>
            <a:br>
              <a:rPr lang="en-US" dirty="0"/>
            </a:br>
            <a:r>
              <a:rPr lang="en-US" dirty="0"/>
              <a:t>So far ~€1.5 billion granted</a:t>
            </a:r>
            <a:br>
              <a:rPr lang="en-US" dirty="0"/>
            </a:br>
            <a:r>
              <a:rPr lang="en-US" dirty="0"/>
              <a:t>Up to €200 million matched per site</a:t>
            </a:r>
          </a:p>
          <a:p>
            <a:r>
              <a:rPr lang="en-US" dirty="0"/>
              <a:t>AI Gigafactories also announced:</a:t>
            </a:r>
            <a:br>
              <a:rPr lang="en-US" dirty="0"/>
            </a:br>
            <a:r>
              <a:rPr lang="en-US" dirty="0"/>
              <a:t>~€20 billion available</a:t>
            </a:r>
          </a:p>
          <a:p>
            <a:r>
              <a:rPr lang="en-US" dirty="0"/>
              <a:t>‘Create AI aligned with EU values’</a:t>
            </a:r>
          </a:p>
          <a:p>
            <a:r>
              <a:rPr lang="en-US" dirty="0"/>
              <a:t>We want to build an AI factory,</a:t>
            </a:r>
            <a:br>
              <a:rPr lang="en-US" dirty="0"/>
            </a:br>
            <a:r>
              <a:rPr lang="en-US" dirty="0"/>
              <a:t>ready Q3 2027 in The Netherlands</a:t>
            </a:r>
            <a:endParaRPr lang="en-NL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7EC0915-F252-48DB-6B17-5514B8621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979" y="4978"/>
            <a:ext cx="6853022" cy="685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1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6CC92-B06B-662C-8625-4976EAC5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4D9E99-82CF-4D08-CFA1-571C99625C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D4D59-738B-343D-EA44-A9E82EFE1D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EDC8BA-3229-9704-86FD-CEAECB1F4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factories recap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6570D3-BD65-1443-0CEB-492374873AA7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592262"/>
            <a:ext cx="4371302" cy="4060393"/>
          </a:xfrm>
        </p:spPr>
        <p:txBody>
          <a:bodyPr/>
          <a:lstStyle/>
          <a:p>
            <a:r>
              <a:rPr lang="en-US" dirty="0"/>
              <a:t>We want to build an AI factory,</a:t>
            </a:r>
            <a:br>
              <a:rPr lang="en-US" dirty="0"/>
            </a:br>
            <a:r>
              <a:rPr lang="en-US" dirty="0"/>
              <a:t>ready end of 2026 in The Netherlands</a:t>
            </a:r>
          </a:p>
          <a:p>
            <a:r>
              <a:rPr lang="en-US" dirty="0"/>
              <a:t>Seems Lithuania and the Netherlands are </a:t>
            </a:r>
            <a:br>
              <a:rPr lang="en-US" dirty="0"/>
            </a:br>
            <a:r>
              <a:rPr lang="en-US" dirty="0"/>
              <a:t>competing in the same round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br>
              <a:rPr lang="en-US" dirty="0">
                <a:sym typeface="Wingdings" panose="05000000000000000000" pitchFamily="2" charset="2"/>
              </a:rPr>
            </a:b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https://www.madeinvilnius.lt/en/business/Vilnius-market/The-ambition-is-to-have-one-of-the-most-powerful-di-centers-in-Europe-in-Lithuania./</a:t>
            </a:r>
            <a:endParaRPr lang="en-NL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8F33EB53-D254-6634-3164-11C3A5721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979" y="4978"/>
            <a:ext cx="6853022" cy="685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0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1A76-19F8-0B67-ED10-3DC01103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265AE2-1158-BEB3-E89D-76BD86488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224A6-38B4-989B-547E-2834B7692B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D91D02-FA07-4C8A-845B-9599A192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factories setup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9FB30B-C7D8-7CAF-6B47-B5DE9E4A2585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Technically:</a:t>
            </a:r>
          </a:p>
          <a:p>
            <a:pPr lvl="1"/>
            <a:r>
              <a:rPr lang="en-US" dirty="0"/>
              <a:t>“AI factory” -&gt; expertise center</a:t>
            </a:r>
          </a:p>
          <a:p>
            <a:pPr lvl="1"/>
            <a:r>
              <a:rPr lang="en-US" dirty="0"/>
              <a:t>“AI facility” -&gt; supercomputer</a:t>
            </a:r>
          </a:p>
          <a:p>
            <a:r>
              <a:rPr lang="en-US" dirty="0"/>
              <a:t>“AI factory” sometimes means both</a:t>
            </a:r>
          </a:p>
          <a:p>
            <a:endParaRPr lang="en-US" dirty="0"/>
          </a:p>
          <a:p>
            <a:r>
              <a:rPr lang="en-US" dirty="0"/>
              <a:t>Dutch AIF:</a:t>
            </a:r>
          </a:p>
          <a:p>
            <a:pPr lvl="1"/>
            <a:r>
              <a:rPr lang="en-US" dirty="0"/>
              <a:t>200M euro total budget</a:t>
            </a:r>
          </a:p>
          <a:p>
            <a:pPr lvl="1"/>
            <a:r>
              <a:rPr lang="en-US" dirty="0"/>
              <a:t>1/3</a:t>
            </a:r>
            <a:r>
              <a:rPr lang="en-US" baseline="30000" dirty="0"/>
              <a:t>rd</a:t>
            </a:r>
            <a:r>
              <a:rPr lang="en-US" dirty="0"/>
              <a:t> of the budget towards facility</a:t>
            </a:r>
          </a:p>
          <a:p>
            <a:pPr lvl="1"/>
            <a:r>
              <a:rPr lang="en-US" dirty="0"/>
              <a:t>Operational Q3 2027</a:t>
            </a:r>
          </a:p>
          <a:p>
            <a:endParaRPr lang="en-US" dirty="0"/>
          </a:p>
          <a:p>
            <a:endParaRPr lang="en-NL" dirty="0"/>
          </a:p>
        </p:txBody>
      </p:sp>
      <p:pic>
        <p:nvPicPr>
          <p:cNvPr id="8" name="Picture 7" descr="A building with many logos&#10;&#10;AI-generated content may be incorrect.">
            <a:extLst>
              <a:ext uri="{FF2B5EF4-FFF2-40B4-BE49-F238E27FC236}">
                <a16:creationId xmlns:a16="http://schemas.microsoft.com/office/drawing/2014/main" id="{C1C5D940-C636-87E4-FF24-3A33CACEA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57" y="0"/>
            <a:ext cx="5529943" cy="3686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83EE98-9DD0-8B6D-5F42-8B1F417B8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57" y="3755580"/>
            <a:ext cx="5529943" cy="310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4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DF39B-1A2F-0C7C-9F3D-709E2EDB3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6029AA30-7C2A-97EE-0582-916BCB5987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219" y="6239960"/>
            <a:ext cx="932400" cy="475200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C8DBB6F-8D44-7793-1F78-0663456443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7788F2F-3E03-8879-5C06-F8BBDA6F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Do we even need an AI factory?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A60A9997-4EF8-894C-023B-1D104D56A795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406397"/>
            <a:ext cx="11014354" cy="4729290"/>
          </a:xfrm>
        </p:spPr>
        <p:txBody>
          <a:bodyPr/>
          <a:lstStyle/>
          <a:p>
            <a:pPr marL="628650" lvl="7" indent="-285750">
              <a:buFont typeface="Arial" panose="020B0604020202020204" pitchFamily="34" charset="0"/>
              <a:buChar char="•"/>
            </a:pPr>
            <a:r>
              <a:rPr lang="nl-NL" sz="2800" dirty="0"/>
              <a:t>You tell me </a:t>
            </a:r>
            <a:r>
              <a:rPr lang="nl-NL" sz="2800" dirty="0">
                <a:sym typeface="Wingdings" panose="05000000000000000000" pitchFamily="2" charset="2"/>
              </a:rPr>
              <a:t></a:t>
            </a:r>
          </a:p>
          <a:p>
            <a:pPr marL="628650" lvl="7" indent="-285750">
              <a:buFont typeface="Arial" panose="020B0604020202020204" pitchFamily="34" charset="0"/>
              <a:buChar char="•"/>
            </a:pPr>
            <a:r>
              <a:rPr lang="nl-NL" sz="2800" dirty="0">
                <a:sym typeface="Wingdings" panose="05000000000000000000" pitchFamily="2" charset="2"/>
              </a:rPr>
              <a:t>Current (national) hardware is not sufficient for current &amp; next-gen workloads</a:t>
            </a:r>
          </a:p>
          <a:p>
            <a:pPr marL="628650" lvl="7" indent="-285750">
              <a:buFont typeface="Arial" panose="020B0604020202020204" pitchFamily="34" charset="0"/>
              <a:buChar char="•"/>
            </a:pPr>
            <a:endParaRPr lang="nl-NL" sz="2800" dirty="0">
              <a:sym typeface="Wingdings" panose="05000000000000000000" pitchFamily="2" charset="2"/>
            </a:endParaRPr>
          </a:p>
          <a:p>
            <a:pPr lvl="6" indent="0">
              <a:buNone/>
            </a:pPr>
            <a:r>
              <a:rPr lang="nl-NL" sz="2800" dirty="0">
                <a:sym typeface="Wingdings" panose="05000000000000000000" pitchFamily="2" charset="2"/>
              </a:rPr>
              <a:t>National perspective: </a:t>
            </a:r>
          </a:p>
          <a:p>
            <a:pPr marL="800100" lvl="6" indent="-457200">
              <a:buFont typeface="Arial" panose="020B0604020202020204" pitchFamily="34" charset="0"/>
              <a:buChar char="•"/>
            </a:pPr>
            <a:r>
              <a:rPr lang="nl-NL" sz="2800" dirty="0">
                <a:sym typeface="Wingdings" panose="05000000000000000000" pitchFamily="2" charset="2"/>
              </a:rPr>
              <a:t>Data sovereignty &amp; country borders are important (UMC’s)</a:t>
            </a:r>
          </a:p>
          <a:p>
            <a:pPr marL="800100" lvl="6" indent="-457200">
              <a:buFont typeface="Arial" panose="020B0604020202020204" pitchFamily="34" charset="0"/>
              <a:buChar char="•"/>
            </a:pPr>
            <a:r>
              <a:rPr lang="nl-NL" sz="2800" dirty="0">
                <a:sym typeface="Wingdings" panose="05000000000000000000" pitchFamily="2" charset="2"/>
              </a:rPr>
              <a:t>Foster national ecosystem</a:t>
            </a:r>
          </a:p>
          <a:p>
            <a:pPr marL="800100" lvl="6" indent="-457200">
              <a:buFont typeface="Arial" panose="020B0604020202020204" pitchFamily="34" charset="0"/>
              <a:buChar char="•"/>
            </a:pPr>
            <a:endParaRPr lang="nl-NL" sz="2800" dirty="0">
              <a:sym typeface="Wingdings" panose="05000000000000000000" pitchFamily="2" charset="2"/>
            </a:endParaRPr>
          </a:p>
          <a:p>
            <a:pPr lvl="7" indent="0">
              <a:buNone/>
            </a:pPr>
            <a:endParaRPr lang="nl-NL" sz="2800" dirty="0">
              <a:sym typeface="Wingdings" panose="05000000000000000000" pitchFamily="2" charset="2"/>
            </a:endParaRPr>
          </a:p>
          <a:p>
            <a:pPr marL="628650" lvl="7" indent="-285750">
              <a:buFont typeface="Arial" panose="020B0604020202020204" pitchFamily="34" charset="0"/>
              <a:buChar char="•"/>
            </a:pPr>
            <a:endParaRPr lang="nl-NL" sz="2800" dirty="0">
              <a:sym typeface="Wingdings" panose="05000000000000000000" pitchFamily="2" charset="2"/>
            </a:endParaRPr>
          </a:p>
          <a:p>
            <a:pPr lvl="7" indent="0">
              <a:buNone/>
            </a:pPr>
            <a:endParaRPr lang="nl-NL" sz="2800" dirty="0">
              <a:sym typeface="Wingdings" panose="05000000000000000000" pitchFamily="2" charset="2"/>
            </a:endParaRPr>
          </a:p>
          <a:p>
            <a:pPr marL="628650" lvl="7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2047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C6192-3B69-96F6-5068-27F77434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6F4FEA30-D067-C202-4B13-882C66EC00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219" y="6239960"/>
            <a:ext cx="932400" cy="475200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2D0E92B-78E9-B3DC-500A-C9DABD0F55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A7EBFB1-CBD8-0764-FC9A-370F452C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Do we even need an AI factory?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F1509266-7763-487C-40C6-0868254E24EC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406397"/>
            <a:ext cx="11014354" cy="4729290"/>
          </a:xfrm>
        </p:spPr>
        <p:txBody>
          <a:bodyPr/>
          <a:lstStyle/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nl-NL" dirty="0"/>
              <a:t>Our perspective:</a:t>
            </a:r>
          </a:p>
          <a:p>
            <a:pPr marL="628650" lvl="6" indent="-285750">
              <a:buFont typeface="Arial" panose="020B0604020202020204" pitchFamily="34" charset="0"/>
              <a:buChar char="•"/>
            </a:pPr>
            <a:r>
              <a:rPr lang="nl-NL" dirty="0"/>
              <a:t>On average, the HPML teams gets 3-4 tickets per day regarding AI</a:t>
            </a:r>
          </a:p>
          <a:p>
            <a:pPr marL="628650" lvl="7" indent="-285750">
              <a:buFont typeface="Arial" panose="020B0604020202020204" pitchFamily="34" charset="0"/>
              <a:buChar char="•"/>
            </a:pPr>
            <a:r>
              <a:rPr lang="nl-NL" dirty="0"/>
              <a:t>Application support and compute resource requests, on average taking 1-4hrs (one person fulltime) </a:t>
            </a:r>
          </a:p>
          <a:p>
            <a:pPr marL="628650" lvl="6" indent="-285750">
              <a:buFont typeface="Arial" panose="020B0604020202020204" pitchFamily="34" charset="0"/>
              <a:buChar char="•"/>
            </a:pPr>
            <a:r>
              <a:rPr lang="nl-NL" dirty="0"/>
              <a:t>AI says we practically get infinite tickets a day at the end of 2026</a:t>
            </a:r>
            <a:br>
              <a:rPr lang="nl-NL" dirty="0"/>
            </a:br>
            <a:r>
              <a:rPr lang="nl-NL" dirty="0"/>
              <a:t>(Actually ~15, extrapolated, 5 people fulltime)</a:t>
            </a:r>
          </a:p>
          <a:p>
            <a:pPr marL="628650" lvl="6" indent="-285750">
              <a:buFont typeface="Arial" panose="020B0604020202020204" pitchFamily="34" charset="0"/>
              <a:buChar char="•"/>
            </a:pPr>
            <a:r>
              <a:rPr lang="nl-NL" dirty="0"/>
              <a:t>Not withstanding larger application support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nl-NL" dirty="0"/>
              <a:t>Industry perspective:</a:t>
            </a:r>
          </a:p>
          <a:p>
            <a:pPr marL="628650" lvl="6" indent="-285750">
              <a:buFont typeface="Arial" panose="020B0604020202020204" pitchFamily="34" charset="0"/>
              <a:buChar char="•"/>
            </a:pPr>
            <a:r>
              <a:rPr lang="nl-NL" dirty="0"/>
              <a:t>AI has firmly taken over the HPC world</a:t>
            </a:r>
          </a:p>
          <a:p>
            <a:pPr marL="628650" lvl="6" indent="-285750">
              <a:buFont typeface="Arial" panose="020B0604020202020204" pitchFamily="34" charset="0"/>
              <a:buChar char="•"/>
            </a:pPr>
            <a:r>
              <a:rPr lang="nl-NL" dirty="0"/>
              <a:t>“AI is the new HPC” -&gt;</a:t>
            </a:r>
            <a:br>
              <a:rPr lang="nl-NL" dirty="0"/>
            </a:br>
            <a:r>
              <a:rPr lang="nl-NL" dirty="0"/>
              <a:t>AMD: “in 2025 ~30M datacenter GPUs datacenter </a:t>
            </a:r>
            <a:br>
              <a:rPr lang="nl-NL" dirty="0"/>
            </a:br>
            <a:r>
              <a:rPr lang="nl-NL" dirty="0"/>
              <a:t>were sold, of which ~500k for HPC applications”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nl-NL" dirty="0"/>
              <a:t>Public perspective:</a:t>
            </a:r>
          </a:p>
          <a:p>
            <a:pPr marL="628650" lvl="7" indent="-285750">
              <a:buFont typeface="Arial" panose="020B0604020202020204" pitchFamily="34" charset="0"/>
              <a:buChar char="•"/>
            </a:pPr>
            <a:r>
              <a:rPr lang="nl-NL" dirty="0"/>
              <a:t>Data and compute sovereignity</a:t>
            </a:r>
            <a:br>
              <a:rPr lang="nl-NL" dirty="0"/>
            </a:br>
            <a:r>
              <a:rPr lang="nl-NL" dirty="0"/>
              <a:t>is of paramount importance</a:t>
            </a:r>
          </a:p>
          <a:p>
            <a:pPr marL="628650" lvl="7" indent="-285750">
              <a:buFont typeface="Arial" panose="020B0604020202020204" pitchFamily="34" charset="0"/>
              <a:buChar char="•"/>
            </a:pPr>
            <a:r>
              <a:rPr lang="nl-NL" dirty="0"/>
              <a:t>AI factories and Gigafactories</a:t>
            </a:r>
          </a:p>
          <a:p>
            <a:pPr marL="628650" lvl="7" indent="-285750">
              <a:buFontTx/>
              <a:buChar char="-"/>
            </a:pPr>
            <a:endParaRPr lang="nl-NL" dirty="0"/>
          </a:p>
          <a:p>
            <a:pPr marL="285750" lvl="3" indent="-285750">
              <a:buFontTx/>
              <a:buChar char="-"/>
            </a:pPr>
            <a:endParaRPr lang="nl-NL" dirty="0"/>
          </a:p>
          <a:p>
            <a:pPr marL="285750" lvl="3" indent="-285750">
              <a:buFontTx/>
              <a:buChar char="-"/>
            </a:pP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450038-78B2-9D6A-B7B8-AB8DF92FD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171" y="2945081"/>
            <a:ext cx="5234852" cy="3912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F37EE9-071D-F505-1335-CE279124D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664" y="5539387"/>
            <a:ext cx="1326632" cy="132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7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4396F1B-EB90-366A-59DE-06E78FF67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058" y="3306727"/>
            <a:ext cx="7762535" cy="353711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0FFB61-6571-3806-9C8F-37A39A46D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704C2-3FD2-C1DF-C62E-E96912AD05F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9EC12C-CEC1-EDCD-A97B-9948CFAC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to design the AI factory for?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E8643A-205E-C224-89D5-5710B2E35310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50/50 split between EuroHPC JU and The Netherlands</a:t>
            </a:r>
          </a:p>
          <a:p>
            <a:pPr lvl="1"/>
            <a:r>
              <a:rPr lang="en-US" dirty="0"/>
              <a:t>EuroHPC jobs almost per definition are large applications</a:t>
            </a:r>
          </a:p>
          <a:p>
            <a:r>
              <a:rPr lang="en-US" dirty="0"/>
              <a:t>Dutch Research?</a:t>
            </a:r>
          </a:p>
          <a:p>
            <a:pPr lvl="1"/>
            <a:r>
              <a:rPr lang="en-US" dirty="0"/>
              <a:t>Primarily ‘just’ need many GPUs, less emphasis on large jobs</a:t>
            </a:r>
          </a:p>
          <a:p>
            <a:r>
              <a:rPr lang="en-US" dirty="0"/>
              <a:t>SME?</a:t>
            </a:r>
          </a:p>
          <a:p>
            <a:pPr lvl="1"/>
            <a:r>
              <a:rPr lang="en-US" dirty="0"/>
              <a:t>Data security very important</a:t>
            </a:r>
          </a:p>
          <a:p>
            <a:pPr lvl="1"/>
            <a:r>
              <a:rPr lang="en-US" dirty="0"/>
              <a:t>More inference / always online type jobs</a:t>
            </a:r>
          </a:p>
          <a:p>
            <a:r>
              <a:rPr lang="en-US" dirty="0"/>
              <a:t>Public?</a:t>
            </a:r>
          </a:p>
          <a:p>
            <a:pPr lvl="1"/>
            <a:r>
              <a:rPr lang="en-US" dirty="0"/>
              <a:t>Again, data security</a:t>
            </a:r>
          </a:p>
          <a:p>
            <a:pPr lvl="1"/>
            <a:r>
              <a:rPr lang="en-US" dirty="0"/>
              <a:t>Small jobs?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3700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FFABF2-621F-0CBB-2A20-DBCA6FAA7C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30FF1-1F4E-7DC4-8C52-77146FCECE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163422-0821-C5B5-AC58-747A06EF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to design the AI factory for?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498084-8AD6-0D55-5E3E-FD6E642FECB3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Again, what to optimize for?</a:t>
            </a:r>
          </a:p>
          <a:p>
            <a:r>
              <a:rPr lang="en-US" dirty="0"/>
              <a:t>Do we want/need 10 vans or 1 Ferrari?</a:t>
            </a:r>
          </a:p>
          <a:p>
            <a:r>
              <a:rPr lang="en-US" dirty="0"/>
              <a:t>Critical scale for certain training runs (‘small’ Large-LMs)</a:t>
            </a:r>
          </a:p>
          <a:p>
            <a:pPr lvl="1"/>
            <a:r>
              <a:rPr lang="en-US" dirty="0"/>
              <a:t>Probably in the order of ~2k GPUs IFF tightly coupled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hlinkClick r:id="rId2"/>
              </a:rPr>
              <a:t>https://arxiv.org/pdf/2412.19437</a:t>
            </a:r>
            <a:r>
              <a:rPr lang="en-US" b="1" dirty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707100-8141-52C6-D681-5CCD735FB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777" y="0"/>
            <a:ext cx="52508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332CE3-E002-A8D8-B861-A84A0C1A39BE}"/>
              </a:ext>
            </a:extLst>
          </p:cNvPr>
          <p:cNvSpPr txBox="1"/>
          <p:nvPr/>
        </p:nvSpPr>
        <p:spPr>
          <a:xfrm>
            <a:off x="9459045" y="6664669"/>
            <a:ext cx="2512679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0" dirty="0"/>
              <a:t>Source: https://arxiv.org/html/2410.21680v1</a:t>
            </a:r>
            <a:endParaRPr lang="en-NL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2C3CED-0D18-9DED-9549-39E865EAED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533" y="5090672"/>
            <a:ext cx="3032632" cy="17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7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46442E-C565-6C61-50E4-E3BE148AA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981" y="2181735"/>
            <a:ext cx="6062019" cy="4684287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B61628-0EDA-AB7C-AC86-4855B415EC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6D647-D0EB-468C-DA97-F1F5F3552D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154E84-32F4-BCA5-4F4E-E27E042DB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innovations for AI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9FB700-1EDC-4614-B12E-40E05E12DFAC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149379"/>
            <a:ext cx="7428606" cy="4429497"/>
          </a:xfrm>
        </p:spPr>
        <p:txBody>
          <a:bodyPr/>
          <a:lstStyle/>
          <a:p>
            <a:endParaRPr lang="en-US" dirty="0"/>
          </a:p>
          <a:p>
            <a:r>
              <a:rPr lang="en-US" dirty="0" err="1"/>
              <a:t>Matmuls</a:t>
            </a:r>
            <a:r>
              <a:rPr lang="en-US" dirty="0"/>
              <a:t> are unreasonably efficient</a:t>
            </a:r>
          </a:p>
          <a:p>
            <a:r>
              <a:rPr lang="en-US" dirty="0"/>
              <a:t>Reduced precision (FP64 is dead)</a:t>
            </a:r>
          </a:p>
          <a:p>
            <a:pPr lvl="1"/>
            <a:r>
              <a:rPr lang="en-US" sz="1400" dirty="0"/>
              <a:t>double whammy of increased FLOPS</a:t>
            </a:r>
            <a:br>
              <a:rPr lang="en-US" sz="1400" dirty="0"/>
            </a:br>
            <a:r>
              <a:rPr lang="en-US" sz="1400" dirty="0"/>
              <a:t>and reduced memory footprint</a:t>
            </a:r>
            <a:br>
              <a:rPr lang="en-US" sz="1400" dirty="0"/>
            </a:br>
            <a:r>
              <a:rPr lang="en-US" sz="1400" dirty="0"/>
              <a:t>(many workloads are </a:t>
            </a:r>
            <a:r>
              <a:rPr lang="en-US" sz="1400" dirty="0" err="1"/>
              <a:t>membw</a:t>
            </a:r>
            <a:r>
              <a:rPr lang="en-US" sz="1400" dirty="0"/>
              <a:t> bound)</a:t>
            </a:r>
          </a:p>
          <a:p>
            <a:r>
              <a:rPr lang="en-US" dirty="0"/>
              <a:t>High-bandwidth domains:</a:t>
            </a:r>
          </a:p>
          <a:p>
            <a:pPr lvl="1"/>
            <a:r>
              <a:rPr lang="en-US" sz="1400" dirty="0"/>
              <a:t>order-of-magnitude faster interconnect than current interconnect</a:t>
            </a:r>
          </a:p>
          <a:p>
            <a:pPr lvl="1"/>
            <a:r>
              <a:rPr lang="en-US" sz="1400" dirty="0"/>
              <a:t>Enables model sharding (FSDP, Tensor-Parallel, </a:t>
            </a:r>
            <a:r>
              <a:rPr lang="en-US" sz="1400" dirty="0" err="1"/>
              <a:t>MoE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Bigger models are simply better (given enough data)</a:t>
            </a:r>
          </a:p>
          <a:p>
            <a:pPr lvl="1"/>
            <a:r>
              <a:rPr lang="en-US" sz="1400" dirty="0"/>
              <a:t>Pods</a:t>
            </a:r>
            <a:endParaRPr lang="en-NL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228B99-DF29-6028-82A5-F1572B4B4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8" y="99665"/>
            <a:ext cx="4636361" cy="235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7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E7CF59-7ADC-A566-F8EA-CD27A9C9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49BC2-BA79-2061-5308-787E89AD7B7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6FB7C0-E7C8-3ACB-BE33-CD2107E2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where does that leave us?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1828CE-3BBD-C43A-B7A2-8A4333CA58C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592262"/>
            <a:ext cx="9270078" cy="40603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Disclaimer time:</a:t>
            </a:r>
          </a:p>
          <a:p>
            <a:r>
              <a:rPr lang="en-US" dirty="0"/>
              <a:t>None of this is final</a:t>
            </a:r>
          </a:p>
          <a:p>
            <a:r>
              <a:rPr lang="en-US" dirty="0"/>
              <a:t>Good ideas are always appreciated</a:t>
            </a:r>
          </a:p>
          <a:p>
            <a:r>
              <a:rPr lang="en-US" dirty="0"/>
              <a:t>Fully dependent on funding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HW design TL;DR: (Goes without saying) optimize both for capability and cost-effectiveness</a:t>
            </a:r>
          </a:p>
          <a:p>
            <a:r>
              <a:rPr lang="en-US" dirty="0"/>
              <a:t>Exascale 16-bit TFLOPS</a:t>
            </a:r>
          </a:p>
          <a:p>
            <a:r>
              <a:rPr lang="en-US" dirty="0"/>
              <a:t>Power envelope: 5MW</a:t>
            </a:r>
          </a:p>
          <a:p>
            <a:r>
              <a:rPr lang="en-US" dirty="0"/>
              <a:t>Compute: as many big AI GPUs as possible</a:t>
            </a:r>
          </a:p>
          <a:p>
            <a:r>
              <a:rPr lang="en-US" dirty="0"/>
              <a:t>Storage: tiered</a:t>
            </a:r>
          </a:p>
          <a:p>
            <a:r>
              <a:rPr lang="en-US" dirty="0"/>
              <a:t>Network: optimized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5094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BD97E6-255B-54BB-BAD4-37B1114004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3072" y="6298280"/>
            <a:ext cx="932400" cy="475200"/>
          </a:xfrm>
        </p:spPr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10F41-EACB-F47B-EE9D-742BD26A8C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8FF3B9-4FB0-F874-3BD2-123DF35F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B3D147-AF18-1130-68FD-D52B633DB06F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Performance  partition: 1k GPUs</a:t>
            </a:r>
          </a:p>
          <a:p>
            <a:pPr lvl="1"/>
            <a:r>
              <a:rPr lang="en-US" dirty="0"/>
              <a:t>Big GPUs, Big interconnect</a:t>
            </a:r>
            <a:br>
              <a:rPr lang="en-US" dirty="0"/>
            </a:br>
            <a:r>
              <a:rPr lang="en-US" dirty="0"/>
              <a:t>PFLOPS per GPU, 200GB+ HBM VRAM</a:t>
            </a:r>
          </a:p>
          <a:p>
            <a:pPr lvl="1"/>
            <a:r>
              <a:rPr lang="en-US" dirty="0"/>
              <a:t>Focus on training or big-model inference</a:t>
            </a:r>
          </a:p>
          <a:p>
            <a:pPr lvl="1"/>
            <a:r>
              <a:rPr lang="en-US" dirty="0"/>
              <a:t>120-240kW+ per rack</a:t>
            </a:r>
          </a:p>
          <a:p>
            <a:r>
              <a:rPr lang="en-US" strike="sngStrike" dirty="0"/>
              <a:t>Efficient partition</a:t>
            </a:r>
          </a:p>
          <a:p>
            <a:pPr lvl="1"/>
            <a:r>
              <a:rPr lang="en-US" strike="sngStrike" dirty="0"/>
              <a:t>Cost effective GPUs</a:t>
            </a:r>
          </a:p>
          <a:p>
            <a:pPr lvl="1"/>
            <a:r>
              <a:rPr lang="en-US" strike="sngStrike" dirty="0"/>
              <a:t>No interconnect</a:t>
            </a:r>
          </a:p>
          <a:p>
            <a:pPr lvl="1"/>
            <a:r>
              <a:rPr lang="en-US" strike="sngStrike" dirty="0"/>
              <a:t>Online inference</a:t>
            </a:r>
          </a:p>
          <a:p>
            <a:r>
              <a:rPr lang="en-US" dirty="0"/>
              <a:t>CPU partition</a:t>
            </a:r>
          </a:p>
          <a:p>
            <a:pPr lvl="1"/>
            <a:r>
              <a:rPr lang="en-US" dirty="0"/>
              <a:t>Pre/Post processing and CPU-based ML</a:t>
            </a:r>
          </a:p>
          <a:p>
            <a:r>
              <a:rPr lang="en-US" dirty="0"/>
              <a:t>Specialized partition</a:t>
            </a:r>
          </a:p>
          <a:p>
            <a:pPr lvl="1"/>
            <a:r>
              <a:rPr lang="en-US" dirty="0"/>
              <a:t>Exotic hardware for specific use cases</a:t>
            </a:r>
          </a:p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E01853-D8FA-78FA-B3C2-E0C77C855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164" y="207468"/>
            <a:ext cx="6434836" cy="30660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198CA0-117F-2C38-F5C8-6085A5329F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207" y="3334702"/>
            <a:ext cx="4905981" cy="356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2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3A2476-CA17-B1E1-5FF2-C466245279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4B1C1-B977-6C81-711D-0DC738DACCA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A76CD7-34BA-98C6-8535-7D436B07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3BD30-75CA-A70E-64EB-D507793B1E3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592262"/>
            <a:ext cx="8559254" cy="4060393"/>
          </a:xfrm>
        </p:spPr>
        <p:txBody>
          <a:bodyPr/>
          <a:lstStyle/>
          <a:p>
            <a:r>
              <a:rPr lang="en-US" dirty="0"/>
              <a:t>Tiered:</a:t>
            </a:r>
          </a:p>
          <a:p>
            <a:pPr lvl="1"/>
            <a:r>
              <a:rPr lang="en-US" dirty="0"/>
              <a:t>‘Hot’ storage: all-NVMe SSD scratch</a:t>
            </a:r>
          </a:p>
          <a:p>
            <a:pPr lvl="2"/>
            <a:r>
              <a:rPr lang="en-US" dirty="0"/>
              <a:t>ML workloads are very often continuous-load high-</a:t>
            </a:r>
            <a:r>
              <a:rPr lang="en-US" dirty="0" err="1"/>
              <a:t>IOps</a:t>
            </a:r>
            <a:endParaRPr lang="en-US" dirty="0"/>
          </a:p>
          <a:p>
            <a:pPr lvl="2"/>
            <a:r>
              <a:rPr lang="en-US" dirty="0"/>
              <a:t>No node-local storage! (?)</a:t>
            </a:r>
          </a:p>
          <a:p>
            <a:pPr lvl="1"/>
            <a:r>
              <a:rPr lang="en-US" dirty="0"/>
              <a:t>‘Warm’ storage: performant spinning disk parallel fs</a:t>
            </a:r>
          </a:p>
          <a:p>
            <a:pPr lvl="2"/>
            <a:r>
              <a:rPr lang="en-US" dirty="0"/>
              <a:t>Backbone of the system</a:t>
            </a:r>
          </a:p>
          <a:p>
            <a:pPr lvl="1"/>
            <a:r>
              <a:rPr lang="en-US" dirty="0"/>
              <a:t>‘Lukewarm’ storage: object store</a:t>
            </a:r>
          </a:p>
          <a:p>
            <a:pPr lvl="2"/>
            <a:r>
              <a:rPr lang="en-US" dirty="0"/>
              <a:t>Data ingress, and integration with cloud and other EU systems</a:t>
            </a:r>
          </a:p>
          <a:p>
            <a:pPr lvl="1"/>
            <a:r>
              <a:rPr lang="en-US" dirty="0"/>
              <a:t>‘Cold’ storage: tape</a:t>
            </a:r>
          </a:p>
          <a:p>
            <a:pPr lvl="2"/>
            <a:r>
              <a:rPr lang="en-US" dirty="0"/>
              <a:t>Not generally available to users, but used as cost-effective backend for data storage and archival purposes</a:t>
            </a:r>
          </a:p>
          <a:p>
            <a:pPr lvl="2"/>
            <a:endParaRPr lang="en-US" dirty="0"/>
          </a:p>
          <a:p>
            <a:pPr marL="361950" lvl="2" indent="0">
              <a:buNone/>
            </a:pPr>
            <a:endParaRPr lang="en-US" dirty="0"/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4907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5358E9-97EA-EA80-1F80-BBFCD0D614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940B7-D27A-05DF-D2E2-26E6CDC53E8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3A3163-E72D-29B3-87F6-BD180035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017442-654A-8244-24F4-288C4C823135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Probably 4-8 GPU’s per node all-to-all</a:t>
            </a:r>
          </a:p>
          <a:p>
            <a:pPr lvl="1"/>
            <a:r>
              <a:rPr lang="en-US" dirty="0"/>
              <a:t>Memory is large enough to not need Pods</a:t>
            </a:r>
          </a:p>
          <a:p>
            <a:r>
              <a:rPr lang="en-US" dirty="0"/>
              <a:t>Big ‘scale-out’ network is probably not necessary</a:t>
            </a:r>
          </a:p>
          <a:p>
            <a:pPr lvl="1"/>
            <a:r>
              <a:rPr lang="en-US" dirty="0"/>
              <a:t>We are too small for that</a:t>
            </a:r>
          </a:p>
          <a:p>
            <a:pPr lvl="1"/>
            <a:r>
              <a:rPr lang="en-US" dirty="0"/>
              <a:t>E.g.: two supplementary</a:t>
            </a:r>
            <a:br>
              <a:rPr lang="en-US" dirty="0"/>
            </a:br>
            <a:r>
              <a:rPr lang="en-US" dirty="0"/>
              <a:t>800Gbps NICs per node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dataloading</a:t>
            </a:r>
            <a:r>
              <a:rPr lang="en-US" dirty="0"/>
              <a:t> or scale-out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1273D6-1A80-1208-0FFD-3C91ED748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521" y="0"/>
            <a:ext cx="6173480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B1B097-79CA-C264-6AF4-3AF2F47C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589" y="3664780"/>
            <a:ext cx="9371411" cy="308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5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19D218-9E6A-F969-E0DD-E27B1D3E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42A6AE-6DFF-7482-EB69-16B8CB433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861" y="-67056"/>
            <a:ext cx="7261040" cy="699211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6F62ED-D2B9-C48F-384D-B48C7BDBE9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EA8B2-760B-9111-1E6C-C3DDFF0A69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207291-3C85-20AF-3E0B-17A458E9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C15E1C-F8EB-4CDC-A018-1FDCBB760631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All-copper ‘scale-up’ </a:t>
            </a:r>
          </a:p>
          <a:p>
            <a:pPr lvl="1"/>
            <a:r>
              <a:rPr lang="en-US" dirty="0"/>
              <a:t>8Tbps+ </a:t>
            </a:r>
            <a:r>
              <a:rPr lang="en-US" b="1" dirty="0"/>
              <a:t>per GPU</a:t>
            </a:r>
            <a:r>
              <a:rPr lang="en-US" dirty="0"/>
              <a:t> BW, connected directly to the GPU</a:t>
            </a:r>
          </a:p>
          <a:p>
            <a:pPr lvl="1"/>
            <a:r>
              <a:rPr lang="en-US" dirty="0"/>
              <a:t>For reference: Snellius GPU nodes = 2x200Gpbs divided over 4 GPUs</a:t>
            </a:r>
          </a:p>
          <a:p>
            <a:pPr lvl="1"/>
            <a:r>
              <a:rPr lang="en-US" dirty="0"/>
              <a:t>Single layer of switches connect up-to 256 GPUs</a:t>
            </a:r>
          </a:p>
          <a:p>
            <a:r>
              <a:rPr lang="en-US" dirty="0"/>
              <a:t>Big ‘scale-out’ network is probably not necessary</a:t>
            </a:r>
          </a:p>
          <a:p>
            <a:pPr lvl="1"/>
            <a:r>
              <a:rPr lang="en-US" dirty="0"/>
              <a:t>We are too small for that</a:t>
            </a:r>
          </a:p>
          <a:p>
            <a:pPr lvl="1"/>
            <a:r>
              <a:rPr lang="en-US" dirty="0"/>
              <a:t>E.g.: single supplementary</a:t>
            </a:r>
            <a:br>
              <a:rPr lang="en-US" dirty="0"/>
            </a:br>
            <a:r>
              <a:rPr lang="en-US" dirty="0"/>
              <a:t>800Gbps NIC per node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dataloading</a:t>
            </a:r>
            <a:r>
              <a:rPr lang="en-US" dirty="0"/>
              <a:t> or scale-out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F2AF47-7460-0F01-39CE-E22EE6C1F0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521" y="3468014"/>
            <a:ext cx="4669971" cy="33899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FF9BFD-2D7E-83CB-C753-ADCE5BE2C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8958"/>
            <a:ext cx="4135521" cy="19690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7BC44A-7566-C8D3-4040-386DBE538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140" y="-67056"/>
            <a:ext cx="3578919" cy="19878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4498A2-1687-C235-E3BE-11B59372F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604057"/>
            <a:ext cx="2877228" cy="94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c44e48b3bafe6335c8658b98a8833334aa899c4"/>
</p:tagLst>
</file>

<file path=ppt/theme/theme1.xml><?xml version="1.0" encoding="utf-8"?>
<a:theme xmlns:a="http://schemas.openxmlformats.org/drawingml/2006/main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SURF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190F0B-833F-43B9-8FDD-EFC0F7B49B29}">
  <we:reference id="5b784de7-d1ba-46fc-b40c-e70ff4de9d93" version="1.0.0.3" store="\\PPTDC\Shared Folders\Documenten\Ferry\Opdrachtgevers\Slidebuilder" storeType="Filesystem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7932</TotalTime>
  <Words>5086</Words>
  <Application>Microsoft Office PowerPoint</Application>
  <PresentationFormat>Widescreen</PresentationFormat>
  <Paragraphs>1474</Paragraphs>
  <Slides>77</Slides>
  <Notes>43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4" baseType="lpstr">
      <vt:lpstr>Aptos</vt:lpstr>
      <vt:lpstr>Arial</vt:lpstr>
      <vt:lpstr>Calibri</vt:lpstr>
      <vt:lpstr>Calibri,Sans-Serif</vt:lpstr>
      <vt:lpstr>Times New Roman</vt:lpstr>
      <vt:lpstr>Wingdings</vt:lpstr>
      <vt:lpstr>Template Slidebuilder - SURF</vt:lpstr>
      <vt:lpstr>PowerPoint Presentation</vt:lpstr>
      <vt:lpstr>In this presentation</vt:lpstr>
      <vt:lpstr>In this presentation</vt:lpstr>
      <vt:lpstr>Chapter orange</vt:lpstr>
      <vt:lpstr>Who am I</vt:lpstr>
      <vt:lpstr>Snellius</vt:lpstr>
      <vt:lpstr>Access mechanisms</vt:lpstr>
      <vt:lpstr>Chapter orange</vt:lpstr>
      <vt:lpstr>The three S'</vt:lpstr>
      <vt:lpstr>System</vt:lpstr>
      <vt:lpstr>System</vt:lpstr>
      <vt:lpstr>Fundamental bottlenecks</vt:lpstr>
      <vt:lpstr>Fundamental bottlenecks</vt:lpstr>
      <vt:lpstr>Fundamental bottlenecks</vt:lpstr>
      <vt:lpstr>Fundamental bottlenecks</vt:lpstr>
      <vt:lpstr>Fundamental bottlenecks</vt:lpstr>
      <vt:lpstr>Some context</vt:lpstr>
      <vt:lpstr>Chapter orange</vt:lpstr>
      <vt:lpstr>Hardware overview</vt:lpstr>
      <vt:lpstr>Hardware overview</vt:lpstr>
      <vt:lpstr>Hardware overview</vt:lpstr>
      <vt:lpstr>Hardware overview</vt:lpstr>
      <vt:lpstr>Hardware overview</vt:lpstr>
      <vt:lpstr>Hardware overview</vt:lpstr>
      <vt:lpstr>Performance in practice</vt:lpstr>
      <vt:lpstr>Chapter orange</vt:lpstr>
      <vt:lpstr>Critical innovations for AI</vt:lpstr>
      <vt:lpstr>Tensor cores</vt:lpstr>
      <vt:lpstr>Lower precision for DL</vt:lpstr>
      <vt:lpstr>Lower precision for DL</vt:lpstr>
      <vt:lpstr>Lower precision for DL</vt:lpstr>
      <vt:lpstr>Lower precision for DL</vt:lpstr>
      <vt:lpstr>Nvidia Hopper (e.g. H100)</vt:lpstr>
      <vt:lpstr>Nvidia Blackwell GPUs (e.g. B300)</vt:lpstr>
      <vt:lpstr>Thinking about the distribution of your data &amp; model becomes even more important</vt:lpstr>
      <vt:lpstr>Thinking about the distribution of your data &amp; model becomes even more important</vt:lpstr>
      <vt:lpstr>Thinking about the distribution of your data &amp; model becomes even more important</vt:lpstr>
      <vt:lpstr>Chapter orange</vt:lpstr>
      <vt:lpstr>Second S: Software</vt:lpstr>
      <vt:lpstr>Third S: Stack</vt:lpstr>
      <vt:lpstr>Chapter orange</vt:lpstr>
      <vt:lpstr>In conclusion</vt:lpstr>
      <vt:lpstr>In practice: Snellius</vt:lpstr>
      <vt:lpstr>Chapter orange</vt:lpstr>
      <vt:lpstr>System + Software + Stack Wait ... so what happens in torch?</vt:lpstr>
      <vt:lpstr>Chapter orange</vt:lpstr>
      <vt:lpstr>Rapidfire: implementation details</vt:lpstr>
      <vt:lpstr>Rapidfire: implementation details</vt:lpstr>
      <vt:lpstr>Level 0: "oh my god": torch.amp</vt:lpstr>
      <vt:lpstr>Level 0: "oh my god": torch.compile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2: Danger zone</vt:lpstr>
      <vt:lpstr>Or: Change your model</vt:lpstr>
      <vt:lpstr>Or: Change your model</vt:lpstr>
      <vt:lpstr>Always</vt:lpstr>
      <vt:lpstr>Profile</vt:lpstr>
      <vt:lpstr>Chapter orange</vt:lpstr>
      <vt:lpstr>Profile</vt:lpstr>
      <vt:lpstr>Chapter orange</vt:lpstr>
      <vt:lpstr>AI factories recap</vt:lpstr>
      <vt:lpstr>AI factories recap</vt:lpstr>
      <vt:lpstr>AI factories setup</vt:lpstr>
      <vt:lpstr>Do we even need an AI factory?</vt:lpstr>
      <vt:lpstr>Do we even need an AI factory?</vt:lpstr>
      <vt:lpstr>Who to design the AI factory for?</vt:lpstr>
      <vt:lpstr>Who to design the AI factory for?</vt:lpstr>
      <vt:lpstr>Critical innovations for AI</vt:lpstr>
      <vt:lpstr>So where does that leave us?</vt:lpstr>
      <vt:lpstr>Compute</vt:lpstr>
      <vt:lpstr>Storage</vt:lpstr>
      <vt:lpstr>Interconnect</vt:lpstr>
      <vt:lpstr>Interconnect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PowerMockup</dc:title>
  <dc:creator>PPT Solutions</dc:creator>
  <cp:lastModifiedBy>Robert Jan Schlimbach</cp:lastModifiedBy>
  <cp:revision>31</cp:revision>
  <dcterms:created xsi:type="dcterms:W3CDTF">2015-03-11T15:56:36Z</dcterms:created>
  <dcterms:modified xsi:type="dcterms:W3CDTF">2025-11-14T12:49:42Z</dcterms:modified>
</cp:coreProperties>
</file>