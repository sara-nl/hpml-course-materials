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34.xml" ContentType="application/vnd.openxmlformats-officedocument.presentationml.notesSlide+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123"/>
  </p:notesMasterIdLst>
  <p:sldIdLst>
    <p:sldId id="327" r:id="rId2"/>
    <p:sldId id="432" r:id="rId3"/>
    <p:sldId id="2076136829" r:id="rId4"/>
    <p:sldId id="434" r:id="rId5"/>
    <p:sldId id="437" r:id="rId6"/>
    <p:sldId id="331" r:id="rId7"/>
    <p:sldId id="2076136794" r:id="rId8"/>
    <p:sldId id="2076136791" r:id="rId9"/>
    <p:sldId id="2076136792" r:id="rId10"/>
    <p:sldId id="436" r:id="rId11"/>
    <p:sldId id="278" r:id="rId12"/>
    <p:sldId id="289" r:id="rId13"/>
    <p:sldId id="298" r:id="rId14"/>
    <p:sldId id="314" r:id="rId15"/>
    <p:sldId id="313" r:id="rId16"/>
    <p:sldId id="312" r:id="rId17"/>
    <p:sldId id="311" r:id="rId18"/>
    <p:sldId id="310" r:id="rId19"/>
    <p:sldId id="525" r:id="rId20"/>
    <p:sldId id="320" r:id="rId21"/>
    <p:sldId id="308" r:id="rId22"/>
    <p:sldId id="322" r:id="rId23"/>
    <p:sldId id="323" r:id="rId24"/>
    <p:sldId id="324" r:id="rId25"/>
    <p:sldId id="325" r:id="rId26"/>
    <p:sldId id="326" r:id="rId27"/>
    <p:sldId id="532" r:id="rId28"/>
    <p:sldId id="303" r:id="rId29"/>
    <p:sldId id="302" r:id="rId30"/>
    <p:sldId id="301" r:id="rId31"/>
    <p:sldId id="300" r:id="rId32"/>
    <p:sldId id="299" r:id="rId33"/>
    <p:sldId id="321" r:id="rId34"/>
    <p:sldId id="531" r:id="rId35"/>
    <p:sldId id="536" r:id="rId36"/>
    <p:sldId id="538" r:id="rId37"/>
    <p:sldId id="537" r:id="rId38"/>
    <p:sldId id="2076136799" r:id="rId39"/>
    <p:sldId id="257" r:id="rId40"/>
    <p:sldId id="258" r:id="rId41"/>
    <p:sldId id="259" r:id="rId42"/>
    <p:sldId id="260" r:id="rId43"/>
    <p:sldId id="261" r:id="rId44"/>
    <p:sldId id="262" r:id="rId45"/>
    <p:sldId id="263" r:id="rId46"/>
    <p:sldId id="264" r:id="rId47"/>
    <p:sldId id="265" r:id="rId48"/>
    <p:sldId id="266" r:id="rId49"/>
    <p:sldId id="267" r:id="rId50"/>
    <p:sldId id="268" r:id="rId51"/>
    <p:sldId id="269" r:id="rId52"/>
    <p:sldId id="2076136823" r:id="rId53"/>
    <p:sldId id="2076136805" r:id="rId54"/>
    <p:sldId id="514" r:id="rId55"/>
    <p:sldId id="515" r:id="rId56"/>
    <p:sldId id="516" r:id="rId57"/>
    <p:sldId id="468" r:id="rId58"/>
    <p:sldId id="469" r:id="rId59"/>
    <p:sldId id="472" r:id="rId60"/>
    <p:sldId id="523" r:id="rId61"/>
    <p:sldId id="2076136807" r:id="rId62"/>
    <p:sldId id="2076136821" r:id="rId63"/>
    <p:sldId id="513" r:id="rId64"/>
    <p:sldId id="2076136808" r:id="rId65"/>
    <p:sldId id="2076136809" r:id="rId66"/>
    <p:sldId id="2076136810" r:id="rId67"/>
    <p:sldId id="2076136811" r:id="rId68"/>
    <p:sldId id="2076136812" r:id="rId69"/>
    <p:sldId id="2076136813" r:id="rId70"/>
    <p:sldId id="519" r:id="rId71"/>
    <p:sldId id="524" r:id="rId72"/>
    <p:sldId id="520" r:id="rId73"/>
    <p:sldId id="2076136814" r:id="rId74"/>
    <p:sldId id="518" r:id="rId75"/>
    <p:sldId id="527" r:id="rId76"/>
    <p:sldId id="2076136806" r:id="rId77"/>
    <p:sldId id="2076136830" r:id="rId78"/>
    <p:sldId id="2076136801" r:id="rId79"/>
    <p:sldId id="369" r:id="rId80"/>
    <p:sldId id="2076136818" r:id="rId81"/>
    <p:sldId id="2076136820" r:id="rId82"/>
    <p:sldId id="2076136815" r:id="rId83"/>
    <p:sldId id="2076136816" r:id="rId84"/>
    <p:sldId id="2076136817" r:id="rId85"/>
    <p:sldId id="2076136825" r:id="rId86"/>
    <p:sldId id="2076136800" r:id="rId87"/>
    <p:sldId id="288" r:id="rId88"/>
    <p:sldId id="287" r:id="rId89"/>
    <p:sldId id="286" r:id="rId90"/>
    <p:sldId id="285" r:id="rId91"/>
    <p:sldId id="317" r:id="rId92"/>
    <p:sldId id="284" r:id="rId93"/>
    <p:sldId id="2076136827" r:id="rId94"/>
    <p:sldId id="2076136828" r:id="rId95"/>
    <p:sldId id="295" r:id="rId96"/>
    <p:sldId id="534" r:id="rId97"/>
    <p:sldId id="529" r:id="rId98"/>
    <p:sldId id="526" r:id="rId99"/>
    <p:sldId id="530" r:id="rId100"/>
    <p:sldId id="291" r:id="rId101"/>
    <p:sldId id="282" r:id="rId102"/>
    <p:sldId id="292" r:id="rId103"/>
    <p:sldId id="533" r:id="rId104"/>
    <p:sldId id="293" r:id="rId105"/>
    <p:sldId id="294" r:id="rId106"/>
    <p:sldId id="2076136822" r:id="rId107"/>
    <p:sldId id="2076136824" r:id="rId108"/>
    <p:sldId id="435" r:id="rId109"/>
    <p:sldId id="431" r:id="rId110"/>
    <p:sldId id="2076136826" r:id="rId111"/>
    <p:sldId id="2076136802" r:id="rId112"/>
    <p:sldId id="2076136796" r:id="rId113"/>
    <p:sldId id="2076136797" r:id="rId114"/>
    <p:sldId id="423" r:id="rId115"/>
    <p:sldId id="422" r:id="rId116"/>
    <p:sldId id="425" r:id="rId117"/>
    <p:sldId id="426" r:id="rId118"/>
    <p:sldId id="427" r:id="rId119"/>
    <p:sldId id="429" r:id="rId120"/>
    <p:sldId id="430" r:id="rId121"/>
    <p:sldId id="2076136798" r:id="rId122"/>
  </p:sldIdLst>
  <p:sldSz cx="12192000" cy="6858000"/>
  <p:notesSz cx="6858000" cy="9144000"/>
  <p:custDataLst>
    <p:tags r:id="rId1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6E202A-49AF-485F-B6F0-4593203464F0}">
          <p14:sldIdLst>
            <p14:sldId id="327"/>
            <p14:sldId id="432"/>
            <p14:sldId id="2076136829"/>
            <p14:sldId id="434"/>
            <p14:sldId id="437"/>
            <p14:sldId id="331"/>
            <p14:sldId id="2076136794"/>
            <p14:sldId id="2076136791"/>
            <p14:sldId id="2076136792"/>
            <p14:sldId id="436"/>
            <p14:sldId id="278"/>
            <p14:sldId id="289"/>
            <p14:sldId id="298"/>
            <p14:sldId id="314"/>
            <p14:sldId id="313"/>
            <p14:sldId id="312"/>
            <p14:sldId id="311"/>
            <p14:sldId id="310"/>
            <p14:sldId id="525"/>
            <p14:sldId id="320"/>
            <p14:sldId id="308"/>
            <p14:sldId id="322"/>
            <p14:sldId id="323"/>
            <p14:sldId id="324"/>
            <p14:sldId id="325"/>
            <p14:sldId id="326"/>
            <p14:sldId id="532"/>
            <p14:sldId id="303"/>
            <p14:sldId id="302"/>
            <p14:sldId id="301"/>
            <p14:sldId id="300"/>
            <p14:sldId id="299"/>
            <p14:sldId id="321"/>
            <p14:sldId id="531"/>
            <p14:sldId id="536"/>
            <p14:sldId id="538"/>
            <p14:sldId id="537"/>
            <p14:sldId id="2076136799"/>
            <p14:sldId id="257"/>
            <p14:sldId id="258"/>
            <p14:sldId id="259"/>
            <p14:sldId id="260"/>
            <p14:sldId id="261"/>
            <p14:sldId id="262"/>
            <p14:sldId id="263"/>
            <p14:sldId id="264"/>
            <p14:sldId id="265"/>
            <p14:sldId id="266"/>
            <p14:sldId id="267"/>
            <p14:sldId id="268"/>
            <p14:sldId id="269"/>
            <p14:sldId id="2076136823"/>
            <p14:sldId id="2076136805"/>
            <p14:sldId id="514"/>
            <p14:sldId id="515"/>
            <p14:sldId id="516"/>
            <p14:sldId id="468"/>
            <p14:sldId id="469"/>
            <p14:sldId id="472"/>
            <p14:sldId id="523"/>
            <p14:sldId id="2076136807"/>
            <p14:sldId id="2076136821"/>
            <p14:sldId id="513"/>
            <p14:sldId id="2076136808"/>
            <p14:sldId id="2076136809"/>
            <p14:sldId id="2076136810"/>
            <p14:sldId id="2076136811"/>
            <p14:sldId id="2076136812"/>
            <p14:sldId id="2076136813"/>
            <p14:sldId id="519"/>
            <p14:sldId id="524"/>
            <p14:sldId id="520"/>
            <p14:sldId id="2076136814"/>
            <p14:sldId id="518"/>
            <p14:sldId id="527"/>
            <p14:sldId id="2076136806"/>
            <p14:sldId id="2076136830"/>
            <p14:sldId id="2076136801"/>
            <p14:sldId id="369"/>
            <p14:sldId id="2076136818"/>
            <p14:sldId id="2076136820"/>
            <p14:sldId id="2076136815"/>
            <p14:sldId id="2076136816"/>
            <p14:sldId id="2076136817"/>
            <p14:sldId id="2076136825"/>
            <p14:sldId id="2076136800"/>
            <p14:sldId id="288"/>
            <p14:sldId id="287"/>
            <p14:sldId id="286"/>
            <p14:sldId id="285"/>
            <p14:sldId id="317"/>
            <p14:sldId id="284"/>
            <p14:sldId id="2076136827"/>
            <p14:sldId id="2076136828"/>
            <p14:sldId id="295"/>
            <p14:sldId id="534"/>
            <p14:sldId id="529"/>
            <p14:sldId id="526"/>
            <p14:sldId id="530"/>
            <p14:sldId id="291"/>
            <p14:sldId id="282"/>
            <p14:sldId id="292"/>
            <p14:sldId id="533"/>
            <p14:sldId id="293"/>
            <p14:sldId id="294"/>
            <p14:sldId id="2076136822"/>
            <p14:sldId id="2076136824"/>
            <p14:sldId id="435"/>
            <p14:sldId id="431"/>
            <p14:sldId id="2076136826"/>
            <p14:sldId id="2076136802"/>
            <p14:sldId id="2076136796"/>
            <p14:sldId id="2076136797"/>
            <p14:sldId id="423"/>
            <p14:sldId id="422"/>
            <p14:sldId id="425"/>
            <p14:sldId id="426"/>
            <p14:sldId id="427"/>
            <p14:sldId id="429"/>
            <p14:sldId id="430"/>
            <p14:sldId id="2076136798"/>
          </p14:sldIdLst>
        </p14:section>
      </p14:sectionLst>
    </p:ext>
    <p:ext uri="{EFAFB233-063F-42B5-8137-9DF3F51BA10A}">
      <p15:sldGuideLst xmlns:p15="http://schemas.microsoft.com/office/powerpoint/2012/main">
        <p15:guide id="1" orient="horz" pos="2160" userDrawn="1">
          <p15:clr>
            <a:srgbClr val="A4A3A4"/>
          </p15:clr>
        </p15:guide>
        <p15:guide id="2" pos="257" userDrawn="1">
          <p15:clr>
            <a:srgbClr val="A4A3A4"/>
          </p15:clr>
        </p15:guide>
        <p15:guide id="3" pos="7380" userDrawn="1">
          <p15:clr>
            <a:srgbClr val="A4A3A4"/>
          </p15:clr>
        </p15:guide>
        <p15:guide id="4" orient="horz" pos="240" userDrawn="1">
          <p15:clr>
            <a:srgbClr val="A4A3A4"/>
          </p15:clr>
        </p15:guide>
        <p15:guide id="5" orient="horz" pos="40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472A"/>
    <a:srgbClr val="FFFFFF"/>
    <a:srgbClr val="F3F3F3"/>
    <a:srgbClr val="211F26"/>
    <a:srgbClr val="DAD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3" autoAdjust="0"/>
    <p:restoredTop sz="94660"/>
  </p:normalViewPr>
  <p:slideViewPr>
    <p:cSldViewPr snapToGrid="0">
      <p:cViewPr varScale="1">
        <p:scale>
          <a:sx n="161" d="100"/>
          <a:sy n="161" d="100"/>
        </p:scale>
        <p:origin x="368" y="108"/>
      </p:cViewPr>
      <p:guideLst>
        <p:guide orient="horz" pos="2160"/>
        <p:guide pos="257"/>
        <p:guide pos="7380"/>
        <p:guide orient="horz" pos="240"/>
        <p:guide orient="horz" pos="400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gs" Target="tags/tag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177"/>
    </inkml:context>
    <inkml:brush xml:id="br0">
      <inkml:brushProperty name="width" value="0.035" units="cm"/>
      <inkml:brushProperty name="height" value="0.035" units="cm"/>
      <inkml:brushProperty name="color" value="#E71224"/>
    </inkml:brush>
  </inkml:definitions>
  <inkml:trace contextRef="#ctx0" brushRef="#br0">1 0 24575,'3'0'0,"6"0"0,4 0 0,1 4 0,1 1 0,2 0 0,2-1 0,1-1 0,1-1 0,1-2 0,1 1 0,-1-1 0,1 0 0,-1-1 0,0 1 0,0 0 0,1 0 0,-5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560"/>
    </inkml:context>
    <inkml:brush xml:id="br0">
      <inkml:brushProperty name="width" value="0.035" units="cm"/>
      <inkml:brushProperty name="height" value="0.035" units="cm"/>
      <inkml:brushProperty name="color" value="#E71224"/>
    </inkml:brush>
  </inkml:definitions>
  <inkml:trace contextRef="#ctx0" brushRef="#br0">1 26 24575,'85'-20'0,"236"15"0,-174 7 0,-36-2-1365,-93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973"/>
    </inkml:context>
    <inkml:brush xml:id="br0">
      <inkml:brushProperty name="width" value="0.035" units="cm"/>
      <inkml:brushProperty name="height" value="0.035" units="cm"/>
      <inkml:brushProperty name="color" value="#E71224"/>
    </inkml:brush>
  </inkml:definitions>
  <inkml:trace contextRef="#ctx0" brushRef="#br0">1 1 24575,'3'0'0,"6"0"0,4 0 0,1 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259"/>
    </inkml:context>
    <inkml:brush xml:id="br0">
      <inkml:brushProperty name="width" value="0.035" units="cm"/>
      <inkml:brushProperty name="height" value="0.035" units="cm"/>
      <inkml:brushProperty name="color" value="#E71224"/>
    </inkml:brush>
  </inkml:definitions>
  <inkml:trace contextRef="#ctx0" brushRef="#br0">1 23 24575,'628'0'0,"-490"-11"0,2 0 0,-50 11-1365,-72 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510"/>
    </inkml:context>
    <inkml:brush xml:id="br0">
      <inkml:brushProperty name="width" value="0.035" units="cm"/>
      <inkml:brushProperty name="height" value="0.035" units="cm"/>
      <inkml:brushProperty name="color" value="#E71224"/>
    </inkml:brush>
  </inkml:definitions>
  <inkml:trace contextRef="#ctx0" brushRef="#br0">1 25 24575,'78'-1'0,"110"-15"0,-118 9 0,142 6 0,-93 4 0,74-3-1365,-172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732"/>
    </inkml:context>
    <inkml:brush xml:id="br0">
      <inkml:brushProperty name="width" value="0.035" units="cm"/>
      <inkml:brushProperty name="height" value="0.035" units="cm"/>
      <inkml:brushProperty name="color" value="#E71224"/>
    </inkml:brush>
  </inkml:definitions>
  <inkml:trace contextRef="#ctx0" brushRef="#br0">0 1 24575,'796'0'-1365,"-777"0"-5461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969"/>
    </inkml:context>
    <inkml:brush xml:id="br0">
      <inkml:brushProperty name="width" value="0.035" units="cm"/>
      <inkml:brushProperty name="height" value="0.035" units="cm"/>
      <inkml:brushProperty name="color" value="#E71224"/>
    </inkml:brush>
  </inkml:definitions>
  <inkml:trace contextRef="#ctx0" brushRef="#br0">0 1 24575,'1017'0'-1365,"-998"0"-5461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289"/>
    </inkml:context>
    <inkml:brush xml:id="br0">
      <inkml:brushProperty name="width" value="0.035" units="cm"/>
      <inkml:brushProperty name="height" value="0.035" units="cm"/>
      <inkml:brushProperty name="color" value="#E71224"/>
    </inkml:brush>
  </inkml:definitions>
  <inkml:trace contextRef="#ctx0" brushRef="#br0">0 1 24575,'1086'0'-1365,"-1059"0"-5461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416"/>
    </inkml:context>
    <inkml:brush xml:id="br0">
      <inkml:brushProperty name="width" value="0.035" units="cm"/>
      <inkml:brushProperty name="height" value="0.035" units="cm"/>
      <inkml:brushProperty name="color" value="#E71224"/>
    </inkml:brush>
  </inkml:definitions>
  <inkml:trace contextRef="#ctx0" brushRef="#br0">1 67 24575,'141'0'0,"239"-30"0,-371 29-53,235-33-1259,-224 33-5514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750"/>
    </inkml:context>
    <inkml:brush xml:id="br0">
      <inkml:brushProperty name="width" value="0.035" units="cm"/>
      <inkml:brushProperty name="height" value="0.035" units="cm"/>
      <inkml:brushProperty name="color" value="#E71224"/>
    </inkml:brush>
  </inkml:definitions>
  <inkml:trace contextRef="#ctx0" brushRef="#br0">0 1 24575,'67'12'0,"0"-4"0,0-2 0,0-3 0,80-8 0,-11 3 0,639 2 0,-756 1 45,0 1-1,28 6 1,22 3-1544,-50-10-5327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022"/>
    </inkml:context>
    <inkml:brush xml:id="br0">
      <inkml:brushProperty name="width" value="0.035" units="cm"/>
      <inkml:brushProperty name="height" value="0.035" units="cm"/>
      <inkml:brushProperty name="color" value="#E71224"/>
    </inkml:brush>
  </inkml:definitions>
  <inkml:trace contextRef="#ctx0" brushRef="#br0">1 0 24575,'42'9'0,"0"-2"0,80 4 0,90-13 0,-77 0 0,196 2-1365,-312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278"/>
    </inkml:context>
    <inkml:brush xml:id="br0">
      <inkml:brushProperty name="width" value="0.035" units="cm"/>
      <inkml:brushProperty name="height" value="0.035" units="cm"/>
      <inkml:brushProperty name="color" value="#E71224"/>
    </inkml:brush>
  </inkml:definitions>
  <inkml:trace contextRef="#ctx0" brushRef="#br0">1 1 24575,'1016'0'-1365,"-997"0"-5461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613"/>
    </inkml:context>
    <inkml:brush xml:id="br0">
      <inkml:brushProperty name="width" value="0.035" units="cm"/>
      <inkml:brushProperty name="height" value="0.035" units="cm"/>
      <inkml:brushProperty name="color" value="#E71224"/>
    </inkml:brush>
  </inkml:definitions>
  <inkml:trace contextRef="#ctx0" brushRef="#br0">0 0 24575,'1272'0'-1365,"-1235"0"-5461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836"/>
    </inkml:context>
    <inkml:brush xml:id="br0">
      <inkml:brushProperty name="width" value="0.035" units="cm"/>
      <inkml:brushProperty name="height" value="0.035" units="cm"/>
      <inkml:brushProperty name="color" value="#E71224"/>
    </inkml:brush>
  </inkml:definitions>
  <inkml:trace contextRef="#ctx0" brushRef="#br0">0 37 24575,'421'0'0,"-407"-1"-170,0 0-1,0-1 0,0-1 1,0-1-1,-1 0 0,0 0 1,15-7-1,-15 5-6655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8.042"/>
    </inkml:context>
    <inkml:brush xml:id="br0">
      <inkml:brushProperty name="width" value="0.035" units="cm"/>
      <inkml:brushProperty name="height" value="0.035" units="cm"/>
      <inkml:brushProperty name="color" value="#E71224"/>
    </inkml:brush>
  </inkml:definitions>
  <inkml:trace contextRef="#ctx0" brushRef="#br0">0 1 24575,'4'0'0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0.71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022"/>
    </inkml:context>
    <inkml:brush xml:id="br0">
      <inkml:brushProperty name="width" value="0.035" units="cm"/>
      <inkml:brushProperty name="height" value="0.035" units="cm"/>
      <inkml:brushProperty name="color" value="#E71224"/>
    </inkml:brush>
  </inkml:definitions>
  <inkml:trace contextRef="#ctx0" brushRef="#br0">1 281 24575,'8'-9'0,"-1"0"0,1 0 0,-2-1 0,11-19 0,-10 18 0,81-146 0,-58 119-1365,-20 29-5461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328"/>
    </inkml:context>
    <inkml:brush xml:id="br0">
      <inkml:brushProperty name="width" value="0.035" units="cm"/>
      <inkml:brushProperty name="height" value="0.035" units="cm"/>
      <inkml:brushProperty name="color" value="#E71224"/>
    </inkml:brush>
  </inkml:definitions>
  <inkml:trace contextRef="#ctx0" brushRef="#br0">1 394 24575,'8'-6'0,"0"0"0,0 0 0,1 1 0,0 0 0,0 1 0,0 0 0,0 0 0,1 1 0,14-4 0,-9 3 0,0-1 0,-1 0 0,19-10 0,25-23 0,89-76 0,-133 103 0,168-122-1365,-157 114-5461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551"/>
    </inkml:context>
    <inkml:brush xml:id="br0">
      <inkml:brushProperty name="width" value="0.035" units="cm"/>
      <inkml:brushProperty name="height" value="0.035" units="cm"/>
      <inkml:brushProperty name="color" value="#E71224"/>
    </inkml:brush>
  </inkml:definitions>
  <inkml:trace contextRef="#ctx0" brushRef="#br0">1 706 24575,'49'-55'0,"-35"38"0,1 0 0,0 1 0,2 1 0,28-21 0,-23 20 0,0-1 0,27-28 0,-20 17 0,22-13 0,-36 30 0,-1 0 0,0-2 0,19-20 0,-22 21 0,0 1 0,0 1 0,18-13 0,-16 14 0,-1-1 0,0-1 0,17-18 0,-16 14 0,1 2 0,0-1 0,25-16 0,25-24 0,-54 46 32,0-1 0,0 1 0,16-8 0,27-22-1525,-39 23-5333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803"/>
    </inkml:context>
    <inkml:brush xml:id="br0">
      <inkml:brushProperty name="width" value="0.035" units="cm"/>
      <inkml:brushProperty name="height" value="0.035" units="cm"/>
      <inkml:brushProperty name="color" value="#E71224"/>
    </inkml:brush>
  </inkml:definitions>
  <inkml:trace contextRef="#ctx0" brushRef="#br0">0 552 24575,'67'-31'0,"99"-61"0,-105 55 0,118-52 0,45-15 0,-116 51 0,163-78-1365,-242 116-5461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040"/>
    </inkml:context>
    <inkml:brush xml:id="br0">
      <inkml:brushProperty name="width" value="0.035" units="cm"/>
      <inkml:brushProperty name="height" value="0.035" units="cm"/>
      <inkml:brushProperty name="color" value="#E71224"/>
    </inkml:brush>
  </inkml:definitions>
  <inkml:trace contextRef="#ctx0" brushRef="#br0">1 288 24575,'4'-1'0,"0"0"0,1 0 0,-1 0 0,0-1 0,0 1 0,-1-1 0,1 0 0,0 0 0,4-4 0,21-9 0,116-44 0,-34 30 0,-29 9 0,-54 10 0,-1-1 0,0-1 0,32-20 0,39-19 0,-62 32-1365,-19 8-5461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331"/>
    </inkml:context>
    <inkml:brush xml:id="br0">
      <inkml:brushProperty name="width" value="0.035" units="cm"/>
      <inkml:brushProperty name="height" value="0.035" units="cm"/>
      <inkml:brushProperty name="color" value="#E71224"/>
    </inkml:brush>
  </inkml:definitions>
  <inkml:trace contextRef="#ctx0" brushRef="#br0">0 719 24575,'5'0'0,"0"0"0,0 0 0,0-1 0,0 1 0,-1-1 0,1-1 0,0 1 0,0-1 0,-1 1 0,1-1 0,-1-1 0,0 1 0,6-4 0,-2-1 0,-1 0 0,0 0 0,0-1 0,-1 0 0,9-13 0,-11 17 0,-1 0 0,1 0 0,1 0 0,-1 1 0,1-1 0,-1 1 0,1 0 0,0 0 0,0 1 0,8-3 0,30-19 0,1-10 0,55-30 0,37-28 0,54-43 0,-25 11 125,-9 7-1615,-143 106-5336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595"/>
    </inkml:context>
    <inkml:brush xml:id="br0">
      <inkml:brushProperty name="width" value="0.035" units="cm"/>
      <inkml:brushProperty name="height" value="0.035" units="cm"/>
      <inkml:brushProperty name="color" value="#E71224"/>
    </inkml:brush>
  </inkml:definitions>
  <inkml:trace contextRef="#ctx0" brushRef="#br0">0 477 24575,'23'-21'0,"43"-28"0,-42 32 0,-1-1 0,23-22 0,-32 27 0,2 0 0,-1 1 0,2 0 0,-1 1 0,23-10 0,97-38 0,-98 43 0,-12 7 0,1 1 0,39-7 0,-35 9 0,46-16 0,77-21 0,-72 16 76,-50 18-797,43-19 1,-59 21-6106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924"/>
    </inkml:context>
    <inkml:brush xml:id="br0">
      <inkml:brushProperty name="width" value="0.035" units="cm"/>
      <inkml:brushProperty name="height" value="0.035" units="cm"/>
      <inkml:brushProperty name="color" value="#E71224"/>
    </inkml:brush>
  </inkml:definitions>
  <inkml:trace contextRef="#ctx0" brushRef="#br0">1 587 24575,'161'-133'0,"34"-24"0,-148 122 0,-24 18 0,0 0 0,45-23 0,272-129-1365,-302 150-5461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118"/>
    </inkml:context>
    <inkml:brush xml:id="br0">
      <inkml:brushProperty name="width" value="0.035" units="cm"/>
      <inkml:brushProperty name="height" value="0.035" units="cm"/>
      <inkml:brushProperty name="color" value="#E71224"/>
    </inkml:brush>
  </inkml:definitions>
  <inkml:trace contextRef="#ctx0" brushRef="#br0">0 449 24575,'31'-12'0,"50"-27"0,-60 27 0,1 2 0,1 0 0,-1 1 0,44-11 0,-44 15 0,0-1 0,-1 0 0,0-2 0,0 0 0,29-18 0,-19 10 0,0 1 0,1 2 0,0 1 0,1 1 0,48-9 0,-51 12 0,0-1 0,-1-1 0,48-24 0,-46 19 0,1 1 0,48-13 0,-53 19-133,0-2 0,0 0 0,27-17-1,-35 18-698,0-1-5994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402"/>
    </inkml:context>
    <inkml:brush xml:id="br0">
      <inkml:brushProperty name="width" value="0.035" units="cm"/>
      <inkml:brushProperty name="height" value="0.035" units="cm"/>
      <inkml:brushProperty name="color" value="#E71224"/>
    </inkml:brush>
  </inkml:definitions>
  <inkml:trace contextRef="#ctx0" brushRef="#br0">0 217 24575,'53'-12'0,"0"-2"0,50-20 0,13-5 0,253-72-1365,-343 105-5461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688"/>
    </inkml:context>
    <inkml:brush xml:id="br0">
      <inkml:brushProperty name="width" value="0.035" units="cm"/>
      <inkml:brushProperty name="height" value="0.035" units="cm"/>
      <inkml:brushProperty name="color" value="#E71224"/>
    </inkml:brush>
  </inkml:definitions>
  <inkml:trace contextRef="#ctx0" brushRef="#br0">1 214 24575,'8'-1'0,"1"-1"0,0 0 0,-1 0 0,0 0 0,0-1 0,1-1 0,8-4 0,22-9 0,209-47 0,-163 44 0,180-40 0,-175 38-1365,-58 15-5461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925"/>
    </inkml:context>
    <inkml:brush xml:id="br0">
      <inkml:brushProperty name="width" value="0.035" units="cm"/>
      <inkml:brushProperty name="height" value="0.035" units="cm"/>
      <inkml:brushProperty name="color" value="#E71224"/>
    </inkml:brush>
  </inkml:definitions>
  <inkml:trace contextRef="#ctx0" brushRef="#br0">1 235 24575,'98'-38'0,"-24"7"0,97-25 0,47 12 0,-182 38 0,48-3 0,-17 2 0,-17 1-100,-9 2-322,0-2 1,50-15-1,-70 15-6404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177"/>
    </inkml:context>
    <inkml:brush xml:id="br0">
      <inkml:brushProperty name="width" value="0.035" units="cm"/>
      <inkml:brushProperty name="height" value="0.035" units="cm"/>
      <inkml:brushProperty name="color" value="#E71224"/>
    </inkml:brush>
  </inkml:definitions>
  <inkml:trace contextRef="#ctx0" brushRef="#br0">0 367 24575,'101'-31'0,"-48"16"0,0-3 0,70-33 0,-99 39 0,0 2 0,0 0 0,1 1 0,0 2 0,1 0 0,29-2 0,138-32 0,-21 3 0,-103 26 0,-35 5 0,0 2 0,50-2 0,-82 7 0,24 1 0,-1-2 0,1 0 0,46-10 0,-9-2 0,-41 9 0,-1 0 0,1-2 0,40-15 0,-41 11-1365,-3 2-5461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509"/>
    </inkml:context>
    <inkml:brush xml:id="br0">
      <inkml:brushProperty name="width" value="0.035" units="cm"/>
      <inkml:brushProperty name="height" value="0.035" units="cm"/>
      <inkml:brushProperty name="color" value="#E71224"/>
    </inkml:brush>
  </inkml:definitions>
  <inkml:trace contextRef="#ctx0" brushRef="#br0">0 235 24575,'206'-52'0,"-72"21"0,-88 22 0,-1 1 0,76-2 0,-94 8 0,55-8 0,-49 5 0,47 0 0,-46 6 0,-1-2 0,1-1 0,-1-2 0,0-1 0,56-15 0,-50 7-100,-2 2-533,66-30 1,-91 34-6194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810"/>
    </inkml:context>
    <inkml:brush xml:id="br0">
      <inkml:brushProperty name="width" value="0.035" units="cm"/>
      <inkml:brushProperty name="height" value="0.035" units="cm"/>
      <inkml:brushProperty name="color" value="#E71224"/>
    </inkml:brush>
  </inkml:definitions>
  <inkml:trace contextRef="#ctx0" brushRef="#br0">1 156 24575,'90'-38'0,"-74"30"0,1 0 0,0 1 0,0 0 0,1 2 0,0 0 0,0 1 0,36-4 0,-32 6 0,0 0 0,0-2 0,35-9 0,-35 6 0,0 2 0,0 1 0,33-2 0,41-5 0,-67 6 0,44-1 0,-29 6-1365,-25 0-5461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063"/>
    </inkml:context>
    <inkml:brush xml:id="br0">
      <inkml:brushProperty name="width" value="0.035" units="cm"/>
      <inkml:brushProperty name="height" value="0.035" units="cm"/>
      <inkml:brushProperty name="color" value="#E71224"/>
    </inkml:brush>
  </inkml:definitions>
  <inkml:trace contextRef="#ctx0" brushRef="#br0">0 134 24575,'15'-2'0,"1"-1"0,-1 0 0,0-1 0,18-7 0,-22 8 0,28-15 0,-32 14 0,-1 1 0,1 0 0,-1 0 0,1 1 0,0-1 0,10-1 0,246-42 0,-214 38 0,-19 3 0,1 0 0,36 1 0,-23 4-1365,-25 1-5461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414"/>
    </inkml:context>
    <inkml:brush xml:id="br0">
      <inkml:brushProperty name="width" value="0.035" units="cm"/>
      <inkml:brushProperty name="height" value="0.035" units="cm"/>
      <inkml:brushProperty name="color" value="#E71224"/>
    </inkml:brush>
  </inkml:definitions>
  <inkml:trace contextRef="#ctx0" brushRef="#br0">1 123 24575,'16'-2'0,"1"1"0,-1-2 0,1 0 0,29-11 0,-29 8 0,0 2 0,0-1 0,0 2 0,25-2 0,65 5 0,-37 0 0,111-12 0,-7-28-64,-115 25-1237,-21 5-5525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633"/>
    </inkml:context>
    <inkml:brush xml:id="br0">
      <inkml:brushProperty name="width" value="0.035" units="cm"/>
      <inkml:brushProperty name="height" value="0.035" units="cm"/>
      <inkml:brushProperty name="color" value="#E71224"/>
    </inkml:brush>
  </inkml:definitions>
  <inkml:trace contextRef="#ctx0" brushRef="#br0">1 107 24575,'11'-2'0,"1"0"0,-1-1 0,0 0 0,0 0 0,0-1 0,0-1 0,13-7 0,21-8 0,-30 16 0,1 0 0,0 1 0,0 0 0,20 0 0,37-6 0,15-14-1365,-73 19-5461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85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6.632"/>
    </inkml:context>
    <inkml:brush xml:id="br0">
      <inkml:brushProperty name="width" value="0.035" units="cm"/>
      <inkml:brushProperty name="height" value="0.035" units="cm"/>
      <inkml:brushProperty name="color" value="#E71224"/>
    </inkml:brush>
  </inkml:definitions>
  <inkml:trace contextRef="#ctx0" brushRef="#br0">0 1 24575,'63'0'0,"53"-1"0,118 16 0,-25-1 0,-13-2 0,337 15 0,-513-27-1365,-1 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6.884"/>
    </inkml:context>
    <inkml:brush xml:id="br0">
      <inkml:brushProperty name="width" value="0.035" units="cm"/>
      <inkml:brushProperty name="height" value="0.035" units="cm"/>
      <inkml:brushProperty name="color" value="#E71224"/>
    </inkml:brush>
  </inkml:definitions>
  <inkml:trace contextRef="#ctx0" brushRef="#br0">1 156 24575,'42'-2'0,"54"-9"0,-12 0 0,-60 7 0,1-2 0,-2-1 0,1 0 0,-1-2 0,40-21 0,28-9 0,-70 32-195,0 1 0,1 1 0,-1 0 0,1 2 0,0 1 0,39 1 0,-42 1-6631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7.122"/>
    </inkml:context>
    <inkml:brush xml:id="br0">
      <inkml:brushProperty name="width" value="0.035" units="cm"/>
      <inkml:brushProperty name="height" value="0.035" units="cm"/>
      <inkml:brushProperty name="color" value="#E71224"/>
    </inkml:brush>
  </inkml:definitions>
  <inkml:trace contextRef="#ctx0" brushRef="#br0">0 1 24575,'4'0'0,"5"0"0,4 0 0,4 0 0,3 0 0,2 0 0,1 0 0,0 0 0,0 0 0,0 0 0,0 0 0,-5 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2.410"/>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3.223"/>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6.069"/>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9.025"/>
    </inkml:context>
    <inkml:brush xml:id="br0">
      <inkml:brushProperty name="width" value="0.035" units="cm"/>
      <inkml:brushProperty name="height" value="0.035" units="cm"/>
      <inkml:brushProperty name="color" value="#E71224"/>
    </inkml:brush>
  </inkml:definitions>
  <inkml:trace contextRef="#ctx0" brushRef="#br0">116 1 24575,'0'12'0,"0"0"0,-1 1 0,0-1 0,-1 0 0,-4 15 0,3-19 0,0-1 0,0-1 0,-1 1 0,0 0 0,0-1 0,-1 0 0,1 0 0,-1 0 0,-10 9 0,9-9 0,1 0 0,0 0 0,0 1 0,0 0 0,1 0 0,0 0 0,0 0 0,1 1 0,0 0 0,0 0 0,1-1 0,0 2 0,0-1 0,1 0 0,0 0 0,1 0 0,-1 1 0,2-1 0,1 14 0,1-2 0,1 0 0,1 0 0,1 0 0,0-1 0,2 0 0,17 32 0,-11-23 0,-8-16 0,0 0 0,0 0 0,2 0 0,-1-1 0,1 0 0,1-1 0,0 1 0,0-2 0,1 1 0,12 8 0,3 0-1365,-14-10-5461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9.984"/>
    </inkml:context>
    <inkml:brush xml:id="br0">
      <inkml:brushProperty name="width" value="0.035" units="cm"/>
      <inkml:brushProperty name="height" value="0.035" units="cm"/>
      <inkml:brushProperty name="color" value="#E71224"/>
    </inkml:brush>
  </inkml:definitions>
  <inkml:trace contextRef="#ctx0" brushRef="#br0">1 1 24575,'4'1'0,"-1"1"0,1 0 0,0 1 0,0-1 0,-1 1 0,0-1 0,1 1 0,-1 0 0,0 0 0,4 5 0,7 6 0,14 6 0,1-2 0,1-1 0,0-2 0,44 16 0,14 9 0,-56-27 0,0-1 0,34 8 0,-34-11 0,0 1 0,36 18 0,-19 0-23,-40-21-126,1-1 0,0 0 0,0-1 0,0 0 0,1 0-1,0-1 1,0-1 0,15 3 0,-10-4-6677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41.038"/>
    </inkml:context>
    <inkml:brush xml:id="br0">
      <inkml:brushProperty name="width" value="0.035" units="cm"/>
      <inkml:brushProperty name="height" value="0.035" units="cm"/>
      <inkml:brushProperty name="color" value="#E71224"/>
    </inkml:brush>
  </inkml:definitions>
  <inkml:trace contextRef="#ctx0" brushRef="#br0">1 1 24575,'1'19'0,"0"0"0,1 0 0,1 1 0,1-2 0,1 1 0,1 0 0,0-1 0,2 0 0,0-1 0,0 0 0,21 30 0,59 125 0,-59-111 0,-18-39 0,7 19 0,3-2 0,38 56 0,51 73 0,-82-142 0,-23-22 0,-1-1 0,0 1 0,0 0 0,0 0 0,0 0 0,0 1 0,2 4 0,3 5 0,1-1 0,0 0 0,0-1 0,1 0 0,1 0 0,0-1 0,17 11 0,-4-1 0,93 77 0,-39-31 0,-53-43 0,1-1 0,43 28 0,70 55 0,-83-68-35,-44-28-131,1 0 0,-1-1-1,2-1 1,-1 0 0,1-1 0,0 0-1,23 6 1,-21-10-6660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89"/>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90"/>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91"/>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4"/>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5"/>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6"/>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19"/>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20"/>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21"/>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4:11.656"/>
    </inkml:context>
    <inkml:brush xml:id="br0">
      <inkml:brushProperty name="width" value="0.035" units="cm"/>
      <inkml:brushProperty name="height" value="0.035" units="cm"/>
      <inkml:brushProperty name="color" value="#E71224"/>
    </inkml:brush>
  </inkml:definitions>
  <inkml:trace contextRef="#ctx0" brushRef="#br0">28 468 24575,'6'1'0,"0"-1"0,0 1 0,1 0 0,-1 0 0,0 1 0,0 0 0,0 0 0,-1 0 0,1 1 0,9 6 0,51 42 0,-52-38 0,0-1 0,32 19 0,-25-17 0,-1 0 0,0 1 0,-1 1 0,23 25 0,38 30 0,-26-25 0,60 63 0,-43-38 0,-2-5 0,82 76 0,-11-30 0,-95-71 0,-36-31 0,1-1 0,1 0 0,0 0 0,20 12 0,59 38 0,-66-41 0,0-1 0,30 14 0,261 148-911,-263-139 1130,-42-31-84,1 1 0,1-2 0,19 13 0,9 2-53,55 42 0,22 14-94,-80-56 12,36 31 0,-1-2 0,161 115 0,-215-153 0,0 1 0,17 19 0,-20-19 0,0-1 0,0-1 0,18 12 0,-19-14 0,0 0 0,0 0 0,22 27 0,-22-22 0,1-1 0,22 17 0,-25-22 0,0 1 0,0 0 0,-1 1 0,0 0 0,-1 0 0,10 16 0,-13-18 0,2-1 0,-1 0 0,1 0 0,20 14 0,-19-15 0,0-1 0,-1 1 0,0 1 0,0 0 0,11 15 0,-11-13 0,0 0 0,0-1 0,1-1 0,0 0 0,20 14 0,25 23 0,14 10 0,-51-42 0,34 31 0,0 3 0,-40-38 0,0 0 0,0 1 0,-1 0 0,-1 1 0,16 23 0,95 184 0,-88-157 0,-26-50 0,1 0 0,1-1 0,14 16 0,-14-17 0,0-1 0,-1 1 0,-1 1 0,0-1 0,6 13 0,-6-10 0,0-1 0,1-1 0,0 0 0,1 0 0,17 18 0,25 31 0,-42-49 0,-1-1 0,1 0 0,0 0 0,1-1 0,14 10 0,-13-11 0,-1 0 0,0 1 0,-1 0 0,0 0 0,12 17 0,-16-19 0,0-1 0,1 0 0,0 0 0,0-1 0,1 1 0,-1-1 0,1-1 0,14 8 0,-14-8 0,1 0 0,-1 1 0,0 0 0,0 0 0,0 0 0,-1 1 0,0 0 0,9 12 0,-7-8 0,0 0 0,0-1 0,1 0 0,0-1 0,16 12 0,-14-12 0,-1 0 0,0 1 0,-1 0 0,16 19 0,-15-15 0,0-1 0,1 0 0,1-1 0,15 11 0,-15-11 0,1-1 0,-1 2 0,17 21 0,14 39 0,42 28 0,137 143 0,-39-77 0,-160-143 0,36 46 0,7 7 0,-23-28 0,-30-32 0,2 0 0,26 22 0,-34-31 0,0 0 0,-1 0 0,0 0 0,-1 0 0,1 1 0,-2 0 0,6 10 0,26 38 0,25 17 0,20 21 0,52 60 0,9 11 0,-97-108 0,71 70 0,-104-114 0,0 0 0,16 25 0,-19-25 0,0 0 0,1 0 0,1-1 0,14 12 0,45 47 0,-12-10 0,-6-6 0,-42-42 0,2-1 0,-1 0 0,1 0 0,1-2 0,24 17 0,-22-17 0,0 2 0,0 0 0,-1 0 0,14 17 0,-12-13 0,0-1 0,27 20 0,106 68 0,-85-70 0,-51-28 0,0 1 0,-1 0 0,0 1 0,21 16 0,-14-8 0,1-1 0,0-1 0,1-1 0,44 18 0,95 24 0,-132-49 0,1-1 0,-1-2 0,1 0 0,53-5 0,-9 0 0,-64 3 0,0-1 0,0-1 0,0 0 0,-1 0 0,1-1 0,-1 0 0,15-7 0,-14 6 0,0 0 0,1 0 0,-1 1 0,1 0 0,0 1 0,10-1 0,-9 2 0,0-1 0,0 0 0,0-1 0,0 0 0,-1 0 0,1-1 0,-1 0 0,0-1 0,0 0 0,-1-1 0,1 0 0,-1-1 0,-1 0 0,1 0 0,-1 0 0,0-1 0,-1-1 0,13-17 0,-2-3 0,1 1 0,1 1 0,28-28 0,-42 47 0,0 0 0,-1-1 0,-1 0 0,1 0 0,-1 0 0,-1 0 0,5-18 0,6-16 0,-4 14 0,-1 0 0,9-58 0,-2 7 0,-10 42 0,-1 0 0,-3 0 0,0 0 0,-6-53 0,1-4 0,4 49 0,2-1 0,11-50 0,-8 42 0,-3 0 0,-5-91 0,0 38 0,-1 72 0,-1-1 0,-2 1 0,-1 1 0,-13-38 0,-6-28 0,23 85 0,-5-18 0,2-1 0,-4-70 0,9 82 0,-2 0 0,-5-25 0,-3-40 0,0-2 0,6 66 0,-2-49 0,8-435 0,-2 487 0,-1 0 0,-7-29 0,4 29 0,2 0 0,-2-29 0,-6-86 0,0-6 0,10 120 0,-1 1 0,-7-29 0,5 29 0,0-2 0,0-24 0,5-832 0,-2 852 0,-10-50 0,6 49 0,-2-47 0,6 51 0,-2 1 0,-6-27 0,-1-14 0,-16-86 0,6 45 0,11 56 0,4 24 0,1 1 0,-1-39 0,3 35 0,-8-48 0,5 47 0,-2-46 0,6 53 0,-1 1 0,-2 0 0,0 1 0,-1-1 0,-1 1 0,-1 0 0,-11-24 0,-6-5 0,-48-73 0,26 54 0,-83-91 0,87 125 0,36 31 0,1-1 0,0 0 0,-1 0 0,1 0 0,0 0 0,1-1 0,-1 0 0,1 0 0,-6-10 0,0 0 0,0 0 0,-1 0 0,-1 2 0,0-1 0,-23-18 0,17 15 0,0 0 0,-18-24 0,29 32 0,-1 1 0,0 0 0,-1 1 0,1 0 0,-14-8 0,-26-23 0,27 19 0,-1 1 0,-1 1 0,-1 0 0,-41-20 0,-109-41 0,144 67 0,0 2 0,-1 1 0,0 1 0,0 2 0,0 1 0,0 1 0,-54 3 0,58-1 0,0-1 0,-27-6 0,25 3 0,-46-2 0,-706 8 0,755-2 0,-52-10 0,51 6 0,-50-2 0,-252-6 0,90-14-2613,121 21 2613,77 6 0,1-2 0,-48-9 0,31 3 628,0 3 0,-1 3 1,-70 5-1,12 0-528,-484-3-100,584 1 0,-1 0 0,-32 9 0,-29 2 0,-456-11 0,259-3 0,249 1 0,-52-10 0,51 6 0,-50-2 0,-361 8 0,415 0 0,1 2 0,0 1 0,0 0 0,-28 11 0,-20 3 0,-3-1 0,39-8 0,0-1 0,-1-2 0,-64 2 0,-341-9 0,419 2 0,-1 2 0,-27 5 0,27-4 0,0 0 0,-26 0 0,14-4 0,23-1 0,-1 0 0,1 1 0,0 0 0,-1 1 0,1 1 0,0 0 0,-1 0 0,1 1 0,0 1 0,1-1 0,-14 8 0,-3 4 0,16-10 0,1 1 0,1 0 0,-1 0 0,-15 15 0,21-17 0,1-1 0,1 1 0,-1 0 0,0 0 0,1 0 0,0 0 0,0 1 0,0-1 0,1 0 0,-1 1 0,1 0 0,0-1 0,0 1 0,1 0 0,-1 6 0,0 10 0,1 1 0,1-1 0,4 25 0,-4-40 0,0 0 0,1 0 0,0 0 0,-1-1 0,2 1 0,-1-1 0,1 1 0,0-1 0,0 0 0,0 0 0,1 0 0,-1 0 0,1-1 0,0 0 0,1 1 0,4 3 0,34 30 0,-37-31 0,1 0 0,0-1 0,0 1 0,0-2 0,16 10 0,-4-4 0,1-1 0,0-1 0,1-1 0,0-1 0,0-1 0,25 5 0,-33-9-136,0 2-1,-1-1 1,1 2-1,-1 0 1,0 0-1,0 1 1,-1 1-1,0 0 0,21 16 1,-22-14-6690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4:55.120"/>
    </inkml:context>
    <inkml:brush xml:id="br0">
      <inkml:brushProperty name="width" value="0.035" units="cm"/>
      <inkml:brushProperty name="height" value="0.035" units="cm"/>
      <inkml:brushProperty name="color" value="#E71224"/>
    </inkml:brush>
  </inkml:definitions>
  <inkml:trace contextRef="#ctx0" brushRef="#br0">1 1163 24575,'0'-7'0,"1"-1"0,0 0 0,1 0 0,0 1 0,0-1 0,0 1 0,1-1 0,0 1 0,1 0 0,0 0 0,0 0 0,0 1 0,10-11 0,7-7 0,2 1 0,28-22 0,-1 0 0,-32 29 0,0 2 0,33-20 0,21-17 0,-60 42 0,1 1 0,0 0 0,1 1 0,23-10 0,27-14 0,-17 0 0,-33 21 0,0 1 0,0 0 0,1 1 0,0 1 0,0 0 0,17-5 0,-5 3 0,-1-2 0,-1-1 0,35-21 0,-45 24 0,132-96 0,-96 68 0,-42 30 0,1-1 0,0 1 0,0 0 0,1 1 0,0 1 0,15-7 0,-15 8 0,1-1 0,-2 0 0,1-1 0,0 0 0,-1 0 0,0-1 0,13-12 0,57-66 0,-63 65 0,0 1 0,0 0 0,2 2 0,40-29 0,-46 38 0,1 1 0,0 1 0,1 1 0,0 0 0,0 1 0,19-4 0,97-7 0,-110 13 0,8 0-116,-13 2-63,-1-2 1,1 1-1,0-2 1,-1 0 0,0-1-1,22-8 1,-24 5-6648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0.058"/>
    </inkml:context>
    <inkml:brush xml:id="br0">
      <inkml:brushProperty name="width" value="0.035" units="cm"/>
      <inkml:brushProperty name="height" value="0.035" units="cm"/>
      <inkml:brushProperty name="color" value="#E71224"/>
    </inkml:brush>
  </inkml:definitions>
  <inkml:trace contextRef="#ctx0" brushRef="#br0">1 2254 24575,'39'-2'0,"64"-12"0,-37 5 0,-42 4 0,0-1 0,0-1 0,-1-1 0,0-1 0,0-1 0,-1-1 0,38-25 0,-45 28 0,0 1 0,0 1 0,1 0 0,29-7 0,38-15 0,-69 22 0,-10 5 0,0-1 0,0 1 0,-1-1 0,1 0 0,0 0 0,-1-1 0,1 1 0,-1 0 0,0-1 0,0 0 0,0 0 0,0 0 0,-1 0 0,1 0 0,3-8 0,0 4 0,-1 0 0,1 0 0,0 1 0,0-1 0,1 1 0,-1 1 0,1-1 0,1 1 0,-1 0 0,11-4 0,38-31 0,-38 26 0,1 0 0,0 1 0,1 1 0,0 1 0,1 1 0,36-12 0,42-22 0,50-21 0,-54 25 0,-17-4 0,-61 33 0,0 1 0,1 0 0,36-14 0,-40 18 0,0 0 0,0-1 0,-1-1 0,1-1 0,-2 1 0,20-18 0,-18 14 0,0 1 0,1 0 0,1 1 0,17-8 0,-1 1 0,-1-1 0,-1-2 0,46-37 0,-41 29 0,68-40 0,-98 64 0,1 0 0,0 0 0,-1-1 0,0 0 0,9-9 0,-10 9 0,0 1 0,0-1 0,1 1 0,-1 0 0,1 0 0,0 1 0,0-1 0,6-2 0,19-9 0,50-33 0,-56 32 0,1 1 0,52-24 0,-44 28 0,-25 9 0,1 0 0,-1-1 0,0-1 0,-1 1 0,1-1 0,-1 0 0,1-1 0,-1 0 0,7-6 0,5-5 0,1 1 0,27-16 0,-33 23 0,-1 0 0,0 0 0,-1-2 0,0 0 0,0 0 0,-1-1 0,0 0 0,16-23 0,-9 10 0,0 0 0,33-30 0,-29 30 0,106-123 0,-106 127 0,38-28 0,-13 10 0,27-14 0,-58 42 0,1-1 0,-2 0 0,0-1 0,0-1 0,-1 0 0,0-1 0,18-25 0,-21 25 0,0 1 0,0 0 0,2 1 0,-1 1 0,2 0 0,15-10 0,16-14 0,-35 27 0,0 1 0,1 1 0,0 0 0,17-7 0,-14 7 0,-1 0 0,25-17 0,-6 2-1365,-16 12-5461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1.813"/>
    </inkml:context>
    <inkml:brush xml:id="br0">
      <inkml:brushProperty name="width" value="0.035" units="cm"/>
      <inkml:brushProperty name="height" value="0.035" units="cm"/>
      <inkml:brushProperty name="color" value="#E71224"/>
    </inkml:brush>
  </inkml:definitions>
  <inkml:trace contextRef="#ctx0" brushRef="#br0">0 1713 24575,'2'-4'0,"-1"0"0,1 0 0,0 1 0,0-1 0,0 1 0,0-1 0,1 1 0,-1 0 0,1 0 0,0 0 0,0 0 0,6-4 0,6-8 0,126-171 0,-130 175 0,1 0 0,0 1 0,1 1 0,27-16 0,28-21 0,-60 38 0,1 0 0,0 1 0,0 1 0,1-1 0,0 1 0,0 1 0,18-7 0,-5 2 0,-1 0 0,0-2 0,35-24 0,-37 22 0,0 1 0,1 1 0,1 1 0,26-10 0,-31 15 0,0-1 0,-1-1 0,0-1 0,0 0 0,-1-1 0,25-22 0,78-84 0,-24 21 0,-89 90 0,46-41 0,111-78 0,-129 101 0,-23 16 0,0 0 0,1 0 0,0 1 0,16-7 0,26-10 0,0-3 0,67-43 0,-77 47 0,-34 18 0,0 0 0,0-1 0,0 0 0,-1 0 0,15-13 0,92-99 0,-106 108 0,-2-1 0,1-1 0,9-16 0,-12 18 0,0 0 0,1 1 0,0-1 0,0 1 0,1 1 0,10-10 0,-10 10 0,1 0 0,-1 0 0,-1-1 0,1 1 0,-1-1 0,0-1 0,-1 1 0,0-1 0,-1 0 0,0 0 0,0-1 0,-1 1 0,3-14 0,-4 18 11,0 1 1,0-1-1,0 0 0,0 1 0,1 0 0,5-9 0,4-6-1454,-5 7-5383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3.022"/>
    </inkml:context>
    <inkml:brush xml:id="br0">
      <inkml:brushProperty name="width" value="0.035" units="cm"/>
      <inkml:brushProperty name="height" value="0.035" units="cm"/>
      <inkml:brushProperty name="color" value="#E71224"/>
    </inkml:brush>
  </inkml:definitions>
  <inkml:trace contextRef="#ctx0" brushRef="#br0">1 1272 24575,'7'-1'0,"1"-1"0,-1 0 0,1 0 0,-1-1 0,1 1 0,-1-2 0,0 1 0,0-1 0,-1 0 0,8-5 0,42-21 0,-3 9 0,94-52 0,-54 25 0,5-11 0,-19 11 0,19 4 0,-70 33 0,0-1 0,-2-1 0,41-27 0,-48 28 0,1 1 0,0 0 0,1 2 0,41-14 0,-35 14 0,0-1 0,37-20 0,-31 13 0,45-18 0,-54 27 0,-1-2 0,0-1 0,-1-1 0,0 0 0,24-20 0,-24 16 0,48-28 0,-1 2 0,-28 11 0,-24 17 0,0 1 0,1 1 0,21-10 0,-25 14 0,0-1 0,-1-1 0,0 0 0,-1 0 0,0-1 0,-1-1 0,11-13 0,35-34 0,-49 50 0,0 1 0,0-2 0,-1 1 0,-1-1 0,1-1 0,-2 1 0,1-1 0,-1 0 0,-1 0 0,0 0 0,-1-1 0,0 1 0,-1-1 0,2-16 0,-4 26-40,1 0 0,-1 0 0,0 0 0,0 0-1,0-1 1,0 1 0,-1 0 0,1 0 0,-1 0 0,1 0 0,-1 0-1,1-1 1,-1 1 0,0 0 0,0 0 0,0 1 0,0-1-1,-1 0 1,1 0 0,0 1 0,-1-1 0,1 0 0,-1 1 0,0-1-1,1 1 1,-1 0 0,0 0 0,0 0 0,0-1 0,0 2-1,0-1 1,0 0 0,-4-1 0,-10-2-6786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6.286"/>
    </inkml:context>
    <inkml:brush xml:id="br0">
      <inkml:brushProperty name="width" value="0.035" units="cm"/>
      <inkml:brushProperty name="height" value="0.035" units="cm"/>
      <inkml:brushProperty name="color" value="#E71224"/>
    </inkml:brush>
  </inkml:definitions>
  <inkml:trace contextRef="#ctx0" brushRef="#br0">1 53 24575,'45'1'0,"-11"0"0,1-2 0,-1 0 0,59-12 0,-32 3 32,-47 9-311,1-2-1,-1 1 1,1-2-1,23-8 1,-21 4-6547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9.530"/>
    </inkml:context>
    <inkml:brush xml:id="br0">
      <inkml:brushProperty name="width" value="0.035" units="cm"/>
      <inkml:brushProperty name="height" value="0.035" units="cm"/>
      <inkml:brushProperty name="color" value="#E71224"/>
    </inkml:brush>
  </inkml:definitions>
  <inkml:trace contextRef="#ctx0" brushRef="#br0">1 884 24575,'0'-3'0,"1"0"0,-1 0 0,1 0 0,0 0 0,0 0 0,0 1 0,1-1 0,-1 0 0,1 0 0,-1 1 0,1-1 0,0 1 0,0 0 0,3-3 0,38-34 0,-26 25 0,-3 1 0,1 1 0,0 0 0,0 1 0,1 1 0,1 0 0,0 1 0,20-7 0,-14 5 0,0 0 0,-1-2 0,38-30 0,-4 4 0,-51 36 0,1 0 0,1 0 0,-1 1 0,0-1 0,1 1 0,-1 1 0,8-2 0,-9 2 0,0 0 0,0 0 0,0 0 0,0 0 0,0-1 0,0 0 0,-1 0 0,1 0 0,-1-1 0,1 0 0,-1 0 0,0 0 0,7-6 0,12-18 0,-15 17 0,1-1 0,1 1 0,0 1 0,22-17 0,-16 14 0,-1 0 0,21-20 0,-23 19 0,1 0 0,31-21 0,24-11 0,35-20 0,-92 58 0,1 2 0,-1 0 0,1 0 0,1 1 0,-1 1 0,26-4 0,-22 4 0,-1-1 0,-1 0 0,1-2 0,-1 1 0,1-2 0,-2 0 0,1-1 0,-1 0 0,23-19 0,52-27 0,-47 28-1365,-32 17-5461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7.654"/>
    </inkml:context>
    <inkml:brush xml:id="br0">
      <inkml:brushProperty name="width" value="0.035" units="cm"/>
      <inkml:brushProperty name="height" value="0.035" units="cm"/>
      <inkml:brushProperty name="color" value="#E71224"/>
    </inkml:brush>
  </inkml:definitions>
  <inkml:trace contextRef="#ctx0" brushRef="#br0">0 306 24575,'16'-2'0,"-1"0"0,0-1 0,0-1 0,0 0 0,17-9 0,-3 3 0,28-9 0,117-42 0,-91 16 0,-17 8 0,-48 28-195,0 0 0,-1-1 0,-1-1 0,1-1 0,-2 0 0,20-19 0,-26 20-6631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10.381"/>
    </inkml:context>
    <inkml:brush xml:id="br0">
      <inkml:brushProperty name="width" value="0.035" units="cm"/>
      <inkml:brushProperty name="height" value="0.035" units="cm"/>
      <inkml:brushProperty name="color" value="#E71224"/>
    </inkml:brush>
  </inkml:definitions>
  <inkml:trace contextRef="#ctx0" brushRef="#br0">0 447 24575,'6'-2'0,"-1"0"0,0 0 0,1 0 0,-1-1 0,-1 0 0,1 0 0,0 0 0,7-7 0,0 1 0,11-5 0,1 1 0,0 1 0,32-11 0,0 0 0,54-28 0,62-32 0,-163 78 5,-1 0 0,1-1 0,-1 0 1,0 0-1,-1-1 0,0 0 0,0-1 0,0 0 0,-1 0 0,0 0 0,-1 0 0,1-1 0,4-12 0,32-44-1441,-33 54-5390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B9A05A-C030-404F-84CE-DF89B2719958}" type="datetimeFigureOut">
              <a:rPr lang="en-NL" smtClean="0"/>
              <a:t>13/11/2025</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E3CD5-403F-42A1-A26B-48E265B39632}" type="slidenum">
              <a:rPr lang="en-NL" smtClean="0"/>
              <a:t>‹#›</a:t>
            </a:fld>
            <a:endParaRPr lang="en-NL"/>
          </a:p>
        </p:txBody>
      </p:sp>
    </p:spTree>
    <p:extLst>
      <p:ext uri="{BB962C8B-B14F-4D97-AF65-F5344CB8AC3E}">
        <p14:creationId xmlns:p14="http://schemas.microsoft.com/office/powerpoint/2010/main" val="4059280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685800" y="1143000"/>
            <a:ext cx="5486400" cy="3086100"/>
          </a:xfrm>
          <a:prstGeom prst="rect">
            <a:avLst/>
          </a:prstGeom>
          <a:ln w="0">
            <a:noFill/>
          </a:ln>
        </p:spPr>
      </p:sp>
      <p:sp>
        <p:nvSpPr>
          <p:cNvPr id="109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098" name="PlaceHolder 3"/>
          <p:cNvSpPr>
            <a:spLocks noGrp="1"/>
          </p:cNvSpPr>
          <p:nvPr>
            <p:ph type="sldNum" idx="68"/>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A10BC492-4473-4B0E-93D5-D38953E1EC75}" type="slidenum">
              <a:rPr lang="en-GB" sz="1400" b="0" strike="noStrike" spc="-1">
                <a:latin typeface="Times New Roman"/>
              </a:rPr>
              <a:t>1</a:t>
            </a:fld>
            <a:endParaRPr lang="en-US" sz="14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8874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176025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2323734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26920-CABF-6EC8-3DB9-A9A8191DE567}"/>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AF18A2FB-4A5A-AFB6-A797-66D5ECCF6291}"/>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4FC205E-3D83-14FC-BD70-C794F203DC6C}"/>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E65EF09-C826-3B43-A078-03DA267CC21E}"/>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775631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are covering the easy migration of applications and data from tier-2 facilities to </a:t>
            </a:r>
            <a:r>
              <a:rPr lang="en-GB" err="1"/>
              <a:t>Snellius</a:t>
            </a:r>
            <a:r>
              <a:rPr lang="en-GB"/>
              <a:t> (and back). This is a important problem for each tier-2 institute that will be at this meeting. Last year, we had this same event where we presented 5 related subtopics and one of them was the Federated Access (issues involving federated authorization and authentication in the context of multi-tier computing in the Netherlands). We had a presentation from Raymond who gave an overview of the possibilities and we discussed things at a very high level.</a:t>
            </a:r>
            <a:endParaRPr lang="en-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7E0F3-3B53-9747-8A46-A199743006EE}"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8864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D382B-261A-0B86-9009-E4ABCD5C41C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F52190B-A81E-73CC-9E23-D2E2C83E9A7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7594DD9-5ACD-5105-715F-DA6383C74904}"/>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7BF1413B-279A-96C2-521A-B1A20C5D2B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8642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11</a:t>
            </a:fld>
            <a:endParaRPr lang="en-US" sz="1400" b="0" strike="noStrike" spc="-1">
              <a:latin typeface="Times New Roman"/>
            </a:endParaRPr>
          </a:p>
        </p:txBody>
      </p:sp>
    </p:spTree>
    <p:extLst>
      <p:ext uri="{BB962C8B-B14F-4D97-AF65-F5344CB8AC3E}">
        <p14:creationId xmlns:p14="http://schemas.microsoft.com/office/powerpoint/2010/main" val="1553055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12</a:t>
            </a:fld>
            <a:endParaRPr lang="en-US" sz="1400" b="0" strike="noStrike" spc="-1">
              <a:latin typeface="Times New Roman"/>
            </a:endParaRPr>
          </a:p>
        </p:txBody>
      </p:sp>
    </p:spTree>
    <p:extLst>
      <p:ext uri="{BB962C8B-B14F-4D97-AF65-F5344CB8AC3E}">
        <p14:creationId xmlns:p14="http://schemas.microsoft.com/office/powerpoint/2010/main" val="2387859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5702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535303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1112591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23</a:t>
            </a:fld>
            <a:endParaRPr lang="en-US" sz="1400" b="0" strike="noStrike" spc="-1">
              <a:latin typeface="Times New Roman"/>
            </a:endParaRPr>
          </a:p>
        </p:txBody>
      </p:sp>
    </p:spTree>
    <p:extLst>
      <p:ext uri="{BB962C8B-B14F-4D97-AF65-F5344CB8AC3E}">
        <p14:creationId xmlns:p14="http://schemas.microsoft.com/office/powerpoint/2010/main" val="2222084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24</a:t>
            </a:fld>
            <a:endParaRPr lang="en-US" sz="1400" b="0" strike="noStrike" spc="-1">
              <a:latin typeface="Times New Roman"/>
            </a:endParaRPr>
          </a:p>
        </p:txBody>
      </p:sp>
    </p:spTree>
    <p:extLst>
      <p:ext uri="{BB962C8B-B14F-4D97-AF65-F5344CB8AC3E}">
        <p14:creationId xmlns:p14="http://schemas.microsoft.com/office/powerpoint/2010/main" val="3981908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25</a:t>
            </a:fld>
            <a:endParaRPr lang="en-US" sz="1400" b="0" strike="noStrike" spc="-1">
              <a:latin typeface="Times New Roman"/>
            </a:endParaRPr>
          </a:p>
        </p:txBody>
      </p:sp>
    </p:spTree>
    <p:extLst>
      <p:ext uri="{BB962C8B-B14F-4D97-AF65-F5344CB8AC3E}">
        <p14:creationId xmlns:p14="http://schemas.microsoft.com/office/powerpoint/2010/main" val="1578039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26</a:t>
            </a:fld>
            <a:endParaRPr lang="en-US" sz="1400" b="0" strike="noStrike" spc="-1">
              <a:latin typeface="Times New Roman"/>
            </a:endParaRPr>
          </a:p>
        </p:txBody>
      </p:sp>
    </p:spTree>
    <p:extLst>
      <p:ext uri="{BB962C8B-B14F-4D97-AF65-F5344CB8AC3E}">
        <p14:creationId xmlns:p14="http://schemas.microsoft.com/office/powerpoint/2010/main" val="3040151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8462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1"/>
        <p:cNvGrpSpPr/>
        <p:nvPr/>
      </p:nvGrpSpPr>
      <p:grpSpPr>
        <a:xfrm>
          <a:off x="0" y="0"/>
          <a:ext cx="0" cy="0"/>
          <a:chOff x="0" y="0"/>
          <a:chExt cx="0" cy="0"/>
        </a:xfrm>
      </p:grpSpPr>
      <p:sp>
        <p:nvSpPr>
          <p:cNvPr id="7052" name="Google Shape;7052;g3499dd801ae_0_12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3" name="Google Shape;7053;g3499dd801ae_0_12475: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0"/>
        <p:cNvGrpSpPr/>
        <p:nvPr/>
      </p:nvGrpSpPr>
      <p:grpSpPr>
        <a:xfrm>
          <a:off x="0" y="0"/>
          <a:ext cx="0" cy="0"/>
          <a:chOff x="0" y="0"/>
          <a:chExt cx="0" cy="0"/>
        </a:xfrm>
      </p:grpSpPr>
      <p:sp>
        <p:nvSpPr>
          <p:cNvPr id="7061" name="Google Shape;7061;g3499dd801ae_0_16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2" name="Google Shape;7062;g3499dd801ae_0_16511: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8"/>
        <p:cNvGrpSpPr/>
        <p:nvPr/>
      </p:nvGrpSpPr>
      <p:grpSpPr>
        <a:xfrm>
          <a:off x="0" y="0"/>
          <a:ext cx="0" cy="0"/>
          <a:chOff x="0" y="0"/>
          <a:chExt cx="0" cy="0"/>
        </a:xfrm>
      </p:grpSpPr>
      <p:sp>
        <p:nvSpPr>
          <p:cNvPr id="7069" name="Google Shape;7069;g3499dd801ae_0_16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0" name="Google Shape;7070;g3499dd801ae_0_1652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6"/>
        <p:cNvGrpSpPr/>
        <p:nvPr/>
      </p:nvGrpSpPr>
      <p:grpSpPr>
        <a:xfrm>
          <a:off x="0" y="0"/>
          <a:ext cx="0" cy="0"/>
          <a:chOff x="0" y="0"/>
          <a:chExt cx="0" cy="0"/>
        </a:xfrm>
      </p:grpSpPr>
      <p:sp>
        <p:nvSpPr>
          <p:cNvPr id="7077" name="Google Shape;7077;g3499dd801ae_0_16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8" name="Google Shape;7078;g3499dd801ae_0_16528: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4"/>
        <p:cNvGrpSpPr/>
        <p:nvPr/>
      </p:nvGrpSpPr>
      <p:grpSpPr>
        <a:xfrm>
          <a:off x="0" y="0"/>
          <a:ext cx="0" cy="0"/>
          <a:chOff x="0" y="0"/>
          <a:chExt cx="0" cy="0"/>
        </a:xfrm>
      </p:grpSpPr>
      <p:sp>
        <p:nvSpPr>
          <p:cNvPr id="7085" name="Google Shape;7085;g3499dd801ae_0_16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6" name="Google Shape;7086;g3499dd801ae_0_16536: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2"/>
        <p:cNvGrpSpPr/>
        <p:nvPr/>
      </p:nvGrpSpPr>
      <p:grpSpPr>
        <a:xfrm>
          <a:off x="0" y="0"/>
          <a:ext cx="0" cy="0"/>
          <a:chOff x="0" y="0"/>
          <a:chExt cx="0" cy="0"/>
        </a:xfrm>
      </p:grpSpPr>
      <p:sp>
        <p:nvSpPr>
          <p:cNvPr id="7093" name="Google Shape;7093;g3499dd801ae_0_16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4" name="Google Shape;7094;g3499dd801ae_0_16543: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1"/>
        <p:cNvGrpSpPr/>
        <p:nvPr/>
      </p:nvGrpSpPr>
      <p:grpSpPr>
        <a:xfrm>
          <a:off x="0" y="0"/>
          <a:ext cx="0" cy="0"/>
          <a:chOff x="0" y="0"/>
          <a:chExt cx="0" cy="0"/>
        </a:xfrm>
      </p:grpSpPr>
      <p:sp>
        <p:nvSpPr>
          <p:cNvPr id="7102" name="Google Shape;7102;g3499dd801ae_0_16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3" name="Google Shape;7103;g3499dd801ae_0_16552: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0"/>
        <p:cNvGrpSpPr/>
        <p:nvPr/>
      </p:nvGrpSpPr>
      <p:grpSpPr>
        <a:xfrm>
          <a:off x="0" y="0"/>
          <a:ext cx="0" cy="0"/>
          <a:chOff x="0" y="0"/>
          <a:chExt cx="0" cy="0"/>
        </a:xfrm>
      </p:grpSpPr>
      <p:sp>
        <p:nvSpPr>
          <p:cNvPr id="7111" name="Google Shape;7111;g3499dd801ae_0_16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2" name="Google Shape;7112;g3499dd801ae_0_1656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9"/>
        <p:cNvGrpSpPr/>
        <p:nvPr/>
      </p:nvGrpSpPr>
      <p:grpSpPr>
        <a:xfrm>
          <a:off x="0" y="0"/>
          <a:ext cx="0" cy="0"/>
          <a:chOff x="0" y="0"/>
          <a:chExt cx="0" cy="0"/>
        </a:xfrm>
      </p:grpSpPr>
      <p:sp>
        <p:nvSpPr>
          <p:cNvPr id="7120" name="Google Shape;7120;g3499dd801ae_0_16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1" name="Google Shape;7121;g3499dd801ae_0_1657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8"/>
        <p:cNvGrpSpPr/>
        <p:nvPr/>
      </p:nvGrpSpPr>
      <p:grpSpPr>
        <a:xfrm>
          <a:off x="0" y="0"/>
          <a:ext cx="0" cy="0"/>
          <a:chOff x="0" y="0"/>
          <a:chExt cx="0" cy="0"/>
        </a:xfrm>
      </p:grpSpPr>
      <p:sp>
        <p:nvSpPr>
          <p:cNvPr id="7129" name="Google Shape;7129;g3499dd801ae_0_165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0" name="Google Shape;7130;g3499dd801ae_0_16581: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8"/>
        <p:cNvGrpSpPr/>
        <p:nvPr/>
      </p:nvGrpSpPr>
      <p:grpSpPr>
        <a:xfrm>
          <a:off x="0" y="0"/>
          <a:ext cx="0" cy="0"/>
          <a:chOff x="0" y="0"/>
          <a:chExt cx="0" cy="0"/>
        </a:xfrm>
      </p:grpSpPr>
      <p:sp>
        <p:nvSpPr>
          <p:cNvPr id="7139" name="Google Shape;7139;g3499dd801ae_0_16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0" name="Google Shape;7140;g3499dd801ae_0_1659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6"/>
        <p:cNvGrpSpPr/>
        <p:nvPr/>
      </p:nvGrpSpPr>
      <p:grpSpPr>
        <a:xfrm>
          <a:off x="0" y="0"/>
          <a:ext cx="0" cy="0"/>
          <a:chOff x="0" y="0"/>
          <a:chExt cx="0" cy="0"/>
        </a:xfrm>
      </p:grpSpPr>
      <p:sp>
        <p:nvSpPr>
          <p:cNvPr id="7147" name="Google Shape;7147;g3499dd801ae_0_16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8" name="Google Shape;7148;g3499dd801ae_0_16601: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4"/>
        <p:cNvGrpSpPr/>
        <p:nvPr/>
      </p:nvGrpSpPr>
      <p:grpSpPr>
        <a:xfrm>
          <a:off x="0" y="0"/>
          <a:ext cx="0" cy="0"/>
          <a:chOff x="0" y="0"/>
          <a:chExt cx="0" cy="0"/>
        </a:xfrm>
      </p:grpSpPr>
      <p:sp>
        <p:nvSpPr>
          <p:cNvPr id="7155" name="Google Shape;7155;g3499dd801ae_0_16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6" name="Google Shape;7156;g3499dd801ae_0_16608: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61114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544D7F65-5299-4383-99A9-3EF851E1080D}" type="slidenum">
              <a:rPr lang="nl-NL" smtClean="0"/>
              <a:t>59</a:t>
            </a:fld>
            <a:endParaRPr lang="nl-NL"/>
          </a:p>
        </p:txBody>
      </p:sp>
    </p:spTree>
    <p:extLst>
      <p:ext uri="{BB962C8B-B14F-4D97-AF65-F5344CB8AC3E}">
        <p14:creationId xmlns:p14="http://schemas.microsoft.com/office/powerpoint/2010/main" val="23996206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F7A0-72B9-006A-FD6D-612FF36BA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29ED7-E442-1F6C-5931-84E41613B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37FD-5F57-59C3-9FFE-E559671407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4D0DEA4B-A1E9-82FE-EDBA-D10B72968185}"/>
              </a:ext>
            </a:extLst>
          </p:cNvPr>
          <p:cNvSpPr>
            <a:spLocks noGrp="1"/>
          </p:cNvSpPr>
          <p:nvPr>
            <p:ph type="sldNum" sz="quarter" idx="10"/>
          </p:nvPr>
        </p:nvSpPr>
        <p:spPr/>
        <p:txBody>
          <a:bodyPr/>
          <a:lstStyle/>
          <a:p>
            <a:fld id="{544D7F65-5299-4383-99A9-3EF851E1080D}" type="slidenum">
              <a:rPr lang="nl-NL" smtClean="0"/>
              <a:t>61</a:t>
            </a:fld>
            <a:endParaRPr lang="nl-NL"/>
          </a:p>
        </p:txBody>
      </p:sp>
    </p:spTree>
    <p:extLst>
      <p:ext uri="{BB962C8B-B14F-4D97-AF65-F5344CB8AC3E}">
        <p14:creationId xmlns:p14="http://schemas.microsoft.com/office/powerpoint/2010/main" val="27853535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099AD2B3-D140-44BD-B63C-3C9AE3845FBA}" type="slidenum">
              <a:rPr lang="en-NL" smtClean="0"/>
              <a:t>68</a:t>
            </a:fld>
            <a:endParaRPr lang="en-NL"/>
          </a:p>
        </p:txBody>
      </p:sp>
    </p:spTree>
    <p:extLst>
      <p:ext uri="{BB962C8B-B14F-4D97-AF65-F5344CB8AC3E}">
        <p14:creationId xmlns:p14="http://schemas.microsoft.com/office/powerpoint/2010/main" val="37268128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0629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263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D846-F3E5-5EFD-5985-262217502FBE}"/>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B299901A-9EB0-031A-619F-78094BF03E63}"/>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D1C6A13-C4C1-5AE2-04C0-5C10469B8322}"/>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CA213F67-371D-F0E9-9210-56EBE712F1BA}"/>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80</a:t>
            </a:fld>
            <a:endParaRPr lang="en-US" sz="1400" b="0" strike="noStrike" spc="-1">
              <a:latin typeface="Times New Roman"/>
            </a:endParaRPr>
          </a:p>
        </p:txBody>
      </p:sp>
    </p:spTree>
    <p:extLst>
      <p:ext uri="{BB962C8B-B14F-4D97-AF65-F5344CB8AC3E}">
        <p14:creationId xmlns:p14="http://schemas.microsoft.com/office/powerpoint/2010/main" val="1152704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5869-2E02-11FC-7004-B1A1C2627C6F}"/>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0DB4EDD-0320-8777-DF50-35900983AC3B}"/>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3B929CC1-877B-C861-6F70-6F7BCDD08FF3}"/>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F2481B0-D760-CC76-A133-F497AC8B3EC7}"/>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81</a:t>
            </a:fld>
            <a:endParaRPr lang="en-US" sz="1400" b="0" strike="noStrike" spc="-1">
              <a:latin typeface="Times New Roman"/>
            </a:endParaRPr>
          </a:p>
        </p:txBody>
      </p:sp>
    </p:spTree>
    <p:extLst>
      <p:ext uri="{BB962C8B-B14F-4D97-AF65-F5344CB8AC3E}">
        <p14:creationId xmlns:p14="http://schemas.microsoft.com/office/powerpoint/2010/main" val="13884318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A15DC-E38F-749C-41C8-469744244A78}"/>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795DCAE8-2833-F28C-258B-1776FBA23E69}"/>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E6F720CB-35A1-B0C0-2E32-A8781F9BE34E}"/>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ED83516A-1345-A5C2-8274-67EADE7C039F}"/>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82</a:t>
            </a:fld>
            <a:endParaRPr lang="en-US" sz="1400" b="0" strike="noStrike" spc="-1">
              <a:latin typeface="Times New Roman"/>
            </a:endParaRPr>
          </a:p>
        </p:txBody>
      </p:sp>
    </p:spTree>
    <p:extLst>
      <p:ext uri="{BB962C8B-B14F-4D97-AF65-F5344CB8AC3E}">
        <p14:creationId xmlns:p14="http://schemas.microsoft.com/office/powerpoint/2010/main" val="16903161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1037-46EF-F647-F369-BCD10FA6E0B5}"/>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A068FDC-AC1D-9519-35AB-5A4B30F7EE71}"/>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734C13F-9AC1-3F86-4233-C70BA0B7C65E}"/>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85A7FCBD-03D0-F144-3EDB-85AEC28AFB27}"/>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83</a:t>
            </a:fld>
            <a:endParaRPr lang="en-US" sz="1400" b="0" strike="noStrike" spc="-1">
              <a:latin typeface="Times New Roman"/>
            </a:endParaRPr>
          </a:p>
        </p:txBody>
      </p:sp>
    </p:spTree>
    <p:extLst>
      <p:ext uri="{BB962C8B-B14F-4D97-AF65-F5344CB8AC3E}">
        <p14:creationId xmlns:p14="http://schemas.microsoft.com/office/powerpoint/2010/main" val="2538890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0740B-9408-00B3-61BB-A45EF6DD0D68}"/>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0826FE58-8472-0162-DB0D-0735D7B2ECAB}"/>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6B046DFC-31F3-3B89-166C-7680F4EBED8D}"/>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1CFCC31-CA06-0F52-C685-61AF2D8F568F}"/>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84</a:t>
            </a:fld>
            <a:endParaRPr lang="en-US" sz="1400" b="0" strike="noStrike" spc="-1">
              <a:latin typeface="Times New Roman"/>
            </a:endParaRPr>
          </a:p>
        </p:txBody>
      </p:sp>
    </p:spTree>
    <p:extLst>
      <p:ext uri="{BB962C8B-B14F-4D97-AF65-F5344CB8AC3E}">
        <p14:creationId xmlns:p14="http://schemas.microsoft.com/office/powerpoint/2010/main" val="10782928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44CCD-6345-2EF5-EC57-B4FB76D3D3A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85909C1-4555-7C90-B4A1-A84125B58E8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2EEDA53-C4BE-6F39-C4C5-0443B42B07D8}"/>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B89C94E6-6F82-7DA7-02DC-98AA5AD046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39020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1718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87</a:t>
            </a:fld>
            <a:endParaRPr lang="en-US" sz="1400" b="0" strike="noStrike" spc="-1">
              <a:latin typeface="Times New Roman"/>
            </a:endParaRPr>
          </a:p>
        </p:txBody>
      </p:sp>
    </p:spTree>
    <p:extLst>
      <p:ext uri="{BB962C8B-B14F-4D97-AF65-F5344CB8AC3E}">
        <p14:creationId xmlns:p14="http://schemas.microsoft.com/office/powerpoint/2010/main" val="11471290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88</a:t>
            </a:fld>
            <a:endParaRPr lang="en-US" sz="1400" b="0" strike="noStrike" spc="-1">
              <a:latin typeface="Times New Roman"/>
            </a:endParaRPr>
          </a:p>
        </p:txBody>
      </p:sp>
    </p:spTree>
    <p:extLst>
      <p:ext uri="{BB962C8B-B14F-4D97-AF65-F5344CB8AC3E}">
        <p14:creationId xmlns:p14="http://schemas.microsoft.com/office/powerpoint/2010/main" val="24307523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89</a:t>
            </a:fld>
            <a:endParaRPr lang="en-US" sz="1400" b="0" strike="noStrike" spc="-1">
              <a:latin typeface="Times New Roman"/>
            </a:endParaRPr>
          </a:p>
        </p:txBody>
      </p:sp>
    </p:spTree>
    <p:extLst>
      <p:ext uri="{BB962C8B-B14F-4D97-AF65-F5344CB8AC3E}">
        <p14:creationId xmlns:p14="http://schemas.microsoft.com/office/powerpoint/2010/main" val="22940746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90</a:t>
            </a:fld>
            <a:endParaRPr lang="en-US" sz="1400" b="0" strike="noStrike" spc="-1">
              <a:latin typeface="Times New Roman"/>
            </a:endParaRPr>
          </a:p>
        </p:txBody>
      </p:sp>
    </p:spTree>
    <p:extLst>
      <p:ext uri="{BB962C8B-B14F-4D97-AF65-F5344CB8AC3E}">
        <p14:creationId xmlns:p14="http://schemas.microsoft.com/office/powerpoint/2010/main" val="948134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91</a:t>
            </a:fld>
            <a:endParaRPr lang="en-US" sz="1400" b="0" strike="noStrike" spc="-1">
              <a:latin typeface="Times New Roman"/>
            </a:endParaRPr>
          </a:p>
        </p:txBody>
      </p:sp>
    </p:spTree>
    <p:extLst>
      <p:ext uri="{BB962C8B-B14F-4D97-AF65-F5344CB8AC3E}">
        <p14:creationId xmlns:p14="http://schemas.microsoft.com/office/powerpoint/2010/main" val="29702026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92</a:t>
            </a:fld>
            <a:endParaRPr lang="en-US" sz="1400" b="0" strike="noStrike" spc="-1">
              <a:latin typeface="Times New Roman"/>
            </a:endParaRPr>
          </a:p>
        </p:txBody>
      </p:sp>
    </p:spTree>
    <p:extLst>
      <p:ext uri="{BB962C8B-B14F-4D97-AF65-F5344CB8AC3E}">
        <p14:creationId xmlns:p14="http://schemas.microsoft.com/office/powerpoint/2010/main" val="11441689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93</a:t>
            </a:fld>
            <a:endParaRPr lang="en-US" sz="1400" b="0" strike="noStrike" spc="-1">
              <a:latin typeface="Times New Roman"/>
            </a:endParaRPr>
          </a:p>
        </p:txBody>
      </p:sp>
    </p:spTree>
    <p:extLst>
      <p:ext uri="{BB962C8B-B14F-4D97-AF65-F5344CB8AC3E}">
        <p14:creationId xmlns:p14="http://schemas.microsoft.com/office/powerpoint/2010/main" val="29685250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82B7-ADD2-F2BA-CD97-EEE6E5E74192}"/>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493340BA-FB7C-C69E-1A16-58D7B52C674F}"/>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0280CF6B-E5B7-77AD-A602-FFDCE886CC3E}"/>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4896FFF3-FF0A-4726-A7D5-62F08A2D8C15}"/>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94</a:t>
            </a:fld>
            <a:endParaRPr lang="en-US" sz="1400" b="0" strike="noStrike" spc="-1">
              <a:latin typeface="Times New Roman"/>
            </a:endParaRPr>
          </a:p>
        </p:txBody>
      </p:sp>
    </p:spTree>
    <p:extLst>
      <p:ext uri="{BB962C8B-B14F-4D97-AF65-F5344CB8AC3E}">
        <p14:creationId xmlns:p14="http://schemas.microsoft.com/office/powerpoint/2010/main" val="31379461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95</a:t>
            </a:fld>
            <a:endParaRPr lang="en-US" sz="1400" b="0" strike="noStrike" spc="-1">
              <a:latin typeface="Times New Roman"/>
            </a:endParaRPr>
          </a:p>
        </p:txBody>
      </p:sp>
    </p:spTree>
    <p:extLst>
      <p:ext uri="{BB962C8B-B14F-4D97-AF65-F5344CB8AC3E}">
        <p14:creationId xmlns:p14="http://schemas.microsoft.com/office/powerpoint/2010/main" val="26272280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7CDD-9A3F-69B2-F6C0-36DC4C7B8334}"/>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D1331920-8ACE-813F-C074-75C2AD560259}"/>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8DFC69C-E28B-5AC4-7159-32EA4B652C2F}"/>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520E9EF3-13AD-1B08-75F6-A3E0011CE262}"/>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96</a:t>
            </a:fld>
            <a:endParaRPr lang="en-US" sz="1400" b="0" strike="noStrike" spc="-1">
              <a:latin typeface="Times New Roman"/>
            </a:endParaRPr>
          </a:p>
        </p:txBody>
      </p:sp>
    </p:spTree>
    <p:extLst>
      <p:ext uri="{BB962C8B-B14F-4D97-AF65-F5344CB8AC3E}">
        <p14:creationId xmlns:p14="http://schemas.microsoft.com/office/powerpoint/2010/main" val="34193669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C4845-059E-E129-F7C0-84ABAE7FD205}"/>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26ACA935-9802-B5DD-86DD-73BA3046C56D}"/>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8195796C-2455-ED59-A059-933CA57673A1}"/>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473189C1-A766-3C3C-195B-94DF57BD4B54}"/>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97</a:t>
            </a:fld>
            <a:endParaRPr lang="en-US" sz="1400" b="0" strike="noStrike" spc="-1">
              <a:latin typeface="Times New Roman"/>
            </a:endParaRPr>
          </a:p>
        </p:txBody>
      </p:sp>
    </p:spTree>
    <p:extLst>
      <p:ext uri="{BB962C8B-B14F-4D97-AF65-F5344CB8AC3E}">
        <p14:creationId xmlns:p14="http://schemas.microsoft.com/office/powerpoint/2010/main" val="18188071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B3D06-A37B-C00E-7C6B-445803C06DD0}"/>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4BED263-B719-4EFF-CFCF-E19CACD5FC30}"/>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404ADE15-5A2D-F184-5D65-32F92A29771A}"/>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3787B4DD-C181-EE66-F08C-D2F347A280B8}"/>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98</a:t>
            </a:fld>
            <a:endParaRPr lang="en-US" sz="1400" b="0" strike="noStrike" spc="-1">
              <a:latin typeface="Times New Roman"/>
            </a:endParaRPr>
          </a:p>
        </p:txBody>
      </p:sp>
    </p:spTree>
    <p:extLst>
      <p:ext uri="{BB962C8B-B14F-4D97-AF65-F5344CB8AC3E}">
        <p14:creationId xmlns:p14="http://schemas.microsoft.com/office/powerpoint/2010/main" val="8460434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86320-44D6-065A-2FC7-49DBA3160A83}"/>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6296E1CE-9D22-1889-2BE6-0519AAA7E34E}"/>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1F13CDCA-7DEE-2F0B-AA77-7C5439BA8C89}"/>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E9ECD347-1225-4FE2-45BB-53D77AE81A83}"/>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99</a:t>
            </a:fld>
            <a:endParaRPr lang="en-US" sz="1400" b="0" strike="noStrike" spc="-1">
              <a:latin typeface="Times New Roman"/>
            </a:endParaRPr>
          </a:p>
        </p:txBody>
      </p:sp>
    </p:spTree>
    <p:extLst>
      <p:ext uri="{BB962C8B-B14F-4D97-AF65-F5344CB8AC3E}">
        <p14:creationId xmlns:p14="http://schemas.microsoft.com/office/powerpoint/2010/main" val="39583311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100</a:t>
            </a:fld>
            <a:endParaRPr lang="en-US" sz="1400" b="0" strike="noStrike" spc="-1">
              <a:latin typeface="Times New Roman"/>
            </a:endParaRPr>
          </a:p>
        </p:txBody>
      </p:sp>
    </p:spTree>
    <p:extLst>
      <p:ext uri="{BB962C8B-B14F-4D97-AF65-F5344CB8AC3E}">
        <p14:creationId xmlns:p14="http://schemas.microsoft.com/office/powerpoint/2010/main" val="20290918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101</a:t>
            </a:fld>
            <a:endParaRPr lang="en-US" sz="1400" b="0" strike="noStrike" spc="-1">
              <a:latin typeface="Times New Roman"/>
            </a:endParaRPr>
          </a:p>
        </p:txBody>
      </p:sp>
    </p:spTree>
    <p:extLst>
      <p:ext uri="{BB962C8B-B14F-4D97-AF65-F5344CB8AC3E}">
        <p14:creationId xmlns:p14="http://schemas.microsoft.com/office/powerpoint/2010/main" val="335309379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102</a:t>
            </a:fld>
            <a:endParaRPr lang="en-US" sz="1400" b="0" strike="noStrike" spc="-1">
              <a:latin typeface="Times New Roman"/>
            </a:endParaRPr>
          </a:p>
        </p:txBody>
      </p:sp>
    </p:spTree>
    <p:extLst>
      <p:ext uri="{BB962C8B-B14F-4D97-AF65-F5344CB8AC3E}">
        <p14:creationId xmlns:p14="http://schemas.microsoft.com/office/powerpoint/2010/main" val="11887007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E2D71-BB6E-AED5-0BC6-7F6586B3ABD2}"/>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B3DFD432-E8AE-2800-05A5-EB29F2E08193}"/>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A8188AAD-26E8-25E6-5863-EBA103DD6F67}"/>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5489ED2F-A0C2-5C57-0B40-4EDD3BF51D44}"/>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103</a:t>
            </a:fld>
            <a:endParaRPr lang="en-US" sz="1400" b="0" strike="noStrike" spc="-1">
              <a:latin typeface="Times New Roman"/>
            </a:endParaRPr>
          </a:p>
        </p:txBody>
      </p:sp>
    </p:spTree>
    <p:extLst>
      <p:ext uri="{BB962C8B-B14F-4D97-AF65-F5344CB8AC3E}">
        <p14:creationId xmlns:p14="http://schemas.microsoft.com/office/powerpoint/2010/main" val="30691902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104</a:t>
            </a:fld>
            <a:endParaRPr lang="en-US" sz="1400" b="0" strike="noStrike" spc="-1">
              <a:latin typeface="Times New Roman"/>
            </a:endParaRPr>
          </a:p>
        </p:txBody>
      </p:sp>
    </p:spTree>
    <p:extLst>
      <p:ext uri="{BB962C8B-B14F-4D97-AF65-F5344CB8AC3E}">
        <p14:creationId xmlns:p14="http://schemas.microsoft.com/office/powerpoint/2010/main" val="4235734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105</a:t>
            </a:fld>
            <a:endParaRPr lang="en-US" sz="1400" b="0" strike="noStrike" spc="-1">
              <a:latin typeface="Times New Roman"/>
            </a:endParaRPr>
          </a:p>
        </p:txBody>
      </p:sp>
    </p:spTree>
    <p:extLst>
      <p:ext uri="{BB962C8B-B14F-4D97-AF65-F5344CB8AC3E}">
        <p14:creationId xmlns:p14="http://schemas.microsoft.com/office/powerpoint/2010/main" val="13198763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6B26B-19A9-76AA-20CA-BDEC5CA25CE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79C79BA-9518-10B0-2E0F-7EC21415DCF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E4D399D-80AB-157C-FF43-0F94536A35DA}"/>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5ADD49EC-3FC9-21B9-9E6A-C0D8940003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9369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95DED-2D91-4C0E-8D91-9F43131868F9}"/>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2E52DCC-11C7-18A9-F92B-AE1972FBA909}"/>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60936480-744B-867B-4CA9-DCDF297FB3B0}"/>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FFC9738-8C74-094D-012F-FAE6D56D7346}"/>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107</a:t>
            </a:fld>
            <a:endParaRPr lang="en-US" sz="1400" b="0" strike="noStrike" spc="-1">
              <a:latin typeface="Times New Roman"/>
            </a:endParaRPr>
          </a:p>
        </p:txBody>
      </p:sp>
    </p:spTree>
    <p:extLst>
      <p:ext uri="{BB962C8B-B14F-4D97-AF65-F5344CB8AC3E}">
        <p14:creationId xmlns:p14="http://schemas.microsoft.com/office/powerpoint/2010/main" val="42160031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9AAE4-856A-F2C6-3AC7-D10498F5953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EDCE900-9E92-EFF2-FEDF-0CFDCB30385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A841525-461C-2DD1-B0B1-FBB40F4B07FF}"/>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CDC1B443-28CA-7D8A-E94F-FCC93B578B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10053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ext #1">
    <p:spTree>
      <p:nvGrpSpPr>
        <p:cNvPr id="1" name=""/>
        <p:cNvGrpSpPr/>
        <p:nvPr/>
      </p:nvGrpSpPr>
      <p:grpSpPr>
        <a:xfrm>
          <a:off x="0" y="0"/>
          <a:ext cx="0" cy="0"/>
          <a:chOff x="0" y="0"/>
          <a:chExt cx="0" cy="0"/>
        </a:xfrm>
      </p:grpSpPr>
      <p:sp>
        <p:nvSpPr>
          <p:cNvPr id="9" name="Rechthoek: afgeronde hoeken 8">
            <a:extLst>
              <a:ext uri="{FF2B5EF4-FFF2-40B4-BE49-F238E27FC236}">
                <a16:creationId xmlns:a16="http://schemas.microsoft.com/office/drawing/2014/main" id="{E48AD39F-D1BD-4A94-927C-E2D6B75091D7}"/>
              </a:ext>
            </a:extLst>
          </p:cNvPr>
          <p:cNvSpPr/>
          <p:nvPr userDrawn="1"/>
        </p:nvSpPr>
        <p:spPr>
          <a:xfrm>
            <a:off x="0" y="-367937"/>
            <a:ext cx="600998" cy="246221"/>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EE7628"/>
                </a:solidFill>
                <a:effectLst/>
                <a:uLnTx/>
                <a:uFillTx/>
                <a:latin typeface="Aptos"/>
                <a:ea typeface="+mn-ea"/>
                <a:cs typeface="+mn-cs"/>
              </a:rPr>
              <a:t>Text #1</a:t>
            </a:r>
          </a:p>
        </p:txBody>
      </p:sp>
      <p:sp>
        <p:nvSpPr>
          <p:cNvPr id="11" name="Tijdelijke aanduiding voor tekst 15">
            <a:extLst>
              <a:ext uri="{FF2B5EF4-FFF2-40B4-BE49-F238E27FC236}">
                <a16:creationId xmlns:a16="http://schemas.microsoft.com/office/drawing/2014/main" id="{44E27EC2-81EE-5DE0-2BEB-2F38F88501FB}"/>
              </a:ext>
            </a:extLst>
          </p:cNvPr>
          <p:cNvSpPr>
            <a:spLocks noGrp="1"/>
          </p:cNvSpPr>
          <p:nvPr>
            <p:ph type="body" sz="quarter" idx="14" hasCustomPrompt="1"/>
          </p:nvPr>
        </p:nvSpPr>
        <p:spPr>
          <a:xfrm>
            <a:off x="720000" y="6060536"/>
            <a:ext cx="932400" cy="475200"/>
          </a:xfrm>
          <a:blipFill>
            <a:blip r:embed="rId2"/>
            <a:stretch>
              <a:fillRect/>
            </a:stretch>
          </a:blipFill>
        </p:spPr>
        <p:txBody>
          <a:bodyPr/>
          <a:lstStyle>
            <a:lvl1pPr marL="0" indent="0">
              <a:buNone/>
              <a:defRPr sz="100"/>
            </a:lvl1pPr>
          </a:lstStyle>
          <a:p>
            <a:pPr lvl="0"/>
            <a:r>
              <a:rPr lang="en-GB" dirty="0"/>
              <a:t> </a:t>
            </a:r>
          </a:p>
        </p:txBody>
      </p:sp>
      <p:sp>
        <p:nvSpPr>
          <p:cNvPr id="92" name="Tijdelijke aanduiding voor tekst 12">
            <a:extLst>
              <a:ext uri="{FF2B5EF4-FFF2-40B4-BE49-F238E27FC236}">
                <a16:creationId xmlns:a16="http://schemas.microsoft.com/office/drawing/2014/main" id="{24E34CC7-AE46-F291-A9D4-1A35660FE538}"/>
              </a:ext>
            </a:extLst>
          </p:cNvPr>
          <p:cNvSpPr>
            <a:spLocks noGrp="1"/>
          </p:cNvSpPr>
          <p:nvPr>
            <p:ph type="body" sz="quarter" idx="18" hasCustomPrompt="1"/>
          </p:nvPr>
        </p:nvSpPr>
        <p:spPr>
          <a:xfrm>
            <a:off x="708207" y="707795"/>
            <a:ext cx="36000" cy="396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p:spPr>
        <p:txBody>
          <a:bodyPr wrap="square">
            <a:noAutofit/>
          </a:bodyPr>
          <a:lstStyle>
            <a:lvl1pPr marL="0" indent="0">
              <a:buNone/>
              <a:defRPr sz="100"/>
            </a:lvl1pPr>
          </a:lstStyle>
          <a:p>
            <a:pPr lvl="0"/>
            <a:r>
              <a:rPr lang="en-GB" dirty="0"/>
              <a:t> </a:t>
            </a:r>
          </a:p>
        </p:txBody>
      </p:sp>
      <p:sp>
        <p:nvSpPr>
          <p:cNvPr id="93" name="Tijdelijke aanduiding voor titel 1">
            <a:extLst>
              <a:ext uri="{FF2B5EF4-FFF2-40B4-BE49-F238E27FC236}">
                <a16:creationId xmlns:a16="http://schemas.microsoft.com/office/drawing/2014/main" id="{F9DB1A5B-74FB-7FED-54E6-CE4B949D308C}"/>
              </a:ext>
            </a:extLst>
          </p:cNvPr>
          <p:cNvSpPr>
            <a:spLocks noGrp="1"/>
          </p:cNvSpPr>
          <p:nvPr>
            <p:ph type="title" hasCustomPrompt="1"/>
          </p:nvPr>
        </p:nvSpPr>
        <p:spPr>
          <a:xfrm>
            <a:off x="865162" y="722313"/>
            <a:ext cx="10559000" cy="342211"/>
          </a:xfrm>
          <a:prstGeom prst="rect">
            <a:avLst/>
          </a:prstGeom>
        </p:spPr>
        <p:txBody>
          <a:bodyPr vert="horz" lIns="0" tIns="0" rIns="0" bIns="0" rtlCol="0" anchor="t">
            <a:noAutofit/>
          </a:bodyPr>
          <a:lstStyle/>
          <a:p>
            <a:r>
              <a:rPr lang="en-GB" noProof="0" dirty="0"/>
              <a:t>Place the title of the slide here</a:t>
            </a:r>
          </a:p>
        </p:txBody>
      </p:sp>
      <p:sp>
        <p:nvSpPr>
          <p:cNvPr id="4" name="Tijdelijke aanduiding voor tekst 2">
            <a:extLst>
              <a:ext uri="{FF2B5EF4-FFF2-40B4-BE49-F238E27FC236}">
                <a16:creationId xmlns:a16="http://schemas.microsoft.com/office/drawing/2014/main" id="{3649715A-38D2-03F3-4957-40291419259B}"/>
              </a:ext>
            </a:extLst>
          </p:cNvPr>
          <p:cNvSpPr>
            <a:spLocks noGrp="1"/>
          </p:cNvSpPr>
          <p:nvPr>
            <p:ph idx="19" hasCustomPrompt="1"/>
          </p:nvPr>
        </p:nvSpPr>
        <p:spPr>
          <a:xfrm>
            <a:off x="865162" y="1592262"/>
            <a:ext cx="7428606" cy="4060393"/>
          </a:xfrm>
          <a:prstGeom prst="rect">
            <a:avLst/>
          </a:prstGeom>
        </p:spPr>
        <p:txBody>
          <a:bodyPr vert="horz" lIns="0" tIns="0" rIns="0" bIns="0" rtlCol="0">
            <a:noAutofit/>
          </a:bodyPr>
          <a:lstStyle/>
          <a:p>
            <a:pPr lvl="0"/>
            <a:r>
              <a:rPr lang="en-GB" noProof="0" dirty="0"/>
              <a:t>Plain text #1</a:t>
            </a:r>
          </a:p>
          <a:p>
            <a:pPr lvl="1"/>
            <a:r>
              <a:rPr lang="en-GB" noProof="0" dirty="0"/>
              <a:t>Plain text #2</a:t>
            </a:r>
          </a:p>
          <a:p>
            <a:pPr lvl="2"/>
            <a:r>
              <a:rPr lang="en-GB" noProof="0" dirty="0"/>
              <a:t>Heading #1</a:t>
            </a:r>
          </a:p>
          <a:p>
            <a:pPr lvl="3"/>
            <a:r>
              <a:rPr lang="en-GB" noProof="0" dirty="0" err="1"/>
              <a:t>Tekst</a:t>
            </a:r>
            <a:endParaRPr lang="en-GB" noProof="0" dirty="0"/>
          </a:p>
          <a:p>
            <a:pPr lvl="4"/>
            <a:r>
              <a:rPr lang="en-GB" noProof="0" dirty="0"/>
              <a:t>Heading #3</a:t>
            </a:r>
          </a:p>
          <a:p>
            <a:pPr lvl="5"/>
            <a:r>
              <a:rPr lang="en-GB" noProof="0" dirty="0"/>
              <a:t>Heading #4</a:t>
            </a:r>
          </a:p>
          <a:p>
            <a:pPr lvl="6"/>
            <a:r>
              <a:rPr lang="en-GB" noProof="0" dirty="0"/>
              <a:t>Numbers</a:t>
            </a:r>
          </a:p>
          <a:p>
            <a:pPr lvl="7"/>
            <a:r>
              <a:rPr lang="en-GB" noProof="0" dirty="0"/>
              <a:t>Letters</a:t>
            </a:r>
          </a:p>
          <a:p>
            <a:pPr marL="0" marR="0" lvl="8" indent="0" algn="l" defTabSz="914400" rtl="0" eaLnBrk="1" fontAlgn="auto" latinLnBrk="0" hangingPunct="1">
              <a:lnSpc>
                <a:spcPct val="90000"/>
              </a:lnSpc>
              <a:spcBef>
                <a:spcPts val="600"/>
              </a:spcBef>
              <a:spcAft>
                <a:spcPts val="600"/>
              </a:spcAft>
              <a:buClr>
                <a:schemeClr val="tx2"/>
              </a:buClr>
              <a:buSzTx/>
              <a:buFontTx/>
              <a:buNone/>
              <a:tabLst/>
              <a:defRPr/>
            </a:pPr>
            <a:r>
              <a:rPr lang="en-GB" noProof="0" dirty="0" err="1"/>
              <a:t>Bronvermelding</a:t>
            </a:r>
            <a:endParaRPr lang="en-GB" noProof="0" dirty="0"/>
          </a:p>
        </p:txBody>
      </p:sp>
      <p:grpSp>
        <p:nvGrpSpPr>
          <p:cNvPr id="2" name="Groep 1">
            <a:extLst>
              <a:ext uri="{FF2B5EF4-FFF2-40B4-BE49-F238E27FC236}">
                <a16:creationId xmlns:a16="http://schemas.microsoft.com/office/drawing/2014/main" id="{3FEF774C-6798-2CDA-D16D-C524570ADC2D}"/>
              </a:ext>
            </a:extLst>
          </p:cNvPr>
          <p:cNvGrpSpPr/>
          <p:nvPr userDrawn="1"/>
        </p:nvGrpSpPr>
        <p:grpSpPr>
          <a:xfrm>
            <a:off x="-3786437" y="0"/>
            <a:ext cx="3693386" cy="5359349"/>
            <a:chOff x="-3786437" y="0"/>
            <a:chExt cx="3693386" cy="5359349"/>
          </a:xfrm>
        </p:grpSpPr>
        <p:sp>
          <p:nvSpPr>
            <p:cNvPr id="17" name="Rechthoek 16">
              <a:extLst>
                <a:ext uri="{FF2B5EF4-FFF2-40B4-BE49-F238E27FC236}">
                  <a16:creationId xmlns:a16="http://schemas.microsoft.com/office/drawing/2014/main" id="{6C887830-2765-2EDF-1DA5-B8B813D42CBD}"/>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400" b="1" i="0" u="none" strike="noStrike" kern="1200" cap="all" spc="0" normalizeH="0" baseline="0" noProof="0" dirty="0">
                  <a:ln>
                    <a:noFill/>
                  </a:ln>
                  <a:solidFill>
                    <a:srgbClr val="EE7628"/>
                  </a:solidFill>
                  <a:effectLst/>
                  <a:uLnTx/>
                  <a:uFillTx/>
                  <a:latin typeface="Aptos"/>
                  <a:ea typeface="+mn-ea"/>
                  <a:cs typeface="+mn-cs"/>
                </a:rPr>
                <a:t>Choosing text levels</a:t>
              </a:r>
            </a:p>
          </p:txBody>
        </p:sp>
        <p:sp>
          <p:nvSpPr>
            <p:cNvPr id="18" name="Ovaal 17">
              <a:extLst>
                <a:ext uri="{FF2B5EF4-FFF2-40B4-BE49-F238E27FC236}">
                  <a16:creationId xmlns:a16="http://schemas.microsoft.com/office/drawing/2014/main" id="{0BB465B5-C8D4-B502-B678-11BA2D7237DC}"/>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1</a:t>
              </a:r>
            </a:p>
          </p:txBody>
        </p:sp>
        <p:sp>
          <p:nvSpPr>
            <p:cNvPr id="19" name="Rechthoek 18">
              <a:extLst>
                <a:ext uri="{FF2B5EF4-FFF2-40B4-BE49-F238E27FC236}">
                  <a16:creationId xmlns:a16="http://schemas.microsoft.com/office/drawing/2014/main" id="{77F1385A-0947-0C9B-6095-7C4DBE0B35F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266700" marR="0" lvl="0" indent="-266700" algn="l" defTabSz="914400" rtl="0" eaLnBrk="1" fontAlgn="auto" latinLnBrk="0" hangingPunct="1">
                <a:lnSpc>
                  <a:spcPct val="90000"/>
                </a:lnSpc>
                <a:spcBef>
                  <a:spcPts val="600"/>
                </a:spcBef>
                <a:spcAft>
                  <a:spcPts val="600"/>
                </a:spcAft>
                <a:buClr>
                  <a:srgbClr val="EE7628"/>
                </a:buClr>
                <a:buSzPct val="100000"/>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ptos"/>
                  <a:ea typeface="+mn-ea"/>
                  <a:cs typeface="+mn-cs"/>
                </a:rPr>
                <a:t>Bullet</a:t>
              </a:r>
            </a:p>
          </p:txBody>
        </p:sp>
        <p:sp>
          <p:nvSpPr>
            <p:cNvPr id="20" name="Ovaal 19">
              <a:extLst>
                <a:ext uri="{FF2B5EF4-FFF2-40B4-BE49-F238E27FC236}">
                  <a16:creationId xmlns:a16="http://schemas.microsoft.com/office/drawing/2014/main" id="{D7A0CFB7-14E9-2162-DD49-1110B0585DB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2</a:t>
              </a:r>
            </a:p>
          </p:txBody>
        </p:sp>
        <p:sp>
          <p:nvSpPr>
            <p:cNvPr id="21" name="Rechthoek 20">
              <a:extLst>
                <a:ext uri="{FF2B5EF4-FFF2-40B4-BE49-F238E27FC236}">
                  <a16:creationId xmlns:a16="http://schemas.microsoft.com/office/drawing/2014/main" id="{F8663F83-FDBC-5858-0553-8827C57A96C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Aptos"/>
                  <a:ea typeface="+mn-ea"/>
                  <a:cs typeface="+mn-cs"/>
                </a:rPr>
                <a:t>Under the tab </a:t>
              </a:r>
              <a:r>
                <a:rPr kumimoji="0" lang="en-GB" sz="1200" b="1" i="0" u="none" strike="noStrike" kern="0" cap="none" spc="0" normalizeH="0" baseline="0" noProof="0" dirty="0">
                  <a:ln>
                    <a:noFill/>
                  </a:ln>
                  <a:solidFill>
                    <a:srgbClr val="000000"/>
                  </a:solidFill>
                  <a:effectLst/>
                  <a:uLnTx/>
                  <a:uFillTx/>
                  <a:latin typeface="Aptos"/>
                  <a:ea typeface="+mn-ea"/>
                  <a:cs typeface="+mn-cs"/>
                </a:rPr>
                <a:t>‘Home’</a:t>
              </a:r>
              <a:r>
                <a:rPr kumimoji="0" lang="en-GB" sz="1200" b="0" i="0" u="none" strike="noStrike" kern="0" cap="none" spc="0" normalizeH="0" baseline="0" noProof="0" dirty="0">
                  <a:ln>
                    <a:noFill/>
                  </a:ln>
                  <a:solidFill>
                    <a:srgbClr val="000000"/>
                  </a:solidFill>
                  <a:effectLst/>
                  <a:uLnTx/>
                  <a:uFillTx/>
                  <a:latin typeface="Aptos"/>
                  <a:ea typeface="+mn-ea"/>
                  <a:cs typeface="+mn-cs"/>
                </a:rPr>
                <a:t>, use the </a:t>
              </a:r>
              <a:r>
                <a:rPr kumimoji="0" lang="en-GB" sz="1200" b="1" i="0" u="none" strike="noStrike" kern="0" cap="none" spc="0" normalizeH="0" baseline="0" noProof="0" dirty="0">
                  <a:ln>
                    <a:noFill/>
                  </a:ln>
                  <a:solidFill>
                    <a:srgbClr val="000000"/>
                  </a:solidFill>
                  <a:effectLst/>
                  <a:uLnTx/>
                  <a:uFillTx/>
                  <a:latin typeface="Aptos"/>
                  <a:ea typeface="+mn-ea"/>
                  <a:cs typeface="+mn-cs"/>
                </a:rPr>
                <a:t>list level-buttons</a:t>
              </a:r>
              <a:r>
                <a:rPr kumimoji="0" lang="en-GB" sz="1200" b="0" i="0" u="none" strike="noStrike" kern="0" cap="none" spc="0" normalizeH="0" baseline="0" noProof="0" dirty="0">
                  <a:ln>
                    <a:noFill/>
                  </a:ln>
                  <a:solidFill>
                    <a:srgbClr val="000000"/>
                  </a:solidFill>
                  <a:effectLst/>
                  <a:uLnTx/>
                  <a:uFillTx/>
                  <a:latin typeface="Aptos"/>
                  <a:ea typeface="+mn-ea"/>
                  <a:cs typeface="+mn-cs"/>
                </a:rPr>
                <a:t> to choose a text level. </a:t>
              </a:r>
              <a:br>
                <a:rPr kumimoji="0" lang="en-GB" sz="1200" b="0" i="0" u="none" strike="noStrike" kern="0" cap="none" spc="0" normalizeH="0" baseline="0" noProof="0" dirty="0">
                  <a:ln>
                    <a:noFill/>
                  </a:ln>
                  <a:solidFill>
                    <a:srgbClr val="000000"/>
                  </a:solidFill>
                  <a:effectLst/>
                  <a:uLnTx/>
                  <a:uFillTx/>
                  <a:latin typeface="Aptos"/>
                  <a:ea typeface="+mn-ea"/>
                  <a:cs typeface="+mn-cs"/>
                </a:rPr>
              </a:br>
              <a:r>
                <a:rPr kumimoji="0" lang="en-GB" sz="1200" b="0" i="0" u="none" strike="noStrike" kern="0" cap="none" spc="0" normalizeH="0" baseline="0" noProof="0" dirty="0">
                  <a:ln>
                    <a:noFill/>
                  </a:ln>
                  <a:solidFill>
                    <a:srgbClr val="000000"/>
                  </a:solidFill>
                  <a:effectLst/>
                  <a:uLnTx/>
                  <a:uFillTx/>
                  <a:latin typeface="Aptos"/>
                  <a:ea typeface="+mn-ea"/>
                  <a:cs typeface="+mn-cs"/>
                </a:rPr>
                <a:t>Choose from:</a:t>
              </a:r>
            </a:p>
          </p:txBody>
        </p:sp>
        <p:sp>
          <p:nvSpPr>
            <p:cNvPr id="22" name="Rechthoek 21">
              <a:extLst>
                <a:ext uri="{FF2B5EF4-FFF2-40B4-BE49-F238E27FC236}">
                  <a16:creationId xmlns:a16="http://schemas.microsoft.com/office/drawing/2014/main" id="{CD816201-5D05-9BDF-A219-5C8E92E16186}"/>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447675" marR="0" lvl="1" indent="-266700" algn="l" defTabSz="914400" rtl="0" eaLnBrk="1" fontAlgn="auto" latinLnBrk="0" hangingPunct="1">
                <a:lnSpc>
                  <a:spcPct val="90000"/>
                </a:lnSpc>
                <a:spcBef>
                  <a:spcPts val="600"/>
                </a:spcBef>
                <a:spcAft>
                  <a:spcPts val="600"/>
                </a:spcAft>
                <a:buClr>
                  <a:srgbClr val="070809"/>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Sub-Bullet</a:t>
              </a:r>
            </a:p>
          </p:txBody>
        </p:sp>
        <p:sp>
          <p:nvSpPr>
            <p:cNvPr id="23" name="Ovaal 22">
              <a:extLst>
                <a:ext uri="{FF2B5EF4-FFF2-40B4-BE49-F238E27FC236}">
                  <a16:creationId xmlns:a16="http://schemas.microsoft.com/office/drawing/2014/main" id="{7A7263C7-DC6C-20B5-B758-9483DBF4E79C}"/>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3</a:t>
              </a:r>
            </a:p>
          </p:txBody>
        </p:sp>
        <p:sp>
          <p:nvSpPr>
            <p:cNvPr id="24" name="Rechthoek 23">
              <a:extLst>
                <a:ext uri="{FF2B5EF4-FFF2-40B4-BE49-F238E27FC236}">
                  <a16:creationId xmlns:a16="http://schemas.microsoft.com/office/drawing/2014/main" id="{392C7286-28F9-42B3-542F-602CE6C04936}"/>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628650" marR="0" lvl="2" indent="-266700" algn="l" defTabSz="914400" rtl="0" eaLnBrk="1" fontAlgn="auto" latinLnBrk="0" hangingPunct="1">
                <a:lnSpc>
                  <a:spcPct val="90000"/>
                </a:lnSpc>
                <a:spcBef>
                  <a:spcPts val="600"/>
                </a:spcBef>
                <a:spcAft>
                  <a:spcPts val="600"/>
                </a:spcAft>
                <a:buClr>
                  <a:srgbClr val="070809"/>
                </a:buClr>
                <a:buSzTx/>
                <a:buFont typeface="Aptos" panose="020B00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Sub-Bullet #2</a:t>
              </a:r>
            </a:p>
          </p:txBody>
        </p:sp>
        <p:sp>
          <p:nvSpPr>
            <p:cNvPr id="25" name="Ovaal 24">
              <a:extLst>
                <a:ext uri="{FF2B5EF4-FFF2-40B4-BE49-F238E27FC236}">
                  <a16:creationId xmlns:a16="http://schemas.microsoft.com/office/drawing/2014/main" id="{A48B0F26-01BB-C45A-2F59-310190A07A6D}"/>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4</a:t>
              </a:r>
            </a:p>
          </p:txBody>
        </p:sp>
        <p:sp>
          <p:nvSpPr>
            <p:cNvPr id="87" name="Rechthoek 86">
              <a:extLst>
                <a:ext uri="{FF2B5EF4-FFF2-40B4-BE49-F238E27FC236}">
                  <a16:creationId xmlns:a16="http://schemas.microsoft.com/office/drawing/2014/main" id="{3D0E261B-2F93-798B-E787-622F218D75D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3" indent="0" algn="l" defTabSz="914400" rtl="0" eaLnBrk="1" fontAlgn="auto" latinLnBrk="0" hangingPunct="1">
                <a:lnSpc>
                  <a:spcPct val="90000"/>
                </a:lnSpc>
                <a:spcBef>
                  <a:spcPts val="600"/>
                </a:spcBef>
                <a:spcAft>
                  <a:spcPts val="600"/>
                </a:spcAft>
                <a:buClrTx/>
                <a:buSzTx/>
                <a:buFont typeface="Aptos" panose="020B0004020202020204" pitchFamily="34" charset="0"/>
                <a:buNone/>
                <a:tabLst/>
                <a:defRPr/>
              </a:pPr>
              <a:r>
                <a:rPr kumimoji="0" lang="en-GB" sz="1200" b="0" i="0" u="none" strike="noStrike" kern="1200" cap="none" spc="0" normalizeH="0" baseline="0" noProof="0" dirty="0" err="1">
                  <a:ln>
                    <a:noFill/>
                  </a:ln>
                  <a:solidFill>
                    <a:srgbClr val="000000"/>
                  </a:solidFill>
                  <a:effectLst/>
                  <a:uLnTx/>
                  <a:uFillTx/>
                  <a:latin typeface="Aptos"/>
                  <a:ea typeface="+mn-ea"/>
                  <a:cs typeface="+mn-cs"/>
                </a:rPr>
                <a:t>Tekst</a:t>
              </a:r>
              <a:endParaRPr kumimoji="0" lang="en-GB" sz="1200" b="0" i="0" u="none" strike="noStrike" kern="1200" cap="none" spc="0" normalizeH="0" baseline="0" noProof="0" dirty="0">
                <a:ln>
                  <a:noFill/>
                </a:ln>
                <a:solidFill>
                  <a:srgbClr val="000000"/>
                </a:solidFill>
                <a:effectLst/>
                <a:uLnTx/>
                <a:uFillTx/>
                <a:latin typeface="Aptos"/>
                <a:ea typeface="+mn-ea"/>
                <a:cs typeface="+mn-cs"/>
              </a:endParaRPr>
            </a:p>
          </p:txBody>
        </p:sp>
        <p:sp>
          <p:nvSpPr>
            <p:cNvPr id="26" name="Ovaal 25">
              <a:extLst>
                <a:ext uri="{FF2B5EF4-FFF2-40B4-BE49-F238E27FC236}">
                  <a16:creationId xmlns:a16="http://schemas.microsoft.com/office/drawing/2014/main" id="{B020055E-166C-3158-879C-C224A56131E2}"/>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5</a:t>
              </a:r>
            </a:p>
          </p:txBody>
        </p:sp>
        <p:sp>
          <p:nvSpPr>
            <p:cNvPr id="27" name="Rechthoek 26">
              <a:extLst>
                <a:ext uri="{FF2B5EF4-FFF2-40B4-BE49-F238E27FC236}">
                  <a16:creationId xmlns:a16="http://schemas.microsoft.com/office/drawing/2014/main" id="{0C8ABA8A-0B4A-E81A-D133-0EC4ED7224D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4" indent="0" algn="l" defTabSz="914400" rtl="0" eaLnBrk="1" fontAlgn="auto" latinLnBrk="0" hangingPunct="1">
                <a:lnSpc>
                  <a:spcPct val="90000"/>
                </a:lnSpc>
                <a:spcBef>
                  <a:spcPts val="600"/>
                </a:spcBef>
                <a:spcAft>
                  <a:spcPts val="600"/>
                </a:spcAft>
                <a:buClrTx/>
                <a:buSzTx/>
                <a:buFont typeface="Aptos" panose="020B0004020202020204" pitchFamily="34" charset="0"/>
                <a:buNone/>
                <a:tabLst/>
                <a:defRPr/>
              </a:pPr>
              <a:r>
                <a:rPr kumimoji="0" lang="en-GB" sz="1600" b="1" i="0" u="none" strike="noStrike" kern="1200" cap="none" spc="0" normalizeH="0" baseline="0" noProof="0" dirty="0">
                  <a:ln>
                    <a:noFill/>
                  </a:ln>
                  <a:solidFill>
                    <a:srgbClr val="EE7628"/>
                  </a:solidFill>
                  <a:effectLst/>
                  <a:uLnTx/>
                  <a:uFillTx/>
                  <a:latin typeface="Aptos"/>
                  <a:ea typeface="+mn-ea"/>
                  <a:cs typeface="+mn-cs"/>
                </a:rPr>
                <a:t>Heading #1</a:t>
              </a:r>
            </a:p>
          </p:txBody>
        </p:sp>
        <p:sp>
          <p:nvSpPr>
            <p:cNvPr id="28" name="Ovaal 27">
              <a:extLst>
                <a:ext uri="{FF2B5EF4-FFF2-40B4-BE49-F238E27FC236}">
                  <a16:creationId xmlns:a16="http://schemas.microsoft.com/office/drawing/2014/main" id="{244793F5-D9DD-654B-784C-D90BF2A31286}"/>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6</a:t>
              </a:r>
            </a:p>
          </p:txBody>
        </p:sp>
        <p:sp>
          <p:nvSpPr>
            <p:cNvPr id="29" name="Rechthoek 28">
              <a:extLst>
                <a:ext uri="{FF2B5EF4-FFF2-40B4-BE49-F238E27FC236}">
                  <a16:creationId xmlns:a16="http://schemas.microsoft.com/office/drawing/2014/main" id="{7BECC238-2E71-96C5-293C-F37E35DE905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42900" marR="0" lvl="6" indent="-342900" algn="l" defTabSz="914400" rtl="0" eaLnBrk="1" fontAlgn="auto" latinLnBrk="0" hangingPunct="1">
                <a:lnSpc>
                  <a:spcPct val="90000"/>
                </a:lnSpc>
                <a:spcBef>
                  <a:spcPts val="600"/>
                </a:spcBef>
                <a:spcAft>
                  <a:spcPts val="600"/>
                </a:spcAft>
                <a:buClr>
                  <a:srgbClr val="EE7628"/>
                </a:buClr>
                <a:buSzTx/>
                <a:buFont typeface="+mj-lt"/>
                <a:buAutoNum type="arabicPeriod"/>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Numbers</a:t>
              </a:r>
            </a:p>
          </p:txBody>
        </p:sp>
        <p:sp>
          <p:nvSpPr>
            <p:cNvPr id="30" name="Ovaal 29">
              <a:extLst>
                <a:ext uri="{FF2B5EF4-FFF2-40B4-BE49-F238E27FC236}">
                  <a16:creationId xmlns:a16="http://schemas.microsoft.com/office/drawing/2014/main" id="{559D0670-FB1B-2BF9-3B2E-930B448EBD7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7</a:t>
              </a:r>
            </a:p>
          </p:txBody>
        </p:sp>
        <p:sp>
          <p:nvSpPr>
            <p:cNvPr id="31" name="Rechthoek 30">
              <a:extLst>
                <a:ext uri="{FF2B5EF4-FFF2-40B4-BE49-F238E27FC236}">
                  <a16:creationId xmlns:a16="http://schemas.microsoft.com/office/drawing/2014/main" id="{678816AE-188B-76B9-60B3-56439C4021E7}"/>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7" indent="-342900" algn="l" defTabSz="914400" rtl="0" eaLnBrk="1" fontAlgn="auto" latinLnBrk="0" hangingPunct="1">
                <a:lnSpc>
                  <a:spcPct val="90000"/>
                </a:lnSpc>
                <a:spcBef>
                  <a:spcPts val="600"/>
                </a:spcBef>
                <a:spcAft>
                  <a:spcPts val="600"/>
                </a:spcAft>
                <a:buClr>
                  <a:srgbClr val="EE7628"/>
                </a:buClr>
                <a:buSzTx/>
                <a:buFont typeface="+mj-lt"/>
                <a:buAutoNum type="alphaLcPeriod"/>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Letters</a:t>
              </a:r>
            </a:p>
          </p:txBody>
        </p:sp>
        <p:sp>
          <p:nvSpPr>
            <p:cNvPr id="32" name="Ovaal 31">
              <a:extLst>
                <a:ext uri="{FF2B5EF4-FFF2-40B4-BE49-F238E27FC236}">
                  <a16:creationId xmlns:a16="http://schemas.microsoft.com/office/drawing/2014/main" id="{26BD8EF6-0DF0-D04F-F158-50EEAAB216F3}"/>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8</a:t>
              </a:r>
            </a:p>
          </p:txBody>
        </p:sp>
        <p:sp>
          <p:nvSpPr>
            <p:cNvPr id="33" name="Rechthoek 32">
              <a:extLst>
                <a:ext uri="{FF2B5EF4-FFF2-40B4-BE49-F238E27FC236}">
                  <a16:creationId xmlns:a16="http://schemas.microsoft.com/office/drawing/2014/main" id="{E5240D22-ED3C-7CC8-1A53-5013DAE22990}"/>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8" indent="0" algn="l" defTabSz="914400" rtl="0" eaLnBrk="1" fontAlgn="auto" latinLnBrk="0" hangingPunct="1">
                <a:lnSpc>
                  <a:spcPct val="90000"/>
                </a:lnSpc>
                <a:spcBef>
                  <a:spcPts val="600"/>
                </a:spcBef>
                <a:spcAft>
                  <a:spcPts val="600"/>
                </a:spcAft>
                <a:buClr>
                  <a:srgbClr val="070809"/>
                </a:buClr>
                <a:buSzTx/>
                <a:buFontTx/>
                <a:buNone/>
                <a:tabLst/>
                <a:defRPr/>
              </a:pPr>
              <a:r>
                <a:rPr kumimoji="0" lang="en-GB" sz="1100" b="0" i="1" u="none" strike="noStrike" kern="1200" cap="none" spc="0" normalizeH="0" baseline="0" noProof="0" dirty="0" err="1">
                  <a:ln>
                    <a:noFill/>
                  </a:ln>
                  <a:solidFill>
                    <a:srgbClr val="177ABF"/>
                  </a:solidFill>
                  <a:effectLst/>
                  <a:uLnTx/>
                  <a:uFillTx/>
                  <a:latin typeface="Aptos"/>
                  <a:ea typeface="+mn-ea"/>
                  <a:cs typeface="+mn-cs"/>
                </a:rPr>
                <a:t>Bronvermelding</a:t>
              </a:r>
              <a:endParaRPr kumimoji="0" lang="en-GB" sz="1100" b="0" i="1" u="none" strike="noStrike" kern="1200" cap="none" spc="0" normalizeH="0" baseline="0" noProof="0" dirty="0">
                <a:ln>
                  <a:noFill/>
                </a:ln>
                <a:solidFill>
                  <a:srgbClr val="177ABF"/>
                </a:solidFill>
                <a:effectLst/>
                <a:uLnTx/>
                <a:uFillTx/>
                <a:latin typeface="Aptos"/>
                <a:ea typeface="+mn-ea"/>
                <a:cs typeface="+mn-cs"/>
              </a:endParaRPr>
            </a:p>
          </p:txBody>
        </p:sp>
        <p:sp>
          <p:nvSpPr>
            <p:cNvPr id="34" name="Ovaal 33">
              <a:extLst>
                <a:ext uri="{FF2B5EF4-FFF2-40B4-BE49-F238E27FC236}">
                  <a16:creationId xmlns:a16="http://schemas.microsoft.com/office/drawing/2014/main" id="{C8DD6130-4C4C-0190-1E03-E2640DF51A70}"/>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9</a:t>
              </a:r>
            </a:p>
          </p:txBody>
        </p:sp>
        <p:sp>
          <p:nvSpPr>
            <p:cNvPr id="35" name="Rechthoek 34">
              <a:extLst>
                <a:ext uri="{FF2B5EF4-FFF2-40B4-BE49-F238E27FC236}">
                  <a16:creationId xmlns:a16="http://schemas.microsoft.com/office/drawing/2014/main" id="{42DA1508-64A2-BABE-CCF4-A593C9FAB4B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5" indent="0" algn="l" defTabSz="914400" rtl="0" eaLnBrk="1" fontAlgn="auto" latinLnBrk="0" hangingPunct="1">
                <a:lnSpc>
                  <a:spcPct val="90000"/>
                </a:lnSpc>
                <a:spcBef>
                  <a:spcPts val="600"/>
                </a:spcBef>
                <a:spcAft>
                  <a:spcPts val="600"/>
                </a:spcAft>
                <a:buClr>
                  <a:srgbClr val="EE7628"/>
                </a:buClr>
                <a:buSzTx/>
                <a:buFont typeface="Aptos" panose="020B0004020202020204" pitchFamily="34" charset="0"/>
                <a:buNone/>
                <a:tabLst/>
                <a:defRPr/>
              </a:pPr>
              <a:r>
                <a:rPr kumimoji="0" lang="en-GB" sz="1600" b="1" i="0" u="none" strike="noStrike" kern="1200" cap="none" spc="0" normalizeH="0" baseline="0" noProof="0" dirty="0">
                  <a:ln>
                    <a:noFill/>
                  </a:ln>
                  <a:solidFill>
                    <a:srgbClr val="2CA055"/>
                  </a:solidFill>
                  <a:effectLst/>
                  <a:uLnTx/>
                  <a:uFillTx/>
                  <a:latin typeface="Aptos"/>
                  <a:ea typeface="+mn-ea"/>
                  <a:cs typeface="+mn-cs"/>
                </a:rPr>
                <a:t>Heading #2</a:t>
              </a:r>
            </a:p>
          </p:txBody>
        </p:sp>
        <p:sp>
          <p:nvSpPr>
            <p:cNvPr id="36" name="Rechthoek 35">
              <a:extLst>
                <a:ext uri="{FF2B5EF4-FFF2-40B4-BE49-F238E27FC236}">
                  <a16:creationId xmlns:a16="http://schemas.microsoft.com/office/drawing/2014/main" id="{9F9EE05A-AFF4-24AE-B9F6-E02875DDF77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200" b="1" i="0" u="none" strike="noStrike" kern="1200" cap="all" spc="0" normalizeH="0" baseline="0" noProof="0" dirty="0">
                  <a:ln>
                    <a:noFill/>
                  </a:ln>
                  <a:solidFill>
                    <a:srgbClr val="211F26"/>
                  </a:solidFill>
                  <a:effectLst/>
                  <a:uLnTx/>
                  <a:uFillTx/>
                  <a:latin typeface="Aptos"/>
                  <a:ea typeface="+mn-ea"/>
                  <a:cs typeface="+mn-cs"/>
                </a:rPr>
                <a:t>Want to know more?</a:t>
              </a:r>
              <a:br>
                <a:rPr kumimoji="0" lang="en-GB" sz="1200" b="1" i="0" u="none" strike="noStrike" kern="1200" cap="all" spc="0" normalizeH="0" baseline="0" noProof="0" dirty="0">
                  <a:ln>
                    <a:noFill/>
                  </a:ln>
                  <a:solidFill>
                    <a:srgbClr val="211F26"/>
                  </a:solidFill>
                  <a:effectLst/>
                  <a:uLnTx/>
                  <a:uFillTx/>
                  <a:latin typeface="Aptos"/>
                  <a:ea typeface="+mn-ea"/>
                  <a:cs typeface="+mn-cs"/>
                </a:rPr>
              </a:br>
              <a:r>
                <a:rPr kumimoji="0" lang="en-GB" sz="1200" b="0" i="0" u="none" strike="noStrike" kern="1200" cap="none" spc="0" normalizeH="0" baseline="0" noProof="0" dirty="0">
                  <a:ln>
                    <a:noFill/>
                  </a:ln>
                  <a:solidFill>
                    <a:srgbClr val="211F26"/>
                  </a:solidFill>
                  <a:effectLst/>
                  <a:uLnTx/>
                  <a:uFillTx/>
                  <a:latin typeface="Aptos"/>
                  <a:ea typeface="+mn-ea"/>
                  <a:cs typeface="+mn-cs"/>
                </a:rPr>
                <a:t>Go to the tab</a:t>
              </a:r>
              <a:r>
                <a:rPr kumimoji="0" lang="en-GB" sz="1200" b="1" i="0" u="none" strike="noStrike" kern="1200" cap="all" spc="0" normalizeH="0" baseline="0" noProof="0" dirty="0">
                  <a:ln>
                    <a:noFill/>
                  </a:ln>
                  <a:solidFill>
                    <a:srgbClr val="211F26"/>
                  </a:solidFill>
                  <a:effectLst/>
                  <a:uLnTx/>
                  <a:uFillTx/>
                  <a:latin typeface="Aptos"/>
                  <a:ea typeface="+mn-ea"/>
                  <a:cs typeface="+mn-cs"/>
                </a:rPr>
                <a:t> 'SLIDEBUILDER’ </a:t>
              </a:r>
              <a:r>
                <a:rPr kumimoji="0" lang="en-GB" sz="1200" b="0" i="0" u="none" strike="noStrike" kern="1200" cap="none" spc="0" normalizeH="0" baseline="0" noProof="0" dirty="0">
                  <a:ln>
                    <a:noFill/>
                  </a:ln>
                  <a:solidFill>
                    <a:srgbClr val="211F26"/>
                  </a:solidFill>
                  <a:effectLst/>
                  <a:uLnTx/>
                  <a:uFillTx/>
                  <a:latin typeface="Aptos"/>
                  <a:ea typeface="+mn-ea"/>
                  <a:cs typeface="+mn-cs"/>
                </a:rPr>
                <a:t>and click</a:t>
              </a:r>
              <a:br>
                <a:rPr kumimoji="0" lang="en-GB" sz="1200" b="0" i="0" u="none" strike="noStrike" kern="1200" cap="none" spc="0" normalizeH="0" baseline="0" noProof="0" dirty="0">
                  <a:ln>
                    <a:noFill/>
                  </a:ln>
                  <a:solidFill>
                    <a:srgbClr val="211F26"/>
                  </a:solidFill>
                  <a:effectLst/>
                  <a:uLnTx/>
                  <a:uFillTx/>
                  <a:latin typeface="Aptos"/>
                  <a:ea typeface="+mn-ea"/>
                  <a:cs typeface="+mn-cs"/>
                </a:rPr>
              </a:br>
              <a:r>
                <a:rPr kumimoji="0" lang="en-GB" sz="1200" b="0" i="0" u="none" strike="noStrike" kern="1200" cap="none" spc="0" normalizeH="0" baseline="0" noProof="0" dirty="0">
                  <a:ln>
                    <a:noFill/>
                  </a:ln>
                  <a:solidFill>
                    <a:srgbClr val="211F26"/>
                  </a:solidFill>
                  <a:effectLst/>
                  <a:uLnTx/>
                  <a:uFillTx/>
                  <a:latin typeface="Aptos"/>
                  <a:ea typeface="+mn-ea"/>
                  <a:cs typeface="+mn-cs"/>
                </a:rPr>
                <a:t>on the button </a:t>
              </a:r>
              <a:r>
                <a:rPr kumimoji="0" lang="en-GB" sz="1200" b="1" i="0" u="none" strike="noStrike" kern="1200" cap="all" spc="0" normalizeH="0" baseline="0" noProof="0" dirty="0">
                  <a:ln>
                    <a:noFill/>
                  </a:ln>
                  <a:solidFill>
                    <a:srgbClr val="211F26"/>
                  </a:solidFill>
                  <a:effectLst/>
                  <a:uLnTx/>
                  <a:uFillTx/>
                  <a:latin typeface="Aptos"/>
                  <a:ea typeface="+mn-ea"/>
                  <a:cs typeface="+mn-cs"/>
                </a:rPr>
                <a:t>‘Inspiration'</a:t>
              </a:r>
            </a:p>
          </p:txBody>
        </p:sp>
        <p:grpSp>
          <p:nvGrpSpPr>
            <p:cNvPr id="37" name="ICOON_info">
              <a:extLst>
                <a:ext uri="{FF2B5EF4-FFF2-40B4-BE49-F238E27FC236}">
                  <a16:creationId xmlns:a16="http://schemas.microsoft.com/office/drawing/2014/main" id="{73944E8F-C20F-CCE1-C826-938B982F4DE8}"/>
                </a:ext>
              </a:extLst>
            </p:cNvPr>
            <p:cNvGrpSpPr/>
            <p:nvPr userDrawn="1"/>
          </p:nvGrpSpPr>
          <p:grpSpPr>
            <a:xfrm>
              <a:off x="-376736" y="4400186"/>
              <a:ext cx="283685" cy="283685"/>
              <a:chOff x="-510741" y="5913713"/>
              <a:chExt cx="267555" cy="267555"/>
            </a:xfrm>
          </p:grpSpPr>
          <p:sp>
            <p:nvSpPr>
              <p:cNvPr id="85" name="Ovaal 84">
                <a:extLst>
                  <a:ext uri="{FF2B5EF4-FFF2-40B4-BE49-F238E27FC236}">
                    <a16:creationId xmlns:a16="http://schemas.microsoft.com/office/drawing/2014/main" id="{C4D91959-95B8-5423-4E25-EFA8E8BC3B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endParaRPr kumimoji="0" lang="en-GB" sz="1600" b="0" i="0" u="none" strike="noStrike" kern="1200" cap="all" spc="0" normalizeH="0" baseline="0" noProof="0" dirty="0">
                  <a:ln>
                    <a:noFill/>
                  </a:ln>
                  <a:solidFill>
                    <a:srgbClr val="FFFFFF"/>
                  </a:solidFill>
                  <a:effectLst/>
                  <a:uLnTx/>
                  <a:uFillTx/>
                  <a:latin typeface="Aptos"/>
                  <a:ea typeface="+mn-ea"/>
                  <a:cs typeface="+mn-cs"/>
                </a:endParaRPr>
              </a:p>
            </p:txBody>
          </p:sp>
          <p:sp>
            <p:nvSpPr>
              <p:cNvPr id="151" name="Graphic 163" descr="Informatie">
                <a:extLst>
                  <a:ext uri="{FF2B5EF4-FFF2-40B4-BE49-F238E27FC236}">
                    <a16:creationId xmlns:a16="http://schemas.microsoft.com/office/drawing/2014/main" id="{271CA4C8-0FA3-7E83-18B4-8CC86959EE3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211F26"/>
                  </a:solidFill>
                  <a:effectLst/>
                  <a:uLnTx/>
                  <a:uFillTx/>
                  <a:latin typeface="Aptos"/>
                  <a:ea typeface="+mn-ea"/>
                  <a:cs typeface="+mn-cs"/>
                </a:endParaRPr>
              </a:p>
            </p:txBody>
          </p:sp>
        </p:grpSp>
        <p:grpSp>
          <p:nvGrpSpPr>
            <p:cNvPr id="38" name="VOORBEELD">
              <a:extLst>
                <a:ext uri="{FF2B5EF4-FFF2-40B4-BE49-F238E27FC236}">
                  <a16:creationId xmlns:a16="http://schemas.microsoft.com/office/drawing/2014/main" id="{8D9883B6-8F0C-C857-633E-62F166D199B8}"/>
                </a:ext>
              </a:extLst>
            </p:cNvPr>
            <p:cNvGrpSpPr/>
            <p:nvPr userDrawn="1"/>
          </p:nvGrpSpPr>
          <p:grpSpPr>
            <a:xfrm>
              <a:off x="-3605171" y="458674"/>
              <a:ext cx="3234311" cy="558875"/>
              <a:chOff x="-3605171" y="458674"/>
              <a:chExt cx="3234311" cy="558875"/>
            </a:xfrm>
          </p:grpSpPr>
          <p:sp>
            <p:nvSpPr>
              <p:cNvPr id="45" name="Rechthoek 44">
                <a:extLst>
                  <a:ext uri="{FF2B5EF4-FFF2-40B4-BE49-F238E27FC236}">
                    <a16:creationId xmlns:a16="http://schemas.microsoft.com/office/drawing/2014/main" id="{7058B320-70FE-AA62-7D85-7A20FE357D7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211F26"/>
                    </a:solidFill>
                    <a:effectLst/>
                    <a:uLnTx/>
                    <a:uFillTx/>
                    <a:latin typeface="Aptos"/>
                    <a:ea typeface="+mn-ea"/>
                    <a:cs typeface="+mn-cs"/>
                  </a:rPr>
                  <a:t>Home</a:t>
                </a:r>
              </a:p>
            </p:txBody>
          </p:sp>
          <p:sp>
            <p:nvSpPr>
              <p:cNvPr id="46" name="Rechthoek 45">
                <a:extLst>
                  <a:ext uri="{FF2B5EF4-FFF2-40B4-BE49-F238E27FC236}">
                    <a16:creationId xmlns:a16="http://schemas.microsoft.com/office/drawing/2014/main" id="{7B603348-B5C2-6BA4-4005-85FD7389A59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nvGrpSpPr>
              <p:cNvPr id="47" name="Groep 46">
                <a:extLst>
                  <a:ext uri="{FF2B5EF4-FFF2-40B4-BE49-F238E27FC236}">
                    <a16:creationId xmlns:a16="http://schemas.microsoft.com/office/drawing/2014/main" id="{370B9387-5D54-D3CD-E7E1-849346E7F8E8}"/>
                  </a:ext>
                </a:extLst>
              </p:cNvPr>
              <p:cNvGrpSpPr/>
              <p:nvPr userDrawn="1"/>
            </p:nvGrpSpPr>
            <p:grpSpPr>
              <a:xfrm>
                <a:off x="-3386247" y="830871"/>
                <a:ext cx="139423" cy="109566"/>
                <a:chOff x="-2866744" y="827071"/>
                <a:chExt cx="168701" cy="132575"/>
              </a:xfrm>
            </p:grpSpPr>
            <p:grpSp>
              <p:nvGrpSpPr>
                <p:cNvPr id="78" name="Groep 77">
                  <a:extLst>
                    <a:ext uri="{FF2B5EF4-FFF2-40B4-BE49-F238E27FC236}">
                      <a16:creationId xmlns:a16="http://schemas.microsoft.com/office/drawing/2014/main" id="{6544E565-DCE5-BA9D-98D5-E5F6F913B26B}"/>
                    </a:ext>
                  </a:extLst>
                </p:cNvPr>
                <p:cNvGrpSpPr/>
                <p:nvPr userDrawn="1"/>
              </p:nvGrpSpPr>
              <p:grpSpPr>
                <a:xfrm>
                  <a:off x="-2866744" y="827071"/>
                  <a:ext cx="168701" cy="132575"/>
                  <a:chOff x="-2866744" y="827071"/>
                  <a:chExt cx="168701" cy="132575"/>
                </a:xfrm>
              </p:grpSpPr>
              <p:cxnSp>
                <p:nvCxnSpPr>
                  <p:cNvPr id="80" name="Rechte verbindingslijn 79">
                    <a:extLst>
                      <a:ext uri="{FF2B5EF4-FFF2-40B4-BE49-F238E27FC236}">
                        <a16:creationId xmlns:a16="http://schemas.microsoft.com/office/drawing/2014/main" id="{43D9AEF6-1005-4224-249A-86D94282904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AF5C623F-D2B9-0FB8-C480-61D67C8B1BD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2E9B7A5A-69BF-AEA1-9CCC-F70B98EBB93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688886BB-B10B-7212-1D55-A5D6C62B65D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B168F5AD-F3AB-7C81-945B-226A4B0C561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9" name="Pijl: rechts 78">
                  <a:extLst>
                    <a:ext uri="{FF2B5EF4-FFF2-40B4-BE49-F238E27FC236}">
                      <a16:creationId xmlns:a16="http://schemas.microsoft.com/office/drawing/2014/main" id="{F72C0390-499E-B728-36D3-44974CBDE54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grpSp>
            <p:nvGrpSpPr>
              <p:cNvPr id="48" name="Groep 47">
                <a:extLst>
                  <a:ext uri="{FF2B5EF4-FFF2-40B4-BE49-F238E27FC236}">
                    <a16:creationId xmlns:a16="http://schemas.microsoft.com/office/drawing/2014/main" id="{E716C285-ACB3-02BD-4DE0-07B1A74B2195}"/>
                  </a:ext>
                </a:extLst>
              </p:cNvPr>
              <p:cNvGrpSpPr/>
              <p:nvPr userDrawn="1"/>
            </p:nvGrpSpPr>
            <p:grpSpPr>
              <a:xfrm>
                <a:off x="-3605171" y="830871"/>
                <a:ext cx="139423" cy="109566"/>
                <a:chOff x="-2866744" y="518074"/>
                <a:chExt cx="168701" cy="132575"/>
              </a:xfrm>
            </p:grpSpPr>
            <p:grpSp>
              <p:nvGrpSpPr>
                <p:cNvPr id="71" name="Groep 70">
                  <a:extLst>
                    <a:ext uri="{FF2B5EF4-FFF2-40B4-BE49-F238E27FC236}">
                      <a16:creationId xmlns:a16="http://schemas.microsoft.com/office/drawing/2014/main" id="{031B30A8-6900-6EB0-44AF-63D387740D44}"/>
                    </a:ext>
                  </a:extLst>
                </p:cNvPr>
                <p:cNvGrpSpPr/>
                <p:nvPr userDrawn="1"/>
              </p:nvGrpSpPr>
              <p:grpSpPr>
                <a:xfrm>
                  <a:off x="-2866744" y="518074"/>
                  <a:ext cx="168701" cy="132575"/>
                  <a:chOff x="-2866744" y="518074"/>
                  <a:chExt cx="168701" cy="132575"/>
                </a:xfrm>
              </p:grpSpPr>
              <p:cxnSp>
                <p:nvCxnSpPr>
                  <p:cNvPr id="73" name="Rechte verbindingslijn 72">
                    <a:extLst>
                      <a:ext uri="{FF2B5EF4-FFF2-40B4-BE49-F238E27FC236}">
                        <a16:creationId xmlns:a16="http://schemas.microsoft.com/office/drawing/2014/main" id="{6E777EE3-725D-1839-12D6-D81852C8272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1144C2B-2AF6-A1E9-4EF8-8F1A5A64AB2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23271AE-3859-EE92-619E-ECCCDA76AE1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55CA7C6F-8D94-98FF-55EA-4BCEE5C454E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276E2D7C-35D2-48AB-8F7C-BE84A031948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2" name="Pijl: rechts 71">
                  <a:extLst>
                    <a:ext uri="{FF2B5EF4-FFF2-40B4-BE49-F238E27FC236}">
                      <a16:creationId xmlns:a16="http://schemas.microsoft.com/office/drawing/2014/main" id="{5483392B-A6DF-4EF2-5CDB-0EC2EB028C7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cxnSp>
            <p:nvCxnSpPr>
              <p:cNvPr id="49" name="Rechte verbindingslijn 48">
                <a:extLst>
                  <a:ext uri="{FF2B5EF4-FFF2-40B4-BE49-F238E27FC236}">
                    <a16:creationId xmlns:a16="http://schemas.microsoft.com/office/drawing/2014/main" id="{499CA73A-204E-C16A-9452-3B5EA1F5DC2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0" name="Rechte verbindingslijn 49">
                <a:extLst>
                  <a:ext uri="{FF2B5EF4-FFF2-40B4-BE49-F238E27FC236}">
                    <a16:creationId xmlns:a16="http://schemas.microsoft.com/office/drawing/2014/main" id="{2A45536C-7CB7-360A-734F-F361451393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1" name="Rechthoek 50">
                <a:extLst>
                  <a:ext uri="{FF2B5EF4-FFF2-40B4-BE49-F238E27FC236}">
                    <a16:creationId xmlns:a16="http://schemas.microsoft.com/office/drawing/2014/main" id="{02544CF3-6710-4F22-8B7E-D66F927D617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Aptos"/>
                    <a:ea typeface="+mn-ea"/>
                    <a:cs typeface="+mn-cs"/>
                  </a:rPr>
                  <a:t>Text level down</a:t>
                </a:r>
              </a:p>
            </p:txBody>
          </p:sp>
          <p:sp>
            <p:nvSpPr>
              <p:cNvPr id="52" name="Rechthoek 51">
                <a:extLst>
                  <a:ext uri="{FF2B5EF4-FFF2-40B4-BE49-F238E27FC236}">
                    <a16:creationId xmlns:a16="http://schemas.microsoft.com/office/drawing/2014/main" id="{1BF297FE-405B-B694-1E41-460B4BCF8B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Aptos"/>
                    <a:ea typeface="+mn-ea"/>
                    <a:cs typeface="+mn-cs"/>
                  </a:rPr>
                  <a:t>Text level up</a:t>
                </a:r>
              </a:p>
            </p:txBody>
          </p:sp>
          <p:grpSp>
            <p:nvGrpSpPr>
              <p:cNvPr id="53" name="Groep 52">
                <a:extLst>
                  <a:ext uri="{FF2B5EF4-FFF2-40B4-BE49-F238E27FC236}">
                    <a16:creationId xmlns:a16="http://schemas.microsoft.com/office/drawing/2014/main" id="{E124E1C4-63F8-B2B3-4B57-DE15A94B915A}"/>
                  </a:ext>
                </a:extLst>
              </p:cNvPr>
              <p:cNvGrpSpPr/>
              <p:nvPr userDrawn="1"/>
            </p:nvGrpSpPr>
            <p:grpSpPr>
              <a:xfrm>
                <a:off x="-2916763" y="769168"/>
                <a:ext cx="268738" cy="248381"/>
                <a:chOff x="-2916763" y="769168"/>
                <a:chExt cx="268738" cy="248381"/>
              </a:xfrm>
            </p:grpSpPr>
            <p:sp>
              <p:nvSpPr>
                <p:cNvPr id="63" name="Rechthoek 62">
                  <a:extLst>
                    <a:ext uri="{FF2B5EF4-FFF2-40B4-BE49-F238E27FC236}">
                      <a16:creationId xmlns:a16="http://schemas.microsoft.com/office/drawing/2014/main" id="{71E94031-4368-45C4-C018-2C243C184957}"/>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srgbClr val="211F26"/>
                    </a:solidFill>
                    <a:effectLst/>
                    <a:uLnTx/>
                    <a:uFillTx/>
                    <a:latin typeface="Aptos"/>
                    <a:ea typeface="+mn-ea"/>
                    <a:cs typeface="+mn-cs"/>
                  </a:endParaRPr>
                </a:p>
              </p:txBody>
            </p:sp>
            <p:grpSp>
              <p:nvGrpSpPr>
                <p:cNvPr id="64" name="Groep 63">
                  <a:extLst>
                    <a:ext uri="{FF2B5EF4-FFF2-40B4-BE49-F238E27FC236}">
                      <a16:creationId xmlns:a16="http://schemas.microsoft.com/office/drawing/2014/main" id="{09E25DA7-63D4-DDDF-D074-44A977F5D125}"/>
                    </a:ext>
                  </a:extLst>
                </p:cNvPr>
                <p:cNvGrpSpPr/>
                <p:nvPr userDrawn="1"/>
              </p:nvGrpSpPr>
              <p:grpSpPr>
                <a:xfrm>
                  <a:off x="-2866744" y="827071"/>
                  <a:ext cx="168701" cy="132575"/>
                  <a:chOff x="-2866744" y="827071"/>
                  <a:chExt cx="168701" cy="132575"/>
                </a:xfrm>
              </p:grpSpPr>
              <p:cxnSp>
                <p:nvCxnSpPr>
                  <p:cNvPr id="66" name="Rechte verbindingslijn 65">
                    <a:extLst>
                      <a:ext uri="{FF2B5EF4-FFF2-40B4-BE49-F238E27FC236}">
                        <a16:creationId xmlns:a16="http://schemas.microsoft.com/office/drawing/2014/main" id="{6C2E312B-0EFA-2D4F-89CA-265C05B361D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C264D4A-8AA3-A244-C2BD-67295119998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97ACB481-B2CA-251D-38CB-E0575348464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7FB5BA4E-2F7B-5EB3-0364-05B5130D9EC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18F701-BE00-DC3D-F243-BD4F326C6FD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14366743-ECD8-A7FB-85D8-069A07865C3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grpSp>
            <p:nvGrpSpPr>
              <p:cNvPr id="54" name="Groep 53">
                <a:extLst>
                  <a:ext uri="{FF2B5EF4-FFF2-40B4-BE49-F238E27FC236}">
                    <a16:creationId xmlns:a16="http://schemas.microsoft.com/office/drawing/2014/main" id="{52C2B9AE-A456-0F63-584A-78ED89F558D2}"/>
                  </a:ext>
                </a:extLst>
              </p:cNvPr>
              <p:cNvGrpSpPr/>
              <p:nvPr userDrawn="1"/>
            </p:nvGrpSpPr>
            <p:grpSpPr>
              <a:xfrm>
                <a:off x="-2916763" y="460171"/>
                <a:ext cx="268738" cy="248381"/>
                <a:chOff x="-2916763" y="460171"/>
                <a:chExt cx="268738" cy="248381"/>
              </a:xfrm>
            </p:grpSpPr>
            <p:sp>
              <p:nvSpPr>
                <p:cNvPr id="55" name="Rechthoek 54">
                  <a:extLst>
                    <a:ext uri="{FF2B5EF4-FFF2-40B4-BE49-F238E27FC236}">
                      <a16:creationId xmlns:a16="http://schemas.microsoft.com/office/drawing/2014/main" id="{B87C63E3-EE8E-AD5D-CAC7-A8E95070846C}"/>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srgbClr val="211F26"/>
                    </a:solidFill>
                    <a:effectLst/>
                    <a:uLnTx/>
                    <a:uFillTx/>
                    <a:latin typeface="Aptos"/>
                    <a:ea typeface="+mn-ea"/>
                    <a:cs typeface="+mn-cs"/>
                  </a:endParaRPr>
                </a:p>
              </p:txBody>
            </p:sp>
            <p:grpSp>
              <p:nvGrpSpPr>
                <p:cNvPr id="56" name="Groep 55">
                  <a:extLst>
                    <a:ext uri="{FF2B5EF4-FFF2-40B4-BE49-F238E27FC236}">
                      <a16:creationId xmlns:a16="http://schemas.microsoft.com/office/drawing/2014/main" id="{CB368817-BE93-3F2B-0AD8-9F211B73A474}"/>
                    </a:ext>
                  </a:extLst>
                </p:cNvPr>
                <p:cNvGrpSpPr/>
                <p:nvPr userDrawn="1"/>
              </p:nvGrpSpPr>
              <p:grpSpPr>
                <a:xfrm>
                  <a:off x="-2866744" y="518074"/>
                  <a:ext cx="168701" cy="132575"/>
                  <a:chOff x="-2866744" y="518074"/>
                  <a:chExt cx="168701" cy="132575"/>
                </a:xfrm>
              </p:grpSpPr>
              <p:cxnSp>
                <p:nvCxnSpPr>
                  <p:cNvPr id="58" name="Rechte verbindingslijn 57">
                    <a:extLst>
                      <a:ext uri="{FF2B5EF4-FFF2-40B4-BE49-F238E27FC236}">
                        <a16:creationId xmlns:a16="http://schemas.microsoft.com/office/drawing/2014/main" id="{F3F227DE-628A-DA18-52C1-254949A97C1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0A5BB5E1-8F09-1BAB-7ABC-76B71E6D429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7E2900F5-8328-D9F2-E857-BF236260689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2F58D699-8C5E-92A8-C9A5-6752DE0A904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F126E799-B0F4-B038-50F2-40DACF67CA8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7" name="Pijl: rechts 56">
                  <a:extLst>
                    <a:ext uri="{FF2B5EF4-FFF2-40B4-BE49-F238E27FC236}">
                      <a16:creationId xmlns:a16="http://schemas.microsoft.com/office/drawing/2014/main" id="{74F5E1BB-D2F4-B03B-02CA-95FCC9B2E61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grpSp>
        <p:grpSp>
          <p:nvGrpSpPr>
            <p:cNvPr id="39" name="Groep 38">
              <a:extLst>
                <a:ext uri="{FF2B5EF4-FFF2-40B4-BE49-F238E27FC236}">
                  <a16:creationId xmlns:a16="http://schemas.microsoft.com/office/drawing/2014/main" id="{6C0C7519-CA89-6D9E-4E9A-7E53D680B947}"/>
                </a:ext>
              </a:extLst>
            </p:cNvPr>
            <p:cNvGrpSpPr/>
            <p:nvPr userDrawn="1"/>
          </p:nvGrpSpPr>
          <p:grpSpPr>
            <a:xfrm>
              <a:off x="-938434" y="4663037"/>
              <a:ext cx="627798" cy="576693"/>
              <a:chOff x="-1753862" y="6112775"/>
              <a:chExt cx="759635" cy="697798"/>
            </a:xfrm>
          </p:grpSpPr>
          <p:grpSp>
            <p:nvGrpSpPr>
              <p:cNvPr id="40" name="Inspireren">
                <a:extLst>
                  <a:ext uri="{FF2B5EF4-FFF2-40B4-BE49-F238E27FC236}">
                    <a16:creationId xmlns:a16="http://schemas.microsoft.com/office/drawing/2014/main" id="{60C48C1E-132D-CB24-9B6B-CCC32669D598}"/>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42" name="Freeform 12">
                  <a:extLst>
                    <a:ext uri="{FF2B5EF4-FFF2-40B4-BE49-F238E27FC236}">
                      <a16:creationId xmlns:a16="http://schemas.microsoft.com/office/drawing/2014/main" id="{B3DBD062-451C-9B51-6D4F-3985A74DB36D}"/>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95469" rtl="0"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Aptos" panose="020B0004020202020204" pitchFamily="34" charset="0"/>
                    <a:ea typeface="+mn-ea"/>
                    <a:cs typeface="+mn-cs"/>
                  </a:endParaRPr>
                </a:p>
              </p:txBody>
            </p:sp>
            <p:sp>
              <p:nvSpPr>
                <p:cNvPr id="43" name="Freeform 13">
                  <a:extLst>
                    <a:ext uri="{FF2B5EF4-FFF2-40B4-BE49-F238E27FC236}">
                      <a16:creationId xmlns:a16="http://schemas.microsoft.com/office/drawing/2014/main" id="{A5E87810-7C59-2CEF-4023-1E6A3450118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95469" rtl="0"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Aptos" panose="020B0004020202020204" pitchFamily="34" charset="0"/>
                    <a:ea typeface="+mn-ea"/>
                    <a:cs typeface="+mn-cs"/>
                  </a:endParaRPr>
                </a:p>
              </p:txBody>
            </p:sp>
            <p:sp>
              <p:nvSpPr>
                <p:cNvPr id="44" name="Freeform 14">
                  <a:extLst>
                    <a:ext uri="{FF2B5EF4-FFF2-40B4-BE49-F238E27FC236}">
                      <a16:creationId xmlns:a16="http://schemas.microsoft.com/office/drawing/2014/main" id="{220D2964-5C51-A85F-17A5-B1F01D023167}"/>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95469" rtl="0"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Aptos" panose="020B0004020202020204" pitchFamily="34" charset="0"/>
                    <a:ea typeface="+mn-ea"/>
                    <a:cs typeface="+mn-cs"/>
                  </a:endParaRPr>
                </a:p>
              </p:txBody>
            </p:sp>
          </p:grpSp>
          <p:sp>
            <p:nvSpPr>
              <p:cNvPr id="41" name="Tekstvak 40">
                <a:extLst>
                  <a:ext uri="{FF2B5EF4-FFF2-40B4-BE49-F238E27FC236}">
                    <a16:creationId xmlns:a16="http://schemas.microsoft.com/office/drawing/2014/main" id="{76CB6002-89AB-50F0-B337-E1D44F24002B}"/>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Aptos"/>
                    <a:ea typeface="+mn-ea"/>
                    <a:cs typeface="+mn-cs"/>
                  </a:rPr>
                  <a:t>Inspiration</a:t>
                </a:r>
              </a:p>
            </p:txBody>
          </p:sp>
        </p:grpSp>
      </p:grpSp>
    </p:spTree>
    <p:extLst>
      <p:ext uri="{BB962C8B-B14F-4D97-AF65-F5344CB8AC3E}">
        <p14:creationId xmlns:p14="http://schemas.microsoft.com/office/powerpoint/2010/main" val="244473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07" name="Tijdelijke aanduiding voor titel 1">
            <a:extLst>
              <a:ext uri="{FF2B5EF4-FFF2-40B4-BE49-F238E27FC236}">
                <a16:creationId xmlns:a16="http://schemas.microsoft.com/office/drawing/2014/main" id="{6487721E-6D8E-22A6-150E-48B5B7398741}"/>
              </a:ext>
            </a:extLst>
          </p:cNvPr>
          <p:cNvSpPr>
            <a:spLocks noGrp="1"/>
          </p:cNvSpPr>
          <p:nvPr>
            <p:ph type="title" hasCustomPrompt="1"/>
          </p:nvPr>
        </p:nvSpPr>
        <p:spPr>
          <a:xfrm>
            <a:off x="0" y="-367937"/>
            <a:ext cx="2086708" cy="342211"/>
          </a:xfrm>
          <a:prstGeom prst="rect">
            <a:avLst/>
          </a:prstGeom>
        </p:spPr>
        <p:txBody>
          <a:bodyPr vert="horz" lIns="0" tIns="0" rIns="0" bIns="0" rtlCol="0" anchor="t">
            <a:noAutofit/>
          </a:bodyPr>
          <a:lstStyle>
            <a:lvl1pPr>
              <a:defRPr sz="1600">
                <a:solidFill>
                  <a:schemeClr val="accent1"/>
                </a:solidFill>
              </a:defRPr>
            </a:lvl1pPr>
          </a:lstStyle>
          <a:p>
            <a:r>
              <a:rPr lang="en-GB" noProof="0" dirty="0"/>
              <a:t>Empty</a:t>
            </a:r>
          </a:p>
        </p:txBody>
      </p:sp>
    </p:spTree>
    <p:extLst>
      <p:ext uri="{BB962C8B-B14F-4D97-AF65-F5344CB8AC3E}">
        <p14:creationId xmlns:p14="http://schemas.microsoft.com/office/powerpoint/2010/main" val="305486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542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KST DIA (100%)">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282E6B19-C172-4760-8A97-D66BFBC0201A}" type="datetime1">
              <a:rPr lang="nl-NL" smtClean="0"/>
              <a:t>13-11-2025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tIns="72000"/>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06470" y="0"/>
            <a:ext cx="1480516"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77CA6B8A-BEB2-49FD-AE28-FD442722680E}"/>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22413692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581"/>
        <p:cNvGrpSpPr/>
        <p:nvPr/>
      </p:nvGrpSpPr>
      <p:grpSpPr>
        <a:xfrm>
          <a:off x="0" y="0"/>
          <a:ext cx="0" cy="0"/>
          <a:chOff x="0" y="0"/>
          <a:chExt cx="0" cy="0"/>
        </a:xfrm>
      </p:grpSpPr>
      <p:sp>
        <p:nvSpPr>
          <p:cNvPr id="5582" name="Google Shape;5582;p76"/>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5583" name="Google Shape;5583;p76"/>
          <p:cNvSpPr txBox="1">
            <a:spLocks noGrp="1"/>
          </p:cNvSpPr>
          <p:nvPr>
            <p:ph type="body" idx="1"/>
          </p:nvPr>
        </p:nvSpPr>
        <p:spPr>
          <a:xfrm>
            <a:off x="415600" y="1536633"/>
            <a:ext cx="11360700" cy="4555200"/>
          </a:xfrm>
          <a:prstGeom prst="rect">
            <a:avLst/>
          </a:prstGeom>
        </p:spPr>
        <p:txBody>
          <a:bodyPr spcFirstLastPara="1" wrap="square" lIns="0" tIns="0" rIns="0" bIns="0" anchor="t" anchorCtr="0">
            <a:noAutofit/>
          </a:bodyPr>
          <a:lstStyle>
            <a:lvl1pPr marL="457200" lvl="0" indent="-228600">
              <a:spcBef>
                <a:spcPts val="700"/>
              </a:spcBef>
              <a:spcAft>
                <a:spcPts val="0"/>
              </a:spcAft>
              <a:buSzPts val="1900"/>
              <a:buNone/>
              <a:defRPr/>
            </a:lvl1pPr>
            <a:lvl2pPr marL="914400" lvl="1" indent="-228600">
              <a:spcBef>
                <a:spcPts val="700"/>
              </a:spcBef>
              <a:spcAft>
                <a:spcPts val="0"/>
              </a:spcAft>
              <a:buSzPts val="1600"/>
              <a:buNone/>
              <a:defRPr/>
            </a:lvl2pPr>
            <a:lvl3pPr marL="1371600" lvl="2" indent="-228600">
              <a:spcBef>
                <a:spcPts val="700"/>
              </a:spcBef>
              <a:spcAft>
                <a:spcPts val="0"/>
              </a:spcAft>
              <a:buSzPts val="2000"/>
              <a:buNone/>
              <a:defRPr/>
            </a:lvl3pPr>
            <a:lvl4pPr marL="1828800" lvl="3" indent="-228600">
              <a:spcBef>
                <a:spcPts val="700"/>
              </a:spcBef>
              <a:spcAft>
                <a:spcPts val="0"/>
              </a:spcAft>
              <a:buSzPts val="2000"/>
              <a:buNone/>
              <a:defRPr/>
            </a:lvl4pPr>
            <a:lvl5pPr marL="2286000" lvl="4" indent="-228600">
              <a:spcBef>
                <a:spcPts val="700"/>
              </a:spcBef>
              <a:spcAft>
                <a:spcPts val="0"/>
              </a:spcAft>
              <a:buSzPts val="2000"/>
              <a:buNone/>
              <a:defRPr/>
            </a:lvl5pPr>
            <a:lvl6pPr marL="2743200" lvl="5" indent="-228600">
              <a:spcBef>
                <a:spcPts val="700"/>
              </a:spcBef>
              <a:spcAft>
                <a:spcPts val="0"/>
              </a:spcAft>
              <a:buSzPts val="2000"/>
              <a:buNone/>
              <a:defRPr/>
            </a:lvl6pPr>
            <a:lvl7pPr marL="3200400" lvl="6" indent="-228600">
              <a:spcBef>
                <a:spcPts val="700"/>
              </a:spcBef>
              <a:spcAft>
                <a:spcPts val="0"/>
              </a:spcAft>
              <a:buSzPts val="1500"/>
              <a:buNone/>
              <a:defRPr/>
            </a:lvl7pPr>
            <a:lvl8pPr marL="3657600" lvl="7" indent="-228600">
              <a:spcBef>
                <a:spcPts val="700"/>
              </a:spcBef>
              <a:spcAft>
                <a:spcPts val="0"/>
              </a:spcAft>
              <a:buSzPts val="1900"/>
              <a:buNone/>
              <a:defRPr/>
            </a:lvl8pPr>
            <a:lvl9pPr marL="4114800" lvl="8" indent="-228600">
              <a:spcBef>
                <a:spcPts val="700"/>
              </a:spcBef>
              <a:spcAft>
                <a:spcPts val="700"/>
              </a:spcAft>
              <a:buSzPts val="1600"/>
              <a:buNone/>
              <a:defRPr/>
            </a:lvl9pPr>
          </a:lstStyle>
          <a:p>
            <a:endParaRPr/>
          </a:p>
        </p:txBody>
      </p:sp>
      <p:sp>
        <p:nvSpPr>
          <p:cNvPr id="5584" name="Google Shape;5584;p76"/>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72626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Background light orange">
    <p:spTree>
      <p:nvGrpSpPr>
        <p:cNvPr id="1" name=""/>
        <p:cNvGrpSpPr/>
        <p:nvPr/>
      </p:nvGrpSpPr>
      <p:grpSpPr>
        <a:xfrm>
          <a:off x="0" y="0"/>
          <a:ext cx="0" cy="0"/>
          <a:chOff x="0" y="0"/>
          <a:chExt cx="0" cy="0"/>
        </a:xfrm>
      </p:grpSpPr>
      <p:sp>
        <p:nvSpPr>
          <p:cNvPr id="2" name="Tijdelijke aanduiding voor tekst 10">
            <a:extLst>
              <a:ext uri="{FF2B5EF4-FFF2-40B4-BE49-F238E27FC236}">
                <a16:creationId xmlns:a16="http://schemas.microsoft.com/office/drawing/2014/main" id="{EC75E586-75E4-9F58-629C-42972F2C3D7A}"/>
              </a:ext>
            </a:extLst>
          </p:cNvPr>
          <p:cNvSpPr txBox="1">
            <a:spLocks/>
          </p:cNvSpPr>
          <p:nvPr userDrawn="1"/>
        </p:nvSpPr>
        <p:spPr>
          <a:xfrm>
            <a:off x="193040" y="225424"/>
            <a:ext cx="11805920" cy="6424295"/>
          </a:xfrm>
          <a:prstGeom prst="roundRect">
            <a:avLst>
              <a:gd name="adj" fmla="val 3563"/>
            </a:avLst>
          </a:prstGeom>
          <a:solidFill>
            <a:srgbClr val="FCE4D4"/>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E7628"/>
              </a:buClr>
              <a:buSzPct val="110000"/>
              <a:buFont typeface="Aptos" panose="020B0004020202020204" pitchFamily="34" charset="0"/>
              <a:buNone/>
              <a:tabLst/>
              <a:defRPr/>
            </a:pPr>
            <a:r>
              <a:rPr kumimoji="0" lang="en-GB" sz="100" b="0" i="0" u="none" strike="noStrike" kern="1200" cap="none" spc="0" normalizeH="0" baseline="0" noProof="0" dirty="0">
                <a:ln>
                  <a:noFill/>
                </a:ln>
                <a:solidFill>
                  <a:srgbClr val="000000"/>
                </a:solidFill>
                <a:effectLst/>
                <a:uLnTx/>
                <a:uFillTx/>
                <a:latin typeface="Aptos"/>
                <a:ea typeface="+mn-ea"/>
                <a:cs typeface="+mn-cs"/>
              </a:rPr>
              <a:t> </a:t>
            </a:r>
          </a:p>
        </p:txBody>
      </p:sp>
      <p:sp>
        <p:nvSpPr>
          <p:cNvPr id="7" name="Rechthoek: afgeronde hoeken 6">
            <a:extLst>
              <a:ext uri="{FF2B5EF4-FFF2-40B4-BE49-F238E27FC236}">
                <a16:creationId xmlns:a16="http://schemas.microsoft.com/office/drawing/2014/main" id="{EE82F239-2B35-4039-9A61-4FB8C953EA19}"/>
              </a:ext>
            </a:extLst>
          </p:cNvPr>
          <p:cNvSpPr/>
          <p:nvPr userDrawn="1"/>
        </p:nvSpPr>
        <p:spPr>
          <a:xfrm>
            <a:off x="0" y="-367937"/>
            <a:ext cx="2906373" cy="246221"/>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EE7628"/>
                </a:solidFill>
                <a:effectLst/>
                <a:uLnTx/>
                <a:uFillTx/>
                <a:latin typeface="Aptos"/>
                <a:ea typeface="+mn-ea"/>
                <a:cs typeface="+mn-cs"/>
              </a:rPr>
              <a:t>Title only Background light orange</a:t>
            </a:r>
          </a:p>
        </p:txBody>
      </p:sp>
      <p:sp>
        <p:nvSpPr>
          <p:cNvPr id="5" name="Tijdelijke aanduiding voor tekst 15">
            <a:extLst>
              <a:ext uri="{FF2B5EF4-FFF2-40B4-BE49-F238E27FC236}">
                <a16:creationId xmlns:a16="http://schemas.microsoft.com/office/drawing/2014/main" id="{1573DD9B-8FD8-C1EC-787F-42558CEE97FA}"/>
              </a:ext>
            </a:extLst>
          </p:cNvPr>
          <p:cNvSpPr>
            <a:spLocks noGrp="1"/>
          </p:cNvSpPr>
          <p:nvPr>
            <p:ph type="body" sz="quarter" idx="14" hasCustomPrompt="1"/>
          </p:nvPr>
        </p:nvSpPr>
        <p:spPr>
          <a:xfrm>
            <a:off x="720000" y="6060536"/>
            <a:ext cx="932400" cy="475200"/>
          </a:xfrm>
          <a:blipFill>
            <a:blip r:embed="rId2"/>
            <a:stretch>
              <a:fillRect/>
            </a:stretch>
          </a:blipFill>
        </p:spPr>
        <p:txBody>
          <a:bodyPr/>
          <a:lstStyle>
            <a:lvl1pPr marL="0" indent="0">
              <a:buNone/>
              <a:defRPr sz="100"/>
            </a:lvl1pPr>
          </a:lstStyle>
          <a:p>
            <a:pPr lvl="0"/>
            <a:r>
              <a:rPr lang="en-GB" dirty="0"/>
              <a:t> </a:t>
            </a:r>
          </a:p>
        </p:txBody>
      </p:sp>
      <p:sp>
        <p:nvSpPr>
          <p:cNvPr id="8" name="Tijdelijke aanduiding voor tekst 12">
            <a:extLst>
              <a:ext uri="{FF2B5EF4-FFF2-40B4-BE49-F238E27FC236}">
                <a16:creationId xmlns:a16="http://schemas.microsoft.com/office/drawing/2014/main" id="{FBA7C0EF-C85B-4505-8107-015B15633D93}"/>
              </a:ext>
            </a:extLst>
          </p:cNvPr>
          <p:cNvSpPr>
            <a:spLocks noGrp="1"/>
          </p:cNvSpPr>
          <p:nvPr>
            <p:ph type="body" sz="quarter" idx="18" hasCustomPrompt="1"/>
          </p:nvPr>
        </p:nvSpPr>
        <p:spPr>
          <a:xfrm>
            <a:off x="708207" y="707795"/>
            <a:ext cx="36000" cy="396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p:spPr>
        <p:txBody>
          <a:bodyPr wrap="square">
            <a:noAutofit/>
          </a:bodyPr>
          <a:lstStyle>
            <a:lvl1pPr marL="0" indent="0">
              <a:buNone/>
              <a:defRPr sz="100"/>
            </a:lvl1pPr>
          </a:lstStyle>
          <a:p>
            <a:pPr lvl="0"/>
            <a:r>
              <a:rPr lang="en-GB" dirty="0"/>
              <a:t> </a:t>
            </a:r>
          </a:p>
        </p:txBody>
      </p:sp>
      <p:sp>
        <p:nvSpPr>
          <p:cNvPr id="10" name="Tijdelijke aanduiding voor titel 1">
            <a:extLst>
              <a:ext uri="{FF2B5EF4-FFF2-40B4-BE49-F238E27FC236}">
                <a16:creationId xmlns:a16="http://schemas.microsoft.com/office/drawing/2014/main" id="{66DDD4FA-5C0A-526B-A5D0-BD4D9C52DA68}"/>
              </a:ext>
            </a:extLst>
          </p:cNvPr>
          <p:cNvSpPr>
            <a:spLocks noGrp="1"/>
          </p:cNvSpPr>
          <p:nvPr>
            <p:ph type="title" hasCustomPrompt="1"/>
          </p:nvPr>
        </p:nvSpPr>
        <p:spPr>
          <a:xfrm>
            <a:off x="865163" y="722313"/>
            <a:ext cx="10606838" cy="342211"/>
          </a:xfrm>
          <a:prstGeom prst="rect">
            <a:avLst/>
          </a:prstGeom>
        </p:spPr>
        <p:txBody>
          <a:bodyPr vert="horz" lIns="0" tIns="0" rIns="0" bIns="0" rtlCol="0" anchor="t">
            <a:noAutofit/>
          </a:bodyPr>
          <a:lstStyle/>
          <a:p>
            <a:r>
              <a:rPr lang="en-GB" noProof="0" dirty="0"/>
              <a:t>Place the title of the slide here</a:t>
            </a:r>
          </a:p>
        </p:txBody>
      </p:sp>
    </p:spTree>
    <p:extLst>
      <p:ext uri="{BB962C8B-B14F-4D97-AF65-F5344CB8AC3E}">
        <p14:creationId xmlns:p14="http://schemas.microsoft.com/office/powerpoint/2010/main" val="286700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6EF6-49D5-866F-A7C7-23E2AC9B8C4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27C2F5-B08B-CD9C-D020-5550F6A0C1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80A06FF-1FEF-22A3-8DE7-066E8CD7B0CF}"/>
              </a:ext>
            </a:extLst>
          </p:cNvPr>
          <p:cNvSpPr>
            <a:spLocks noGrp="1"/>
          </p:cNvSpPr>
          <p:nvPr>
            <p:ph type="dt" sz="half" idx="10"/>
          </p:nvPr>
        </p:nvSpPr>
        <p:spPr/>
        <p:txBody>
          <a:bodyPr/>
          <a:lstStyle/>
          <a:p>
            <a:fld id="{8AE12256-5C70-4277-A5E9-96882E7B8C89}" type="datetimeFigureOut">
              <a:rPr lang="en-NL" smtClean="0"/>
              <a:t>13/11/2025</a:t>
            </a:fld>
            <a:endParaRPr lang="en-NL"/>
          </a:p>
        </p:txBody>
      </p:sp>
      <p:sp>
        <p:nvSpPr>
          <p:cNvPr id="5" name="Footer Placeholder 4">
            <a:extLst>
              <a:ext uri="{FF2B5EF4-FFF2-40B4-BE49-F238E27FC236}">
                <a16:creationId xmlns:a16="http://schemas.microsoft.com/office/drawing/2014/main" id="{44B06264-B970-E33A-C4D7-07C3D0BDFF2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3A7DC2B-3CFE-A343-F460-0D9E368C0155}"/>
              </a:ext>
            </a:extLst>
          </p:cNvPr>
          <p:cNvSpPr>
            <a:spLocks noGrp="1"/>
          </p:cNvSpPr>
          <p:nvPr>
            <p:ph type="sldNum" sz="quarter" idx="12"/>
          </p:nvPr>
        </p:nvSpPr>
        <p:spPr/>
        <p:txBody>
          <a:bodyPr/>
          <a:lstStyle/>
          <a:p>
            <a:fld id="{E47D697A-CF44-4C00-81BC-B5B9DDDC8359}" type="slidenum">
              <a:rPr lang="en-NL" smtClean="0"/>
              <a:t>‹#›</a:t>
            </a:fld>
            <a:endParaRPr lang="en-NL"/>
          </a:p>
        </p:txBody>
      </p:sp>
    </p:spTree>
    <p:extLst>
      <p:ext uri="{BB962C8B-B14F-4D97-AF65-F5344CB8AC3E}">
        <p14:creationId xmlns:p14="http://schemas.microsoft.com/office/powerpoint/2010/main" val="2008023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userDrawn="1">
            <p:ph type="title"/>
          </p:nvPr>
        </p:nvSpPr>
        <p:spPr>
          <a:xfrm>
            <a:off x="865163" y="722313"/>
            <a:ext cx="10582630" cy="342211"/>
          </a:xfrm>
          <a:prstGeom prst="rect">
            <a:avLst/>
          </a:prstGeom>
        </p:spPr>
        <p:txBody>
          <a:bodyPr vert="horz" lIns="0" tIns="0" rIns="0" bIns="0" rtlCol="0" anchor="t">
            <a:noAutofit/>
          </a:bodyPr>
          <a:lstStyle/>
          <a:p>
            <a:r>
              <a:rPr lang="en-GB" noProof="0" dirty="0"/>
              <a:t>Place the title of the slide here</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userDrawn="1">
            <p:ph type="body" idx="1"/>
          </p:nvPr>
        </p:nvSpPr>
        <p:spPr>
          <a:xfrm>
            <a:off x="720000" y="1592262"/>
            <a:ext cx="10752000" cy="4213945"/>
          </a:xfrm>
          <a:prstGeom prst="rect">
            <a:avLst/>
          </a:prstGeom>
        </p:spPr>
        <p:txBody>
          <a:bodyPr vert="horz" lIns="0" tIns="0" rIns="0" bIns="0" rtlCol="0">
            <a:noAutofit/>
          </a:bodyPr>
          <a:lstStyle/>
          <a:p>
            <a:pPr lvl="0"/>
            <a:r>
              <a:rPr lang="en-GB" noProof="0" dirty="0"/>
              <a:t>Bullet</a:t>
            </a:r>
          </a:p>
          <a:p>
            <a:pPr lvl="1"/>
            <a:r>
              <a:rPr lang="en-GB" noProof="0" dirty="0"/>
              <a:t>Sub-Bullet</a:t>
            </a:r>
          </a:p>
          <a:p>
            <a:pPr lvl="2"/>
            <a:r>
              <a:rPr lang="en-GB" noProof="0" dirty="0"/>
              <a:t>Sub-Bullet #2</a:t>
            </a:r>
          </a:p>
          <a:p>
            <a:pPr lvl="3"/>
            <a:r>
              <a:rPr lang="en-GB" noProof="0" dirty="0" err="1"/>
              <a:t>Tekst</a:t>
            </a:r>
            <a:endParaRPr lang="en-GB" noProof="0" dirty="0"/>
          </a:p>
          <a:p>
            <a:pPr lvl="4"/>
            <a:r>
              <a:rPr lang="en-GB" noProof="0" dirty="0"/>
              <a:t>Heading #1</a:t>
            </a:r>
          </a:p>
          <a:p>
            <a:pPr lvl="5"/>
            <a:r>
              <a:rPr lang="en-GB" noProof="0" dirty="0"/>
              <a:t>Heading #2</a:t>
            </a:r>
          </a:p>
          <a:p>
            <a:pPr lvl="6"/>
            <a:r>
              <a:rPr lang="en-GB" noProof="0" dirty="0"/>
              <a:t>Numbers</a:t>
            </a:r>
          </a:p>
          <a:p>
            <a:pPr lvl="7"/>
            <a:r>
              <a:rPr lang="en-GB" noProof="0" dirty="0"/>
              <a:t>Letters</a:t>
            </a:r>
          </a:p>
          <a:p>
            <a:pPr marL="0" marR="0" lvl="8" indent="0" algn="l" defTabSz="914400" rtl="0" eaLnBrk="1" fontAlgn="auto" latinLnBrk="0" hangingPunct="1">
              <a:lnSpc>
                <a:spcPct val="90000"/>
              </a:lnSpc>
              <a:spcBef>
                <a:spcPts val="600"/>
              </a:spcBef>
              <a:spcAft>
                <a:spcPts val="600"/>
              </a:spcAft>
              <a:buClr>
                <a:schemeClr val="tx2"/>
              </a:buClr>
              <a:buSzTx/>
              <a:buFontTx/>
              <a:buNone/>
              <a:tabLst/>
              <a:defRPr/>
            </a:pPr>
            <a:r>
              <a:rPr lang="en-GB" noProof="0" dirty="0" err="1"/>
              <a:t>Bronvermelding</a:t>
            </a:r>
            <a:endParaRPr lang="en-GB" noProof="0" dirty="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userDrawn="1">
            <p:ph type="ftr" sz="quarter" idx="3"/>
          </p:nvPr>
        </p:nvSpPr>
        <p:spPr>
          <a:xfrm>
            <a:off x="2266793" y="7267316"/>
            <a:ext cx="4114800" cy="151790"/>
          </a:xfrm>
          <a:prstGeom prst="rect">
            <a:avLst/>
          </a:prstGeom>
        </p:spPr>
        <p:txBody>
          <a:bodyPr vert="horz" lIns="0" tIns="0" rIns="0" bIns="0" rtlCol="0" anchor="ctr">
            <a:noAutofit/>
          </a:bodyPr>
          <a:lstStyle>
            <a:lvl1pPr algn="l">
              <a:defRPr sz="1000">
                <a:solidFill>
                  <a:schemeClr val="tx1"/>
                </a:solidFill>
              </a:defRPr>
            </a:lvl1pPr>
          </a:lstStyle>
          <a:p>
            <a:r>
              <a:rPr lang="en-GB"/>
              <a:t>|  Published under cc-by licence</a:t>
            </a:r>
            <a:endParaRPr lang="en-GB" dirty="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userDrawn="1">
            <p:ph type="sldNum" sz="quarter" idx="4"/>
          </p:nvPr>
        </p:nvSpPr>
        <p:spPr>
          <a:xfrm>
            <a:off x="11175566" y="7255814"/>
            <a:ext cx="284597" cy="151790"/>
          </a:xfrm>
          <a:prstGeom prst="rect">
            <a:avLst/>
          </a:prstGeom>
        </p:spPr>
        <p:txBody>
          <a:bodyPr vert="horz" lIns="0" tIns="0" rIns="0" bIns="0" rtlCol="0" anchor="ctr">
            <a:noAutofit/>
          </a:bodyPr>
          <a:lstStyle>
            <a:lvl1pPr algn="r">
              <a:defRPr sz="1000" b="1">
                <a:solidFill>
                  <a:schemeClr val="tx1"/>
                </a:solidFill>
                <a:latin typeface="+mj-lt"/>
              </a:defRPr>
            </a:lvl1pPr>
          </a:lstStyle>
          <a:p>
            <a:fld id="{D7B5DC5B-6873-43DB-ADC7-B15ACCE0DFDB}" type="slidenum">
              <a:rPr lang="en-GB" smtClean="0"/>
              <a:pPr/>
              <a:t>‹#›</a:t>
            </a:fld>
            <a:endParaRPr lang="en-GB" dirty="0"/>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0" y="0"/>
            <a:ext cx="12192000" cy="6858000"/>
            <a:chOff x="0" y="0"/>
            <a:chExt cx="12192000" cy="6858000"/>
          </a:xfrm>
          <a:solidFill>
            <a:schemeClr val="tx1">
              <a:alpha val="20000"/>
            </a:schemeClr>
          </a:solidFill>
        </p:grpSpPr>
        <p:sp>
          <p:nvSpPr>
            <p:cNvPr id="8" name="Rechthoek 7">
              <a:extLst>
                <a:ext uri="{FF2B5EF4-FFF2-40B4-BE49-F238E27FC236}">
                  <a16:creationId xmlns:a16="http://schemas.microsoft.com/office/drawing/2014/main" id="{7D9988B5-FF41-44BF-9EBA-8ED0383D0B4A}"/>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2026"/>
            <a:ext cx="2129051" cy="150127"/>
          </a:xfrm>
          <a:prstGeom prst="rect">
            <a:avLst/>
          </a:prstGeom>
          <a:noFill/>
        </p:spPr>
        <p:txBody>
          <a:bodyPr wrap="square" lIns="0" tIns="0" rIns="0" bIns="0" rtlCol="0">
            <a:noAutofit/>
          </a:bodyPr>
          <a:lstStyle/>
          <a:p>
            <a:r>
              <a:rPr lang="en-GB" sz="1000" b="0" cap="all" baseline="0" noProof="0" dirty="0">
                <a:latin typeface="+mj-lt"/>
              </a:rPr>
              <a:t>Name of the layout</a:t>
            </a:r>
          </a:p>
        </p:txBody>
      </p:sp>
      <p:sp>
        <p:nvSpPr>
          <p:cNvPr id="4" name="Tijdelijke aanduiding voor datum 3">
            <a:extLst>
              <a:ext uri="{FF2B5EF4-FFF2-40B4-BE49-F238E27FC236}">
                <a16:creationId xmlns:a16="http://schemas.microsoft.com/office/drawing/2014/main" id="{4E8839A4-EDB3-CD18-65F6-1247F05B03F7}"/>
              </a:ext>
            </a:extLst>
          </p:cNvPr>
          <p:cNvSpPr>
            <a:spLocks noGrp="1"/>
          </p:cNvSpPr>
          <p:nvPr>
            <p:ph type="dt" sz="half" idx="2"/>
          </p:nvPr>
        </p:nvSpPr>
        <p:spPr>
          <a:xfrm>
            <a:off x="720000" y="7267317"/>
            <a:ext cx="1451700" cy="151789"/>
          </a:xfrm>
          <a:prstGeom prst="rect">
            <a:avLst/>
          </a:prstGeom>
        </p:spPr>
        <p:txBody>
          <a:bodyPr vert="horz" lIns="0" tIns="0" rIns="0" bIns="0" rtlCol="0" anchor="ctr"/>
          <a:lstStyle>
            <a:lvl1pPr algn="l">
              <a:defRPr sz="1000">
                <a:solidFill>
                  <a:schemeClr val="tx2"/>
                </a:solidFill>
              </a:defRPr>
            </a:lvl1pPr>
          </a:lstStyle>
          <a:p>
            <a:fld id="{35A72ECF-8B84-41B2-B55D-F6FF3126552C}" type="datetime3">
              <a:rPr lang="en-GB" smtClean="0"/>
              <a:t>13 November, 2025</a:t>
            </a:fld>
            <a:endParaRPr lang="en-GB"/>
          </a:p>
        </p:txBody>
      </p:sp>
    </p:spTree>
    <p:extLst>
      <p:ext uri="{BB962C8B-B14F-4D97-AF65-F5344CB8AC3E}">
        <p14:creationId xmlns:p14="http://schemas.microsoft.com/office/powerpoint/2010/main" val="1405780546"/>
      </p:ext>
    </p:extLst>
  </p:cSld>
  <p:clrMap bg1="lt1" tx1="dk1" bg2="lt2" tx2="dk2" accent1="accent1" accent2="accent2" accent3="accent3" accent4="accent4" accent5="accent5" accent6="accent6" hlink="hlink" folHlink="folHlink"/>
  <p:sldLayoutIdLst>
    <p:sldLayoutId id="2147483660" r:id="rId1"/>
    <p:sldLayoutId id="2147483663" r:id="rId2"/>
    <p:sldLayoutId id="2147483664" r:id="rId3"/>
    <p:sldLayoutId id="2147483665" r:id="rId4"/>
    <p:sldLayoutId id="2147483666" r:id="rId5"/>
    <p:sldLayoutId id="2147483667" r:id="rId6"/>
    <p:sldLayoutId id="2147483668" r:id="rId7"/>
  </p:sldLayoutIdLst>
  <p:hf sldNum="0" hdr="0"/>
  <p:txStyles>
    <p:titleStyle>
      <a:lvl1pPr algn="l" defTabSz="91440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p15:clr>
            <a:srgbClr val="F26B43"/>
          </p15:clr>
        </p15:guide>
        <p15:guide id="2" pos="450">
          <p15:clr>
            <a:srgbClr val="F26B43"/>
          </p15:clr>
        </p15:guide>
        <p15:guide id="3" orient="horz" pos="3657">
          <p15:clr>
            <a:srgbClr val="F26B43"/>
          </p15:clr>
        </p15:guide>
        <p15:guide id="4" orient="horz" pos="3997">
          <p15:clr>
            <a:srgbClr val="A4A3A4"/>
          </p15:clr>
        </p15:guide>
        <p15:guide id="5" orient="horz" pos="4092">
          <p15:clr>
            <a:srgbClr val="A4A3A4"/>
          </p15:clr>
        </p15:guide>
        <p15:guide id="6" pos="7219">
          <p15:clr>
            <a:srgbClr val="F26B43"/>
          </p15:clr>
        </p15:guide>
        <p15:guide id="7" orient="horz" pos="669">
          <p15:clr>
            <a:srgbClr val="A4A3A4"/>
          </p15:clr>
        </p15:guide>
        <p15:guide id="8" orient="horz" pos="455">
          <p15:clr>
            <a:srgbClr val="A4A3A4"/>
          </p15:clr>
        </p15:guide>
        <p15:guide id="9" orient="horz" pos="2160">
          <p15:clr>
            <a:srgbClr val="F26B43"/>
          </p15:clr>
        </p15:guide>
        <p15:guide id="10" orient="horz" pos="142">
          <p15:clr>
            <a:srgbClr val="5ACBF0"/>
          </p15:clr>
        </p15:guide>
        <p15:guide id="11" orient="horz" pos="4178">
          <p15:clr>
            <a:srgbClr val="5ACBF0"/>
          </p15:clr>
        </p15:guide>
        <p15:guide id="12" pos="3840">
          <p15:clr>
            <a:srgbClr val="F26B43"/>
          </p15:clr>
        </p15:guide>
        <p15:guide id="13" pos="121">
          <p15:clr>
            <a:srgbClr val="5ACBF0"/>
          </p15:clr>
        </p15:guide>
        <p15:guide id="14" pos="7559">
          <p15:clr>
            <a:srgbClr val="5ACBF0"/>
          </p15:clr>
        </p15:guide>
        <p15:guide id="15" orient="horz">
          <p15:clr>
            <a:srgbClr val="FDE53C"/>
          </p15:clr>
        </p15:guide>
        <p15:guide id="16" pos="7680">
          <p15:clr>
            <a:srgbClr val="FDE53C"/>
          </p15:clr>
        </p15:guide>
        <p15:guide id="17">
          <p15:clr>
            <a:srgbClr val="FDE53C"/>
          </p15:clr>
        </p15:guide>
        <p15:guide id="18" orient="horz" pos="4320">
          <p15:clr>
            <a:srgbClr val="FDE53C"/>
          </p15:clr>
        </p15:guide>
        <p15:guide id="19" pos="4021">
          <p15:clr>
            <a:srgbClr val="F26B43"/>
          </p15:clr>
        </p15:guide>
        <p15:guide id="20" pos="363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3.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sv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jpe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6.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30.jpe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jpe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servicedesk.surf.nl/wiki/display/WIKI/Snellius+hardware+and+file+system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prace-ri.eu/wp-content/uploads/Best-Practice-Guide_Deep-Learning.pdf"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en.wikipedia.org/wiki/Ampere_(microarchitectur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servicedesk.surf.nl/wiki/display/WIKI/Deep+Learning+on+A100+GPUs" TargetMode="Externa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hyperlink" Target="https://en.wikipedia.org/wiki/Instruction-level_parallelism" TargetMode="Externa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en.wikipedia.org/wiki/Embarrassingly_parallel"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jpe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media/image65.png"/></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7.jpe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8.jpeg"/><Relationship Id="rId5" Type="http://schemas.openxmlformats.org/officeDocument/2006/relationships/image" Target="../media/image66.png"/><Relationship Id="rId4" Type="http://schemas.openxmlformats.org/officeDocument/2006/relationships/image" Target="../media/image65.png"/></Relationships>
</file>

<file path=ppt/slides/_rels/slide5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hyperlink" Target="https://pytorch.org/docs/stable/distributed.pipelining.html" TargetMode="External"/><Relationship Id="rId7"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71.png"/><Relationship Id="rId4" Type="http://schemas.openxmlformats.org/officeDocument/2006/relationships/image" Target="../media/image63.png"/><Relationship Id="rId9" Type="http://schemas.openxmlformats.org/officeDocument/2006/relationships/hyperlink" Target="https://arxiv.org/abs/1811.06965"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390.png"/><Relationship Id="rId1" Type="http://schemas.openxmlformats.org/officeDocument/2006/relationships/slideLayout" Target="../slideLayouts/slideLayout4.xml"/><Relationship Id="rId6" Type="http://schemas.openxmlformats.org/officeDocument/2006/relationships/image" Target="../media/image73.jpeg"/><Relationship Id="rId5" Type="http://schemas.openxmlformats.org/officeDocument/2006/relationships/image" Target="../media/image71.png"/><Relationship Id="rId4" Type="http://schemas.openxmlformats.org/officeDocument/2006/relationships/hyperlink" Target="https://arxiv.org/pdf/1909.08053" TargetMode="External"/></Relationships>
</file>

<file path=ppt/slides/_rels/slide6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3.png"/><Relationship Id="rId7" Type="http://schemas.openxmlformats.org/officeDocument/2006/relationships/image" Target="../media/image74.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hyperlink" Target="https://arxiv.org/abs/2105.13120"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jpe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media/image65.png"/></Relationships>
</file>

<file path=ppt/slides/_rels/slide6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customXml" Target="../ink/ink10.xml"/><Relationship Id="rId42" Type="http://schemas.openxmlformats.org/officeDocument/2006/relationships/customXml" Target="../ink/ink21.xml"/><Relationship Id="rId47" Type="http://schemas.openxmlformats.org/officeDocument/2006/relationships/image" Target="../media/image500.png"/><Relationship Id="rId63" Type="http://schemas.openxmlformats.org/officeDocument/2006/relationships/image" Target="../media/image580.png"/><Relationship Id="rId68" Type="http://schemas.openxmlformats.org/officeDocument/2006/relationships/customXml" Target="../ink/ink34.xml"/><Relationship Id="rId84" Type="http://schemas.openxmlformats.org/officeDocument/2006/relationships/image" Target="../media/image68.png"/><Relationship Id="rId89" Type="http://schemas.openxmlformats.org/officeDocument/2006/relationships/customXml" Target="../ink/ink45.xml"/><Relationship Id="rId16" Type="http://schemas.openxmlformats.org/officeDocument/2006/relationships/image" Target="../media/image350.png"/><Relationship Id="rId11" Type="http://schemas.openxmlformats.org/officeDocument/2006/relationships/customXml" Target="../ink/ink5.xml"/><Relationship Id="rId32" Type="http://schemas.openxmlformats.org/officeDocument/2006/relationships/customXml" Target="../ink/ink16.xml"/><Relationship Id="rId37" Type="http://schemas.openxmlformats.org/officeDocument/2006/relationships/image" Target="../media/image450.png"/><Relationship Id="rId53" Type="http://schemas.openxmlformats.org/officeDocument/2006/relationships/image" Target="../media/image530.png"/><Relationship Id="rId58" Type="http://schemas.openxmlformats.org/officeDocument/2006/relationships/customXml" Target="../ink/ink29.xml"/><Relationship Id="rId74" Type="http://schemas.openxmlformats.org/officeDocument/2006/relationships/image" Target="../media/image630.png"/><Relationship Id="rId79" Type="http://schemas.openxmlformats.org/officeDocument/2006/relationships/customXml" Target="../ink/ink40.xml"/><Relationship Id="rId5" Type="http://schemas.openxmlformats.org/officeDocument/2006/relationships/customXml" Target="../ink/ink2.xml"/><Relationship Id="rId90" Type="http://schemas.openxmlformats.org/officeDocument/2006/relationships/customXml" Target="../ink/ink46.xml"/><Relationship Id="rId95" Type="http://schemas.openxmlformats.org/officeDocument/2006/relationships/customXml" Target="../ink/ink51.xml"/><Relationship Id="rId22" Type="http://schemas.openxmlformats.org/officeDocument/2006/relationships/image" Target="../media/image382.png"/><Relationship Id="rId27" Type="http://schemas.openxmlformats.org/officeDocument/2006/relationships/image" Target="../media/image402.png"/><Relationship Id="rId43" Type="http://schemas.openxmlformats.org/officeDocument/2006/relationships/image" Target="../media/image480.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610.png"/><Relationship Id="rId80" Type="http://schemas.openxmlformats.org/officeDocument/2006/relationships/image" Target="../media/image660.png"/><Relationship Id="rId85" Type="http://schemas.openxmlformats.org/officeDocument/2006/relationships/customXml" Target="../ink/ink43.xml"/><Relationship Id="rId3" Type="http://schemas.openxmlformats.org/officeDocument/2006/relationships/customXml" Target="../ink/ink1.xml"/><Relationship Id="rId12" Type="http://schemas.openxmlformats.org/officeDocument/2006/relationships/image" Target="../media/image33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432.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560.png"/><Relationship Id="rId67" Type="http://schemas.openxmlformats.org/officeDocument/2006/relationships/image" Target="../media/image600.png"/><Relationship Id="rId20" Type="http://schemas.openxmlformats.org/officeDocument/2006/relationships/image" Target="../media/image371.png"/><Relationship Id="rId41" Type="http://schemas.openxmlformats.org/officeDocument/2006/relationships/image" Target="../media/image470.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customXml" Target="../ink/ink38.xml"/><Relationship Id="rId83" Type="http://schemas.openxmlformats.org/officeDocument/2006/relationships/customXml" Target="../ink/ink42.xml"/><Relationship Id="rId88" Type="http://schemas.openxmlformats.org/officeDocument/2006/relationships/image" Target="../media/image700.png"/><Relationship Id="rId91" Type="http://schemas.openxmlformats.org/officeDocument/2006/relationships/customXml" Target="../ink/ink47.xml"/><Relationship Id="rId96" Type="http://schemas.openxmlformats.org/officeDocument/2006/relationships/customXml" Target="../ink/ink52.xml"/><Relationship Id="rId1" Type="http://schemas.openxmlformats.org/officeDocument/2006/relationships/slideLayout" Target="../slideLayouts/slideLayout7.xml"/><Relationship Id="rId6" Type="http://schemas.openxmlformats.org/officeDocument/2006/relationships/image" Target="../media/image30.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510.png"/><Relationship Id="rId57" Type="http://schemas.openxmlformats.org/officeDocument/2006/relationships/image" Target="../media/image550.png"/><Relationship Id="rId10" Type="http://schemas.openxmlformats.org/officeDocument/2006/relationships/image" Target="../media/image320.png"/><Relationship Id="rId31" Type="http://schemas.openxmlformats.org/officeDocument/2006/relationships/image" Target="../media/image422.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590.png"/><Relationship Id="rId73" Type="http://schemas.openxmlformats.org/officeDocument/2006/relationships/customXml" Target="../ink/ink37.xml"/><Relationship Id="rId78" Type="http://schemas.openxmlformats.org/officeDocument/2006/relationships/image" Target="../media/image650.png"/><Relationship Id="rId81" Type="http://schemas.openxmlformats.org/officeDocument/2006/relationships/customXml" Target="../ink/ink41.xml"/><Relationship Id="rId86" Type="http://schemas.openxmlformats.org/officeDocument/2006/relationships/image" Target="../media/image690.png"/><Relationship Id="rId94" Type="http://schemas.openxmlformats.org/officeDocument/2006/relationships/customXml" Target="../ink/ink50.xml"/><Relationship Id="rId4" Type="http://schemas.openxmlformats.org/officeDocument/2006/relationships/image" Target="../media/image290.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361.png"/><Relationship Id="rId39" Type="http://schemas.openxmlformats.org/officeDocument/2006/relationships/image" Target="../media/image460.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540.png"/><Relationship Id="rId76" Type="http://schemas.openxmlformats.org/officeDocument/2006/relationships/image" Target="../media/image640.png"/><Relationship Id="rId97" Type="http://schemas.openxmlformats.org/officeDocument/2006/relationships/customXml" Target="../ink/ink53.xml"/><Relationship Id="rId7" Type="http://schemas.openxmlformats.org/officeDocument/2006/relationships/customXml" Target="../ink/ink3.xml"/><Relationship Id="rId71" Type="http://schemas.openxmlformats.org/officeDocument/2006/relationships/customXml" Target="../ink/ink36.xml"/><Relationship Id="rId92" Type="http://schemas.openxmlformats.org/officeDocument/2006/relationships/customXml" Target="../ink/ink48.xml"/><Relationship Id="rId2" Type="http://schemas.openxmlformats.org/officeDocument/2006/relationships/image" Target="../media/image79.png"/><Relationship Id="rId29" Type="http://schemas.openxmlformats.org/officeDocument/2006/relationships/image" Target="../media/image412.png"/><Relationship Id="rId24" Type="http://schemas.openxmlformats.org/officeDocument/2006/relationships/image" Target="../media/image391.png"/><Relationship Id="rId40" Type="http://schemas.openxmlformats.org/officeDocument/2006/relationships/customXml" Target="../ink/ink20.xml"/><Relationship Id="rId45" Type="http://schemas.openxmlformats.org/officeDocument/2006/relationships/image" Target="../media/image490.png"/><Relationship Id="rId66" Type="http://schemas.openxmlformats.org/officeDocument/2006/relationships/customXml" Target="../ink/ink33.xml"/><Relationship Id="rId87" Type="http://schemas.openxmlformats.org/officeDocument/2006/relationships/customXml" Target="../ink/ink44.xml"/><Relationship Id="rId61" Type="http://schemas.openxmlformats.org/officeDocument/2006/relationships/image" Target="../media/image570.png"/><Relationship Id="rId82" Type="http://schemas.openxmlformats.org/officeDocument/2006/relationships/image" Target="../media/image67.png"/><Relationship Id="rId19" Type="http://schemas.openxmlformats.org/officeDocument/2006/relationships/customXml" Target="../ink/ink9.xml"/><Relationship Id="rId14" Type="http://schemas.openxmlformats.org/officeDocument/2006/relationships/image" Target="../media/image340.png"/><Relationship Id="rId30" Type="http://schemas.openxmlformats.org/officeDocument/2006/relationships/customXml" Target="../ink/ink15.xml"/><Relationship Id="rId35" Type="http://schemas.openxmlformats.org/officeDocument/2006/relationships/image" Target="../media/image442.png"/><Relationship Id="rId56" Type="http://schemas.openxmlformats.org/officeDocument/2006/relationships/customXml" Target="../ink/ink28.xml"/><Relationship Id="rId77" Type="http://schemas.openxmlformats.org/officeDocument/2006/relationships/customXml" Target="../ink/ink39.xml"/><Relationship Id="rId8" Type="http://schemas.openxmlformats.org/officeDocument/2006/relationships/image" Target="../media/image310.png"/><Relationship Id="rId51" Type="http://schemas.openxmlformats.org/officeDocument/2006/relationships/image" Target="../media/image520.png"/><Relationship Id="rId72" Type="http://schemas.openxmlformats.org/officeDocument/2006/relationships/image" Target="../media/image620.png"/><Relationship Id="rId93" Type="http://schemas.openxmlformats.org/officeDocument/2006/relationships/customXml" Target="../ink/ink49.xml"/></Relationships>
</file>

<file path=ppt/slides/_rels/slide6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customXml" Target="../ink/ink59.xml"/><Relationship Id="rId18" Type="http://schemas.openxmlformats.org/officeDocument/2006/relationships/image" Target="../media/image18.png"/><Relationship Id="rId3" Type="http://schemas.openxmlformats.org/officeDocument/2006/relationships/customXml" Target="../ink/ink54.xml"/><Relationship Id="rId7" Type="http://schemas.openxmlformats.org/officeDocument/2006/relationships/customXml" Target="../ink/ink56.xml"/><Relationship Id="rId12" Type="http://schemas.openxmlformats.org/officeDocument/2006/relationships/image" Target="../media/image150.png"/><Relationship Id="rId17" Type="http://schemas.openxmlformats.org/officeDocument/2006/relationships/customXml" Target="../ink/ink61.xml"/><Relationship Id="rId2" Type="http://schemas.openxmlformats.org/officeDocument/2006/relationships/image" Target="../media/image83.png"/><Relationship Id="rId16" Type="http://schemas.openxmlformats.org/officeDocument/2006/relationships/image" Target="../media/image170.png"/><Relationship Id="rId20" Type="http://schemas.openxmlformats.org/officeDocument/2006/relationships/image" Target="../media/image190.png"/><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customXml" Target="../ink/ink58.xml"/><Relationship Id="rId5" Type="http://schemas.openxmlformats.org/officeDocument/2006/relationships/customXml" Target="../ink/ink55.xml"/><Relationship Id="rId15" Type="http://schemas.openxmlformats.org/officeDocument/2006/relationships/customXml" Target="../ink/ink60.xml"/><Relationship Id="rId10" Type="http://schemas.openxmlformats.org/officeDocument/2006/relationships/image" Target="../media/image140.png"/><Relationship Id="rId19" Type="http://schemas.openxmlformats.org/officeDocument/2006/relationships/customXml" Target="../ink/ink62.xml"/><Relationship Id="rId4" Type="http://schemas.openxmlformats.org/officeDocument/2006/relationships/image" Target="../media/image110.png"/><Relationship Id="rId9" Type="http://schemas.openxmlformats.org/officeDocument/2006/relationships/customXml" Target="../ink/ink57.xml"/><Relationship Id="rId14" Type="http://schemas.openxmlformats.org/officeDocument/2006/relationships/image" Target="../media/image1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hyperlink" Target="https://www.tensorflow.org/guide/distributed_training" TargetMode="External"/><Relationship Id="rId7" Type="http://schemas.openxmlformats.org/officeDocument/2006/relationships/image" Target="../media/image64.png"/><Relationship Id="rId2" Type="http://schemas.openxmlformats.org/officeDocument/2006/relationships/hyperlink" Target="https://pytorch.org/docs/stable/distributed.html" TargetMode="Externa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hyperlink" Target="https://huggingface.co/docs/transformers/main/en/accelerate" TargetMode="External"/><Relationship Id="rId4" Type="http://schemas.openxmlformats.org/officeDocument/2006/relationships/hyperlink" Target="https://pytorch.org/docs/stable/fsdp.html" TargetMode="External"/><Relationship Id="rId9" Type="http://schemas.openxmlformats.org/officeDocument/2006/relationships/image" Target="../media/image66.png"/></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github.com/intel/intel-extension-for-pytorch"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hyperlink" Target="https://www.lumi-supercomputer.eu/" TargetMode="External"/></Relationships>
</file>

<file path=ppt/slides/_rels/slide88.xml.rels><?xml version="1.0" encoding="UTF-8" standalone="yes"?>
<Relationships xmlns="http://schemas.openxmlformats.org/package/2006/relationships"><Relationship Id="rId3" Type="http://schemas.openxmlformats.org/officeDocument/2006/relationships/hyperlink" Target="https://catalog.ngc.nvidia.com/orgs/nvidia/containers/pytorch" TargetMode="External"/><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hyperlink" Target="https://hub.docker.com/r/rocm/pytorch"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blog.ezyang.com/2020/09/lets-talk-about-the-pytorch-dispatcher/"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90.xml.rels><?xml version="1.0" encoding="UTF-8" standalone="yes"?>
<Relationships xmlns="http://schemas.openxmlformats.org/package/2006/relationships"><Relationship Id="rId3" Type="http://schemas.openxmlformats.org/officeDocument/2006/relationships/hyperlink" Target="https://servicedesk.surf.nl/wiki/display/WIKI/Deep+Learning+on+A100+GPUs"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97.png"/></Relationships>
</file>

<file path=ppt/slides/_rels/slide92.xml.rels><?xml version="1.0" encoding="UTF-8" standalone="yes"?>
<Relationships xmlns="http://schemas.openxmlformats.org/package/2006/relationships"><Relationship Id="rId3" Type="http://schemas.openxmlformats.org/officeDocument/2006/relationships/hyperlink" Target="https://pytorch.org/docs/stable/notes/cuda.html" TargetMode="External"/><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96.png"/><Relationship Id="rId5" Type="http://schemas.openxmlformats.org/officeDocument/2006/relationships/hyperlink" Target="https://docs.nvidia.com/deeplearning/performance/index.html" TargetMode="External"/><Relationship Id="rId4" Type="http://schemas.openxmlformats.org/officeDocument/2006/relationships/hyperlink" Target="https://docs.nvidia.com/deeplearning/performance/dl-performance-memory-limited/index.html" TargetMode="External"/></Relationships>
</file>

<file path=ppt/slides/_rels/slide9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94.xml.rels><?xml version="1.0" encoding="UTF-8" standalone="yes"?>
<Relationships xmlns="http://schemas.openxmlformats.org/package/2006/relationships"><Relationship Id="rId3" Type="http://schemas.openxmlformats.org/officeDocument/2006/relationships/image" Target="../media/image98.jpeg"/><Relationship Id="rId7" Type="http://schemas.openxmlformats.org/officeDocument/2006/relationships/image" Target="../media/image102.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9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05.svg"/></Relationships>
</file>

<file path=ppt/slides/_rels/slide9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jpeg"/></Relationships>
</file>

<file path=ppt/slides/_rels/slide9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115.png"/><Relationship Id="rId4" Type="http://schemas.openxmlformats.org/officeDocument/2006/relationships/image" Target="../media/image114.png"/></Relationships>
</file>

<file path=ppt/slides/_rels/slide10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117.jpeg"/></Relationships>
</file>

<file path=ppt/slides/_rels/slide102.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119.png"/><Relationship Id="rId4" Type="http://schemas.openxmlformats.org/officeDocument/2006/relationships/image" Target="../media/image118.png"/></Relationships>
</file>

<file path=ppt/slides/_rels/slide10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121.png"/></Relationships>
</file>

<file path=ppt/slides/_rels/slide104.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122.png"/></Relationships>
</file>

<file path=ppt/slides/_rels/slide10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64.xml"/><Relationship Id="rId1" Type="http://schemas.openxmlformats.org/officeDocument/2006/relationships/slideLayout" Target="../slideLayouts/slideLayout3.xml"/><Relationship Id="rId5" Type="http://schemas.openxmlformats.org/officeDocument/2006/relationships/hyperlink" Target="https://github.com/SURF-ML/HPML-course-materials.git" TargetMode="External"/><Relationship Id="rId4" Type="http://schemas.openxmlformats.org/officeDocument/2006/relationships/hyperlink" Target="https://github.com/SURF-ML/HPML-course-materials/blob/august2025/Day2/notebooks/PyTorch_profiling.ipynb" TargetMode="Externa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hyperlink" Target="https://arxiv.org/pdf/2412.19437" TargetMode="External"/><Relationship Id="rId1" Type="http://schemas.openxmlformats.org/officeDocument/2006/relationships/slideLayout" Target="../slideLayouts/slideLayout1.xml"/><Relationship Id="rId4" Type="http://schemas.openxmlformats.org/officeDocument/2006/relationships/image" Target="../media/image132.png"/></Relationships>
</file>

<file path=ppt/slides/_rels/slide11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3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 name="PlaceHolder 1"/>
          <p:cNvSpPr>
            <a:spLocks noGrp="1"/>
          </p:cNvSpPr>
          <p:nvPr>
            <p:ph/>
          </p:nvPr>
        </p:nvSpPr>
        <p:spPr>
          <a:xfrm>
            <a:off x="423360" y="524520"/>
            <a:ext cx="5556240" cy="2644920"/>
          </a:xfrm>
          <a:prstGeom prst="rect">
            <a:avLst/>
          </a:prstGeom>
          <a:blipFill rotWithShape="0">
            <a:blip r:embed="rId3">
              <a:alphaModFix amt="90000"/>
            </a:blip>
            <a:stretch/>
          </a:blipFill>
          <a:ln w="0">
            <a:noFill/>
          </a:ln>
        </p:spPr>
        <p:txBody>
          <a:bodyPr lIns="900000" tIns="720000" rIns="288000" bIns="1800000" anchor="t">
            <a:noAutofit/>
          </a:bodyPr>
          <a:lstStyle/>
          <a:p>
            <a:pPr>
              <a:lnSpc>
                <a:spcPct val="114999"/>
              </a:lnSpc>
              <a:spcBef>
                <a:spcPts val="1199"/>
              </a:spcBef>
              <a:spcAft>
                <a:spcPts val="1199"/>
              </a:spcAft>
              <a:buNone/>
              <a:tabLst>
                <a:tab pos="0" algn="l"/>
              </a:tabLst>
            </a:pPr>
            <a:r>
              <a:rPr lang="en-GB" sz="2500" b="1" spc="-1" dirty="0">
                <a:solidFill>
                  <a:srgbClr val="000000"/>
                </a:solidFill>
                <a:latin typeface="Arial"/>
              </a:rPr>
              <a:t>High-Performance</a:t>
            </a:r>
            <a:br>
              <a:rPr lang="en-GB" sz="2500" b="1" spc="-1" dirty="0">
                <a:solidFill>
                  <a:srgbClr val="000000"/>
                </a:solidFill>
                <a:latin typeface="Arial"/>
              </a:rPr>
            </a:br>
            <a:r>
              <a:rPr lang="en-GB" sz="2500" b="1" spc="-1" dirty="0">
                <a:solidFill>
                  <a:srgbClr val="000000"/>
                </a:solidFill>
                <a:latin typeface="Arial"/>
              </a:rPr>
              <a:t>Machine-Learning</a:t>
            </a:r>
            <a:endParaRPr lang="nl-NL" dirty="0"/>
          </a:p>
        </p:txBody>
      </p:sp>
      <p:sp>
        <p:nvSpPr>
          <p:cNvPr id="931" name="PlaceHolder 2"/>
          <p:cNvSpPr>
            <a:spLocks noGrp="1"/>
          </p:cNvSpPr>
          <p:nvPr>
            <p:ph/>
          </p:nvPr>
        </p:nvSpPr>
        <p:spPr>
          <a:xfrm>
            <a:off x="1013040" y="2183760"/>
            <a:ext cx="4875120" cy="973800"/>
          </a:xfrm>
          <a:prstGeom prst="rect">
            <a:avLst/>
          </a:prstGeom>
          <a:noFill/>
          <a:ln w="0">
            <a:noFill/>
          </a:ln>
        </p:spPr>
        <p:txBody>
          <a:bodyPr lIns="324000" tIns="0" rIns="252000" bIns="0" anchor="t">
            <a:noAutofit/>
          </a:bodyPr>
          <a:lstStyle/>
          <a:p>
            <a:pPr>
              <a:buNone/>
              <a:tabLst>
                <a:tab pos="0" algn="l"/>
              </a:tabLst>
            </a:pPr>
            <a:r>
              <a:rPr lang="en-GB" sz="1800" spc="-1" dirty="0">
                <a:solidFill>
                  <a:srgbClr val="000000"/>
                </a:solidFill>
                <a:latin typeface="Calibri"/>
              </a:rPr>
              <a:t>Robert Jan Schlimbach</a:t>
            </a:r>
            <a:endParaRPr lang="en-US" sz="1800" spc="-1" dirty="0" err="1">
              <a:solidFill>
                <a:srgbClr val="000000"/>
              </a:solidFill>
              <a:latin typeface="Arial"/>
            </a:endParaRPr>
          </a:p>
          <a:p>
            <a:pPr>
              <a:buNone/>
              <a:tabLst>
                <a:tab pos="0" algn="l"/>
              </a:tabLst>
            </a:pPr>
            <a:r>
              <a:rPr lang="en-GB" sz="1800" spc="-1" dirty="0">
                <a:solidFill>
                  <a:srgbClr val="000000"/>
                </a:solidFill>
                <a:latin typeface="Calibri"/>
              </a:rPr>
              <a:t>Team High-Performance Machine-Learning</a:t>
            </a:r>
            <a:endParaRPr lang="en-GB" sz="1800" b="0" strike="noStrike" spc="-1" dirty="0">
              <a:solidFill>
                <a:srgbClr val="000000"/>
              </a:solidFill>
              <a:latin typeface="Calibri"/>
            </a:endParaRPr>
          </a:p>
        </p:txBody>
      </p:sp>
      <p:sp>
        <p:nvSpPr>
          <p:cNvPr id="932" name="PlaceHolder 3"/>
          <p:cNvSpPr>
            <a:spLocks noGrp="1"/>
          </p:cNvSpPr>
          <p:nvPr>
            <p:ph/>
          </p:nvPr>
        </p:nvSpPr>
        <p:spPr>
          <a:xfrm>
            <a:off x="10692000" y="5852160"/>
            <a:ext cx="991440" cy="486360"/>
          </a:xfrm>
          <a:prstGeom prst="rect">
            <a:avLst/>
          </a:prstGeom>
          <a:blipFill rotWithShape="0">
            <a:blip r:embed="rId4"/>
            <a:stretch/>
          </a:blipFill>
          <a:ln w="0">
            <a:noFill/>
          </a:ln>
        </p:spPr>
        <p:txBody>
          <a:bodyPr lIns="0" tIns="0" rIns="0" bIns="0" anchor="t">
            <a:noAutofit/>
          </a:bodyPr>
          <a:lstStyle/>
          <a:p>
            <a:pPr algn="ctr">
              <a:lnSpc>
                <a:spcPct val="80000"/>
              </a:lnSpc>
              <a:buNone/>
              <a:tabLst>
                <a:tab pos="0" algn="l"/>
              </a:tabLst>
            </a:pPr>
            <a:r>
              <a:rPr lang="en-GB" sz="1600" b="0" strike="noStrike" spc="-1">
                <a:solidFill>
                  <a:srgbClr val="000000"/>
                </a:solidFill>
                <a:latin typeface="Calibri"/>
                <a:ea typeface="Calibri"/>
              </a:rPr>
              <a:t> </a:t>
            </a:r>
            <a:endParaRPr lang="en-US" sz="1600" b="0" strike="noStrike" spc="-1">
              <a:solidFill>
                <a:srgbClr val="000000"/>
              </a:solidFill>
              <a:latin typeface="Arial"/>
            </a:endParaRPr>
          </a:p>
        </p:txBody>
      </p:sp>
      <p:sp>
        <p:nvSpPr>
          <p:cNvPr id="933" name="Google Shape;226;p23"/>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4" name="Google Shape;227;p23"/>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5" name="Google Shape;228;p23"/>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6" name="Google Shape;229;p23"/>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7" name="Google Shape;230;p23"/>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2" name="Afbeelding 1" descr="Afbeelding met overdekt, muur&#10;&#10;Automatisch gegenereerde beschrijving">
            <a:extLst>
              <a:ext uri="{FF2B5EF4-FFF2-40B4-BE49-F238E27FC236}">
                <a16:creationId xmlns:a16="http://schemas.microsoft.com/office/drawing/2014/main" id="{5E179440-CA2A-E3A5-961A-432D77DB3999}"/>
              </a:ext>
            </a:extLst>
          </p:cNvPr>
          <p:cNvPicPr>
            <a:picLocks noChangeAspect="1"/>
          </p:cNvPicPr>
          <p:nvPr/>
        </p:nvPicPr>
        <p:blipFill>
          <a:blip r:embed="rId5"/>
          <a:stretch>
            <a:fillRect/>
          </a:stretch>
        </p:blipFill>
        <p:spPr>
          <a:xfrm>
            <a:off x="5845176" y="-1587"/>
            <a:ext cx="6343650" cy="4757738"/>
          </a:xfrm>
          <a:prstGeom prst="rect">
            <a:avLst/>
          </a:prstGeom>
        </p:spPr>
      </p:pic>
      <p:pic>
        <p:nvPicPr>
          <p:cNvPr id="3" name="Afbeelding 2" descr="Afbeelding met elektronica, Elektrische bedrading, server, Elektronische engineering&#10;&#10;Automatisch gegenereerde beschrijving">
            <a:extLst>
              <a:ext uri="{FF2B5EF4-FFF2-40B4-BE49-F238E27FC236}">
                <a16:creationId xmlns:a16="http://schemas.microsoft.com/office/drawing/2014/main" id="{2731C261-ABC9-5567-C5BA-58F99BC4FDE6}"/>
              </a:ext>
            </a:extLst>
          </p:cNvPr>
          <p:cNvPicPr>
            <a:picLocks noChangeAspect="1"/>
          </p:cNvPicPr>
          <p:nvPr/>
        </p:nvPicPr>
        <p:blipFill>
          <a:blip r:embed="rId6"/>
          <a:stretch>
            <a:fillRect/>
          </a:stretch>
        </p:blipFill>
        <p:spPr>
          <a:xfrm>
            <a:off x="-3175" y="3038474"/>
            <a:ext cx="2863850" cy="3821113"/>
          </a:xfrm>
          <a:prstGeom prst="rect">
            <a:avLst/>
          </a:prstGeom>
        </p:spPr>
      </p:pic>
      <p:pic>
        <p:nvPicPr>
          <p:cNvPr id="4" name="Afbeelding 3" descr="Afbeelding met elektronica, Elektronische engineering, Computeronderdeel, Elektrische bedrading&#10;&#10;Automatisch gegenereerde beschrijving">
            <a:extLst>
              <a:ext uri="{FF2B5EF4-FFF2-40B4-BE49-F238E27FC236}">
                <a16:creationId xmlns:a16="http://schemas.microsoft.com/office/drawing/2014/main" id="{AA44F28F-FC9A-23BE-5E7B-72FDFE0B9E6F}"/>
              </a:ext>
            </a:extLst>
          </p:cNvPr>
          <p:cNvPicPr>
            <a:picLocks noChangeAspect="1"/>
          </p:cNvPicPr>
          <p:nvPr/>
        </p:nvPicPr>
        <p:blipFill>
          <a:blip r:embed="rId7"/>
          <a:stretch>
            <a:fillRect/>
          </a:stretch>
        </p:blipFill>
        <p:spPr>
          <a:xfrm>
            <a:off x="2933700" y="3038474"/>
            <a:ext cx="2863850" cy="3821113"/>
          </a:xfrm>
          <a:prstGeom prst="rect">
            <a:avLst/>
          </a:prstGeom>
        </p:spPr>
      </p:pic>
      <p:pic>
        <p:nvPicPr>
          <p:cNvPr id="7" name="Picture 6" descr="A yellow letter c on a black background&#10;&#10;AI-generated content may be incorrect.">
            <a:extLst>
              <a:ext uri="{FF2B5EF4-FFF2-40B4-BE49-F238E27FC236}">
                <a16:creationId xmlns:a16="http://schemas.microsoft.com/office/drawing/2014/main" id="{CB55209D-5D5A-741A-D86D-8D951C02209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30648"/>
            <a:ext cx="906697" cy="906697"/>
          </a:xfrm>
          <a:prstGeom prst="rect">
            <a:avLst/>
          </a:prstGeom>
        </p:spPr>
      </p:pic>
    </p:spTree>
    <p:extLst>
      <p:ext uri="{BB962C8B-B14F-4D97-AF65-F5344CB8AC3E}">
        <p14:creationId xmlns:p14="http://schemas.microsoft.com/office/powerpoint/2010/main" val="2212955866"/>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87A890E-C00D-9197-00A6-88BD19A651EE}"/>
              </a:ext>
            </a:extLst>
          </p:cNvPr>
          <p:cNvSpPr>
            <a:spLocks noGrp="1"/>
          </p:cNvSpPr>
          <p:nvPr>
            <p:ph type="body" sz="quarter" idx="14"/>
          </p:nvPr>
        </p:nvSpPr>
        <p:spPr>
          <a:xfrm>
            <a:off x="6879" y="6286088"/>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4C98650D-C22E-DF84-F100-67830B77CEC9}"/>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DDCA0AD4-71FD-E7CA-1CA5-7959F1F21079}"/>
              </a:ext>
            </a:extLst>
          </p:cNvPr>
          <p:cNvSpPr>
            <a:spLocks noGrp="1"/>
          </p:cNvSpPr>
          <p:nvPr>
            <p:ph type="title"/>
          </p:nvPr>
        </p:nvSpPr>
        <p:spPr/>
        <p:txBody>
          <a:bodyPr/>
          <a:lstStyle/>
          <a:p>
            <a:r>
              <a:rPr lang="en-GB" noProof="0" dirty="0"/>
              <a:t>In this presentation</a:t>
            </a:r>
            <a:endParaRPr lang="nl-NL" dirty="0"/>
          </a:p>
        </p:txBody>
      </p:sp>
      <p:sp>
        <p:nvSpPr>
          <p:cNvPr id="5" name="Tijdelijke aanduiding voor inhoud 4">
            <a:extLst>
              <a:ext uri="{FF2B5EF4-FFF2-40B4-BE49-F238E27FC236}">
                <a16:creationId xmlns:a16="http://schemas.microsoft.com/office/drawing/2014/main" id="{10DA4847-4A36-C5BF-512D-1661932BFC1E}"/>
              </a:ext>
            </a:extLst>
          </p:cNvPr>
          <p:cNvSpPr>
            <a:spLocks noGrp="1"/>
          </p:cNvSpPr>
          <p:nvPr>
            <p:ph idx="19"/>
          </p:nvPr>
        </p:nvSpPr>
        <p:spPr>
          <a:xfrm>
            <a:off x="744207" y="1342326"/>
            <a:ext cx="10275278" cy="4060393"/>
          </a:xfrm>
        </p:spPr>
        <p:txBody>
          <a:bodyPr/>
          <a:lstStyle/>
          <a:p>
            <a:pPr lvl="3"/>
            <a:r>
              <a:rPr lang="nl-NL" sz="3600" dirty="0"/>
              <a:t>Making (AI) workloads go fast</a:t>
            </a:r>
          </a:p>
          <a:p>
            <a:pPr lvl="3"/>
            <a:endParaRPr lang="nl-NL" sz="3600" dirty="0"/>
          </a:p>
          <a:p>
            <a:pPr lvl="3"/>
            <a:r>
              <a:rPr lang="nl-NL" sz="3600" dirty="0"/>
              <a:t>Warning: this will be messy</a:t>
            </a:r>
          </a:p>
          <a:p>
            <a:pPr lvl="3"/>
            <a:endParaRPr lang="nl-NL" sz="3600" dirty="0"/>
          </a:p>
          <a:p>
            <a:pPr lvl="3"/>
            <a:endParaRPr lang="nl-NL" sz="3600" dirty="0"/>
          </a:p>
          <a:p>
            <a:pPr lvl="3"/>
            <a:r>
              <a:rPr lang="nl-NL" sz="3600" dirty="0"/>
              <a:t>Material is available at </a:t>
            </a:r>
            <a:br>
              <a:rPr lang="nl-NL" sz="3600" dirty="0"/>
            </a:br>
            <a:r>
              <a:rPr lang="nl-NL" sz="3200" dirty="0"/>
              <a:t>https://github.com/SURF-ML/HPML-course-materials</a:t>
            </a:r>
          </a:p>
        </p:txBody>
      </p:sp>
      <p:pic>
        <p:nvPicPr>
          <p:cNvPr id="7" name="Picture 6" descr="A firefighter spraying water on a fire&#10;&#10;AI-generated content may be incorrect.">
            <a:extLst>
              <a:ext uri="{FF2B5EF4-FFF2-40B4-BE49-F238E27FC236}">
                <a16:creationId xmlns:a16="http://schemas.microsoft.com/office/drawing/2014/main" id="{FB4F60AC-C95B-3247-D34B-BED58BC82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8960" y="628307"/>
            <a:ext cx="4837100" cy="3226308"/>
          </a:xfrm>
          <a:prstGeom prst="rect">
            <a:avLst/>
          </a:prstGeom>
        </p:spPr>
      </p:pic>
    </p:spTree>
    <p:extLst>
      <p:ext uri="{BB962C8B-B14F-4D97-AF65-F5344CB8AC3E}">
        <p14:creationId xmlns:p14="http://schemas.microsoft.com/office/powerpoint/2010/main" val="314008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24CD-E146-B678-D912-C461DE63B0DA}"/>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A49DEEC0-5F21-9F3B-54F0-078494B1891C}"/>
              </a:ext>
            </a:extLst>
          </p:cNvPr>
          <p:cNvSpPr>
            <a:spLocks noGrp="1"/>
          </p:cNvSpPr>
          <p:nvPr>
            <p:ph type="body" sz="quarter" idx="14"/>
          </p:nvPr>
        </p:nvSpPr>
        <p:spPr>
          <a:xfrm>
            <a:off x="6879" y="6286088"/>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2C44529F-B658-22C9-5720-49D0391A8E2E}"/>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321D4EBC-51A8-6827-4B09-03D5DB2A7107}"/>
              </a:ext>
            </a:extLst>
          </p:cNvPr>
          <p:cNvSpPr>
            <a:spLocks noGrp="1"/>
          </p:cNvSpPr>
          <p:nvPr>
            <p:ph type="title"/>
          </p:nvPr>
        </p:nvSpPr>
        <p:spPr/>
        <p:txBody>
          <a:bodyPr/>
          <a:lstStyle/>
          <a:p>
            <a:r>
              <a:rPr lang="en-GB" noProof="0" dirty="0"/>
              <a:t>In this presentation</a:t>
            </a:r>
            <a:endParaRPr lang="nl-NL" dirty="0"/>
          </a:p>
        </p:txBody>
      </p:sp>
      <p:sp>
        <p:nvSpPr>
          <p:cNvPr id="5" name="Tijdelijke aanduiding voor inhoud 4">
            <a:extLst>
              <a:ext uri="{FF2B5EF4-FFF2-40B4-BE49-F238E27FC236}">
                <a16:creationId xmlns:a16="http://schemas.microsoft.com/office/drawing/2014/main" id="{1371A7E3-3A14-B863-4BA8-487434043E7C}"/>
              </a:ext>
            </a:extLst>
          </p:cNvPr>
          <p:cNvSpPr>
            <a:spLocks noGrp="1"/>
          </p:cNvSpPr>
          <p:nvPr>
            <p:ph idx="19"/>
          </p:nvPr>
        </p:nvSpPr>
        <p:spPr>
          <a:xfrm>
            <a:off x="744207" y="1342326"/>
            <a:ext cx="10275278" cy="4060393"/>
          </a:xfrm>
        </p:spPr>
        <p:txBody>
          <a:bodyPr/>
          <a:lstStyle/>
          <a:p>
            <a:pPr lvl="3"/>
            <a:r>
              <a:rPr lang="nl-NL" sz="3600" dirty="0"/>
              <a:t>Please:</a:t>
            </a:r>
          </a:p>
          <a:p>
            <a:pPr marL="571500" lvl="3" indent="-571500">
              <a:buFont typeface="Arial" panose="020B0604020202020204" pitchFamily="34" charset="0"/>
              <a:buChar char="•"/>
            </a:pPr>
            <a:r>
              <a:rPr lang="nl-NL" sz="3600" dirty="0"/>
              <a:t>Interrupt me</a:t>
            </a:r>
            <a:br>
              <a:rPr lang="nl-NL" sz="3600" dirty="0"/>
            </a:br>
            <a:r>
              <a:rPr lang="nl-NL" sz="3600" dirty="0"/>
              <a:t>if you have a question</a:t>
            </a:r>
          </a:p>
          <a:p>
            <a:pPr marL="571500" lvl="3" indent="-571500">
              <a:buFont typeface="Arial" panose="020B0604020202020204" pitchFamily="34" charset="0"/>
              <a:buChar char="•"/>
            </a:pPr>
            <a:r>
              <a:rPr lang="nl-NL" sz="3600" dirty="0"/>
              <a:t>Let me know</a:t>
            </a:r>
            <a:br>
              <a:rPr lang="nl-NL" sz="3600" dirty="0"/>
            </a:br>
            <a:r>
              <a:rPr lang="nl-NL" sz="3600" dirty="0"/>
              <a:t>if something is unclear</a:t>
            </a:r>
            <a:br>
              <a:rPr lang="nl-NL" sz="3200" dirty="0"/>
            </a:br>
            <a:r>
              <a:rPr lang="nl-NL" sz="3200" dirty="0"/>
              <a:t>(it’s probably me, not you)</a:t>
            </a:r>
            <a:endParaRPr lang="nl-NL" sz="3600" dirty="0"/>
          </a:p>
        </p:txBody>
      </p:sp>
      <p:pic>
        <p:nvPicPr>
          <p:cNvPr id="7" name="Picture 6" descr="A firefighter spraying water on a fire&#10;&#10;AI-generated content may be incorrect.">
            <a:extLst>
              <a:ext uri="{FF2B5EF4-FFF2-40B4-BE49-F238E27FC236}">
                <a16:creationId xmlns:a16="http://schemas.microsoft.com/office/drawing/2014/main" id="{D89D88F9-9272-E713-9B15-D4AE2E2DB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8960" y="628307"/>
            <a:ext cx="4837100" cy="3226308"/>
          </a:xfrm>
          <a:prstGeom prst="rect">
            <a:avLst/>
          </a:prstGeom>
        </p:spPr>
      </p:pic>
    </p:spTree>
    <p:extLst>
      <p:ext uri="{BB962C8B-B14F-4D97-AF65-F5344CB8AC3E}">
        <p14:creationId xmlns:p14="http://schemas.microsoft.com/office/powerpoint/2010/main" val="3335696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Macro</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488713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rPr>
              <a:t>Who am I</a:t>
            </a:r>
            <a:endParaRPr lang="nl-NL" dirty="0"/>
          </a:p>
        </p:txBody>
      </p:sp>
      <p:sp>
        <p:nvSpPr>
          <p:cNvPr id="939" name="PlaceHolder 2"/>
          <p:cNvSpPr>
            <a:spLocks noGrp="1"/>
          </p:cNvSpPr>
          <p:nvPr>
            <p:ph/>
          </p:nvPr>
        </p:nvSpPr>
        <p:spPr>
          <a:xfrm>
            <a:off x="440293" y="1400400"/>
            <a:ext cx="8973720" cy="4456440"/>
          </a:xfrm>
          <a:prstGeom prst="rect">
            <a:avLst/>
          </a:prstGeom>
          <a:noFill/>
          <a:ln w="0">
            <a:noFill/>
          </a:ln>
        </p:spPr>
        <p:txBody>
          <a:bodyPr lIns="0" tIns="0" rIns="0" bIns="0" anchor="t">
            <a:noAutofit/>
          </a:bodyPr>
          <a:lstStyle/>
          <a:p>
            <a:pPr marL="0" indent="0">
              <a:lnSpc>
                <a:spcPct val="100000"/>
              </a:lnSpc>
              <a:buClr>
                <a:srgbClr val="EA7600"/>
              </a:buClr>
              <a:buNone/>
            </a:pPr>
            <a:r>
              <a:rPr lang="en-GB" sz="1600" b="1" spc="-1" dirty="0">
                <a:solidFill>
                  <a:srgbClr val="000000"/>
                </a:solidFill>
                <a:latin typeface="Arial"/>
              </a:rPr>
              <a:t>Robert Jan:</a:t>
            </a:r>
          </a:p>
          <a:p>
            <a:pPr marL="269875" indent="-269875">
              <a:lnSpc>
                <a:spcPct val="100000"/>
              </a:lnSpc>
              <a:buClr>
                <a:srgbClr val="EA7600"/>
              </a:buClr>
              <a:buFont typeface="Calibri"/>
              <a:buChar char="•"/>
            </a:pPr>
            <a:r>
              <a:rPr lang="en-GB" sz="1600" spc="-1" dirty="0" err="1">
                <a:solidFill>
                  <a:srgbClr val="000000"/>
                </a:solidFill>
                <a:latin typeface="Arial"/>
              </a:rPr>
              <a:t>UvA</a:t>
            </a:r>
            <a:r>
              <a:rPr lang="en-GB" sz="1600" spc="-1" dirty="0">
                <a:solidFill>
                  <a:srgbClr val="000000"/>
                </a:solidFill>
                <a:latin typeface="Arial"/>
              </a:rPr>
              <a:t> CS&amp;AI grad</a:t>
            </a:r>
            <a:endParaRPr lang="en-US" sz="1600" spc="-1" dirty="0">
              <a:solidFill>
                <a:srgbClr val="000000"/>
              </a:solidFill>
              <a:latin typeface="Arial"/>
            </a:endParaRPr>
          </a:p>
          <a:p>
            <a:pPr marL="269875" indent="-269875">
              <a:lnSpc>
                <a:spcPct val="100000"/>
              </a:lnSpc>
              <a:buClr>
                <a:srgbClr val="EA7600"/>
              </a:buClr>
              <a:buFont typeface="Calibri"/>
              <a:buChar char="•"/>
            </a:pPr>
            <a:r>
              <a:rPr lang="en-GB" sz="1600" dirty="0"/>
              <a:t>HPC ML advisor at SURF</a:t>
            </a:r>
            <a:endParaRPr lang="en-US" sz="1600" spc="-1" dirty="0"/>
          </a:p>
          <a:p>
            <a:pPr marL="269875" indent="-269875">
              <a:lnSpc>
                <a:spcPct val="100000"/>
              </a:lnSpc>
              <a:buClr>
                <a:srgbClr val="EA7600"/>
              </a:buClr>
              <a:buFont typeface="Calibri"/>
              <a:buChar char="•"/>
            </a:pPr>
            <a:r>
              <a:rPr lang="en-GB" sz="1600" dirty="0"/>
              <a:t>Love making code go fast</a:t>
            </a:r>
          </a:p>
          <a:p>
            <a:pPr marL="269875" indent="-269875">
              <a:lnSpc>
                <a:spcPct val="100000"/>
              </a:lnSpc>
              <a:buClr>
                <a:srgbClr val="EA7600"/>
              </a:buClr>
              <a:buFont typeface="Calibri"/>
              <a:buChar char="•"/>
            </a:pPr>
            <a:r>
              <a:rPr lang="en-GB" sz="1600" dirty="0"/>
              <a:t>Love running, climbing, and mountains</a:t>
            </a:r>
            <a:endParaRPr lang="en-US" sz="1600" spc="-1" dirty="0"/>
          </a:p>
          <a:p>
            <a:pPr marL="0" indent="0">
              <a:lnSpc>
                <a:spcPct val="100000"/>
              </a:lnSpc>
              <a:buClr>
                <a:srgbClr val="EA7600"/>
              </a:buClr>
              <a:buNone/>
            </a:pPr>
            <a:r>
              <a:rPr lang="en-GB" sz="1600" b="1" dirty="0"/>
              <a:t>SURF</a:t>
            </a:r>
            <a:endParaRPr lang="en-GB" sz="1600" dirty="0"/>
          </a:p>
          <a:p>
            <a:pPr marL="269875" indent="-269875">
              <a:lnSpc>
                <a:spcPct val="100000"/>
              </a:lnSpc>
              <a:buClr>
                <a:srgbClr val="EA7600"/>
              </a:buClr>
              <a:buFont typeface="Calibri"/>
              <a:buChar char="•"/>
            </a:pPr>
            <a:r>
              <a:rPr lang="en-GB" sz="1600" dirty="0"/>
              <a:t>Help academia in a very broad sense</a:t>
            </a:r>
            <a:endParaRPr lang="en-US" sz="1600" spc="-1" dirty="0"/>
          </a:p>
          <a:p>
            <a:pPr marL="269875" indent="-269875">
              <a:lnSpc>
                <a:spcPct val="100000"/>
              </a:lnSpc>
              <a:buClr>
                <a:srgbClr val="EA7600"/>
              </a:buClr>
              <a:buFont typeface="Calibri"/>
              <a:buChar char="•"/>
            </a:pPr>
            <a:r>
              <a:rPr lang="en-GB" sz="1600" dirty="0" err="1"/>
              <a:t>Eduroam</a:t>
            </a:r>
            <a:r>
              <a:rPr lang="en-GB" sz="1600" dirty="0"/>
              <a:t>, </a:t>
            </a:r>
            <a:r>
              <a:rPr lang="en-GB" sz="1600" dirty="0" err="1"/>
              <a:t>SurfConext</a:t>
            </a:r>
            <a:r>
              <a:rPr lang="en-GB" sz="1600" dirty="0"/>
              <a:t>, </a:t>
            </a:r>
            <a:r>
              <a:rPr lang="en-GB" sz="1600" dirty="0" err="1"/>
              <a:t>SurfMarket</a:t>
            </a:r>
            <a:r>
              <a:rPr lang="en-GB" sz="1600" dirty="0"/>
              <a:t>, National Supercomputer, etc...</a:t>
            </a:r>
            <a:endParaRPr lang="en-US" sz="1600" spc="-1" dirty="0"/>
          </a:p>
          <a:p>
            <a:pPr marL="269875" indent="-269875">
              <a:lnSpc>
                <a:spcPct val="100000"/>
              </a:lnSpc>
              <a:buClr>
                <a:srgbClr val="EA7600"/>
              </a:buClr>
              <a:buFont typeface="Calibri"/>
              <a:buChar char="•"/>
            </a:pPr>
            <a:r>
              <a:rPr lang="en-GB" sz="1600" dirty="0"/>
              <a:t>Collaborate a lot in (Inter-)National projects </a:t>
            </a:r>
          </a:p>
          <a:p>
            <a:pPr marL="269875" indent="-269875">
              <a:lnSpc>
                <a:spcPct val="100000"/>
              </a:lnSpc>
              <a:buClr>
                <a:srgbClr val="EA7600"/>
              </a:buClr>
              <a:buFont typeface="Calibri"/>
              <a:buChar char="•"/>
            </a:pPr>
            <a:r>
              <a:rPr lang="en-GB" sz="1600" dirty="0"/>
              <a:t>Bulwark against our Microsoft overlords</a:t>
            </a:r>
          </a:p>
          <a:p>
            <a:pPr marL="0" indent="0">
              <a:lnSpc>
                <a:spcPct val="100000"/>
              </a:lnSpc>
              <a:buClr>
                <a:srgbClr val="EA7600"/>
              </a:buClr>
              <a:buNone/>
            </a:pPr>
            <a:r>
              <a:rPr lang="en-GB" sz="1600" b="1" dirty="0"/>
              <a:t>High-Performance Machine-Learning group</a:t>
            </a:r>
          </a:p>
          <a:p>
            <a:pPr>
              <a:lnSpc>
                <a:spcPct val="100000"/>
              </a:lnSpc>
              <a:buClr>
                <a:srgbClr val="EA7600"/>
              </a:buClr>
            </a:pPr>
            <a:r>
              <a:rPr lang="en-GB" sz="1600" dirty="0"/>
              <a:t>Very diverse set of people interested in everything AI &amp; Science &amp; HPC &amp; …</a:t>
            </a:r>
            <a:br>
              <a:rPr lang="en-GB" sz="2000" dirty="0"/>
            </a:br>
            <a:r>
              <a:rPr lang="en-GB" sz="2000" spc="-1" dirty="0">
                <a:solidFill>
                  <a:srgbClr val="000000"/>
                </a:solidFill>
                <a:latin typeface="Calibri"/>
              </a:rPr>
              <a:t> </a:t>
            </a:r>
            <a:endParaRPr lang="en-US" sz="2000" b="0" strike="noStrike" spc="-1" dirty="0">
              <a:solidFill>
                <a:srgbClr val="000000"/>
              </a:solidFill>
              <a:latin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5</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5" name="Afbeelding 4" descr="Afbeelding met water, buitenshuis, zwemmen, Oppervlaktegolf&#10;&#10;Automatisch gegenereerde beschrijving">
            <a:extLst>
              <a:ext uri="{FF2B5EF4-FFF2-40B4-BE49-F238E27FC236}">
                <a16:creationId xmlns:a16="http://schemas.microsoft.com/office/drawing/2014/main" id="{78E1213E-606A-0264-A1BB-E5D778302AAD}"/>
              </a:ext>
            </a:extLst>
          </p:cNvPr>
          <p:cNvPicPr>
            <a:picLocks noChangeAspect="1"/>
          </p:cNvPicPr>
          <p:nvPr/>
        </p:nvPicPr>
        <p:blipFill>
          <a:blip r:embed="rId3"/>
          <a:srcRect r="34754" b="17467"/>
          <a:stretch/>
        </p:blipFill>
        <p:spPr>
          <a:xfrm>
            <a:off x="9906961" y="3431319"/>
            <a:ext cx="2079160" cy="1977386"/>
          </a:xfrm>
          <a:prstGeom prst="rect">
            <a:avLst/>
          </a:prstGeom>
        </p:spPr>
      </p:pic>
      <p:pic>
        <p:nvPicPr>
          <p:cNvPr id="2050" name="Picture 2" descr="A person smiling at camera&#10;&#10;AI-generated content may be incorrect.">
            <a:extLst>
              <a:ext uri="{FF2B5EF4-FFF2-40B4-BE49-F238E27FC236}">
                <a16:creationId xmlns:a16="http://schemas.microsoft.com/office/drawing/2014/main" id="{A76DEC36-97B1-94DD-AC3B-4F19080108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8603" y="271116"/>
            <a:ext cx="2379874" cy="2386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71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Snellius</a:t>
            </a:r>
          </a:p>
        </p:txBody>
      </p:sp>
      <p:sp>
        <p:nvSpPr>
          <p:cNvPr id="939" name="PlaceHolder 2"/>
          <p:cNvSpPr>
            <a:spLocks noGrp="1"/>
          </p:cNvSpPr>
          <p:nvPr>
            <p:ph/>
          </p:nvPr>
        </p:nvSpPr>
        <p:spPr>
          <a:xfrm>
            <a:off x="572040" y="87264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latin typeface="Calibri"/>
              </a:rPr>
              <a:t>~1300 CPU-based nodes</a:t>
            </a:r>
          </a:p>
          <a:p>
            <a:pPr marL="727075" lvl="1">
              <a:lnSpc>
                <a:spcPct val="100000"/>
              </a:lnSpc>
              <a:buClr>
                <a:srgbClr val="EA7600"/>
              </a:buClr>
              <a:buFont typeface="Calibri"/>
              <a:buChar char="•"/>
            </a:pPr>
            <a:r>
              <a:rPr lang="en-GB" sz="1600" spc="-1" dirty="0">
                <a:latin typeface="Calibri"/>
              </a:rPr>
              <a:t>128-192 cores</a:t>
            </a:r>
          </a:p>
          <a:p>
            <a:pPr marL="727075" lvl="1">
              <a:lnSpc>
                <a:spcPct val="100000"/>
              </a:lnSpc>
              <a:buClr>
                <a:srgbClr val="EA7600"/>
              </a:buClr>
              <a:buFont typeface="Calibri"/>
              <a:buChar char="•"/>
            </a:pPr>
            <a:r>
              <a:rPr lang="en-GB" sz="1600" spc="-1" dirty="0">
                <a:latin typeface="Calibri"/>
              </a:rPr>
              <a:t>256-378 GB RAM</a:t>
            </a:r>
          </a:p>
          <a:p>
            <a:pPr marL="269875" indent="-269875">
              <a:lnSpc>
                <a:spcPct val="100000"/>
              </a:lnSpc>
              <a:buClr>
                <a:srgbClr val="EA7600"/>
              </a:buClr>
              <a:buFont typeface="Calibri"/>
              <a:buChar char="•"/>
            </a:pPr>
            <a:r>
              <a:rPr lang="en-GB" sz="2000" spc="-1" dirty="0">
                <a:latin typeface="Calibri"/>
              </a:rPr>
              <a:t>~100 high-memory nodes</a:t>
            </a:r>
          </a:p>
          <a:p>
            <a:pPr marL="727075" lvl="1">
              <a:lnSpc>
                <a:spcPct val="100000"/>
              </a:lnSpc>
              <a:buClr>
                <a:srgbClr val="EA7600"/>
              </a:buClr>
              <a:buFont typeface="Calibri"/>
              <a:buChar char="•"/>
            </a:pPr>
            <a:r>
              <a:rPr lang="en-GB" sz="1600" spc="-1" dirty="0">
                <a:latin typeface="Calibri"/>
              </a:rPr>
              <a:t>1TB-8TB RAM</a:t>
            </a:r>
          </a:p>
          <a:p>
            <a:pPr marL="269875" indent="-269875">
              <a:lnSpc>
                <a:spcPct val="100000"/>
              </a:lnSpc>
              <a:buClr>
                <a:srgbClr val="EA7600"/>
              </a:buClr>
              <a:buFont typeface="Calibri"/>
              <a:buChar char="•"/>
            </a:pPr>
            <a:r>
              <a:rPr lang="en-GB" sz="2000" spc="-1" dirty="0">
                <a:ea typeface="+mn-lt"/>
                <a:cs typeface="+mn-lt"/>
              </a:rPr>
              <a:t>160 </a:t>
            </a:r>
            <a:r>
              <a:rPr lang="en-GB" sz="2000" spc="-1" dirty="0">
                <a:latin typeface="Calibri"/>
              </a:rPr>
              <a:t>GPU nodes</a:t>
            </a:r>
          </a:p>
          <a:p>
            <a:pPr marL="727075" lvl="1">
              <a:lnSpc>
                <a:spcPct val="100000"/>
              </a:lnSpc>
              <a:buClr>
                <a:srgbClr val="EA7600"/>
              </a:buClr>
              <a:buFont typeface="Calibri"/>
              <a:buChar char="•"/>
            </a:pPr>
            <a:r>
              <a:rPr lang="en-GB" sz="1600" spc="-1" dirty="0">
                <a:latin typeface="Calibri"/>
              </a:rPr>
              <a:t>x4 </a:t>
            </a:r>
            <a:r>
              <a:rPr lang="en-GB" sz="1600" spc="-1" dirty="0" err="1">
                <a:latin typeface="Calibri"/>
              </a:rPr>
              <a:t>nvidia</a:t>
            </a:r>
            <a:r>
              <a:rPr lang="en-GB" sz="1600" spc="-1" dirty="0">
                <a:latin typeface="Calibri"/>
              </a:rPr>
              <a:t> A100s / H100s</a:t>
            </a:r>
          </a:p>
          <a:p>
            <a:pPr marL="727075" lvl="1">
              <a:lnSpc>
                <a:spcPct val="100000"/>
              </a:lnSpc>
              <a:buClr>
                <a:srgbClr val="EA7600"/>
              </a:buClr>
              <a:buFont typeface="Calibri"/>
              <a:buChar char="•"/>
            </a:pPr>
            <a:r>
              <a:rPr lang="en-GB" sz="1600" spc="-1" dirty="0">
                <a:latin typeface="Calibri"/>
              </a:rPr>
              <a:t>512GB RAM</a:t>
            </a:r>
          </a:p>
          <a:p>
            <a:pPr marL="727075" lvl="1">
              <a:lnSpc>
                <a:spcPct val="100000"/>
              </a:lnSpc>
              <a:buClr>
                <a:srgbClr val="EA7600"/>
              </a:buClr>
              <a:buFont typeface="Calibri"/>
              <a:buChar char="•"/>
            </a:pPr>
            <a:r>
              <a:rPr lang="en-GB" sz="1600" spc="-1" dirty="0">
                <a:latin typeface="Calibri"/>
              </a:rPr>
              <a:t>40GB /94 GB VRAM</a:t>
            </a:r>
          </a:p>
          <a:p>
            <a:pPr marL="269875">
              <a:lnSpc>
                <a:spcPct val="100000"/>
              </a:lnSpc>
              <a:buClr>
                <a:srgbClr val="EA7600"/>
              </a:buClr>
              <a:buFont typeface="Calibri"/>
              <a:buChar char="•"/>
            </a:pPr>
            <a:r>
              <a:rPr lang="en-GB" sz="2400" spc="-1" dirty="0">
                <a:latin typeface="Calibri"/>
              </a:rPr>
              <a:t>Storage:</a:t>
            </a:r>
          </a:p>
          <a:p>
            <a:pPr marL="727075" lvl="1">
              <a:lnSpc>
                <a:spcPct val="100000"/>
              </a:lnSpc>
              <a:buClr>
                <a:srgbClr val="EA7600"/>
              </a:buClr>
              <a:buFont typeface="Calibri"/>
              <a:buChar char="•"/>
            </a:pPr>
            <a:r>
              <a:rPr lang="en-GB" sz="1600" spc="-1" dirty="0">
                <a:latin typeface="Calibri"/>
              </a:rPr>
              <a:t>~13PB of medium-speed storage project space</a:t>
            </a:r>
            <a:endParaRPr lang="en-GB" sz="1600" dirty="0"/>
          </a:p>
          <a:p>
            <a:pPr marL="727075" lvl="1">
              <a:lnSpc>
                <a:spcPct val="100000"/>
              </a:lnSpc>
              <a:buClr>
                <a:srgbClr val="EA7600"/>
              </a:buClr>
              <a:buFont typeface="Calibri"/>
              <a:buChar char="•"/>
            </a:pPr>
            <a:r>
              <a:rPr lang="en-GB" sz="1600" spc="-1" dirty="0">
                <a:latin typeface="Calibri"/>
              </a:rPr>
              <a:t>720TB of home-</a:t>
            </a:r>
            <a:r>
              <a:rPr lang="en-GB" sz="1600" spc="-1" dirty="0" err="1">
                <a:latin typeface="Calibri"/>
              </a:rPr>
              <a:t>dir</a:t>
            </a:r>
            <a:endParaRPr lang="en-GB" sz="1600" spc="-1" dirty="0">
              <a:latin typeface="Calibri"/>
            </a:endParaRPr>
          </a:p>
          <a:p>
            <a:pPr marL="727075" lvl="1">
              <a:lnSpc>
                <a:spcPct val="100000"/>
              </a:lnSpc>
              <a:buClr>
                <a:srgbClr val="EA7600"/>
              </a:buClr>
              <a:buFont typeface="Calibri"/>
              <a:buChar char="•"/>
            </a:pPr>
            <a:r>
              <a:rPr lang="en-GB" sz="1600" spc="-1" dirty="0">
                <a:latin typeface="Calibri"/>
              </a:rPr>
              <a:t>210TB of NVME</a:t>
            </a:r>
          </a:p>
          <a:p>
            <a:pPr marL="269875" indent="-269875">
              <a:lnSpc>
                <a:spcPct val="100000"/>
              </a:lnSpc>
              <a:buClr>
                <a:srgbClr val="EA7600"/>
              </a:buClr>
              <a:buFont typeface="Calibri"/>
              <a:buChar char="•"/>
            </a:pPr>
            <a:r>
              <a:rPr lang="en-GB" sz="2000" spc="-1" dirty="0">
                <a:latin typeface="Calibri"/>
              </a:rPr>
              <a:t>Interconnect: 100GBps </a:t>
            </a:r>
            <a:r>
              <a:rPr lang="en-GB" sz="2000" spc="-1" dirty="0" err="1">
                <a:latin typeface="Calibri"/>
              </a:rPr>
              <a:t>Infiniband</a:t>
            </a:r>
            <a:r>
              <a:rPr lang="en-GB" sz="2000" spc="-1" dirty="0">
                <a:latin typeface="Calibri"/>
              </a:rPr>
              <a:t> fat-tree</a:t>
            </a:r>
          </a:p>
          <a:p>
            <a:pPr marL="727075" lvl="1">
              <a:lnSpc>
                <a:spcPct val="100000"/>
              </a:lnSpc>
              <a:buClr>
                <a:srgbClr val="EA7600"/>
              </a:buClr>
              <a:buFont typeface="Calibri"/>
              <a:buChar char="•"/>
            </a:pPr>
            <a:endParaRPr lang="en-GB" sz="1600" spc="-1" dirty="0">
              <a:latin typeface="Calibri"/>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6</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3" name="Afbeelding 2" descr="Fat-Tree Topology">
            <a:extLst>
              <a:ext uri="{FF2B5EF4-FFF2-40B4-BE49-F238E27FC236}">
                <a16:creationId xmlns:a16="http://schemas.microsoft.com/office/drawing/2014/main" id="{EE3F339D-19D0-CBD9-16B5-EAC610DD232F}"/>
              </a:ext>
            </a:extLst>
          </p:cNvPr>
          <p:cNvPicPr>
            <a:picLocks noChangeAspect="1"/>
          </p:cNvPicPr>
          <p:nvPr/>
        </p:nvPicPr>
        <p:blipFill>
          <a:blip r:embed="rId3"/>
          <a:stretch>
            <a:fillRect/>
          </a:stretch>
        </p:blipFill>
        <p:spPr>
          <a:xfrm>
            <a:off x="6821507" y="4018745"/>
            <a:ext cx="5278335" cy="2511755"/>
          </a:xfrm>
          <a:prstGeom prst="rect">
            <a:avLst/>
          </a:prstGeom>
        </p:spPr>
      </p:pic>
      <p:pic>
        <p:nvPicPr>
          <p:cNvPr id="4" name="Afbeelding 3" descr="Afbeelding met elektronica, Elektronische engineering, Computeronderdeel, Elektrische bedrading&#10;&#10;Automatisch gegenereerde beschrijving">
            <a:extLst>
              <a:ext uri="{FF2B5EF4-FFF2-40B4-BE49-F238E27FC236}">
                <a16:creationId xmlns:a16="http://schemas.microsoft.com/office/drawing/2014/main" id="{88FD844E-B483-68AB-5248-AEA8D4609081}"/>
              </a:ext>
            </a:extLst>
          </p:cNvPr>
          <p:cNvPicPr>
            <a:picLocks noChangeAspect="1"/>
          </p:cNvPicPr>
          <p:nvPr/>
        </p:nvPicPr>
        <p:blipFill>
          <a:blip r:embed="rId4"/>
          <a:stretch>
            <a:fillRect/>
          </a:stretch>
        </p:blipFill>
        <p:spPr>
          <a:xfrm>
            <a:off x="4383754" y="15367"/>
            <a:ext cx="2863850" cy="3821113"/>
          </a:xfrm>
          <a:prstGeom prst="rect">
            <a:avLst/>
          </a:prstGeom>
        </p:spPr>
      </p:pic>
      <p:pic>
        <p:nvPicPr>
          <p:cNvPr id="5" name="Afbeelding 1" descr="Afbeelding met overdekt, muur&#10;&#10;Automatisch gegenereerde beschrijving">
            <a:extLst>
              <a:ext uri="{FF2B5EF4-FFF2-40B4-BE49-F238E27FC236}">
                <a16:creationId xmlns:a16="http://schemas.microsoft.com/office/drawing/2014/main" id="{8480D8B8-C127-B362-3414-1D30C54EF358}"/>
              </a:ext>
            </a:extLst>
          </p:cNvPr>
          <p:cNvPicPr>
            <a:picLocks noChangeAspect="1"/>
          </p:cNvPicPr>
          <p:nvPr/>
        </p:nvPicPr>
        <p:blipFill>
          <a:blip r:embed="rId5"/>
          <a:stretch>
            <a:fillRect/>
          </a:stretch>
        </p:blipFill>
        <p:spPr>
          <a:xfrm>
            <a:off x="7477284" y="-1"/>
            <a:ext cx="4711542" cy="3533657"/>
          </a:xfrm>
          <a:prstGeom prst="rect">
            <a:avLst/>
          </a:prstGeom>
        </p:spPr>
      </p:pic>
    </p:spTree>
    <p:extLst>
      <p:ext uri="{BB962C8B-B14F-4D97-AF65-F5344CB8AC3E}">
        <p14:creationId xmlns:p14="http://schemas.microsoft.com/office/powerpoint/2010/main" val="3370552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5BA66-F70F-419D-ED09-DD1079F7BDCA}"/>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F3F1CCB2-60D9-2646-F83D-646C87F61C2E}"/>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latin typeface="Calibri"/>
              </a:rPr>
              <a:t>Access mechanisms</a:t>
            </a:r>
          </a:p>
        </p:txBody>
      </p:sp>
      <p:sp>
        <p:nvSpPr>
          <p:cNvPr id="939" name="PlaceHolder 2">
            <a:extLst>
              <a:ext uri="{FF2B5EF4-FFF2-40B4-BE49-F238E27FC236}">
                <a16:creationId xmlns:a16="http://schemas.microsoft.com/office/drawing/2014/main" id="{1953AEC7-999F-FC31-BD90-ADD05B3FE9DE}"/>
              </a:ext>
            </a:extLst>
          </p:cNvPr>
          <p:cNvSpPr>
            <a:spLocks noGrp="1"/>
          </p:cNvSpPr>
          <p:nvPr>
            <p:ph/>
          </p:nvPr>
        </p:nvSpPr>
        <p:spPr>
          <a:xfrm>
            <a:off x="572040" y="872640"/>
            <a:ext cx="8973720" cy="48982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latin typeface="Calibri"/>
              </a:rPr>
              <a:t>Direct access through institute</a:t>
            </a:r>
          </a:p>
          <a:p>
            <a:pPr marL="269875" indent="-269875">
              <a:lnSpc>
                <a:spcPct val="100000"/>
              </a:lnSpc>
              <a:buClr>
                <a:srgbClr val="EA7600"/>
              </a:buClr>
              <a:buFont typeface="Calibri"/>
              <a:buChar char="•"/>
            </a:pPr>
            <a:r>
              <a:rPr lang="en-GB" sz="2000" spc="-1" dirty="0">
                <a:latin typeface="Calibri"/>
              </a:rPr>
              <a:t>NWO small: &lt;=1M SBUs, &lt;= 10TB storage</a:t>
            </a:r>
          </a:p>
          <a:p>
            <a:pPr marL="269875" indent="-269875">
              <a:lnSpc>
                <a:spcPct val="100000"/>
              </a:lnSpc>
              <a:buClr>
                <a:srgbClr val="EA7600"/>
              </a:buClr>
              <a:buFont typeface="Calibri"/>
              <a:buChar char="•"/>
            </a:pPr>
            <a:r>
              <a:rPr lang="en-GB" sz="2000" spc="-1" dirty="0">
                <a:latin typeface="Calibri"/>
              </a:rPr>
              <a:t>NWO big: &gt;1M SBUs, &gt;10TB storage</a:t>
            </a:r>
          </a:p>
          <a:p>
            <a:pPr marL="269875" indent="-269875">
              <a:lnSpc>
                <a:spcPct val="100000"/>
              </a:lnSpc>
              <a:buClr>
                <a:srgbClr val="EA7600"/>
              </a:buClr>
              <a:buFont typeface="Calibri"/>
              <a:buChar char="•"/>
            </a:pPr>
            <a:r>
              <a:rPr lang="en-GB" sz="2000" spc="-1" dirty="0">
                <a:latin typeface="Calibri"/>
              </a:rPr>
              <a:t>LUMI access through SURF</a:t>
            </a:r>
          </a:p>
          <a:p>
            <a:pPr marL="269875" indent="-269875">
              <a:lnSpc>
                <a:spcPct val="100000"/>
              </a:lnSpc>
              <a:buClr>
                <a:srgbClr val="EA7600"/>
              </a:buClr>
              <a:buFont typeface="Calibri"/>
              <a:buChar char="•"/>
            </a:pPr>
            <a:r>
              <a:rPr lang="en-GB" sz="2000" spc="-1" dirty="0">
                <a:latin typeface="Calibri"/>
              </a:rPr>
              <a:t>LUMI/MN5/Leonardo/Jupiter: through EuroHPC</a:t>
            </a:r>
          </a:p>
          <a:p>
            <a:pPr marL="269875" indent="-269875">
              <a:lnSpc>
                <a:spcPct val="100000"/>
              </a:lnSpc>
              <a:buClr>
                <a:srgbClr val="EA7600"/>
              </a:buClr>
              <a:buFont typeface="Calibri"/>
              <a:buChar char="•"/>
            </a:pPr>
            <a:r>
              <a:rPr lang="en-GB" sz="2000" spc="-1" dirty="0">
                <a:latin typeface="Calibri"/>
              </a:rPr>
              <a:t>EuroCC: 50k SBUs for SMEs</a:t>
            </a:r>
          </a:p>
          <a:p>
            <a:pPr marL="269875" indent="-269875">
              <a:lnSpc>
                <a:spcPct val="100000"/>
              </a:lnSpc>
              <a:buClr>
                <a:srgbClr val="EA7600"/>
              </a:buClr>
              <a:buFont typeface="Calibri"/>
              <a:buChar char="•"/>
            </a:pPr>
            <a:r>
              <a:rPr lang="en-GB" sz="2000" spc="-1" dirty="0">
                <a:latin typeface="Calibri"/>
              </a:rPr>
              <a:t>We also offer Spider HTC (‘small compute &amp; large data) and HPC Cloud (‘always on’) and </a:t>
            </a:r>
            <a:r>
              <a:rPr lang="en-GB" sz="2000" spc="-1" dirty="0" err="1">
                <a:latin typeface="Calibri"/>
              </a:rPr>
              <a:t>dCache</a:t>
            </a:r>
            <a:r>
              <a:rPr lang="en-GB" sz="2000" spc="-1" dirty="0">
                <a:latin typeface="Calibri"/>
              </a:rPr>
              <a:t> (data caching)</a:t>
            </a:r>
          </a:p>
          <a:p>
            <a:pPr marL="269875" indent="-269875">
              <a:lnSpc>
                <a:spcPct val="100000"/>
              </a:lnSpc>
              <a:buClr>
                <a:srgbClr val="EA7600"/>
              </a:buClr>
              <a:buFont typeface="Calibri"/>
              <a:buChar char="•"/>
            </a:pPr>
            <a:endParaRPr lang="en-GB" sz="2000" spc="-1" dirty="0">
              <a:latin typeface="Calibri"/>
            </a:endParaRPr>
          </a:p>
          <a:p>
            <a:pPr marL="269875" indent="-269875">
              <a:lnSpc>
                <a:spcPct val="100000"/>
              </a:lnSpc>
              <a:buClr>
                <a:srgbClr val="EA7600"/>
              </a:buClr>
              <a:buFont typeface="Calibri"/>
              <a:buChar char="•"/>
            </a:pPr>
            <a:r>
              <a:rPr lang="en-GB" sz="2000" spc="-1" dirty="0">
                <a:latin typeface="Calibri"/>
              </a:rPr>
              <a:t>We offer consultancy!</a:t>
            </a:r>
          </a:p>
          <a:p>
            <a:pPr marL="450850" lvl="1" indent="-269875">
              <a:lnSpc>
                <a:spcPct val="100000"/>
              </a:lnSpc>
              <a:buClr>
                <a:srgbClr val="EA7600"/>
              </a:buClr>
              <a:buFont typeface="Calibri"/>
              <a:buChar char="•"/>
            </a:pPr>
            <a:r>
              <a:rPr lang="en-GB" sz="2000" spc="-1" dirty="0">
                <a:latin typeface="Calibri"/>
              </a:rPr>
              <a:t>4 hours ‘default’</a:t>
            </a:r>
          </a:p>
          <a:p>
            <a:pPr marL="450850" lvl="1" indent="-269875">
              <a:lnSpc>
                <a:spcPct val="100000"/>
              </a:lnSpc>
              <a:buClr>
                <a:srgbClr val="EA7600"/>
              </a:buClr>
              <a:buFont typeface="Calibri"/>
              <a:buChar char="•"/>
            </a:pPr>
            <a:r>
              <a:rPr lang="en-GB" sz="2000" spc="-1" dirty="0">
                <a:latin typeface="Calibri"/>
              </a:rPr>
              <a:t>Up to 160 hours ‘if we think your project is important’</a:t>
            </a:r>
          </a:p>
          <a:p>
            <a:pPr marL="450850" lvl="1" indent="-269875">
              <a:lnSpc>
                <a:spcPct val="100000"/>
              </a:lnSpc>
              <a:buClr>
                <a:srgbClr val="EA7600"/>
              </a:buClr>
              <a:buFont typeface="Calibri"/>
              <a:buChar char="•"/>
            </a:pPr>
            <a:r>
              <a:rPr lang="en-GB" sz="2000" spc="-1" dirty="0">
                <a:latin typeface="Calibri"/>
              </a:rPr>
              <a:t>NWO large: a lot</a:t>
            </a:r>
          </a:p>
          <a:p>
            <a:pPr marL="269875" indent="-269875">
              <a:lnSpc>
                <a:spcPct val="100000"/>
              </a:lnSpc>
              <a:buClr>
                <a:srgbClr val="EA7600"/>
              </a:buClr>
              <a:buFont typeface="Calibri"/>
              <a:buChar char="•"/>
            </a:pPr>
            <a:endParaRPr lang="en-GB" sz="2800" spc="-1" dirty="0">
              <a:latin typeface="Calibri"/>
            </a:endParaRPr>
          </a:p>
          <a:p>
            <a:pPr marL="450850" lvl="1" indent="-269875">
              <a:lnSpc>
                <a:spcPct val="100000"/>
              </a:lnSpc>
              <a:buClr>
                <a:srgbClr val="EA7600"/>
              </a:buClr>
              <a:buFont typeface="Calibri"/>
              <a:buChar char="•"/>
            </a:pPr>
            <a:endParaRPr lang="en-GB" spc="-1" dirty="0">
              <a:latin typeface="Calibri"/>
            </a:endParaRPr>
          </a:p>
        </p:txBody>
      </p:sp>
      <p:sp>
        <p:nvSpPr>
          <p:cNvPr id="940" name="PlaceHolder 3">
            <a:extLst>
              <a:ext uri="{FF2B5EF4-FFF2-40B4-BE49-F238E27FC236}">
                <a16:creationId xmlns:a16="http://schemas.microsoft.com/office/drawing/2014/main" id="{22B114CF-F80F-13DF-FB40-1A9692525067}"/>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7</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04D0848E-5218-C80E-519B-AA41761A02FB}"/>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a:extLst>
              <a:ext uri="{FF2B5EF4-FFF2-40B4-BE49-F238E27FC236}">
                <a16:creationId xmlns:a16="http://schemas.microsoft.com/office/drawing/2014/main" id="{C3DEA03E-867B-531F-665E-1ACFD3A54177}"/>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a:extLst>
              <a:ext uri="{FF2B5EF4-FFF2-40B4-BE49-F238E27FC236}">
                <a16:creationId xmlns:a16="http://schemas.microsoft.com/office/drawing/2014/main" id="{22D9BDBC-74A4-5AFE-6E15-464C8E8BF150}"/>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a:extLst>
              <a:ext uri="{FF2B5EF4-FFF2-40B4-BE49-F238E27FC236}">
                <a16:creationId xmlns:a16="http://schemas.microsoft.com/office/drawing/2014/main" id="{1155E43B-B9E1-FEB5-BEF1-D97B2EA3742A}"/>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a:extLst>
              <a:ext uri="{FF2B5EF4-FFF2-40B4-BE49-F238E27FC236}">
                <a16:creationId xmlns:a16="http://schemas.microsoft.com/office/drawing/2014/main" id="{9B007DF9-9655-C2CE-AECA-86C5F40C3A81}"/>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Tree>
    <p:extLst>
      <p:ext uri="{BB962C8B-B14F-4D97-AF65-F5344CB8AC3E}">
        <p14:creationId xmlns:p14="http://schemas.microsoft.com/office/powerpoint/2010/main" val="129581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pPr defTabSz="609630"/>
            <a:endParaRPr lang="en-NL" sz="1200">
              <a:solidFill>
                <a:prstClr val="black"/>
              </a:solidFill>
              <a:latin typeface="Calibri"/>
            </a:endParaRPr>
          </a:p>
        </p:txBody>
      </p:sp>
      <p:grpSp>
        <p:nvGrpSpPr>
          <p:cNvPr id="3" name="Group 3"/>
          <p:cNvGrpSpPr/>
          <p:nvPr/>
        </p:nvGrpSpPr>
        <p:grpSpPr>
          <a:xfrm>
            <a:off x="6096000" y="156508"/>
            <a:ext cx="5580064" cy="6475777"/>
            <a:chOff x="0" y="0"/>
            <a:chExt cx="11160128" cy="12951554"/>
          </a:xfrm>
        </p:grpSpPr>
        <p:sp>
          <p:nvSpPr>
            <p:cNvPr id="4" name="Freeform 4"/>
            <p:cNvSpPr/>
            <p:nvPr/>
          </p:nvSpPr>
          <p:spPr>
            <a:xfrm>
              <a:off x="0" y="0"/>
              <a:ext cx="11160128" cy="12879519"/>
            </a:xfrm>
            <a:custGeom>
              <a:avLst/>
              <a:gdLst/>
              <a:ahLst/>
              <a:cxnLst/>
              <a:rect l="l" t="t" r="r" b="b"/>
              <a:pathLst>
                <a:path w="11160128" h="12879519">
                  <a:moveTo>
                    <a:pt x="0" y="0"/>
                  </a:moveTo>
                  <a:lnTo>
                    <a:pt x="11160128" y="0"/>
                  </a:lnTo>
                  <a:lnTo>
                    <a:pt x="11160128" y="12879519"/>
                  </a:lnTo>
                  <a:lnTo>
                    <a:pt x="0" y="128795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defTabSz="609630"/>
              <a:endParaRPr lang="en-NL" sz="1200">
                <a:solidFill>
                  <a:prstClr val="black"/>
                </a:solidFill>
                <a:latin typeface="Calibri"/>
              </a:endParaRPr>
            </a:p>
          </p:txBody>
        </p:sp>
        <p:sp>
          <p:nvSpPr>
            <p:cNvPr id="5" name="Freeform 5"/>
            <p:cNvSpPr/>
            <p:nvPr/>
          </p:nvSpPr>
          <p:spPr>
            <a:xfrm rot="10716902">
              <a:off x="7386263" y="2492024"/>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 name="TextBox 6"/>
            <p:cNvSpPr txBox="1"/>
            <p:nvPr/>
          </p:nvSpPr>
          <p:spPr>
            <a:xfrm>
              <a:off x="7378212" y="263061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7" name="Freeform 7"/>
            <p:cNvSpPr/>
            <p:nvPr/>
          </p:nvSpPr>
          <p:spPr>
            <a:xfrm rot="10716902">
              <a:off x="7059043" y="519394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8" name="TextBox 8"/>
            <p:cNvSpPr txBox="1"/>
            <p:nvPr/>
          </p:nvSpPr>
          <p:spPr>
            <a:xfrm>
              <a:off x="7050992" y="53325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9" name="Freeform 9"/>
            <p:cNvSpPr/>
            <p:nvPr/>
          </p:nvSpPr>
          <p:spPr>
            <a:xfrm rot="10716902">
              <a:off x="7282405" y="5899490"/>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0" name="TextBox 10"/>
            <p:cNvSpPr txBox="1"/>
            <p:nvPr/>
          </p:nvSpPr>
          <p:spPr>
            <a:xfrm>
              <a:off x="7274352" y="60380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1" name="Freeform 11"/>
            <p:cNvSpPr/>
            <p:nvPr/>
          </p:nvSpPr>
          <p:spPr>
            <a:xfrm rot="10716902">
              <a:off x="6612319" y="6444866"/>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2" name="TextBox 12"/>
            <p:cNvSpPr txBox="1"/>
            <p:nvPr/>
          </p:nvSpPr>
          <p:spPr>
            <a:xfrm>
              <a:off x="6604268" y="658345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3" name="Freeform 13"/>
            <p:cNvSpPr/>
            <p:nvPr/>
          </p:nvSpPr>
          <p:spPr>
            <a:xfrm rot="10716902">
              <a:off x="4806974" y="3995690"/>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4" name="TextBox 14"/>
            <p:cNvSpPr txBox="1"/>
            <p:nvPr/>
          </p:nvSpPr>
          <p:spPr>
            <a:xfrm>
              <a:off x="4798924" y="41342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5" name="Freeform 15"/>
            <p:cNvSpPr/>
            <p:nvPr/>
          </p:nvSpPr>
          <p:spPr>
            <a:xfrm rot="10716902">
              <a:off x="3774892" y="365481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6" name="TextBox 16"/>
            <p:cNvSpPr txBox="1"/>
            <p:nvPr/>
          </p:nvSpPr>
          <p:spPr>
            <a:xfrm>
              <a:off x="3766840" y="3793410"/>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7" name="Freeform 17"/>
            <p:cNvSpPr/>
            <p:nvPr/>
          </p:nvSpPr>
          <p:spPr>
            <a:xfrm rot="10716902">
              <a:off x="3774892" y="6240361"/>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8" name="TextBox 18"/>
            <p:cNvSpPr txBox="1"/>
            <p:nvPr/>
          </p:nvSpPr>
          <p:spPr>
            <a:xfrm>
              <a:off x="3766840" y="637895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9" name="Freeform 19"/>
            <p:cNvSpPr/>
            <p:nvPr/>
          </p:nvSpPr>
          <p:spPr>
            <a:xfrm rot="10716902">
              <a:off x="5947696" y="749390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0" name="TextBox 20"/>
            <p:cNvSpPr txBox="1"/>
            <p:nvPr/>
          </p:nvSpPr>
          <p:spPr>
            <a:xfrm>
              <a:off x="5939644" y="763249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1" name="Freeform 21"/>
            <p:cNvSpPr/>
            <p:nvPr/>
          </p:nvSpPr>
          <p:spPr>
            <a:xfrm rot="10716902">
              <a:off x="5800382" y="8496741"/>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2" name="TextBox 22"/>
            <p:cNvSpPr txBox="1"/>
            <p:nvPr/>
          </p:nvSpPr>
          <p:spPr>
            <a:xfrm>
              <a:off x="5792332" y="863533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3" name="Freeform 23"/>
            <p:cNvSpPr/>
            <p:nvPr/>
          </p:nvSpPr>
          <p:spPr>
            <a:xfrm rot="10716902">
              <a:off x="6165595" y="898080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4" name="TextBox 24"/>
            <p:cNvSpPr txBox="1"/>
            <p:nvPr/>
          </p:nvSpPr>
          <p:spPr>
            <a:xfrm>
              <a:off x="6157544" y="911939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5" name="Freeform 25"/>
            <p:cNvSpPr/>
            <p:nvPr/>
          </p:nvSpPr>
          <p:spPr>
            <a:xfrm rot="10716902">
              <a:off x="4824773" y="938720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6" name="TextBox 26"/>
            <p:cNvSpPr txBox="1"/>
            <p:nvPr/>
          </p:nvSpPr>
          <p:spPr>
            <a:xfrm>
              <a:off x="4816720" y="952579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7" name="Freeform 27"/>
            <p:cNvSpPr/>
            <p:nvPr/>
          </p:nvSpPr>
          <p:spPr>
            <a:xfrm rot="10716902">
              <a:off x="7059043" y="1029213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8" name="TextBox 28"/>
            <p:cNvSpPr txBox="1"/>
            <p:nvPr/>
          </p:nvSpPr>
          <p:spPr>
            <a:xfrm>
              <a:off x="7050992" y="1043072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9" name="Freeform 29"/>
            <p:cNvSpPr/>
            <p:nvPr/>
          </p:nvSpPr>
          <p:spPr>
            <a:xfrm rot="10716902">
              <a:off x="8606784" y="10973877"/>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0" name="TextBox 30"/>
            <p:cNvSpPr txBox="1"/>
            <p:nvPr/>
          </p:nvSpPr>
          <p:spPr>
            <a:xfrm>
              <a:off x="8598732" y="1111246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1" name="Freeform 31"/>
            <p:cNvSpPr/>
            <p:nvPr/>
          </p:nvSpPr>
          <p:spPr>
            <a:xfrm rot="10716902">
              <a:off x="8830144" y="12280023"/>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2" name="TextBox 32"/>
            <p:cNvSpPr txBox="1"/>
            <p:nvPr/>
          </p:nvSpPr>
          <p:spPr>
            <a:xfrm>
              <a:off x="8822092" y="12418616"/>
              <a:ext cx="446724" cy="188770"/>
            </a:xfrm>
            <a:prstGeom prst="rect">
              <a:avLst/>
            </a:prstGeom>
          </p:spPr>
          <p:txBody>
            <a:bodyPr lIns="0" tIns="0" rIns="0" bIns="0" rtlCol="0" anchor="t">
              <a:spAutoFit/>
            </a:bodyPr>
            <a:lstStyle/>
            <a:p>
              <a:pPr algn="ctr" defTabSz="609630">
                <a:lnSpc>
                  <a:spcPts val="835"/>
                </a:lnSpc>
              </a:pPr>
              <a:r>
                <a:rPr lang="en-US" sz="597" dirty="0">
                  <a:solidFill>
                    <a:srgbClr val="FFFFFF"/>
                  </a:solidFill>
                  <a:latin typeface="Cantarell 1"/>
                </a:rPr>
                <a:t>NCC</a:t>
              </a:r>
            </a:p>
          </p:txBody>
        </p:sp>
        <p:sp>
          <p:nvSpPr>
            <p:cNvPr id="33" name="Freeform 33"/>
            <p:cNvSpPr/>
            <p:nvPr/>
          </p:nvSpPr>
          <p:spPr>
            <a:xfrm rot="10716902">
              <a:off x="6247106" y="1063300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4" name="TextBox 34"/>
            <p:cNvSpPr txBox="1"/>
            <p:nvPr/>
          </p:nvSpPr>
          <p:spPr>
            <a:xfrm>
              <a:off x="6239056" y="1077159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5" name="Freeform 35"/>
            <p:cNvSpPr/>
            <p:nvPr/>
          </p:nvSpPr>
          <p:spPr>
            <a:xfrm rot="10716902">
              <a:off x="6388957" y="11277931"/>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6" name="TextBox 36"/>
            <p:cNvSpPr txBox="1"/>
            <p:nvPr/>
          </p:nvSpPr>
          <p:spPr>
            <a:xfrm>
              <a:off x="6380906" y="1141652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7" name="Freeform 37"/>
            <p:cNvSpPr/>
            <p:nvPr/>
          </p:nvSpPr>
          <p:spPr>
            <a:xfrm rot="10716902">
              <a:off x="5724334" y="1029213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8" name="TextBox 38"/>
            <p:cNvSpPr txBox="1"/>
            <p:nvPr/>
          </p:nvSpPr>
          <p:spPr>
            <a:xfrm>
              <a:off x="5716284" y="1043072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9" name="Freeform 39"/>
            <p:cNvSpPr/>
            <p:nvPr/>
          </p:nvSpPr>
          <p:spPr>
            <a:xfrm rot="10716902">
              <a:off x="5253698" y="9468373"/>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0" name="TextBox 40"/>
            <p:cNvSpPr txBox="1"/>
            <p:nvPr/>
          </p:nvSpPr>
          <p:spPr>
            <a:xfrm>
              <a:off x="5245646" y="960696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1" name="Freeform 41"/>
            <p:cNvSpPr/>
            <p:nvPr/>
          </p:nvSpPr>
          <p:spPr>
            <a:xfrm rot="10716902">
              <a:off x="3839550" y="9610392"/>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2" name="TextBox 42"/>
            <p:cNvSpPr txBox="1"/>
            <p:nvPr/>
          </p:nvSpPr>
          <p:spPr>
            <a:xfrm>
              <a:off x="3831500" y="974898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3" name="Freeform 43"/>
            <p:cNvSpPr/>
            <p:nvPr/>
          </p:nvSpPr>
          <p:spPr>
            <a:xfrm rot="10716902">
              <a:off x="4806974" y="8928650"/>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4" name="TextBox 44"/>
            <p:cNvSpPr txBox="1"/>
            <p:nvPr/>
          </p:nvSpPr>
          <p:spPr>
            <a:xfrm>
              <a:off x="4798924" y="90672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5" name="Freeform 45"/>
            <p:cNvSpPr/>
            <p:nvPr/>
          </p:nvSpPr>
          <p:spPr>
            <a:xfrm rot="10716902">
              <a:off x="6117176" y="9934367"/>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6" name="TextBox 46"/>
            <p:cNvSpPr txBox="1"/>
            <p:nvPr/>
          </p:nvSpPr>
          <p:spPr>
            <a:xfrm>
              <a:off x="6109124" y="10072958"/>
              <a:ext cx="446724" cy="188770"/>
            </a:xfrm>
            <a:prstGeom prst="rect">
              <a:avLst/>
            </a:prstGeom>
          </p:spPr>
          <p:txBody>
            <a:bodyPr wrap="square" lIns="0" tIns="0" rIns="0" bIns="0" rtlCol="0" anchor="t">
              <a:spAutoFit/>
            </a:bodyPr>
            <a:lstStyle/>
            <a:p>
              <a:pPr algn="ctr" defTabSz="609630">
                <a:lnSpc>
                  <a:spcPts val="835"/>
                </a:lnSpc>
              </a:pPr>
              <a:r>
                <a:rPr lang="en-US" sz="597" dirty="0">
                  <a:solidFill>
                    <a:srgbClr val="FFFFFF"/>
                  </a:solidFill>
                  <a:latin typeface="Cantarell 1"/>
                </a:rPr>
                <a:t>NCC</a:t>
              </a:r>
            </a:p>
          </p:txBody>
        </p:sp>
        <p:sp>
          <p:nvSpPr>
            <p:cNvPr id="47" name="Freeform 47"/>
            <p:cNvSpPr/>
            <p:nvPr/>
          </p:nvSpPr>
          <p:spPr>
            <a:xfrm rot="10716902">
              <a:off x="6571995" y="938720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8" name="TextBox 48"/>
            <p:cNvSpPr txBox="1"/>
            <p:nvPr/>
          </p:nvSpPr>
          <p:spPr>
            <a:xfrm>
              <a:off x="6563944" y="952579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9" name="Freeform 49"/>
            <p:cNvSpPr/>
            <p:nvPr/>
          </p:nvSpPr>
          <p:spPr>
            <a:xfrm rot="10716902">
              <a:off x="5253698" y="844575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0" name="TextBox 50"/>
            <p:cNvSpPr txBox="1"/>
            <p:nvPr/>
          </p:nvSpPr>
          <p:spPr>
            <a:xfrm>
              <a:off x="5245646" y="858435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1" name="Freeform 51"/>
            <p:cNvSpPr/>
            <p:nvPr/>
          </p:nvSpPr>
          <p:spPr>
            <a:xfrm rot="10716902">
              <a:off x="3774892" y="7683932"/>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2" name="TextBox 52"/>
            <p:cNvSpPr txBox="1"/>
            <p:nvPr/>
          </p:nvSpPr>
          <p:spPr>
            <a:xfrm>
              <a:off x="3766840" y="782252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3" name="Freeform 53"/>
            <p:cNvSpPr/>
            <p:nvPr/>
          </p:nvSpPr>
          <p:spPr>
            <a:xfrm rot="10716902">
              <a:off x="3120453" y="8299062"/>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4" name="TextBox 54"/>
            <p:cNvSpPr txBox="1"/>
            <p:nvPr/>
          </p:nvSpPr>
          <p:spPr>
            <a:xfrm>
              <a:off x="3112400" y="843765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5" name="Freeform 55"/>
            <p:cNvSpPr/>
            <p:nvPr/>
          </p:nvSpPr>
          <p:spPr>
            <a:xfrm rot="10716902">
              <a:off x="2827124" y="749390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6" name="TextBox 56"/>
            <p:cNvSpPr txBox="1"/>
            <p:nvPr/>
          </p:nvSpPr>
          <p:spPr>
            <a:xfrm>
              <a:off x="2819072" y="763249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7" name="Freeform 57"/>
            <p:cNvSpPr/>
            <p:nvPr/>
          </p:nvSpPr>
          <p:spPr>
            <a:xfrm rot="10716902">
              <a:off x="2761940" y="7958190"/>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8" name="TextBox 58"/>
            <p:cNvSpPr txBox="1"/>
            <p:nvPr/>
          </p:nvSpPr>
          <p:spPr>
            <a:xfrm>
              <a:off x="2753888" y="80967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9" name="Freeform 59"/>
            <p:cNvSpPr/>
            <p:nvPr/>
          </p:nvSpPr>
          <p:spPr>
            <a:xfrm rot="10716902">
              <a:off x="1126597" y="1072669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0" name="TextBox 60"/>
            <p:cNvSpPr txBox="1"/>
            <p:nvPr/>
          </p:nvSpPr>
          <p:spPr>
            <a:xfrm>
              <a:off x="1118544" y="1086528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1" name="Freeform 61"/>
            <p:cNvSpPr/>
            <p:nvPr/>
          </p:nvSpPr>
          <p:spPr>
            <a:xfrm rot="10716902">
              <a:off x="2380400" y="8928650"/>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2" name="TextBox 62"/>
            <p:cNvSpPr txBox="1"/>
            <p:nvPr/>
          </p:nvSpPr>
          <p:spPr>
            <a:xfrm>
              <a:off x="2372348" y="90672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3" name="Freeform 63"/>
            <p:cNvSpPr/>
            <p:nvPr/>
          </p:nvSpPr>
          <p:spPr>
            <a:xfrm rot="10716902">
              <a:off x="341454" y="700218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4" name="TextBox 64"/>
            <p:cNvSpPr txBox="1"/>
            <p:nvPr/>
          </p:nvSpPr>
          <p:spPr>
            <a:xfrm>
              <a:off x="333404" y="71407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5" name="Freeform 65"/>
            <p:cNvSpPr/>
            <p:nvPr/>
          </p:nvSpPr>
          <p:spPr>
            <a:xfrm rot="10716902">
              <a:off x="5413345" y="986399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6" name="TextBox 66"/>
            <p:cNvSpPr txBox="1"/>
            <p:nvPr/>
          </p:nvSpPr>
          <p:spPr>
            <a:xfrm>
              <a:off x="5405294" y="10002586"/>
              <a:ext cx="446724" cy="188770"/>
            </a:xfrm>
            <a:prstGeom prst="rect">
              <a:avLst/>
            </a:prstGeom>
          </p:spPr>
          <p:txBody>
            <a:bodyPr lIns="0" tIns="0" rIns="0" bIns="0" rtlCol="0" anchor="t">
              <a:spAutoFit/>
            </a:bodyPr>
            <a:lstStyle/>
            <a:p>
              <a:pPr algn="ctr" defTabSz="609630">
                <a:lnSpc>
                  <a:spcPts val="835"/>
                </a:lnSpc>
              </a:pPr>
              <a:r>
                <a:rPr lang="en-US" sz="597" dirty="0">
                  <a:solidFill>
                    <a:srgbClr val="FFFFFF"/>
                  </a:solidFill>
                  <a:latin typeface="Cantarell 1"/>
                </a:rPr>
                <a:t>NCC</a:t>
              </a:r>
            </a:p>
          </p:txBody>
        </p:sp>
        <p:sp>
          <p:nvSpPr>
            <p:cNvPr id="67" name="Freeform 67"/>
            <p:cNvSpPr/>
            <p:nvPr/>
          </p:nvSpPr>
          <p:spPr>
            <a:xfrm rot="10716902">
              <a:off x="167507" y="1118594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8" name="TextBox 68"/>
            <p:cNvSpPr txBox="1"/>
            <p:nvPr/>
          </p:nvSpPr>
          <p:spPr>
            <a:xfrm>
              <a:off x="159456" y="113245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9" name="Freeform 69"/>
            <p:cNvSpPr/>
            <p:nvPr/>
          </p:nvSpPr>
          <p:spPr>
            <a:xfrm>
              <a:off x="780126" y="1784850"/>
              <a:ext cx="1019473" cy="702068"/>
            </a:xfrm>
            <a:custGeom>
              <a:avLst/>
              <a:gdLst/>
              <a:ahLst/>
              <a:cxnLst/>
              <a:rect l="l" t="t" r="r" b="b"/>
              <a:pathLst>
                <a:path w="1019473" h="702068">
                  <a:moveTo>
                    <a:pt x="0" y="0"/>
                  </a:moveTo>
                  <a:lnTo>
                    <a:pt x="1019473" y="0"/>
                  </a:lnTo>
                  <a:lnTo>
                    <a:pt x="1019473" y="702068"/>
                  </a:lnTo>
                  <a:lnTo>
                    <a:pt x="0" y="7020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609630"/>
              <a:endParaRPr lang="en-NL" sz="1200">
                <a:solidFill>
                  <a:prstClr val="black"/>
                </a:solidFill>
                <a:latin typeface="Calibri"/>
              </a:endParaRPr>
            </a:p>
          </p:txBody>
        </p:sp>
        <p:sp>
          <p:nvSpPr>
            <p:cNvPr id="70" name="Freeform 70"/>
            <p:cNvSpPr/>
            <p:nvPr/>
          </p:nvSpPr>
          <p:spPr>
            <a:xfrm rot="10716902">
              <a:off x="1074553" y="1543982"/>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71" name="TextBox 71"/>
            <p:cNvSpPr txBox="1"/>
            <p:nvPr/>
          </p:nvSpPr>
          <p:spPr>
            <a:xfrm>
              <a:off x="1066500" y="168257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grpSp>
      <p:sp>
        <p:nvSpPr>
          <p:cNvPr id="72" name="TextBox 72"/>
          <p:cNvSpPr txBox="1"/>
          <p:nvPr/>
        </p:nvSpPr>
        <p:spPr>
          <a:xfrm>
            <a:off x="685800" y="1568366"/>
            <a:ext cx="6200161" cy="705321"/>
          </a:xfrm>
          <a:prstGeom prst="rect">
            <a:avLst/>
          </a:prstGeom>
        </p:spPr>
        <p:txBody>
          <a:bodyPr lIns="0" tIns="0" rIns="0" bIns="0" rtlCol="0" anchor="t">
            <a:spAutoFit/>
          </a:bodyPr>
          <a:lstStyle/>
          <a:p>
            <a:pPr defTabSz="609630">
              <a:lnSpc>
                <a:spcPts val="5532"/>
              </a:lnSpc>
            </a:pPr>
            <a:r>
              <a:rPr lang="en-US" sz="5268" dirty="0">
                <a:solidFill>
                  <a:srgbClr val="FFFFFF"/>
                </a:solidFill>
                <a:latin typeface="Cantarell 2"/>
              </a:rPr>
              <a:t>NCC Netherlands</a:t>
            </a:r>
          </a:p>
        </p:txBody>
      </p:sp>
      <p:sp>
        <p:nvSpPr>
          <p:cNvPr id="73" name="TextBox 73"/>
          <p:cNvSpPr txBox="1"/>
          <p:nvPr/>
        </p:nvSpPr>
        <p:spPr>
          <a:xfrm>
            <a:off x="685800" y="2446161"/>
            <a:ext cx="5106889" cy="3361690"/>
          </a:xfrm>
          <a:prstGeom prst="rect">
            <a:avLst/>
          </a:prstGeom>
        </p:spPr>
        <p:txBody>
          <a:bodyPr lIns="0" tIns="0" rIns="0" bIns="0" rtlCol="0" anchor="t">
            <a:spAutoFit/>
          </a:bodyPr>
          <a:lstStyle/>
          <a:p>
            <a:pPr defTabSz="609630">
              <a:lnSpc>
                <a:spcPts val="2239"/>
              </a:lnSpc>
            </a:pPr>
            <a:r>
              <a:rPr lang="en-US" sz="1600" spc="16" dirty="0">
                <a:solidFill>
                  <a:srgbClr val="FFFFFF"/>
                </a:solidFill>
                <a:latin typeface="Cantarell 1"/>
              </a:rPr>
              <a:t>The NCC Netherlands is a main point of contact at national level for expertise on HPC and HPDA, with a support network of more than 30 other countries in Europe. The main services are:</a:t>
            </a:r>
          </a:p>
          <a:p>
            <a:pPr defTabSz="609630">
              <a:lnSpc>
                <a:spcPts val="2239"/>
              </a:lnSpc>
            </a:pPr>
            <a:endParaRPr lang="en-US" sz="1600" spc="16" dirty="0">
              <a:solidFill>
                <a:srgbClr val="FFFFFF"/>
              </a:solidFill>
              <a:latin typeface="Cantarell 1"/>
            </a:endParaRPr>
          </a:p>
          <a:p>
            <a:pPr marL="228611" indent="-228611" defTabSz="609630">
              <a:lnSpc>
                <a:spcPts val="2239"/>
              </a:lnSpc>
              <a:buFont typeface="Arial" panose="020B0604020202020204" pitchFamily="34" charset="0"/>
              <a:buChar char="•"/>
            </a:pPr>
            <a:r>
              <a:rPr lang="en-US" sz="1600" spc="16" dirty="0">
                <a:solidFill>
                  <a:srgbClr val="FFFFFF"/>
                </a:solidFill>
                <a:latin typeface="Cantarell 1"/>
              </a:rPr>
              <a:t>Training courses for researchers, SMEs and public institutions</a:t>
            </a:r>
          </a:p>
          <a:p>
            <a:pPr marL="228611" indent="-228611" defTabSz="609630">
              <a:lnSpc>
                <a:spcPts val="2239"/>
              </a:lnSpc>
              <a:buFont typeface="Arial" panose="020B0604020202020204" pitchFamily="34" charset="0"/>
              <a:buChar char="•"/>
            </a:pPr>
            <a:r>
              <a:rPr lang="en-US" sz="1600" spc="16" dirty="0">
                <a:solidFill>
                  <a:srgbClr val="FFFFFF"/>
                </a:solidFill>
                <a:latin typeface="Cantarell 1"/>
              </a:rPr>
              <a:t>Access to HPC facilities in the Netherlands</a:t>
            </a:r>
          </a:p>
          <a:p>
            <a:pPr marL="228611" indent="-228611" defTabSz="609630">
              <a:lnSpc>
                <a:spcPts val="2239"/>
              </a:lnSpc>
              <a:buFont typeface="Arial" panose="020B0604020202020204" pitchFamily="34" charset="0"/>
              <a:buChar char="•"/>
            </a:pPr>
            <a:r>
              <a:rPr lang="en-US" sz="1600" spc="16" dirty="0">
                <a:solidFill>
                  <a:srgbClr val="FFFFFF"/>
                </a:solidFill>
                <a:latin typeface="Cantarell 1"/>
              </a:rPr>
              <a:t>Proofs-of-concept on national HPC facilities for SMEs (8 consultancy hours and 50,000 core hours)</a:t>
            </a:r>
          </a:p>
          <a:p>
            <a:pPr defTabSz="609630">
              <a:lnSpc>
                <a:spcPts val="2239"/>
              </a:lnSpc>
            </a:pPr>
            <a:r>
              <a:rPr lang="en-US" sz="1600" spc="16" dirty="0">
                <a:solidFill>
                  <a:srgbClr val="FFFFFF"/>
                </a:solidFill>
                <a:latin typeface="Cantarell 1"/>
              </a:rPr>
              <a:t> </a:t>
            </a:r>
          </a:p>
          <a:p>
            <a:pPr defTabSz="609630">
              <a:lnSpc>
                <a:spcPts val="2239"/>
              </a:lnSpc>
              <a:spcBef>
                <a:spcPct val="0"/>
              </a:spcBef>
            </a:pPr>
            <a:endParaRPr lang="en-US" sz="1600" spc="16" dirty="0">
              <a:solidFill>
                <a:srgbClr val="FFFFFF"/>
              </a:solidFill>
              <a:latin typeface="Cantarell 1"/>
            </a:endParaRPr>
          </a:p>
        </p:txBody>
      </p:sp>
      <p:sp>
        <p:nvSpPr>
          <p:cNvPr id="74" name="Freeform 74"/>
          <p:cNvSpPr/>
          <p:nvPr/>
        </p:nvSpPr>
        <p:spPr>
          <a:xfrm>
            <a:off x="290187" y="156508"/>
            <a:ext cx="1467133" cy="1466481"/>
          </a:xfrm>
          <a:custGeom>
            <a:avLst/>
            <a:gdLst/>
            <a:ahLst/>
            <a:cxnLst/>
            <a:rect l="l" t="t" r="r" b="b"/>
            <a:pathLst>
              <a:path w="2200699" h="2199721">
                <a:moveTo>
                  <a:pt x="0" y="0"/>
                </a:moveTo>
                <a:lnTo>
                  <a:pt x="2200699" y="0"/>
                </a:lnTo>
                <a:lnTo>
                  <a:pt x="2200699" y="2199721"/>
                </a:lnTo>
                <a:lnTo>
                  <a:pt x="0" y="2199721"/>
                </a:lnTo>
                <a:lnTo>
                  <a:pt x="0" y="0"/>
                </a:lnTo>
                <a:close/>
              </a:path>
            </a:pathLst>
          </a:custGeom>
          <a:blipFill>
            <a:blip r:embed="rId9"/>
            <a:stretch>
              <a:fillRect/>
            </a:stretch>
          </a:blipFill>
        </p:spPr>
        <p:txBody>
          <a:bodyPr/>
          <a:lstStyle/>
          <a:p>
            <a:pPr defTabSz="609630"/>
            <a:endParaRPr lang="en-NL" sz="1200">
              <a:solidFill>
                <a:prstClr val="black"/>
              </a:solidFill>
              <a:latin typeface="Calibri"/>
            </a:endParaRPr>
          </a:p>
        </p:txBody>
      </p:sp>
      <p:sp>
        <p:nvSpPr>
          <p:cNvPr id="75" name="Freeform 75"/>
          <p:cNvSpPr/>
          <p:nvPr/>
        </p:nvSpPr>
        <p:spPr>
          <a:xfrm rot="-10800000" flipH="1">
            <a:off x="-106658" y="5761817"/>
            <a:ext cx="2688336" cy="2743200"/>
          </a:xfrm>
          <a:custGeom>
            <a:avLst/>
            <a:gdLst/>
            <a:ahLst/>
            <a:cxnLst/>
            <a:rect l="l" t="t" r="r" b="b"/>
            <a:pathLst>
              <a:path w="4032504" h="4114800">
                <a:moveTo>
                  <a:pt x="4032504" y="0"/>
                </a:moveTo>
                <a:lnTo>
                  <a:pt x="0" y="0"/>
                </a:lnTo>
                <a:lnTo>
                  <a:pt x="0" y="4114800"/>
                </a:lnTo>
                <a:lnTo>
                  <a:pt x="4032504" y="4114800"/>
                </a:lnTo>
                <a:lnTo>
                  <a:pt x="4032504"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defTabSz="609630"/>
            <a:endParaRPr lang="en-NL" sz="1200">
              <a:solidFill>
                <a:prstClr val="black"/>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pPr defTabSz="609630"/>
            <a:endParaRPr lang="en-NL" sz="1200">
              <a:solidFill>
                <a:prstClr val="black"/>
              </a:solidFill>
              <a:latin typeface="Calibri"/>
            </a:endParaRPr>
          </a:p>
        </p:txBody>
      </p:sp>
      <p:pic>
        <p:nvPicPr>
          <p:cNvPr id="11" name="Picture 10">
            <a:extLst>
              <a:ext uri="{FF2B5EF4-FFF2-40B4-BE49-F238E27FC236}">
                <a16:creationId xmlns:a16="http://schemas.microsoft.com/office/drawing/2014/main" id="{951A1B0B-06C5-30F3-B40B-44C5D19DD76A}"/>
              </a:ext>
            </a:extLst>
          </p:cNvPr>
          <p:cNvPicPr>
            <a:picLocks noChangeAspect="1"/>
          </p:cNvPicPr>
          <p:nvPr/>
        </p:nvPicPr>
        <p:blipFill>
          <a:blip r:embed="rId4"/>
          <a:stretch>
            <a:fillRect/>
          </a:stretch>
        </p:blipFill>
        <p:spPr>
          <a:xfrm>
            <a:off x="389486" y="394497"/>
            <a:ext cx="1447121" cy="717376"/>
          </a:xfrm>
          <a:prstGeom prst="rect">
            <a:avLst/>
          </a:prstGeom>
        </p:spPr>
      </p:pic>
      <p:grpSp>
        <p:nvGrpSpPr>
          <p:cNvPr id="68" name="Group 29">
            <a:extLst>
              <a:ext uri="{FF2B5EF4-FFF2-40B4-BE49-F238E27FC236}">
                <a16:creationId xmlns:a16="http://schemas.microsoft.com/office/drawing/2014/main" id="{5AC04F6E-E439-CEEF-E4CC-6B3AEAB9F280}"/>
              </a:ext>
            </a:extLst>
          </p:cNvPr>
          <p:cNvGrpSpPr/>
          <p:nvPr/>
        </p:nvGrpSpPr>
        <p:grpSpPr>
          <a:xfrm>
            <a:off x="7674792" y="2892056"/>
            <a:ext cx="4359253" cy="1690262"/>
            <a:chOff x="8921977" y="1405170"/>
            <a:chExt cx="2926080" cy="1690262"/>
          </a:xfrm>
        </p:grpSpPr>
        <p:sp>
          <p:nvSpPr>
            <p:cNvPr id="69" name="TextBox 30">
              <a:extLst>
                <a:ext uri="{FF2B5EF4-FFF2-40B4-BE49-F238E27FC236}">
                  <a16:creationId xmlns:a16="http://schemas.microsoft.com/office/drawing/2014/main" id="{AA8A770A-615D-2D56-3C0D-513425FC7201}"/>
                </a:ext>
              </a:extLst>
            </p:cNvPr>
            <p:cNvSpPr txBox="1"/>
            <p:nvPr/>
          </p:nvSpPr>
          <p:spPr>
            <a:xfrm>
              <a:off x="8921977" y="1405170"/>
              <a:ext cx="2926080" cy="523220"/>
            </a:xfrm>
            <a:prstGeom prst="rect">
              <a:avLst/>
            </a:prstGeom>
            <a:noFill/>
          </p:spPr>
          <p:txBody>
            <a:bodyPr wrap="square" lIns="0" rIns="0" rtlCol="0" anchor="b">
              <a:spAutoFit/>
            </a:bodyPr>
            <a:lstStyle/>
            <a:p>
              <a:pPr defTabSz="914446"/>
              <a:r>
                <a:rPr lang="en-US" sz="1400" b="1" noProof="1">
                  <a:solidFill>
                    <a:srgbClr val="FFC000"/>
                  </a:solidFill>
                  <a:latin typeface="Calibri" panose="020F0502020204030204"/>
                </a:rPr>
                <a:t>Specialised services </a:t>
              </a:r>
              <a:br>
                <a:rPr lang="en-US" sz="1400" b="1" noProof="1">
                  <a:solidFill>
                    <a:srgbClr val="FFC000"/>
                  </a:solidFill>
                  <a:latin typeface="Calibri" panose="020F0502020204030204"/>
                </a:rPr>
              </a:br>
              <a:r>
                <a:rPr lang="en-US" sz="1400" b="1" noProof="1">
                  <a:solidFill>
                    <a:srgbClr val="FFC000"/>
                  </a:solidFill>
                  <a:latin typeface="Calibri" panose="020F0502020204030204"/>
                </a:rPr>
                <a:t>and support</a:t>
              </a:r>
            </a:p>
          </p:txBody>
        </p:sp>
        <p:sp>
          <p:nvSpPr>
            <p:cNvPr id="70" name="TextBox 31">
              <a:extLst>
                <a:ext uri="{FF2B5EF4-FFF2-40B4-BE49-F238E27FC236}">
                  <a16:creationId xmlns:a16="http://schemas.microsoft.com/office/drawing/2014/main" id="{E329CD89-F982-1C72-B847-AF2DFF39E709}"/>
                </a:ext>
              </a:extLst>
            </p:cNvPr>
            <p:cNvSpPr txBox="1"/>
            <p:nvPr/>
          </p:nvSpPr>
          <p:spPr>
            <a:xfrm>
              <a:off x="8921977" y="1925881"/>
              <a:ext cx="2778910" cy="1169551"/>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We provide specialised services and support for our HPC system users, beyond basic system access and usage. We offer support on </a:t>
              </a:r>
              <a:r>
                <a:rPr lang="en-US" sz="1000" b="1" noProof="1">
                  <a:solidFill>
                    <a:prstClr val="white"/>
                  </a:solidFill>
                  <a:latin typeface="Calibri" panose="020F0502020204030204"/>
                </a:rPr>
                <a:t>application porting, development and performance optimisation</a:t>
              </a:r>
              <a:r>
                <a:rPr lang="en-US" sz="1000" noProof="1">
                  <a:solidFill>
                    <a:prstClr val="white"/>
                  </a:solidFill>
                  <a:latin typeface="Calibri" panose="020F0502020204030204"/>
                </a:rPr>
                <a:t>. We also support energy consumption analysis for greener, more cost-effective computations. Additional services include user-friendly UI (</a:t>
              </a:r>
              <a:r>
                <a:rPr lang="en-US" sz="1000" b="1" noProof="1">
                  <a:solidFill>
                    <a:prstClr val="white"/>
                  </a:solidFill>
                  <a:latin typeface="Calibri" panose="020F0502020204030204"/>
                </a:rPr>
                <a:t>OpenOnDemand</a:t>
              </a:r>
              <a:r>
                <a:rPr lang="en-US" sz="1000" noProof="1">
                  <a:solidFill>
                    <a:prstClr val="white"/>
                  </a:solidFill>
                  <a:latin typeface="Calibri" panose="020F0502020204030204"/>
                </a:rPr>
                <a:t>), secure computing environments for sensitive data handling (</a:t>
              </a:r>
              <a:r>
                <a:rPr lang="en-US" sz="1000" b="1" noProof="1">
                  <a:solidFill>
                    <a:prstClr val="white"/>
                  </a:solidFill>
                  <a:latin typeface="Calibri" panose="020F0502020204030204"/>
                </a:rPr>
                <a:t>OSSC</a:t>
              </a:r>
              <a:r>
                <a:rPr lang="en-US" sz="1000" noProof="1">
                  <a:solidFill>
                    <a:prstClr val="white"/>
                  </a:solidFill>
                  <a:latin typeface="Calibri" panose="020F0502020204030204"/>
                </a:rPr>
                <a:t>), and access to cutting-edge experimental hardware for innovative research (</a:t>
              </a:r>
              <a:r>
                <a:rPr lang="en-US" sz="1000" b="1" noProof="1">
                  <a:solidFill>
                    <a:prstClr val="white"/>
                  </a:solidFill>
                  <a:latin typeface="Calibri" panose="020F0502020204030204"/>
                </a:rPr>
                <a:t>ETP</a:t>
              </a:r>
              <a:r>
                <a:rPr lang="en-US" sz="1000" noProof="1">
                  <a:solidFill>
                    <a:prstClr val="white"/>
                  </a:solidFill>
                  <a:latin typeface="Calibri" panose="020F0502020204030204"/>
                </a:rPr>
                <a:t>).</a:t>
              </a:r>
            </a:p>
          </p:txBody>
        </p:sp>
      </p:grpSp>
      <p:grpSp>
        <p:nvGrpSpPr>
          <p:cNvPr id="72" name="Group 1">
            <a:extLst>
              <a:ext uri="{FF2B5EF4-FFF2-40B4-BE49-F238E27FC236}">
                <a16:creationId xmlns:a16="http://schemas.microsoft.com/office/drawing/2014/main" id="{3C2511D6-0FA3-29CA-5A63-2EFB13EEFA91}"/>
              </a:ext>
            </a:extLst>
          </p:cNvPr>
          <p:cNvGrpSpPr/>
          <p:nvPr/>
        </p:nvGrpSpPr>
        <p:grpSpPr>
          <a:xfrm>
            <a:off x="4025620" y="2033274"/>
            <a:ext cx="4140000" cy="4045571"/>
            <a:chOff x="4027146" y="1903678"/>
            <a:chExt cx="4140000" cy="4045571"/>
          </a:xfrm>
        </p:grpSpPr>
        <p:grpSp>
          <p:nvGrpSpPr>
            <p:cNvPr id="73" name="Group 22">
              <a:extLst>
                <a:ext uri="{FF2B5EF4-FFF2-40B4-BE49-F238E27FC236}">
                  <a16:creationId xmlns:a16="http://schemas.microsoft.com/office/drawing/2014/main" id="{8273AC5E-CD8E-CAEA-B190-274A6097DB05}"/>
                </a:ext>
              </a:extLst>
            </p:cNvPr>
            <p:cNvGrpSpPr>
              <a:grpSpLocks noChangeAspect="1"/>
            </p:cNvGrpSpPr>
            <p:nvPr/>
          </p:nvGrpSpPr>
          <p:grpSpPr>
            <a:xfrm>
              <a:off x="4027146" y="1903678"/>
              <a:ext cx="4140000" cy="4045571"/>
              <a:chOff x="869790" y="3201354"/>
              <a:chExt cx="1667282" cy="1629253"/>
            </a:xfrm>
          </p:grpSpPr>
          <p:sp>
            <p:nvSpPr>
              <p:cNvPr id="77" name="Shape">
                <a:extLst>
                  <a:ext uri="{FF2B5EF4-FFF2-40B4-BE49-F238E27FC236}">
                    <a16:creationId xmlns:a16="http://schemas.microsoft.com/office/drawing/2014/main" id="{F4C6B64C-7E1A-CBE9-51BE-AD5F65F27608}"/>
                  </a:ext>
                </a:extLst>
              </p:cNvPr>
              <p:cNvSpPr/>
              <p:nvPr/>
            </p:nvSpPr>
            <p:spPr>
              <a:xfrm>
                <a:off x="1474831" y="3201354"/>
                <a:ext cx="457200" cy="292101"/>
              </a:xfrm>
              <a:custGeom>
                <a:avLst/>
                <a:gdLst/>
                <a:ahLst/>
                <a:cxnLst>
                  <a:cxn ang="0">
                    <a:pos x="wd2" y="hd2"/>
                  </a:cxn>
                  <a:cxn ang="5400000">
                    <a:pos x="wd2" y="hd2"/>
                  </a:cxn>
                  <a:cxn ang="10800000">
                    <a:pos x="wd2" y="hd2"/>
                  </a:cxn>
                  <a:cxn ang="16200000">
                    <a:pos x="wd2" y="hd2"/>
                  </a:cxn>
                </a:cxnLst>
                <a:rect l="0" t="0" r="r" b="b"/>
                <a:pathLst>
                  <a:path w="21481" h="21506" extrusionOk="0">
                    <a:moveTo>
                      <a:pt x="20884" y="21506"/>
                    </a:moveTo>
                    <a:cubicBezTo>
                      <a:pt x="20705" y="21506"/>
                      <a:pt x="20526" y="21413"/>
                      <a:pt x="20466" y="21132"/>
                    </a:cubicBezTo>
                    <a:lnTo>
                      <a:pt x="14559" y="5049"/>
                    </a:lnTo>
                    <a:cubicBezTo>
                      <a:pt x="13723" y="2805"/>
                      <a:pt x="12291" y="1496"/>
                      <a:pt x="10680" y="1496"/>
                    </a:cubicBezTo>
                    <a:cubicBezTo>
                      <a:pt x="9069" y="1496"/>
                      <a:pt x="7578" y="2805"/>
                      <a:pt x="6802" y="5049"/>
                    </a:cubicBezTo>
                    <a:lnTo>
                      <a:pt x="895" y="21132"/>
                    </a:lnTo>
                    <a:cubicBezTo>
                      <a:pt x="775" y="21506"/>
                      <a:pt x="477" y="21600"/>
                      <a:pt x="238" y="21413"/>
                    </a:cubicBezTo>
                    <a:cubicBezTo>
                      <a:pt x="0" y="21226"/>
                      <a:pt x="-60" y="20758"/>
                      <a:pt x="59" y="20384"/>
                    </a:cubicBezTo>
                    <a:lnTo>
                      <a:pt x="5967" y="4301"/>
                    </a:lnTo>
                    <a:cubicBezTo>
                      <a:pt x="6981" y="1590"/>
                      <a:pt x="8711" y="0"/>
                      <a:pt x="10740" y="0"/>
                    </a:cubicBezTo>
                    <a:cubicBezTo>
                      <a:pt x="12769" y="0"/>
                      <a:pt x="14499" y="1590"/>
                      <a:pt x="15513" y="4301"/>
                    </a:cubicBezTo>
                    <a:lnTo>
                      <a:pt x="21421" y="20384"/>
                    </a:lnTo>
                    <a:cubicBezTo>
                      <a:pt x="21540" y="20758"/>
                      <a:pt x="21480" y="21226"/>
                      <a:pt x="21242" y="21413"/>
                    </a:cubicBezTo>
                    <a:cubicBezTo>
                      <a:pt x="21063" y="21506"/>
                      <a:pt x="21003" y="21506"/>
                      <a:pt x="20884" y="21506"/>
                    </a:cubicBezTo>
                    <a:close/>
                  </a:path>
                </a:pathLst>
              </a:custGeom>
              <a:solidFill>
                <a:srgbClr val="00B050"/>
              </a:solidFill>
              <a:ln w="12700">
                <a:miter lim="400000"/>
              </a:ln>
            </p:spPr>
            <p:txBody>
              <a:bodyPr lIns="38100" tIns="38100" rIns="38100" bIns="38100" anchor="ctr"/>
              <a:lstStyle/>
              <a:p>
                <a:pPr defTabSz="914446">
                  <a:defRPr sz="3000">
                    <a:solidFill>
                      <a:srgbClr val="FFFFFF"/>
                    </a:solidFill>
                  </a:defRPr>
                </a:pPr>
                <a:endParaRPr sz="3000" kern="0" dirty="0">
                  <a:solidFill>
                    <a:srgbClr val="00B050"/>
                  </a:solidFill>
                  <a:latin typeface="Calibri" panose="020F0502020204030204"/>
                </a:endParaRPr>
              </a:p>
            </p:txBody>
          </p:sp>
          <p:sp>
            <p:nvSpPr>
              <p:cNvPr id="78" name="Shape">
                <a:extLst>
                  <a:ext uri="{FF2B5EF4-FFF2-40B4-BE49-F238E27FC236}">
                    <a16:creationId xmlns:a16="http://schemas.microsoft.com/office/drawing/2014/main" id="{CE8BA7FF-9936-A8E4-BB67-F076130966EE}"/>
                  </a:ext>
                </a:extLst>
              </p:cNvPr>
              <p:cNvSpPr/>
              <p:nvPr/>
            </p:nvSpPr>
            <p:spPr>
              <a:xfrm>
                <a:off x="869790" y="4330976"/>
                <a:ext cx="1667282" cy="499631"/>
              </a:xfrm>
              <a:custGeom>
                <a:avLst/>
                <a:gdLst/>
                <a:ahLst/>
                <a:cxnLst>
                  <a:cxn ang="0">
                    <a:pos x="wd2" y="hd2"/>
                  </a:cxn>
                  <a:cxn ang="5400000">
                    <a:pos x="wd2" y="hd2"/>
                  </a:cxn>
                  <a:cxn ang="10800000">
                    <a:pos x="wd2" y="hd2"/>
                  </a:cxn>
                  <a:cxn ang="16200000">
                    <a:pos x="wd2" y="hd2"/>
                  </a:cxn>
                </a:cxnLst>
                <a:rect l="0" t="0" r="r" b="b"/>
                <a:pathLst>
                  <a:path w="21548" h="21513" extrusionOk="0">
                    <a:moveTo>
                      <a:pt x="21377" y="21491"/>
                    </a:moveTo>
                    <a:cubicBezTo>
                      <a:pt x="21311" y="21491"/>
                      <a:pt x="21262" y="21381"/>
                      <a:pt x="21229" y="21217"/>
                    </a:cubicBezTo>
                    <a:lnTo>
                      <a:pt x="18193" y="3718"/>
                    </a:lnTo>
                    <a:cubicBezTo>
                      <a:pt x="17914" y="2133"/>
                      <a:pt x="17405" y="1148"/>
                      <a:pt x="16847" y="1148"/>
                    </a:cubicBezTo>
                    <a:lnTo>
                      <a:pt x="4701" y="1148"/>
                    </a:lnTo>
                    <a:cubicBezTo>
                      <a:pt x="4143" y="1148"/>
                      <a:pt x="3634" y="2133"/>
                      <a:pt x="3355" y="3718"/>
                    </a:cubicBezTo>
                    <a:lnTo>
                      <a:pt x="319" y="21217"/>
                    </a:lnTo>
                    <a:cubicBezTo>
                      <a:pt x="269" y="21491"/>
                      <a:pt x="171" y="21600"/>
                      <a:pt x="89" y="21436"/>
                    </a:cubicBezTo>
                    <a:cubicBezTo>
                      <a:pt x="7" y="21272"/>
                      <a:pt x="-26" y="20944"/>
                      <a:pt x="23" y="20670"/>
                    </a:cubicBezTo>
                    <a:lnTo>
                      <a:pt x="3060" y="3172"/>
                    </a:lnTo>
                    <a:cubicBezTo>
                      <a:pt x="3388" y="1258"/>
                      <a:pt x="4028" y="0"/>
                      <a:pt x="4701" y="0"/>
                    </a:cubicBezTo>
                    <a:lnTo>
                      <a:pt x="16847" y="0"/>
                    </a:lnTo>
                    <a:cubicBezTo>
                      <a:pt x="17520" y="0"/>
                      <a:pt x="18144" y="1203"/>
                      <a:pt x="18488" y="3172"/>
                    </a:cubicBezTo>
                    <a:lnTo>
                      <a:pt x="21525" y="20670"/>
                    </a:lnTo>
                    <a:cubicBezTo>
                      <a:pt x="21574" y="20944"/>
                      <a:pt x="21541" y="21272"/>
                      <a:pt x="21459" y="21436"/>
                    </a:cubicBezTo>
                    <a:cubicBezTo>
                      <a:pt x="21426" y="21491"/>
                      <a:pt x="21410" y="21491"/>
                      <a:pt x="21377" y="21491"/>
                    </a:cubicBezTo>
                    <a:close/>
                  </a:path>
                </a:pathLst>
              </a:custGeom>
              <a:solidFill>
                <a:srgbClr val="C00000"/>
              </a:solidFill>
              <a:ln w="12700">
                <a:miter lim="400000"/>
              </a:ln>
            </p:spPr>
            <p:txBody>
              <a:bodyPr lIns="38100" tIns="38100" rIns="38100" bIns="38100" anchor="ctr"/>
              <a:lstStyle/>
              <a:p>
                <a:pPr defTabSz="914446">
                  <a:defRPr sz="3000">
                    <a:solidFill>
                      <a:srgbClr val="FFFFFF"/>
                    </a:solidFill>
                  </a:defRPr>
                </a:pPr>
                <a:endParaRPr sz="3000" kern="0" dirty="0">
                  <a:solidFill>
                    <a:srgbClr val="FFFFFF"/>
                  </a:solidFill>
                  <a:latin typeface="Calibri" panose="020F0502020204030204"/>
                </a:endParaRPr>
              </a:p>
            </p:txBody>
          </p:sp>
          <p:sp>
            <p:nvSpPr>
              <p:cNvPr id="79" name="Shape">
                <a:extLst>
                  <a:ext uri="{FF2B5EF4-FFF2-40B4-BE49-F238E27FC236}">
                    <a16:creationId xmlns:a16="http://schemas.microsoft.com/office/drawing/2014/main" id="{8D08C908-25D9-86A4-C40C-133F1F695A0F}"/>
                  </a:ext>
                </a:extLst>
              </p:cNvPr>
              <p:cNvSpPr/>
              <p:nvPr/>
            </p:nvSpPr>
            <p:spPr>
              <a:xfrm>
                <a:off x="1183286" y="3677900"/>
                <a:ext cx="1053308" cy="468631"/>
              </a:xfrm>
              <a:custGeom>
                <a:avLst/>
                <a:gdLst/>
                <a:ahLst/>
                <a:cxnLst>
                  <a:cxn ang="0">
                    <a:pos x="wd2" y="hd2"/>
                  </a:cxn>
                  <a:cxn ang="5400000">
                    <a:pos x="wd2" y="hd2"/>
                  </a:cxn>
                  <a:cxn ang="10800000">
                    <a:pos x="wd2" y="hd2"/>
                  </a:cxn>
                  <a:cxn ang="16200000">
                    <a:pos x="wd2" y="hd2"/>
                  </a:cxn>
                </a:cxnLst>
                <a:rect l="0" t="0" r="r" b="b"/>
                <a:pathLst>
                  <a:path w="21532" h="21542" extrusionOk="0">
                    <a:moveTo>
                      <a:pt x="21261" y="21542"/>
                    </a:moveTo>
                    <a:cubicBezTo>
                      <a:pt x="21184" y="21542"/>
                      <a:pt x="21080" y="21425"/>
                      <a:pt x="21054" y="21250"/>
                    </a:cubicBezTo>
                    <a:lnTo>
                      <a:pt x="16536" y="3678"/>
                    </a:lnTo>
                    <a:cubicBezTo>
                      <a:pt x="16121" y="2102"/>
                      <a:pt x="15368" y="1109"/>
                      <a:pt x="14537" y="1109"/>
                    </a:cubicBezTo>
                    <a:lnTo>
                      <a:pt x="6983" y="1109"/>
                    </a:lnTo>
                    <a:cubicBezTo>
                      <a:pt x="6152" y="1109"/>
                      <a:pt x="5399" y="2102"/>
                      <a:pt x="4984" y="3678"/>
                    </a:cubicBezTo>
                    <a:lnTo>
                      <a:pt x="466" y="21250"/>
                    </a:lnTo>
                    <a:cubicBezTo>
                      <a:pt x="388" y="21542"/>
                      <a:pt x="233" y="21600"/>
                      <a:pt x="129" y="21483"/>
                    </a:cubicBezTo>
                    <a:cubicBezTo>
                      <a:pt x="-1" y="21308"/>
                      <a:pt x="-27" y="20958"/>
                      <a:pt x="25" y="20724"/>
                    </a:cubicBezTo>
                    <a:lnTo>
                      <a:pt x="4542" y="3152"/>
                    </a:lnTo>
                    <a:cubicBezTo>
                      <a:pt x="5036" y="1226"/>
                      <a:pt x="5970" y="0"/>
                      <a:pt x="6983" y="0"/>
                    </a:cubicBezTo>
                    <a:lnTo>
                      <a:pt x="14537" y="0"/>
                    </a:lnTo>
                    <a:cubicBezTo>
                      <a:pt x="15524" y="0"/>
                      <a:pt x="16459" y="1226"/>
                      <a:pt x="16978" y="3152"/>
                    </a:cubicBezTo>
                    <a:lnTo>
                      <a:pt x="21495" y="20724"/>
                    </a:lnTo>
                    <a:cubicBezTo>
                      <a:pt x="21573" y="21016"/>
                      <a:pt x="21521" y="21366"/>
                      <a:pt x="21391" y="21483"/>
                    </a:cubicBezTo>
                    <a:cubicBezTo>
                      <a:pt x="21365" y="21542"/>
                      <a:pt x="21313" y="21542"/>
                      <a:pt x="21261" y="21542"/>
                    </a:cubicBezTo>
                    <a:close/>
                  </a:path>
                </a:pathLst>
              </a:custGeom>
              <a:solidFill>
                <a:srgbClr val="FFC000"/>
              </a:solidFill>
              <a:ln w="12700">
                <a:miter lim="400000"/>
              </a:ln>
            </p:spPr>
            <p:txBody>
              <a:bodyPr lIns="38100" tIns="38100" rIns="38100" bIns="38100" anchor="ctr"/>
              <a:lstStyle/>
              <a:p>
                <a:pPr defTabSz="914446">
                  <a:defRPr sz="3000">
                    <a:solidFill>
                      <a:srgbClr val="FFFFFF"/>
                    </a:solidFill>
                  </a:defRPr>
                </a:pPr>
                <a:endParaRPr sz="3000" kern="0">
                  <a:solidFill>
                    <a:srgbClr val="FFFFFF"/>
                  </a:solidFill>
                  <a:latin typeface="Calibri" panose="020F0502020204030204"/>
                </a:endParaRPr>
              </a:p>
            </p:txBody>
          </p:sp>
        </p:grpSp>
        <p:sp>
          <p:nvSpPr>
            <p:cNvPr id="74" name="TextBox 38">
              <a:extLst>
                <a:ext uri="{FF2B5EF4-FFF2-40B4-BE49-F238E27FC236}">
                  <a16:creationId xmlns:a16="http://schemas.microsoft.com/office/drawing/2014/main" id="{C3436696-6E06-D037-6773-CF78DFA69CF4}"/>
                </a:ext>
              </a:extLst>
            </p:cNvPr>
            <p:cNvSpPr txBox="1"/>
            <p:nvPr/>
          </p:nvSpPr>
          <p:spPr>
            <a:xfrm>
              <a:off x="4630390" y="3452330"/>
              <a:ext cx="2926080" cy="461665"/>
            </a:xfrm>
            <a:prstGeom prst="rect">
              <a:avLst/>
            </a:prstGeom>
            <a:noFill/>
          </p:spPr>
          <p:txBody>
            <a:bodyPr wrap="square" lIns="0" rIns="0" rtlCol="0" anchor="b">
              <a:spAutoFit/>
            </a:bodyPr>
            <a:lstStyle/>
            <a:p>
              <a:pPr algn="ctr" defTabSz="914446"/>
              <a:r>
                <a:rPr lang="en-US" sz="2400" b="1" noProof="1">
                  <a:solidFill>
                    <a:srgbClr val="FFC000"/>
                  </a:solidFill>
                  <a:latin typeface="Calibri" panose="020F0502020204030204"/>
                </a:rPr>
                <a:t>Tier 1</a:t>
              </a:r>
            </a:p>
          </p:txBody>
        </p:sp>
        <p:sp>
          <p:nvSpPr>
            <p:cNvPr id="75" name="TextBox 42">
              <a:extLst>
                <a:ext uri="{FF2B5EF4-FFF2-40B4-BE49-F238E27FC236}">
                  <a16:creationId xmlns:a16="http://schemas.microsoft.com/office/drawing/2014/main" id="{D761EEC1-6AD8-70E7-8DF5-150DABA30256}"/>
                </a:ext>
              </a:extLst>
            </p:cNvPr>
            <p:cNvSpPr txBox="1"/>
            <p:nvPr/>
          </p:nvSpPr>
          <p:spPr>
            <a:xfrm>
              <a:off x="4632960" y="5237008"/>
              <a:ext cx="2926080" cy="461665"/>
            </a:xfrm>
            <a:prstGeom prst="rect">
              <a:avLst/>
            </a:prstGeom>
            <a:noFill/>
          </p:spPr>
          <p:txBody>
            <a:bodyPr wrap="square" lIns="0" rIns="0" rtlCol="0" anchor="b">
              <a:spAutoFit/>
            </a:bodyPr>
            <a:lstStyle/>
            <a:p>
              <a:pPr algn="ctr" defTabSz="914446"/>
              <a:r>
                <a:rPr lang="en-US" sz="2400" b="1" noProof="1">
                  <a:solidFill>
                    <a:srgbClr val="C00000"/>
                  </a:solidFill>
                  <a:latin typeface="Calibri" panose="020F0502020204030204"/>
                </a:rPr>
                <a:t>Tier 2 / Tier 3</a:t>
              </a:r>
            </a:p>
          </p:txBody>
        </p:sp>
        <p:sp>
          <p:nvSpPr>
            <p:cNvPr id="76" name="TextBox 44">
              <a:extLst>
                <a:ext uri="{FF2B5EF4-FFF2-40B4-BE49-F238E27FC236}">
                  <a16:creationId xmlns:a16="http://schemas.microsoft.com/office/drawing/2014/main" id="{F1115483-28EE-E1EE-45A1-427DCB2EA516}"/>
                </a:ext>
              </a:extLst>
            </p:cNvPr>
            <p:cNvSpPr txBox="1"/>
            <p:nvPr/>
          </p:nvSpPr>
          <p:spPr>
            <a:xfrm>
              <a:off x="4630390" y="2239779"/>
              <a:ext cx="2926080" cy="369332"/>
            </a:xfrm>
            <a:prstGeom prst="rect">
              <a:avLst/>
            </a:prstGeom>
            <a:noFill/>
          </p:spPr>
          <p:txBody>
            <a:bodyPr wrap="square" lIns="0" rIns="0" rtlCol="0" anchor="b">
              <a:spAutoFit/>
            </a:bodyPr>
            <a:lstStyle/>
            <a:p>
              <a:pPr algn="ctr" defTabSz="914446"/>
              <a:r>
                <a:rPr lang="en-US" b="1" noProof="1">
                  <a:solidFill>
                    <a:srgbClr val="00B050"/>
                  </a:solidFill>
                  <a:latin typeface="Calibri" panose="020F0502020204030204"/>
                </a:rPr>
                <a:t>Tier 0</a:t>
              </a:r>
            </a:p>
          </p:txBody>
        </p:sp>
      </p:grpSp>
      <p:grpSp>
        <p:nvGrpSpPr>
          <p:cNvPr id="80" name="Group 45">
            <a:extLst>
              <a:ext uri="{FF2B5EF4-FFF2-40B4-BE49-F238E27FC236}">
                <a16:creationId xmlns:a16="http://schemas.microsoft.com/office/drawing/2014/main" id="{60D009ED-B9C8-6803-149D-D2DEDBB641FC}"/>
              </a:ext>
            </a:extLst>
          </p:cNvPr>
          <p:cNvGrpSpPr/>
          <p:nvPr/>
        </p:nvGrpSpPr>
        <p:grpSpPr>
          <a:xfrm>
            <a:off x="2376859" y="1027991"/>
            <a:ext cx="2926080" cy="1228597"/>
            <a:chOff x="332936" y="2566211"/>
            <a:chExt cx="2926080" cy="1228597"/>
          </a:xfrm>
        </p:grpSpPr>
        <p:sp>
          <p:nvSpPr>
            <p:cNvPr id="81" name="TextBox 46">
              <a:extLst>
                <a:ext uri="{FF2B5EF4-FFF2-40B4-BE49-F238E27FC236}">
                  <a16:creationId xmlns:a16="http://schemas.microsoft.com/office/drawing/2014/main" id="{395389B6-A6A0-1928-056C-C00036AACBDA}"/>
                </a:ext>
              </a:extLst>
            </p:cNvPr>
            <p:cNvSpPr txBox="1"/>
            <p:nvPr/>
          </p:nvSpPr>
          <p:spPr>
            <a:xfrm>
              <a:off x="332936" y="2566211"/>
              <a:ext cx="2926080" cy="523220"/>
            </a:xfrm>
            <a:prstGeom prst="rect">
              <a:avLst/>
            </a:prstGeom>
            <a:noFill/>
          </p:spPr>
          <p:txBody>
            <a:bodyPr wrap="square" lIns="0" rIns="0" rtlCol="0" anchor="b">
              <a:spAutoFit/>
            </a:bodyPr>
            <a:lstStyle/>
            <a:p>
              <a:pPr algn="r" defTabSz="914446"/>
              <a:r>
                <a:rPr lang="en-US" sz="1400" b="1" noProof="1">
                  <a:solidFill>
                    <a:srgbClr val="00B050"/>
                  </a:solidFill>
                  <a:latin typeface="Calibri" panose="020F0502020204030204"/>
                </a:rPr>
                <a:t>LUMI and Alice Recoque </a:t>
              </a:r>
              <a:br>
                <a:rPr lang="en-US" sz="1400" b="1" noProof="1">
                  <a:solidFill>
                    <a:srgbClr val="00B050"/>
                  </a:solidFill>
                  <a:latin typeface="Calibri" panose="020F0502020204030204"/>
                </a:rPr>
              </a:br>
              <a:r>
                <a:rPr lang="en-US" sz="1400" b="1" noProof="1">
                  <a:solidFill>
                    <a:srgbClr val="00B050"/>
                  </a:solidFill>
                  <a:latin typeface="Calibri" panose="020F0502020204030204"/>
                </a:rPr>
                <a:t>EuroHPC systems</a:t>
              </a:r>
            </a:p>
          </p:txBody>
        </p:sp>
        <p:sp>
          <p:nvSpPr>
            <p:cNvPr id="82" name="TextBox 47">
              <a:extLst>
                <a:ext uri="{FF2B5EF4-FFF2-40B4-BE49-F238E27FC236}">
                  <a16:creationId xmlns:a16="http://schemas.microsoft.com/office/drawing/2014/main" id="{62DECF8F-8CC5-2A35-34A4-4E05A52F5572}"/>
                </a:ext>
              </a:extLst>
            </p:cNvPr>
            <p:cNvSpPr txBox="1"/>
            <p:nvPr/>
          </p:nvSpPr>
          <p:spPr>
            <a:xfrm>
              <a:off x="659503" y="3086922"/>
              <a:ext cx="2599513" cy="707886"/>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Dutch research can benefit from dedicated access to EuroHPC Tier 0 systems through dedicated national calls, as a result of the NL participation in consortia for LUMI and Alice Recoque systems. </a:t>
              </a:r>
            </a:p>
          </p:txBody>
        </p:sp>
      </p:grpSp>
      <p:grpSp>
        <p:nvGrpSpPr>
          <p:cNvPr id="83" name="Group 48">
            <a:extLst>
              <a:ext uri="{FF2B5EF4-FFF2-40B4-BE49-F238E27FC236}">
                <a16:creationId xmlns:a16="http://schemas.microsoft.com/office/drawing/2014/main" id="{BFFE240E-27B4-862C-CFB0-A913BD920201}"/>
              </a:ext>
            </a:extLst>
          </p:cNvPr>
          <p:cNvGrpSpPr/>
          <p:nvPr/>
        </p:nvGrpSpPr>
        <p:grpSpPr>
          <a:xfrm>
            <a:off x="6889061" y="997877"/>
            <a:ext cx="2926080" cy="1628706"/>
            <a:chOff x="8921977" y="1620614"/>
            <a:chExt cx="2926080" cy="1628706"/>
          </a:xfrm>
        </p:grpSpPr>
        <p:sp>
          <p:nvSpPr>
            <p:cNvPr id="84" name="TextBox 49">
              <a:extLst>
                <a:ext uri="{FF2B5EF4-FFF2-40B4-BE49-F238E27FC236}">
                  <a16:creationId xmlns:a16="http://schemas.microsoft.com/office/drawing/2014/main" id="{C8A3A22F-E089-9BFE-3A88-DB789A88BBD2}"/>
                </a:ext>
              </a:extLst>
            </p:cNvPr>
            <p:cNvSpPr txBox="1"/>
            <p:nvPr/>
          </p:nvSpPr>
          <p:spPr>
            <a:xfrm>
              <a:off x="8921977" y="1620614"/>
              <a:ext cx="2926080" cy="307777"/>
            </a:xfrm>
            <a:prstGeom prst="rect">
              <a:avLst/>
            </a:prstGeom>
            <a:noFill/>
          </p:spPr>
          <p:txBody>
            <a:bodyPr wrap="square" lIns="0" rIns="0" rtlCol="0" anchor="b">
              <a:spAutoFit/>
            </a:bodyPr>
            <a:lstStyle/>
            <a:p>
              <a:pPr defTabSz="914446"/>
              <a:r>
                <a:rPr lang="en-US" sz="1400" b="1" noProof="1">
                  <a:solidFill>
                    <a:srgbClr val="00B050"/>
                  </a:solidFill>
                  <a:latin typeface="Calibri" panose="020F0502020204030204"/>
                </a:rPr>
                <a:t>EuroCC and Tier 0 support</a:t>
              </a:r>
            </a:p>
          </p:txBody>
        </p:sp>
        <p:sp>
          <p:nvSpPr>
            <p:cNvPr id="85" name="TextBox 50">
              <a:extLst>
                <a:ext uri="{FF2B5EF4-FFF2-40B4-BE49-F238E27FC236}">
                  <a16:creationId xmlns:a16="http://schemas.microsoft.com/office/drawing/2014/main" id="{AECD80FE-9F8C-F7DE-EBB5-3AE059A22922}"/>
                </a:ext>
              </a:extLst>
            </p:cNvPr>
            <p:cNvSpPr txBox="1"/>
            <p:nvPr/>
          </p:nvSpPr>
          <p:spPr>
            <a:xfrm>
              <a:off x="8921977" y="1925881"/>
              <a:ext cx="2926080" cy="1323439"/>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SURF is coordinating the Dutch National Competence Centre and is part of the EuroCC initiative. SURF advisors actively participate in the LUMI User Support Team (LUST), providing specialised support in installing the software required for your research, running your applications and making efficient use of the resources that LUMI offers.</a:t>
              </a:r>
            </a:p>
            <a:p>
              <a:pPr algn="just" defTabSz="914446"/>
              <a:r>
                <a:rPr lang="en-US" sz="1000" noProof="1">
                  <a:solidFill>
                    <a:prstClr val="black">
                      <a:lumMod val="65000"/>
                      <a:lumOff val="35000"/>
                    </a:prstClr>
                  </a:solidFill>
                  <a:latin typeface="Calibri" panose="020F0502020204030204"/>
                </a:rPr>
                <a:t>. </a:t>
              </a:r>
            </a:p>
          </p:txBody>
        </p:sp>
      </p:grpSp>
      <p:grpSp>
        <p:nvGrpSpPr>
          <p:cNvPr id="86" name="Group 17">
            <a:extLst>
              <a:ext uri="{FF2B5EF4-FFF2-40B4-BE49-F238E27FC236}">
                <a16:creationId xmlns:a16="http://schemas.microsoft.com/office/drawing/2014/main" id="{E3A96C46-67FA-CCDA-19B8-72D935384BE1}"/>
              </a:ext>
            </a:extLst>
          </p:cNvPr>
          <p:cNvGrpSpPr/>
          <p:nvPr/>
        </p:nvGrpSpPr>
        <p:grpSpPr>
          <a:xfrm>
            <a:off x="8373684" y="4975875"/>
            <a:ext cx="3660358" cy="1536373"/>
            <a:chOff x="8373684" y="5010379"/>
            <a:chExt cx="3660358" cy="1536373"/>
          </a:xfrm>
        </p:grpSpPr>
        <p:grpSp>
          <p:nvGrpSpPr>
            <p:cNvPr id="87" name="Group 39">
              <a:extLst>
                <a:ext uri="{FF2B5EF4-FFF2-40B4-BE49-F238E27FC236}">
                  <a16:creationId xmlns:a16="http://schemas.microsoft.com/office/drawing/2014/main" id="{DED06E94-8EA2-E6A1-CD72-CA0D8057C663}"/>
                </a:ext>
              </a:extLst>
            </p:cNvPr>
            <p:cNvGrpSpPr/>
            <p:nvPr/>
          </p:nvGrpSpPr>
          <p:grpSpPr>
            <a:xfrm>
              <a:off x="8373684" y="5010379"/>
              <a:ext cx="2926080" cy="1536373"/>
              <a:chOff x="8921977" y="1405171"/>
              <a:chExt cx="2926080" cy="1536373"/>
            </a:xfrm>
          </p:grpSpPr>
          <p:sp>
            <p:nvSpPr>
              <p:cNvPr id="92" name="TextBox 40">
                <a:extLst>
                  <a:ext uri="{FF2B5EF4-FFF2-40B4-BE49-F238E27FC236}">
                    <a16:creationId xmlns:a16="http://schemas.microsoft.com/office/drawing/2014/main" id="{6DAFF8FF-9A06-56F0-982A-12594C635735}"/>
                  </a:ext>
                </a:extLst>
              </p:cNvPr>
              <p:cNvSpPr txBox="1"/>
              <p:nvPr/>
            </p:nvSpPr>
            <p:spPr>
              <a:xfrm>
                <a:off x="8921977" y="1405171"/>
                <a:ext cx="2926080" cy="523220"/>
              </a:xfrm>
              <a:prstGeom prst="rect">
                <a:avLst/>
              </a:prstGeom>
              <a:noFill/>
            </p:spPr>
            <p:txBody>
              <a:bodyPr wrap="square" lIns="0" rIns="0" rtlCol="0" anchor="b">
                <a:spAutoFit/>
              </a:bodyPr>
              <a:lstStyle/>
              <a:p>
                <a:pPr defTabSz="914446"/>
                <a:r>
                  <a:rPr lang="en-US" sz="1400" b="1" noProof="1">
                    <a:solidFill>
                      <a:srgbClr val="C00000"/>
                    </a:solidFill>
                    <a:latin typeface="Calibri" panose="020F0502020204030204"/>
                  </a:rPr>
                  <a:t>Local support and federated infrastructure</a:t>
                </a:r>
              </a:p>
            </p:txBody>
          </p:sp>
          <p:sp>
            <p:nvSpPr>
              <p:cNvPr id="93" name="TextBox 41">
                <a:extLst>
                  <a:ext uri="{FF2B5EF4-FFF2-40B4-BE49-F238E27FC236}">
                    <a16:creationId xmlns:a16="http://schemas.microsoft.com/office/drawing/2014/main" id="{27BCB3F0-38E0-8379-F7ED-F03DBF573C85}"/>
                  </a:ext>
                </a:extLst>
              </p:cNvPr>
              <p:cNvSpPr txBox="1"/>
              <p:nvPr/>
            </p:nvSpPr>
            <p:spPr>
              <a:xfrm>
                <a:off x="8921977" y="1925881"/>
                <a:ext cx="2546598" cy="1015663"/>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Support teams at the different T2/T3 sites offer assistance for their users and we have extensive network to promote federated support across all sites and an integrate e-infrastructure and access mechanism (e.g. AAI, Tiered data storage, distributed software stack).</a:t>
                </a:r>
              </a:p>
            </p:txBody>
          </p:sp>
        </p:grpSp>
        <p:grpSp>
          <p:nvGrpSpPr>
            <p:cNvPr id="88" name="Group 13">
              <a:extLst>
                <a:ext uri="{FF2B5EF4-FFF2-40B4-BE49-F238E27FC236}">
                  <a16:creationId xmlns:a16="http://schemas.microsoft.com/office/drawing/2014/main" id="{0ADA35C3-2B7D-A8A0-332A-0FB7447F65AE}"/>
                </a:ext>
              </a:extLst>
            </p:cNvPr>
            <p:cNvGrpSpPr/>
            <p:nvPr/>
          </p:nvGrpSpPr>
          <p:grpSpPr>
            <a:xfrm>
              <a:off x="11061322" y="5065473"/>
              <a:ext cx="972720" cy="1414091"/>
              <a:chOff x="11061322" y="5255255"/>
              <a:chExt cx="972720" cy="1414091"/>
            </a:xfrm>
          </p:grpSpPr>
          <p:pic>
            <p:nvPicPr>
              <p:cNvPr id="89" name="Picture 2" descr="seamless Crowd migration to SAML SSO ...">
                <a:extLst>
                  <a:ext uri="{FF2B5EF4-FFF2-40B4-BE49-F238E27FC236}">
                    <a16:creationId xmlns:a16="http://schemas.microsoft.com/office/drawing/2014/main" id="{6B7BB779-88F7-BB27-08E5-A2B1E7F511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61322" y="5255255"/>
                <a:ext cx="892392" cy="267718"/>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a:extLst>
                  <a:ext uri="{FF2B5EF4-FFF2-40B4-BE49-F238E27FC236}">
                    <a16:creationId xmlns:a16="http://schemas.microsoft.com/office/drawing/2014/main" id="{92A85595-BADD-6EF8-BD5B-B13A838C8A4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61322" y="5605598"/>
                <a:ext cx="972720" cy="626532"/>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 descr="iRODS">
                <a:extLst>
                  <a:ext uri="{FF2B5EF4-FFF2-40B4-BE49-F238E27FC236}">
                    <a16:creationId xmlns:a16="http://schemas.microsoft.com/office/drawing/2014/main" id="{B87B5458-2E65-52B5-625A-10507607FF6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130013" y="6410888"/>
                <a:ext cx="835337" cy="2584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94" name="Group 16">
            <a:extLst>
              <a:ext uri="{FF2B5EF4-FFF2-40B4-BE49-F238E27FC236}">
                <a16:creationId xmlns:a16="http://schemas.microsoft.com/office/drawing/2014/main" id="{07DA0A0E-944F-EB7A-7C2F-F43D4996EECE}"/>
              </a:ext>
            </a:extLst>
          </p:cNvPr>
          <p:cNvGrpSpPr/>
          <p:nvPr/>
        </p:nvGrpSpPr>
        <p:grpSpPr>
          <a:xfrm>
            <a:off x="209396" y="4967248"/>
            <a:ext cx="3722140" cy="1618355"/>
            <a:chOff x="209396" y="4829226"/>
            <a:chExt cx="3722140" cy="1618355"/>
          </a:xfrm>
        </p:grpSpPr>
        <p:grpSp>
          <p:nvGrpSpPr>
            <p:cNvPr id="95" name="Group 26">
              <a:extLst>
                <a:ext uri="{FF2B5EF4-FFF2-40B4-BE49-F238E27FC236}">
                  <a16:creationId xmlns:a16="http://schemas.microsoft.com/office/drawing/2014/main" id="{A209AE9D-D21C-B258-F5AA-A4BE62B39E07}"/>
                </a:ext>
              </a:extLst>
            </p:cNvPr>
            <p:cNvGrpSpPr/>
            <p:nvPr/>
          </p:nvGrpSpPr>
          <p:grpSpPr>
            <a:xfrm>
              <a:off x="266117" y="4829226"/>
              <a:ext cx="3609805" cy="1228597"/>
              <a:chOff x="8313870" y="1405170"/>
              <a:chExt cx="3609805" cy="1228597"/>
            </a:xfrm>
          </p:grpSpPr>
          <p:sp>
            <p:nvSpPr>
              <p:cNvPr id="99" name="TextBox 27">
                <a:extLst>
                  <a:ext uri="{FF2B5EF4-FFF2-40B4-BE49-F238E27FC236}">
                    <a16:creationId xmlns:a16="http://schemas.microsoft.com/office/drawing/2014/main" id="{292C5B4F-3A51-103B-A23B-C3140E594AF6}"/>
                  </a:ext>
                </a:extLst>
              </p:cNvPr>
              <p:cNvSpPr txBox="1"/>
              <p:nvPr/>
            </p:nvSpPr>
            <p:spPr>
              <a:xfrm>
                <a:off x="8921976" y="1405170"/>
                <a:ext cx="3001699" cy="523220"/>
              </a:xfrm>
              <a:prstGeom prst="rect">
                <a:avLst/>
              </a:prstGeom>
              <a:noFill/>
            </p:spPr>
            <p:txBody>
              <a:bodyPr wrap="square" lIns="0" rIns="0" rtlCol="0" anchor="b">
                <a:spAutoFit/>
              </a:bodyPr>
              <a:lstStyle/>
              <a:p>
                <a:pPr algn="r" defTabSz="914446"/>
                <a:r>
                  <a:rPr lang="en-US" sz="1400" b="1" noProof="1">
                    <a:solidFill>
                      <a:srgbClr val="C00000"/>
                    </a:solidFill>
                    <a:latin typeface="Calibri" panose="020F0502020204030204"/>
                  </a:rPr>
                  <a:t>Regional and </a:t>
                </a:r>
                <a:br>
                  <a:rPr lang="en-US" sz="1400" b="1" noProof="1">
                    <a:solidFill>
                      <a:srgbClr val="C00000"/>
                    </a:solidFill>
                    <a:latin typeface="Calibri" panose="020F0502020204030204"/>
                  </a:rPr>
                </a:br>
                <a:r>
                  <a:rPr lang="en-US" sz="1400" b="1" noProof="1">
                    <a:solidFill>
                      <a:srgbClr val="C00000"/>
                    </a:solidFill>
                    <a:latin typeface="Calibri" panose="020F0502020204030204"/>
                  </a:rPr>
                  <a:t>University HPC systems</a:t>
                </a:r>
              </a:p>
            </p:txBody>
          </p:sp>
          <p:sp>
            <p:nvSpPr>
              <p:cNvPr id="100" name="TextBox 28">
                <a:extLst>
                  <a:ext uri="{FF2B5EF4-FFF2-40B4-BE49-F238E27FC236}">
                    <a16:creationId xmlns:a16="http://schemas.microsoft.com/office/drawing/2014/main" id="{2D50C7D0-DD9B-4995-785F-94101CC04B68}"/>
                  </a:ext>
                </a:extLst>
              </p:cNvPr>
              <p:cNvSpPr txBox="1"/>
              <p:nvPr/>
            </p:nvSpPr>
            <p:spPr>
              <a:xfrm>
                <a:off x="8313870" y="1925881"/>
                <a:ext cx="3534187" cy="707886"/>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The Netherlands has a wide network of regional and university systems, managed by local HPC support teams. These systems bridge the gap to Tier 1 facilities, enabling efficient experimentation and development. </a:t>
                </a:r>
              </a:p>
            </p:txBody>
          </p:sp>
        </p:grpSp>
        <p:pic>
          <p:nvPicPr>
            <p:cNvPr id="96" name="Picture 5">
              <a:extLst>
                <a:ext uri="{FF2B5EF4-FFF2-40B4-BE49-F238E27FC236}">
                  <a16:creationId xmlns:a16="http://schemas.microsoft.com/office/drawing/2014/main" id="{F4174C2B-5945-1C51-56BC-A4373D9BE838}"/>
                </a:ext>
              </a:extLst>
            </p:cNvPr>
            <p:cNvPicPr>
              <a:picLocks noChangeAspect="1"/>
            </p:cNvPicPr>
            <p:nvPr/>
          </p:nvPicPr>
          <p:blipFill>
            <a:blip r:embed="rId8"/>
            <a:stretch>
              <a:fillRect/>
            </a:stretch>
          </p:blipFill>
          <p:spPr>
            <a:xfrm>
              <a:off x="1661623" y="6056758"/>
              <a:ext cx="717617" cy="352401"/>
            </a:xfrm>
            <a:prstGeom prst="rect">
              <a:avLst/>
            </a:prstGeom>
          </p:spPr>
        </p:pic>
        <p:pic>
          <p:nvPicPr>
            <p:cNvPr id="97" name="Picture 6">
              <a:extLst>
                <a:ext uri="{FF2B5EF4-FFF2-40B4-BE49-F238E27FC236}">
                  <a16:creationId xmlns:a16="http://schemas.microsoft.com/office/drawing/2014/main" id="{123104B5-DBE6-34D3-3A54-3B2E6416EC1B}"/>
                </a:ext>
              </a:extLst>
            </p:cNvPr>
            <p:cNvPicPr>
              <a:picLocks noChangeAspect="1"/>
            </p:cNvPicPr>
            <p:nvPr/>
          </p:nvPicPr>
          <p:blipFill>
            <a:blip r:embed="rId9"/>
            <a:stretch>
              <a:fillRect/>
            </a:stretch>
          </p:blipFill>
          <p:spPr>
            <a:xfrm>
              <a:off x="2553706" y="6018334"/>
              <a:ext cx="1377830" cy="429247"/>
            </a:xfrm>
            <a:prstGeom prst="rect">
              <a:avLst/>
            </a:prstGeom>
          </p:spPr>
        </p:pic>
        <p:pic>
          <p:nvPicPr>
            <p:cNvPr id="98" name="Picture 6" descr="File:Eindhoven University of Technology ...">
              <a:extLst>
                <a:ext uri="{FF2B5EF4-FFF2-40B4-BE49-F238E27FC236}">
                  <a16:creationId xmlns:a16="http://schemas.microsoft.com/office/drawing/2014/main" id="{573BE41C-DE30-FC8F-AA68-B1A2C8E33EA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9396" y="6056758"/>
              <a:ext cx="1295150" cy="352401"/>
            </a:xfrm>
            <a:prstGeom prst="rect">
              <a:avLst/>
            </a:prstGeom>
            <a:noFill/>
            <a:extLst>
              <a:ext uri="{909E8E84-426E-40DD-AFC4-6F175D3DCCD1}">
                <a14:hiddenFill xmlns:a14="http://schemas.microsoft.com/office/drawing/2010/main">
                  <a:solidFill>
                    <a:srgbClr val="FFFFFF"/>
                  </a:solidFill>
                </a14:hiddenFill>
              </a:ext>
            </a:extLst>
          </p:spPr>
        </p:pic>
      </p:grpSp>
      <p:pic>
        <p:nvPicPr>
          <p:cNvPr id="101" name="Picture 8" descr="LUMI Second Pilot Phase Projects Selected">
            <a:extLst>
              <a:ext uri="{FF2B5EF4-FFF2-40B4-BE49-F238E27FC236}">
                <a16:creationId xmlns:a16="http://schemas.microsoft.com/office/drawing/2014/main" id="{F79834BB-EA75-0827-51E4-B26AC34981B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500221" y="1176083"/>
            <a:ext cx="1031473" cy="394972"/>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0" descr="Contact - EuroHPC JU">
            <a:extLst>
              <a:ext uri="{FF2B5EF4-FFF2-40B4-BE49-F238E27FC236}">
                <a16:creationId xmlns:a16="http://schemas.microsoft.com/office/drawing/2014/main" id="{3992845E-52DB-C12B-623A-19506FBF743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160206" y="1682385"/>
            <a:ext cx="1614624" cy="523220"/>
          </a:xfrm>
          <a:prstGeom prst="rect">
            <a:avLst/>
          </a:prstGeom>
          <a:noFill/>
          <a:extLst>
            <a:ext uri="{909E8E84-426E-40DD-AFC4-6F175D3DCCD1}">
              <a14:hiddenFill xmlns:a14="http://schemas.microsoft.com/office/drawing/2010/main">
                <a:solidFill>
                  <a:srgbClr val="FFFFFF"/>
                </a:solidFill>
              </a14:hiddenFill>
            </a:ext>
          </a:extLst>
        </p:spPr>
      </p:pic>
      <p:grpSp>
        <p:nvGrpSpPr>
          <p:cNvPr id="103" name="Group 10">
            <a:extLst>
              <a:ext uri="{FF2B5EF4-FFF2-40B4-BE49-F238E27FC236}">
                <a16:creationId xmlns:a16="http://schemas.microsoft.com/office/drawing/2014/main" id="{FFFEB02D-ECC8-C57F-50DA-D556029559F1}"/>
              </a:ext>
            </a:extLst>
          </p:cNvPr>
          <p:cNvGrpSpPr/>
          <p:nvPr/>
        </p:nvGrpSpPr>
        <p:grpSpPr>
          <a:xfrm>
            <a:off x="518740" y="3268332"/>
            <a:ext cx="1615715" cy="1265680"/>
            <a:chOff x="171801" y="2901809"/>
            <a:chExt cx="1615715" cy="1265680"/>
          </a:xfrm>
        </p:grpSpPr>
        <p:pic>
          <p:nvPicPr>
            <p:cNvPr id="104" name="Picture 24" descr="Lenovo | Brands of the World™ | Download vector logos and ...">
              <a:extLst>
                <a:ext uri="{FF2B5EF4-FFF2-40B4-BE49-F238E27FC236}">
                  <a16:creationId xmlns:a16="http://schemas.microsoft.com/office/drawing/2014/main" id="{8D17BC51-090F-DA83-C192-E2C80EC18EE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102" y="2901809"/>
              <a:ext cx="861563" cy="861563"/>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8" descr="Logos &amp; Brand Guidelines | NVIDIA">
              <a:extLst>
                <a:ext uri="{FF2B5EF4-FFF2-40B4-BE49-F238E27FC236}">
                  <a16:creationId xmlns:a16="http://schemas.microsoft.com/office/drawing/2014/main" id="{49997C58-CC00-DE4F-BDF9-C75350E88C1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60522" y="3549432"/>
              <a:ext cx="1026994"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6" descr="AMD Logo PNG Transparent &amp; SVG Vector - Freebie Supply">
              <a:extLst>
                <a:ext uri="{FF2B5EF4-FFF2-40B4-BE49-F238E27FC236}">
                  <a16:creationId xmlns:a16="http://schemas.microsoft.com/office/drawing/2014/main" id="{A01A2A64-4462-6B91-AC2F-732D4C482D99}"/>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71801" y="3447489"/>
              <a:ext cx="720000" cy="72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7" name="Group 32">
            <a:extLst>
              <a:ext uri="{FF2B5EF4-FFF2-40B4-BE49-F238E27FC236}">
                <a16:creationId xmlns:a16="http://schemas.microsoft.com/office/drawing/2014/main" id="{A00D4B9C-817F-BB0E-4BB7-10DD57697B62}"/>
              </a:ext>
            </a:extLst>
          </p:cNvPr>
          <p:cNvGrpSpPr/>
          <p:nvPr/>
        </p:nvGrpSpPr>
        <p:grpSpPr>
          <a:xfrm>
            <a:off x="1740881" y="2899009"/>
            <a:ext cx="2926080" cy="1474818"/>
            <a:chOff x="332936" y="2781655"/>
            <a:chExt cx="2926080" cy="1474818"/>
          </a:xfrm>
        </p:grpSpPr>
        <p:sp>
          <p:nvSpPr>
            <p:cNvPr id="108" name="TextBox 33">
              <a:extLst>
                <a:ext uri="{FF2B5EF4-FFF2-40B4-BE49-F238E27FC236}">
                  <a16:creationId xmlns:a16="http://schemas.microsoft.com/office/drawing/2014/main" id="{EC6003CE-44AC-51D1-3114-1AED750E7F16}"/>
                </a:ext>
              </a:extLst>
            </p:cNvPr>
            <p:cNvSpPr txBox="1"/>
            <p:nvPr/>
          </p:nvSpPr>
          <p:spPr>
            <a:xfrm>
              <a:off x="332936" y="2781655"/>
              <a:ext cx="2926080" cy="307777"/>
            </a:xfrm>
            <a:prstGeom prst="rect">
              <a:avLst/>
            </a:prstGeom>
            <a:noFill/>
          </p:spPr>
          <p:txBody>
            <a:bodyPr wrap="square" lIns="0" rIns="0" rtlCol="0" anchor="b">
              <a:spAutoFit/>
            </a:bodyPr>
            <a:lstStyle/>
            <a:p>
              <a:pPr algn="r" defTabSz="914446"/>
              <a:r>
                <a:rPr lang="en-US" sz="1400" b="1" noProof="1">
                  <a:solidFill>
                    <a:srgbClr val="FFC000"/>
                  </a:solidFill>
                  <a:latin typeface="Calibri" panose="020F0502020204030204"/>
                </a:rPr>
                <a:t>National Supercomputer</a:t>
              </a:r>
            </a:p>
          </p:txBody>
        </p:sp>
        <p:sp>
          <p:nvSpPr>
            <p:cNvPr id="109" name="TextBox 34">
              <a:extLst>
                <a:ext uri="{FF2B5EF4-FFF2-40B4-BE49-F238E27FC236}">
                  <a16:creationId xmlns:a16="http://schemas.microsoft.com/office/drawing/2014/main" id="{502BF646-10D4-C9C9-5636-FECEAF10706B}"/>
                </a:ext>
              </a:extLst>
            </p:cNvPr>
            <p:cNvSpPr txBox="1"/>
            <p:nvPr/>
          </p:nvSpPr>
          <p:spPr>
            <a:xfrm>
              <a:off x="975880" y="3086922"/>
              <a:ext cx="2283136" cy="1169551"/>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Snellius is the Dutch National supercomputer, operated by SURF. Installed in September 2021 by Lenovo, the system has been expanded with more compute nodes and storage along the years. The last expansion was put in production in 2024 and added H100 GPU nodes.</a:t>
              </a:r>
            </a:p>
          </p:txBody>
        </p:sp>
      </p:grpSp>
      <p:pic>
        <p:nvPicPr>
          <p:cNvPr id="110" name="Picture 9">
            <a:extLst>
              <a:ext uri="{FF2B5EF4-FFF2-40B4-BE49-F238E27FC236}">
                <a16:creationId xmlns:a16="http://schemas.microsoft.com/office/drawing/2014/main" id="{DCBADA2A-EA4B-FC9F-46BB-C8B3CAD5C055}"/>
              </a:ext>
            </a:extLst>
          </p:cNvPr>
          <p:cNvPicPr>
            <a:picLocks noChangeAspect="1"/>
          </p:cNvPicPr>
          <p:nvPr/>
        </p:nvPicPr>
        <p:blipFill>
          <a:blip r:embed="rId16"/>
          <a:stretch>
            <a:fillRect/>
          </a:stretch>
        </p:blipFill>
        <p:spPr>
          <a:xfrm>
            <a:off x="762816" y="2871525"/>
            <a:ext cx="1440000" cy="399600"/>
          </a:xfrm>
          <a:prstGeom prst="rect">
            <a:avLst/>
          </a:prstGeom>
        </p:spPr>
      </p:pic>
      <p:pic>
        <p:nvPicPr>
          <p:cNvPr id="111" name="Picture 30">
            <a:extLst>
              <a:ext uri="{FF2B5EF4-FFF2-40B4-BE49-F238E27FC236}">
                <a16:creationId xmlns:a16="http://schemas.microsoft.com/office/drawing/2014/main" id="{CDDB58B1-80E3-C2AC-0F4F-F1D9AB3582A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427518" y="656792"/>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4">
            <a:extLst>
              <a:ext uri="{FF2B5EF4-FFF2-40B4-BE49-F238E27FC236}">
                <a16:creationId xmlns:a16="http://schemas.microsoft.com/office/drawing/2014/main" id="{0665DF46-DF11-73B6-B21D-C4E5772057C0}"/>
              </a:ext>
            </a:extLst>
          </p:cNvPr>
          <p:cNvPicPr>
            <a:picLocks noChangeAspect="1"/>
          </p:cNvPicPr>
          <p:nvPr/>
        </p:nvPicPr>
        <p:blipFill>
          <a:blip r:embed="rId18"/>
          <a:srcRect r="1764" b="3231"/>
          <a:stretch>
            <a:fillRect/>
          </a:stretch>
        </p:blipFill>
        <p:spPr>
          <a:xfrm>
            <a:off x="1639468" y="1663482"/>
            <a:ext cx="718894" cy="720000"/>
          </a:xfrm>
          <a:prstGeom prst="rect">
            <a:avLst/>
          </a:prstGeom>
        </p:spPr>
      </p:pic>
      <p:grpSp>
        <p:nvGrpSpPr>
          <p:cNvPr id="113" name="Group 15">
            <a:extLst>
              <a:ext uri="{FF2B5EF4-FFF2-40B4-BE49-F238E27FC236}">
                <a16:creationId xmlns:a16="http://schemas.microsoft.com/office/drawing/2014/main" id="{59507AB9-E228-27EC-C67B-17BF6515CA7A}"/>
              </a:ext>
            </a:extLst>
          </p:cNvPr>
          <p:cNvGrpSpPr/>
          <p:nvPr/>
        </p:nvGrpSpPr>
        <p:grpSpPr>
          <a:xfrm>
            <a:off x="9253235" y="2755016"/>
            <a:ext cx="2561557" cy="648000"/>
            <a:chOff x="9127003" y="2485957"/>
            <a:chExt cx="2561557" cy="648000"/>
          </a:xfrm>
        </p:grpSpPr>
        <p:pic>
          <p:nvPicPr>
            <p:cNvPr id="114" name="Picture 34" descr="Logo | NWO">
              <a:extLst>
                <a:ext uri="{FF2B5EF4-FFF2-40B4-BE49-F238E27FC236}">
                  <a16:creationId xmlns:a16="http://schemas.microsoft.com/office/drawing/2014/main" id="{B3024F68-65EE-6AF9-DBE9-928E4947654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9127003" y="2485957"/>
              <a:ext cx="1020873" cy="64800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32" descr="Open OnDemand - Open OnDemand Community Forums">
              <a:extLst>
                <a:ext uri="{FF2B5EF4-FFF2-40B4-BE49-F238E27FC236}">
                  <a16:creationId xmlns:a16="http://schemas.microsoft.com/office/drawing/2014/main" id="{BC9615DF-EE7A-F14F-C976-0F740A8E6003}"/>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1141384" y="2510427"/>
              <a:ext cx="54717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36" descr="Energy efficiency management for Data ...">
              <a:extLst>
                <a:ext uri="{FF2B5EF4-FFF2-40B4-BE49-F238E27FC236}">
                  <a16:creationId xmlns:a16="http://schemas.microsoft.com/office/drawing/2014/main" id="{F92E942C-D5BE-FB4C-9D80-6F655312CB45}"/>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r="32450"/>
            <a:stretch>
              <a:fillRect/>
            </a:stretch>
          </p:blipFill>
          <p:spPr bwMode="auto">
            <a:xfrm>
              <a:off x="10045478" y="2509847"/>
              <a:ext cx="967433"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17" name="TextBox 72">
            <a:extLst>
              <a:ext uri="{FF2B5EF4-FFF2-40B4-BE49-F238E27FC236}">
                <a16:creationId xmlns:a16="http://schemas.microsoft.com/office/drawing/2014/main" id="{A6AC44E3-1968-9BE2-4173-DA40E05DD276}"/>
              </a:ext>
            </a:extLst>
          </p:cNvPr>
          <p:cNvSpPr txBox="1"/>
          <p:nvPr/>
        </p:nvSpPr>
        <p:spPr>
          <a:xfrm>
            <a:off x="2531694" y="184773"/>
            <a:ext cx="7895824" cy="705321"/>
          </a:xfrm>
          <a:prstGeom prst="rect">
            <a:avLst/>
          </a:prstGeom>
        </p:spPr>
        <p:txBody>
          <a:bodyPr wrap="square" lIns="0" tIns="0" rIns="0" bIns="0" rtlCol="0" anchor="t">
            <a:spAutoFit/>
          </a:bodyPr>
          <a:lstStyle/>
          <a:p>
            <a:pPr defTabSz="609630">
              <a:lnSpc>
                <a:spcPts val="5532"/>
              </a:lnSpc>
            </a:pPr>
            <a:r>
              <a:rPr lang="en-US" sz="5268" dirty="0">
                <a:solidFill>
                  <a:srgbClr val="FFFFFF"/>
                </a:solidFill>
                <a:latin typeface="Cantarell 2"/>
              </a:rPr>
              <a:t>Dutch HPC ecosystem</a:t>
            </a:r>
          </a:p>
        </p:txBody>
      </p:sp>
    </p:spTree>
    <p:extLst>
      <p:ext uri="{BB962C8B-B14F-4D97-AF65-F5344CB8AC3E}">
        <p14:creationId xmlns:p14="http://schemas.microsoft.com/office/powerpoint/2010/main" val="4137850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6662B-63D9-4F68-03BF-1866A360BB8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043365A-A5C9-F175-C388-89F24D145FD4}"/>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797948C5-3EA3-311A-BBF0-16706C8351B1}"/>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2A19A8D4-141A-F941-0B4E-14F3FB388514}"/>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fast(er) code</a:t>
            </a:r>
          </a:p>
        </p:txBody>
      </p:sp>
      <p:sp>
        <p:nvSpPr>
          <p:cNvPr id="11" name="Tijdelijke aanduiding voor tekst 12">
            <a:extLst>
              <a:ext uri="{FF2B5EF4-FFF2-40B4-BE49-F238E27FC236}">
                <a16:creationId xmlns:a16="http://schemas.microsoft.com/office/drawing/2014/main" id="{A0E0BA05-62F3-89D8-A561-A30C0B336D6D}"/>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30DC7E04-32C2-816F-E21D-24EA21F34C31}"/>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62169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The three S'</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a:solidFill>
                  <a:srgbClr val="000000"/>
                </a:solidFill>
                <a:latin typeface="Calibri"/>
              </a:rPr>
              <a:t>Know your System</a:t>
            </a:r>
          </a:p>
          <a:p>
            <a:pPr marL="727075" lvl="1" indent="-269875">
              <a:lnSpc>
                <a:spcPct val="100000"/>
              </a:lnSpc>
              <a:buClr>
                <a:srgbClr val="EA7600"/>
              </a:buClr>
              <a:buFont typeface="Calibri"/>
              <a:buChar char="•"/>
            </a:pPr>
            <a:r>
              <a:rPr lang="en-GB" sz="1600" spc="-1">
                <a:solidFill>
                  <a:srgbClr val="000000"/>
                </a:solidFill>
                <a:latin typeface="Calibri"/>
              </a:rPr>
              <a:t>What kind of hardware do I have?</a:t>
            </a:r>
          </a:p>
          <a:p>
            <a:pPr marL="727075" lvl="1" indent="-269875">
              <a:lnSpc>
                <a:spcPct val="100000"/>
              </a:lnSpc>
              <a:buClr>
                <a:srgbClr val="EA7600"/>
              </a:buClr>
              <a:buFont typeface="Calibri"/>
              <a:buChar char="•"/>
            </a:pPr>
            <a:r>
              <a:rPr lang="en-GB" sz="1600" spc="-1">
                <a:solidFill>
                  <a:srgbClr val="000000"/>
                </a:solidFill>
                <a:latin typeface="Calibri"/>
              </a:rPr>
              <a:t>What features does my hardware support?</a:t>
            </a:r>
          </a:p>
          <a:p>
            <a:pPr marL="269875" indent="-269875">
              <a:lnSpc>
                <a:spcPct val="100000"/>
              </a:lnSpc>
              <a:buClr>
                <a:srgbClr val="EA7600"/>
              </a:buClr>
              <a:buFont typeface="Calibri"/>
              <a:buChar char="•"/>
            </a:pPr>
            <a:r>
              <a:rPr lang="en-GB" sz="2000" spc="-1">
                <a:solidFill>
                  <a:srgbClr val="000000"/>
                </a:solidFill>
                <a:latin typeface="Calibri"/>
              </a:rPr>
              <a:t>Know your Software</a:t>
            </a:r>
          </a:p>
          <a:p>
            <a:pPr marL="727075" lvl="1" indent="-269875">
              <a:lnSpc>
                <a:spcPct val="100000"/>
              </a:lnSpc>
              <a:buClr>
                <a:srgbClr val="EA7600"/>
              </a:buClr>
              <a:buFont typeface="Calibri"/>
              <a:buChar char="•"/>
            </a:pPr>
            <a:r>
              <a:rPr lang="en-GB" sz="1600" spc="-1">
                <a:solidFill>
                  <a:srgbClr val="000000"/>
                </a:solidFill>
                <a:latin typeface="Calibri"/>
              </a:rPr>
              <a:t>Does my software do what I want to do efficiently?</a:t>
            </a:r>
          </a:p>
          <a:p>
            <a:pPr marL="727075" lvl="1" indent="-269875">
              <a:lnSpc>
                <a:spcPct val="100000"/>
              </a:lnSpc>
              <a:buClr>
                <a:srgbClr val="EA7600"/>
              </a:buClr>
              <a:buFont typeface="Calibri"/>
              <a:buChar char="•"/>
            </a:pPr>
            <a:r>
              <a:rPr lang="en-GB" sz="1600" spc="-1">
                <a:solidFill>
                  <a:srgbClr val="000000"/>
                </a:solidFill>
                <a:latin typeface="Calibri"/>
              </a:rPr>
              <a:t>Does my software support my hardware features?</a:t>
            </a:r>
          </a:p>
          <a:p>
            <a:pPr marL="269875" indent="-269875">
              <a:lnSpc>
                <a:spcPct val="100000"/>
              </a:lnSpc>
              <a:buClr>
                <a:srgbClr val="EA7600"/>
              </a:buClr>
              <a:buFont typeface="Calibri"/>
              <a:buChar char="•"/>
            </a:pPr>
            <a:r>
              <a:rPr lang="en-GB" sz="2000" spc="-1">
                <a:solidFill>
                  <a:srgbClr val="000000"/>
                </a:solidFill>
                <a:latin typeface="Calibri"/>
              </a:rPr>
              <a:t>Know your Stack</a:t>
            </a:r>
          </a:p>
          <a:p>
            <a:pPr marL="727075" lvl="1" indent="-269875">
              <a:lnSpc>
                <a:spcPct val="100000"/>
              </a:lnSpc>
              <a:buClr>
                <a:srgbClr val="EA7600"/>
              </a:buClr>
              <a:buFont typeface="Calibri"/>
              <a:buChar char="•"/>
            </a:pPr>
            <a:r>
              <a:rPr lang="en-GB" sz="1600" spc="-1">
                <a:solidFill>
                  <a:srgbClr val="000000"/>
                </a:solidFill>
                <a:latin typeface="Calibri"/>
              </a:rPr>
              <a:t>What version of software am I running?</a:t>
            </a:r>
          </a:p>
          <a:p>
            <a:pPr marL="727075" lvl="1" indent="-269875">
              <a:lnSpc>
                <a:spcPct val="100000"/>
              </a:lnSpc>
              <a:buClr>
                <a:srgbClr val="EA7600"/>
              </a:buClr>
              <a:buFont typeface="Calibri"/>
              <a:buChar char="•"/>
            </a:pPr>
            <a:r>
              <a:rPr lang="en-GB" sz="1600" spc="-1">
                <a:solidFill>
                  <a:srgbClr val="000000"/>
                </a:solidFill>
                <a:latin typeface="Calibri"/>
              </a:rPr>
              <a:t>Is my stack compiled for my hardware?</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11</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Tree>
    <p:extLst>
      <p:ext uri="{BB962C8B-B14F-4D97-AF65-F5344CB8AC3E}">
        <p14:creationId xmlns:p14="http://schemas.microsoft.com/office/powerpoint/2010/main" val="141073186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System</a:t>
            </a:r>
            <a:endParaRPr lang="nl-NL"/>
          </a:p>
        </p:txBody>
      </p:sp>
      <p:sp>
        <p:nvSpPr>
          <p:cNvPr id="939" name="PlaceHolder 2"/>
          <p:cNvSpPr>
            <a:spLocks noGrp="1"/>
          </p:cNvSpPr>
          <p:nvPr>
            <p:ph/>
          </p:nvPr>
        </p:nvSpPr>
        <p:spPr>
          <a:xfrm>
            <a:off x="516240" y="872640"/>
            <a:ext cx="8973720" cy="5907016"/>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1400" spc="-1" dirty="0">
                <a:cs typeface="Arial"/>
              </a:rPr>
              <a:t>Which CPUs?</a:t>
            </a:r>
          </a:p>
          <a:p>
            <a:pPr marL="727075" lvl="1" indent="-269875">
              <a:lnSpc>
                <a:spcPct val="100000"/>
              </a:lnSpc>
              <a:buClr>
                <a:srgbClr val="EA7600"/>
              </a:buClr>
              <a:buFont typeface="Calibri"/>
              <a:buChar char="•"/>
            </a:pPr>
            <a:r>
              <a:rPr lang="en-GB" sz="1400" spc="-1" dirty="0">
                <a:cs typeface="Arial"/>
              </a:rPr>
              <a:t>Architectures: X86_64, ARM64</a:t>
            </a:r>
          </a:p>
          <a:p>
            <a:pPr marL="269875" indent="-269875">
              <a:lnSpc>
                <a:spcPct val="100000"/>
              </a:lnSpc>
              <a:buClr>
                <a:srgbClr val="EA7600"/>
              </a:buClr>
              <a:buFont typeface="Calibri"/>
              <a:buChar char="•"/>
            </a:pPr>
            <a:r>
              <a:rPr lang="en-GB" sz="1400" spc="-1" dirty="0">
                <a:cs typeface="Arial"/>
              </a:rPr>
              <a:t>What kind of storage?</a:t>
            </a:r>
          </a:p>
          <a:p>
            <a:pPr marL="727075" lvl="1" indent="-269875">
              <a:lnSpc>
                <a:spcPct val="100000"/>
              </a:lnSpc>
              <a:buClr>
                <a:srgbClr val="EA7600"/>
              </a:buClr>
              <a:buFont typeface="Calibri"/>
              <a:buChar char="•"/>
            </a:pPr>
            <a:r>
              <a:rPr lang="en-GB" sz="1400" spc="-1" dirty="0">
                <a:cs typeface="Arial"/>
              </a:rPr>
              <a:t>SSD,  HDD, Tape?</a:t>
            </a:r>
          </a:p>
          <a:p>
            <a:pPr marL="727075" lvl="1" indent="-269875">
              <a:lnSpc>
                <a:spcPct val="100000"/>
              </a:lnSpc>
              <a:buClr>
                <a:srgbClr val="EA7600"/>
              </a:buClr>
              <a:buFont typeface="Calibri"/>
              <a:buChar char="•"/>
            </a:pPr>
            <a:r>
              <a:rPr lang="en-GB" sz="1400" spc="-1" dirty="0">
                <a:cs typeface="Arial"/>
              </a:rPr>
              <a:t>SATA, NVMe or full PCI-E, Network? </a:t>
            </a:r>
          </a:p>
          <a:p>
            <a:pPr marL="269875" indent="-269875">
              <a:lnSpc>
                <a:spcPct val="100000"/>
              </a:lnSpc>
              <a:buClr>
                <a:srgbClr val="EA7600"/>
              </a:buClr>
              <a:buFont typeface="Calibri"/>
              <a:buChar char="•"/>
            </a:pPr>
            <a:r>
              <a:rPr lang="en-GB" sz="1400" spc="-1" dirty="0">
                <a:cs typeface="Arial"/>
              </a:rPr>
              <a:t>What kind of Networking?</a:t>
            </a:r>
          </a:p>
          <a:p>
            <a:pPr marL="727075" lvl="1" indent="-269875">
              <a:lnSpc>
                <a:spcPct val="100000"/>
              </a:lnSpc>
              <a:buClr>
                <a:srgbClr val="EA7600"/>
              </a:buClr>
              <a:buFont typeface="Calibri"/>
              <a:buChar char="•"/>
            </a:pPr>
            <a:r>
              <a:rPr lang="en-GB" sz="1400" spc="-1" dirty="0">
                <a:cs typeface="Arial"/>
              </a:rPr>
              <a:t>Ethernet? InfiniBand (IB)?</a:t>
            </a:r>
          </a:p>
          <a:p>
            <a:pPr marL="727075" lvl="1" indent="-269875">
              <a:lnSpc>
                <a:spcPct val="100000"/>
              </a:lnSpc>
              <a:buClr>
                <a:srgbClr val="EA7600"/>
              </a:buClr>
              <a:buFont typeface="Calibri"/>
              <a:buChar char="•"/>
            </a:pPr>
            <a:r>
              <a:rPr lang="en-GB" sz="1400" spc="-1" dirty="0">
                <a:cs typeface="Arial"/>
              </a:rPr>
              <a:t>IOPs vs Throughput</a:t>
            </a:r>
          </a:p>
          <a:p>
            <a:pPr marL="269875" indent="-269875">
              <a:lnSpc>
                <a:spcPct val="100000"/>
              </a:lnSpc>
              <a:buClr>
                <a:srgbClr val="EA7600"/>
              </a:buClr>
              <a:buFont typeface="Calibri"/>
              <a:buChar char="•"/>
            </a:pPr>
            <a:r>
              <a:rPr lang="en-GB" sz="1400" spc="-1" dirty="0">
                <a:cs typeface="Arial"/>
              </a:rPr>
              <a:t>What kind of RAM?</a:t>
            </a:r>
          </a:p>
          <a:p>
            <a:pPr marL="727075" lvl="1" indent="-269875">
              <a:lnSpc>
                <a:spcPct val="100000"/>
              </a:lnSpc>
              <a:buClr>
                <a:srgbClr val="EA7600"/>
              </a:buClr>
              <a:buFont typeface="Calibri"/>
              <a:buChar char="•"/>
            </a:pPr>
            <a:r>
              <a:rPr lang="en-GB" sz="1400" spc="-1" dirty="0">
                <a:cs typeface="Arial"/>
              </a:rPr>
              <a:t>High Bandwidth Memory (HBM) or Double Data Rate (DDR)? </a:t>
            </a:r>
          </a:p>
          <a:p>
            <a:pPr marL="727075" lvl="1" indent="-269875">
              <a:lnSpc>
                <a:spcPct val="100000"/>
              </a:lnSpc>
              <a:buClr>
                <a:srgbClr val="EA7600"/>
              </a:buClr>
              <a:buFont typeface="Calibri"/>
              <a:buChar char="•"/>
            </a:pPr>
            <a:r>
              <a:rPr lang="en-GB" sz="1400" spc="-1" dirty="0">
                <a:cs typeface="Arial"/>
              </a:rPr>
              <a:t>How much? Enough for a </a:t>
            </a:r>
            <a:r>
              <a:rPr lang="en-GB" sz="1400" spc="-1" dirty="0" err="1">
                <a:cs typeface="Arial"/>
              </a:rPr>
              <a:t>RAMdisk</a:t>
            </a:r>
            <a:r>
              <a:rPr lang="en-GB" sz="1400" spc="-1" dirty="0">
                <a:cs typeface="Arial"/>
              </a:rPr>
              <a:t>? (/dev/</a:t>
            </a:r>
            <a:r>
              <a:rPr lang="en-GB" sz="1400" spc="-1" dirty="0" err="1">
                <a:cs typeface="Arial"/>
              </a:rPr>
              <a:t>shm</a:t>
            </a:r>
            <a:r>
              <a:rPr lang="en-GB" sz="1400" spc="-1" dirty="0">
                <a:cs typeface="Arial"/>
              </a:rPr>
              <a:t>)</a:t>
            </a:r>
          </a:p>
          <a:p>
            <a:pPr marL="727075" lvl="1" indent="-269875">
              <a:lnSpc>
                <a:spcPct val="100000"/>
              </a:lnSpc>
              <a:buClr>
                <a:srgbClr val="EA7600"/>
              </a:buClr>
              <a:buFont typeface="Calibri"/>
              <a:buChar char="•"/>
            </a:pPr>
            <a:r>
              <a:rPr lang="en-GB" sz="1400" spc="-1" dirty="0">
                <a:cs typeface="Arial"/>
              </a:rPr>
              <a:t>You (AI person) are always memory limited</a:t>
            </a:r>
          </a:p>
          <a:p>
            <a:pPr marL="269875" indent="-269875">
              <a:lnSpc>
                <a:spcPct val="100000"/>
              </a:lnSpc>
              <a:buClr>
                <a:srgbClr val="EA7600"/>
              </a:buClr>
              <a:buFont typeface="Calibri"/>
              <a:buChar char="•"/>
            </a:pPr>
            <a:r>
              <a:rPr lang="en-GB" sz="1400" spc="-1" dirty="0">
                <a:cs typeface="Arial"/>
              </a:rPr>
              <a:t>Which GPUs?</a:t>
            </a:r>
          </a:p>
          <a:p>
            <a:pPr marL="727075" lvl="1" indent="-269875">
              <a:lnSpc>
                <a:spcPct val="100000"/>
              </a:lnSpc>
              <a:buClr>
                <a:srgbClr val="EA7600"/>
              </a:buClr>
              <a:buFont typeface="Calibri"/>
              <a:buChar char="•"/>
            </a:pPr>
            <a:r>
              <a:rPr lang="en-GB" sz="1400" spc="-1" dirty="0">
                <a:cs typeface="Arial"/>
              </a:rPr>
              <a:t>AMD? Good raw performance, </a:t>
            </a:r>
            <a:r>
              <a:rPr lang="en-GB" sz="1400" spc="-1" dirty="0" err="1">
                <a:cs typeface="Arial"/>
              </a:rPr>
              <a:t>PyTorch</a:t>
            </a:r>
            <a:r>
              <a:rPr lang="en-GB" sz="1400" spc="-1" dirty="0">
                <a:cs typeface="Arial"/>
              </a:rPr>
              <a:t> support is improving</a:t>
            </a:r>
          </a:p>
          <a:p>
            <a:pPr marL="727075" lvl="1" indent="-269875">
              <a:lnSpc>
                <a:spcPct val="100000"/>
              </a:lnSpc>
              <a:buClr>
                <a:srgbClr val="EA7600"/>
              </a:buClr>
              <a:buFont typeface="Calibri"/>
              <a:buChar char="•"/>
            </a:pPr>
            <a:r>
              <a:rPr lang="en-GB" sz="1400" spc="-1" dirty="0">
                <a:cs typeface="Arial"/>
              </a:rPr>
              <a:t>NVIDIA? Optimized for AI with good </a:t>
            </a:r>
            <a:r>
              <a:rPr lang="en-GB" sz="1400" spc="-1" dirty="0" err="1">
                <a:cs typeface="Arial"/>
              </a:rPr>
              <a:t>PyTorch</a:t>
            </a:r>
            <a:r>
              <a:rPr lang="en-GB" sz="1400" spc="-1" dirty="0">
                <a:cs typeface="Arial"/>
              </a:rPr>
              <a:t> support.</a:t>
            </a:r>
          </a:p>
          <a:p>
            <a:pPr marL="727075" lvl="1" indent="-269875">
              <a:lnSpc>
                <a:spcPct val="100000"/>
              </a:lnSpc>
              <a:buClr>
                <a:srgbClr val="EA7600"/>
              </a:buClr>
              <a:buFont typeface="Calibri"/>
              <a:buChar char="•"/>
            </a:pPr>
            <a:r>
              <a:rPr lang="en-GB" sz="1400" spc="-1" dirty="0">
                <a:cs typeface="Arial"/>
              </a:rPr>
              <a:t>Intel? Technically supported in </a:t>
            </a:r>
            <a:r>
              <a:rPr lang="en-GB" sz="1400" spc="-1" dirty="0" err="1">
                <a:cs typeface="Arial"/>
              </a:rPr>
              <a:t>PyTorch</a:t>
            </a:r>
            <a:r>
              <a:rPr lang="en-GB" sz="1400" spc="-1" dirty="0">
                <a:cs typeface="Arial"/>
              </a:rPr>
              <a:t>.</a:t>
            </a:r>
          </a:p>
          <a:p>
            <a:pPr marL="457200" lvl="1" indent="0">
              <a:lnSpc>
                <a:spcPct val="100000"/>
              </a:lnSpc>
              <a:buClr>
                <a:srgbClr val="EA7600"/>
              </a:buClr>
              <a:buNone/>
            </a:pPr>
            <a:endParaRPr lang="en-GB" sz="1600" spc="-1" dirty="0">
              <a:cs typeface="Arial"/>
            </a:endParaRPr>
          </a:p>
          <a:p>
            <a:pPr marL="0" indent="0">
              <a:lnSpc>
                <a:spcPct val="100000"/>
              </a:lnSpc>
              <a:buClr>
                <a:srgbClr val="EA7600"/>
              </a:buClr>
              <a:buNone/>
            </a:pPr>
            <a:endParaRPr lang="en-GB" sz="2000" spc="-1" dirty="0">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12</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3" name="TextBox 2">
            <a:extLst>
              <a:ext uri="{FF2B5EF4-FFF2-40B4-BE49-F238E27FC236}">
                <a16:creationId xmlns:a16="http://schemas.microsoft.com/office/drawing/2014/main" id="{8674B8C8-0F66-2ED2-1A48-2790AB937D1F}"/>
              </a:ext>
            </a:extLst>
          </p:cNvPr>
          <p:cNvSpPr txBox="1"/>
          <p:nvPr/>
        </p:nvSpPr>
        <p:spPr>
          <a:xfrm>
            <a:off x="3917079" y="6585840"/>
            <a:ext cx="8972280" cy="369332"/>
          </a:xfrm>
          <a:prstGeom prst="rect">
            <a:avLst/>
          </a:prstGeom>
          <a:noFill/>
        </p:spPr>
        <p:txBody>
          <a:bodyPr wrap="square">
            <a:spAutoFit/>
          </a:bodyPr>
          <a:lstStyle/>
          <a:p>
            <a:pPr marL="0" indent="0">
              <a:lnSpc>
                <a:spcPct val="100000"/>
              </a:lnSpc>
              <a:buClr>
                <a:srgbClr val="EA7600"/>
              </a:buClr>
              <a:buNone/>
            </a:pPr>
            <a:r>
              <a:rPr lang="en-GB" sz="1800" spc="-1" dirty="0">
                <a:ea typeface="+mn-lt"/>
                <a:cs typeface="+mn-lt"/>
                <a:hlinkClick r:id="rId3"/>
              </a:rPr>
              <a:t>https://servicedesk.surf.nl/wiki/display/WIKI/Snellius+hardware+and+file+systems</a:t>
            </a:r>
            <a:endParaRPr lang="nl-NL" sz="1800" dirty="0">
              <a:ea typeface="+mn-lt"/>
              <a:cs typeface="+mn-lt"/>
            </a:endParaRPr>
          </a:p>
        </p:txBody>
      </p:sp>
    </p:spTree>
    <p:extLst>
      <p:ext uri="{BB962C8B-B14F-4D97-AF65-F5344CB8AC3E}">
        <p14:creationId xmlns:p14="http://schemas.microsoft.com/office/powerpoint/2010/main" val="1875884679"/>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System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Goals:</a:t>
            </a:r>
          </a:p>
          <a:p>
            <a:r>
              <a:rPr lang="nl-NL" dirty="0"/>
              <a:t>Understand </a:t>
            </a:r>
            <a:r>
              <a:rPr lang="nl-NL" dirty="0" err="1"/>
              <a:t>what</a:t>
            </a:r>
            <a:r>
              <a:rPr lang="nl-NL" dirty="0"/>
              <a:t> hardware bottlenecks </a:t>
            </a:r>
            <a:r>
              <a:rPr lang="nl-NL" dirty="0" err="1"/>
              <a:t>could</a:t>
            </a:r>
            <a:r>
              <a:rPr lang="nl-NL" dirty="0"/>
              <a:t> </a:t>
            </a:r>
            <a:r>
              <a:rPr lang="nl-NL" dirty="0" err="1"/>
              <a:t>be</a:t>
            </a:r>
            <a:r>
              <a:rPr lang="nl-NL" dirty="0"/>
              <a:t> </a:t>
            </a:r>
            <a:r>
              <a:rPr lang="nl-NL" dirty="0" err="1"/>
              <a:t>limiting</a:t>
            </a:r>
            <a:endParaRPr lang="nl-NL" dirty="0"/>
          </a:p>
          <a:p>
            <a:r>
              <a:rPr lang="nl-NL" dirty="0"/>
              <a:t>Understand pro’s </a:t>
            </a:r>
            <a:r>
              <a:rPr lang="nl-NL" dirty="0" err="1"/>
              <a:t>and</a:t>
            </a:r>
            <a:r>
              <a:rPr lang="nl-NL" dirty="0"/>
              <a:t> </a:t>
            </a:r>
            <a:r>
              <a:rPr lang="nl-NL" dirty="0" err="1"/>
              <a:t>con’s</a:t>
            </a:r>
            <a:r>
              <a:rPr lang="nl-NL" dirty="0"/>
              <a:t> of </a:t>
            </a:r>
            <a:r>
              <a:rPr lang="nl-NL" dirty="0" err="1"/>
              <a:t>various</a:t>
            </a:r>
            <a:r>
              <a:rPr lang="nl-NL" dirty="0"/>
              <a:t> hardware</a:t>
            </a:r>
          </a:p>
          <a:p>
            <a:r>
              <a:rPr lang="nl-NL" dirty="0" err="1"/>
              <a:t>Know</a:t>
            </a:r>
            <a:r>
              <a:rPr lang="nl-NL" dirty="0"/>
              <a:t> </a:t>
            </a:r>
            <a:r>
              <a:rPr lang="nl-NL" dirty="0" err="1"/>
              <a:t>how</a:t>
            </a:r>
            <a:r>
              <a:rPr lang="nl-NL" dirty="0"/>
              <a:t> </a:t>
            </a:r>
            <a:r>
              <a:rPr lang="nl-NL" dirty="0" err="1"/>
              <a:t>to</a:t>
            </a:r>
            <a:r>
              <a:rPr lang="nl-NL" dirty="0"/>
              <a:t> </a:t>
            </a:r>
            <a:r>
              <a:rPr lang="nl-NL" dirty="0" err="1"/>
              <a:t>choose</a:t>
            </a:r>
            <a:r>
              <a:rPr lang="nl-NL" dirty="0"/>
              <a:t> </a:t>
            </a:r>
            <a:r>
              <a:rPr lang="nl-NL" dirty="0" err="1"/>
              <a:t>appropriate</a:t>
            </a:r>
            <a:r>
              <a:rPr lang="nl-NL" dirty="0"/>
              <a:t> hardware </a:t>
            </a:r>
            <a:r>
              <a:rPr lang="nl-NL" dirty="0" err="1"/>
              <a:t>for</a:t>
            </a:r>
            <a:r>
              <a:rPr lang="nl-NL" dirty="0"/>
              <a:t> </a:t>
            </a:r>
            <a:r>
              <a:rPr lang="nl-NL" dirty="0" err="1"/>
              <a:t>you</a:t>
            </a:r>
            <a:r>
              <a:rPr lang="nl-NL" dirty="0"/>
              <a:t> DL </a:t>
            </a:r>
            <a:r>
              <a:rPr lang="nl-NL" dirty="0" err="1"/>
              <a:t>task</a:t>
            </a:r>
            <a:endParaRPr lang="nl-NL" dirty="0"/>
          </a:p>
          <a:p>
            <a:r>
              <a:rPr lang="nl-NL" dirty="0" err="1"/>
              <a:t>Know</a:t>
            </a:r>
            <a:r>
              <a:rPr lang="nl-NL" dirty="0"/>
              <a:t> </a:t>
            </a:r>
            <a:r>
              <a:rPr lang="nl-NL" dirty="0" err="1"/>
              <a:t>what</a:t>
            </a:r>
            <a:r>
              <a:rPr lang="nl-NL" dirty="0"/>
              <a:t> </a:t>
            </a:r>
            <a:r>
              <a:rPr lang="nl-NL" dirty="0" err="1"/>
              <a:t>to</a:t>
            </a:r>
            <a:r>
              <a:rPr lang="nl-NL" dirty="0"/>
              <a:t> do </a:t>
            </a:r>
            <a:r>
              <a:rPr lang="nl-NL" dirty="0" err="1"/>
              <a:t>to</a:t>
            </a:r>
            <a:r>
              <a:rPr lang="nl-NL" dirty="0"/>
              <a:t> </a:t>
            </a:r>
            <a:r>
              <a:rPr lang="nl-NL" dirty="0" err="1"/>
              <a:t>mitigate</a:t>
            </a:r>
            <a:r>
              <a:rPr lang="nl-NL" dirty="0"/>
              <a:t> bottlenecks</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13</a:t>
            </a:fld>
            <a:endParaRPr lang="nl-NL"/>
          </a:p>
        </p:txBody>
      </p:sp>
    </p:spTree>
    <p:extLst>
      <p:ext uri="{BB962C8B-B14F-4D97-AF65-F5344CB8AC3E}">
        <p14:creationId xmlns:p14="http://schemas.microsoft.com/office/powerpoint/2010/main" val="383137574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err="1"/>
              <a:t>Compute</a:t>
            </a:r>
            <a:r>
              <a:rPr lang="nl-NL" dirty="0"/>
              <a:t> (</a:t>
            </a:r>
            <a:r>
              <a:rPr lang="nl-NL" dirty="0" err="1"/>
              <a:t>floating</a:t>
            </a:r>
            <a:r>
              <a:rPr lang="nl-NL" dirty="0"/>
              <a:t> point operations per second, FLOPS)</a:t>
            </a:r>
          </a:p>
          <a:p>
            <a:pPr>
              <a:buFont typeface="Arial" panose="020B0604020202020204" pitchFamily="34" charset="0"/>
              <a:buChar char="•"/>
            </a:pPr>
            <a:r>
              <a:rPr lang="nl-NL" dirty="0"/>
              <a:t>Memory </a:t>
            </a:r>
            <a:r>
              <a:rPr lang="nl-NL" dirty="0" err="1"/>
              <a:t>bandwidth</a:t>
            </a:r>
            <a:endParaRPr lang="nl-NL" dirty="0"/>
          </a:p>
          <a:p>
            <a:pPr>
              <a:buFont typeface="Arial" panose="020B0604020202020204" pitchFamily="34" charset="0"/>
              <a:buChar char="•"/>
            </a:pPr>
            <a:r>
              <a:rPr lang="nl-NL" dirty="0"/>
              <a:t>Memory </a:t>
            </a:r>
            <a:r>
              <a:rPr lang="nl-NL" dirty="0" err="1"/>
              <a:t>size</a:t>
            </a:r>
            <a:endParaRPr lang="nl-NL" dirty="0"/>
          </a:p>
          <a:p>
            <a:pPr>
              <a:buFont typeface="Arial" panose="020B0604020202020204" pitchFamily="34" charset="0"/>
              <a:buChar char="•"/>
            </a:pPr>
            <a:r>
              <a:rPr lang="nl-NL" dirty="0"/>
              <a:t>I/O</a:t>
            </a:r>
          </a:p>
          <a:p>
            <a:pPr>
              <a:buFont typeface="Arial" panose="020B0604020202020204" pitchFamily="34" charset="0"/>
              <a:buChar char="•"/>
            </a:pPr>
            <a:r>
              <a:rPr lang="nl-NL" dirty="0"/>
              <a:t>Communication</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14</a:t>
            </a:fld>
            <a:endParaRPr lang="nl-NL"/>
          </a:p>
        </p:txBody>
      </p:sp>
      <p:sp>
        <p:nvSpPr>
          <p:cNvPr id="7" name="TextBox 6"/>
          <p:cNvSpPr txBox="1"/>
          <p:nvPr/>
        </p:nvSpPr>
        <p:spPr>
          <a:xfrm>
            <a:off x="7237683" y="1079058"/>
            <a:ext cx="3468787" cy="1015663"/>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E.g. training a compute intensive network on a single node</a:t>
            </a:r>
          </a:p>
        </p:txBody>
      </p:sp>
      <p:cxnSp>
        <p:nvCxnSpPr>
          <p:cNvPr id="9" name="Straight Arrow Connector 8"/>
          <p:cNvCxnSpPr/>
          <p:nvPr/>
        </p:nvCxnSpPr>
        <p:spPr>
          <a:xfrm flipH="1">
            <a:off x="6642100" y="12700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Afbeelding 6" descr="Afbeelding met tekst, buitenshuis, person, vlot&#10;&#10;Automatisch gegenereerde beschrijving">
            <a:extLst>
              <a:ext uri="{FF2B5EF4-FFF2-40B4-BE49-F238E27FC236}">
                <a16:creationId xmlns:a16="http://schemas.microsoft.com/office/drawing/2014/main" id="{DE13FA06-9AB1-C1E8-AC51-E2F1DEC194F3}"/>
              </a:ext>
            </a:extLst>
          </p:cNvPr>
          <p:cNvPicPr>
            <a:picLocks noChangeAspect="1"/>
          </p:cNvPicPr>
          <p:nvPr/>
        </p:nvPicPr>
        <p:blipFill>
          <a:blip r:embed="rId2"/>
          <a:stretch>
            <a:fillRect/>
          </a:stretch>
        </p:blipFill>
        <p:spPr>
          <a:xfrm>
            <a:off x="5673252" y="2946008"/>
            <a:ext cx="4249758" cy="3271775"/>
          </a:xfrm>
          <a:prstGeom prst="rect">
            <a:avLst/>
          </a:prstGeom>
        </p:spPr>
      </p:pic>
    </p:spTree>
    <p:extLst>
      <p:ext uri="{BB962C8B-B14F-4D97-AF65-F5344CB8AC3E}">
        <p14:creationId xmlns:p14="http://schemas.microsoft.com/office/powerpoint/2010/main" val="296834713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err="1"/>
              <a:t>Compute</a:t>
            </a:r>
            <a:r>
              <a:rPr lang="nl-NL"/>
              <a:t> (</a:t>
            </a:r>
            <a:r>
              <a:rPr lang="nl-NL" err="1"/>
              <a:t>floating</a:t>
            </a:r>
            <a:r>
              <a:rPr lang="nl-NL"/>
              <a:t> point operations per second, FLOPS)</a:t>
            </a:r>
          </a:p>
          <a:p>
            <a:pPr>
              <a:buFont typeface="Arial" panose="020B0604020202020204" pitchFamily="34" charset="0"/>
              <a:buChar char="•"/>
            </a:pPr>
            <a:r>
              <a:rPr lang="nl-NL"/>
              <a:t>Memory </a:t>
            </a:r>
            <a:r>
              <a:rPr lang="nl-NL" err="1"/>
              <a:t>bandwidth</a:t>
            </a:r>
            <a:endParaRPr lang="nl-NL"/>
          </a:p>
          <a:p>
            <a:pPr>
              <a:buFont typeface="Arial" panose="020B0604020202020204" pitchFamily="34" charset="0"/>
              <a:buChar char="•"/>
            </a:pPr>
            <a:r>
              <a:rPr lang="nl-NL"/>
              <a:t>Memory </a:t>
            </a:r>
            <a:r>
              <a:rPr lang="nl-NL" err="1"/>
              <a:t>size</a:t>
            </a:r>
            <a:endParaRPr lang="nl-NL"/>
          </a:p>
          <a:p>
            <a:pPr>
              <a:buFont typeface="Arial" panose="020B0604020202020204" pitchFamily="34" charset="0"/>
              <a:buChar char="•"/>
            </a:pPr>
            <a:r>
              <a:rPr lang="nl-NL"/>
              <a:t>I/O</a:t>
            </a:r>
          </a:p>
          <a:p>
            <a:pPr>
              <a:buFont typeface="Arial" panose="020B0604020202020204" pitchFamily="34" charset="0"/>
              <a:buChar char="•"/>
            </a:pPr>
            <a:r>
              <a:rPr lang="nl-NL"/>
              <a:t>Communication</a:t>
            </a:r>
          </a:p>
          <a:p>
            <a:pPr lvl="1"/>
            <a:endParaRPr lang="nl-NL" sz="1400"/>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15</a:t>
            </a:fld>
            <a:endParaRPr lang="nl-NL"/>
          </a:p>
        </p:txBody>
      </p:sp>
      <p:sp>
        <p:nvSpPr>
          <p:cNvPr id="7" name="TextBox 6"/>
          <p:cNvSpPr txBox="1"/>
          <p:nvPr/>
        </p:nvSpPr>
        <p:spPr>
          <a:xfrm>
            <a:off x="3732483" y="1551498"/>
            <a:ext cx="4547917" cy="1292662"/>
          </a:xfrm>
          <a:prstGeom prst="rect">
            <a:avLst/>
          </a:prstGeom>
          <a:solidFill>
            <a:schemeClr val="bg1"/>
          </a:solidFill>
          <a:ln>
            <a:solidFill>
              <a:schemeClr val="tx1"/>
            </a:solidFill>
          </a:ln>
        </p:spPr>
        <p:txBody>
          <a:bodyPr wrap="square" lIns="182880" tIns="91440" rIns="182880" bIns="91440" rtlCol="0">
            <a:spAutoFit/>
          </a:bodyPr>
          <a:lstStyle/>
          <a:p>
            <a:pPr marL="285750" indent="-285750" algn="l">
              <a:buFont typeface="Arial" panose="020B0604020202020204" pitchFamily="34" charset="0"/>
              <a:buChar char="•"/>
            </a:pPr>
            <a:r>
              <a:rPr lang="nl-NL"/>
              <a:t>Data </a:t>
            </a:r>
            <a:r>
              <a:rPr lang="nl-NL" err="1"/>
              <a:t>needs</a:t>
            </a:r>
            <a:r>
              <a:rPr lang="nl-NL"/>
              <a:t> </a:t>
            </a:r>
            <a:r>
              <a:rPr lang="nl-NL" err="1"/>
              <a:t>to</a:t>
            </a:r>
            <a:r>
              <a:rPr lang="nl-NL"/>
              <a:t> get </a:t>
            </a:r>
            <a:r>
              <a:rPr lang="nl-NL" err="1"/>
              <a:t>to</a:t>
            </a:r>
            <a:r>
              <a:rPr lang="nl-NL"/>
              <a:t> </a:t>
            </a:r>
            <a:r>
              <a:rPr lang="nl-NL" err="1"/>
              <a:t>the</a:t>
            </a:r>
            <a:r>
              <a:rPr lang="nl-NL"/>
              <a:t> processor in time in order </a:t>
            </a:r>
            <a:r>
              <a:rPr lang="nl-NL" err="1"/>
              <a:t>to</a:t>
            </a:r>
            <a:r>
              <a:rPr lang="nl-NL"/>
              <a:t> do </a:t>
            </a:r>
            <a:r>
              <a:rPr lang="nl-NL" err="1"/>
              <a:t>compute</a:t>
            </a:r>
            <a:r>
              <a:rPr lang="nl-NL"/>
              <a:t>!</a:t>
            </a:r>
          </a:p>
          <a:p>
            <a:pPr marL="285750" indent="-285750" algn="l">
              <a:buFont typeface="Arial" panose="020B0604020202020204" pitchFamily="34" charset="0"/>
              <a:buChar char="•"/>
            </a:pPr>
            <a:r>
              <a:rPr lang="nl-NL" err="1"/>
              <a:t>Many</a:t>
            </a:r>
            <a:r>
              <a:rPr lang="nl-NL"/>
              <a:t> codes are </a:t>
            </a:r>
            <a:r>
              <a:rPr lang="nl-NL" err="1"/>
              <a:t>limited</a:t>
            </a:r>
            <a:r>
              <a:rPr lang="nl-NL"/>
              <a:t> </a:t>
            </a:r>
            <a:r>
              <a:rPr lang="nl-NL" err="1"/>
              <a:t>by</a:t>
            </a:r>
            <a:r>
              <a:rPr lang="nl-NL"/>
              <a:t> memory </a:t>
            </a:r>
            <a:r>
              <a:rPr lang="nl-NL" err="1"/>
              <a:t>bandwidth</a:t>
            </a:r>
            <a:endParaRPr lang="nl-NL"/>
          </a:p>
        </p:txBody>
      </p:sp>
      <p:cxnSp>
        <p:nvCxnSpPr>
          <p:cNvPr id="9" name="Straight Arrow Connector 8"/>
          <p:cNvCxnSpPr/>
          <p:nvPr/>
        </p:nvCxnSpPr>
        <p:spPr>
          <a:xfrm flipH="1">
            <a:off x="3136900" y="18034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0264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err="1"/>
              <a:t>Compute</a:t>
            </a:r>
            <a:r>
              <a:rPr lang="nl-NL" dirty="0"/>
              <a:t> (</a:t>
            </a:r>
            <a:r>
              <a:rPr lang="nl-NL" dirty="0" err="1"/>
              <a:t>floating</a:t>
            </a:r>
            <a:r>
              <a:rPr lang="nl-NL" dirty="0"/>
              <a:t> point operations per second, FLOPS)</a:t>
            </a:r>
          </a:p>
          <a:p>
            <a:pPr>
              <a:buFont typeface="Arial" panose="020B0604020202020204" pitchFamily="34" charset="0"/>
              <a:buChar char="•"/>
            </a:pPr>
            <a:r>
              <a:rPr lang="nl-NL" dirty="0"/>
              <a:t>Memory </a:t>
            </a:r>
            <a:r>
              <a:rPr lang="nl-NL" dirty="0" err="1"/>
              <a:t>bandwidth</a:t>
            </a:r>
            <a:endParaRPr lang="nl-NL" dirty="0"/>
          </a:p>
          <a:p>
            <a:pPr>
              <a:buFont typeface="Arial" panose="020B0604020202020204" pitchFamily="34" charset="0"/>
              <a:buChar char="•"/>
            </a:pPr>
            <a:r>
              <a:rPr lang="nl-NL" dirty="0"/>
              <a:t>Memory </a:t>
            </a:r>
            <a:r>
              <a:rPr lang="nl-NL" dirty="0" err="1"/>
              <a:t>size</a:t>
            </a:r>
            <a:endParaRPr lang="nl-NL" dirty="0"/>
          </a:p>
          <a:p>
            <a:pPr>
              <a:buFont typeface="Arial" panose="020B0604020202020204" pitchFamily="34" charset="0"/>
              <a:buChar char="•"/>
            </a:pPr>
            <a:r>
              <a:rPr lang="nl-NL" dirty="0"/>
              <a:t>I/O</a:t>
            </a:r>
          </a:p>
          <a:p>
            <a:pPr>
              <a:buFont typeface="Arial" panose="020B0604020202020204" pitchFamily="34" charset="0"/>
              <a:buChar char="•"/>
            </a:pPr>
            <a:r>
              <a:rPr lang="nl-NL" dirty="0"/>
              <a:t>Communication</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16</a:t>
            </a:fld>
            <a:endParaRPr lang="nl-NL"/>
          </a:p>
        </p:txBody>
      </p:sp>
      <p:sp>
        <p:nvSpPr>
          <p:cNvPr id="7" name="TextBox 6"/>
          <p:cNvSpPr txBox="1"/>
          <p:nvPr/>
        </p:nvSpPr>
        <p:spPr>
          <a:xfrm>
            <a:off x="3732483" y="1588869"/>
            <a:ext cx="5337256" cy="1846659"/>
          </a:xfrm>
          <a:prstGeom prst="rect">
            <a:avLst/>
          </a:prstGeom>
          <a:solidFill>
            <a:schemeClr val="bg1"/>
          </a:solidFill>
          <a:ln>
            <a:solidFill>
              <a:schemeClr val="tx1"/>
            </a:solidFill>
          </a:ln>
        </p:spPr>
        <p:txBody>
          <a:bodyPr wrap="square" lIns="182880" tIns="91440" rIns="182880" bIns="91440" rtlCol="0">
            <a:spAutoFit/>
          </a:bodyPr>
          <a:lstStyle/>
          <a:p>
            <a:pPr marL="285750" indent="-285750">
              <a:buFont typeface="Arial" panose="020B0604020202020204" pitchFamily="34" charset="0"/>
              <a:buChar char="•"/>
            </a:pPr>
            <a:r>
              <a:rPr lang="nl-NL" dirty="0"/>
              <a:t>(</a:t>
            </a:r>
            <a:r>
              <a:rPr lang="nl-NL" dirty="0" err="1"/>
              <a:t>may</a:t>
            </a:r>
            <a:r>
              <a:rPr lang="nl-NL" dirty="0"/>
              <a:t> </a:t>
            </a:r>
            <a:r>
              <a:rPr lang="nl-NL" dirty="0" err="1"/>
              <a:t>be</a:t>
            </a:r>
            <a:r>
              <a:rPr lang="nl-NL" dirty="0"/>
              <a:t>) </a:t>
            </a:r>
            <a:r>
              <a:rPr lang="nl-NL" dirty="0" err="1"/>
              <a:t>limited</a:t>
            </a:r>
            <a:r>
              <a:rPr lang="nl-NL" dirty="0"/>
              <a:t> </a:t>
            </a:r>
            <a:r>
              <a:rPr lang="nl-NL" dirty="0" err="1"/>
              <a:t>by</a:t>
            </a:r>
            <a:r>
              <a:rPr lang="nl-NL" dirty="0"/>
              <a:t> memory:</a:t>
            </a:r>
          </a:p>
          <a:p>
            <a:pPr marL="742950" lvl="1" indent="-285750">
              <a:buFont typeface="Arial" panose="020B0604020202020204" pitchFamily="34" charset="0"/>
              <a:buChar char="•"/>
            </a:pPr>
            <a:r>
              <a:rPr lang="nl-NL" dirty="0" err="1"/>
              <a:t>Deep</a:t>
            </a:r>
            <a:r>
              <a:rPr lang="nl-NL" dirty="0"/>
              <a:t>/</a:t>
            </a:r>
            <a:r>
              <a:rPr lang="nl-NL" dirty="0" err="1"/>
              <a:t>wide</a:t>
            </a:r>
            <a:r>
              <a:rPr lang="nl-NL" dirty="0"/>
              <a:t> </a:t>
            </a:r>
            <a:r>
              <a:rPr lang="nl-NL" dirty="0" err="1"/>
              <a:t>networks</a:t>
            </a:r>
            <a:endParaRPr lang="nl-NL" dirty="0"/>
          </a:p>
          <a:p>
            <a:pPr marL="742950" lvl="1" indent="-285750">
              <a:buFont typeface="Arial" panose="020B0604020202020204" pitchFamily="34" charset="0"/>
              <a:buChar char="•"/>
            </a:pPr>
            <a:r>
              <a:rPr lang="nl-NL" dirty="0"/>
              <a:t>Networks </a:t>
            </a:r>
            <a:r>
              <a:rPr lang="nl-NL" dirty="0" err="1"/>
              <a:t>with</a:t>
            </a:r>
            <a:r>
              <a:rPr lang="nl-NL" dirty="0"/>
              <a:t> </a:t>
            </a:r>
            <a:r>
              <a:rPr lang="nl-NL" dirty="0" err="1"/>
              <a:t>very</a:t>
            </a:r>
            <a:r>
              <a:rPr lang="nl-NL" dirty="0"/>
              <a:t> large input/output </a:t>
            </a:r>
            <a:r>
              <a:rPr lang="nl-NL" dirty="0" err="1"/>
              <a:t>layers</a:t>
            </a:r>
            <a:r>
              <a:rPr lang="nl-NL" dirty="0"/>
              <a:t> (e.g. high </a:t>
            </a:r>
            <a:r>
              <a:rPr lang="nl-NL" dirty="0" err="1"/>
              <a:t>res</a:t>
            </a:r>
            <a:r>
              <a:rPr lang="nl-NL" dirty="0"/>
              <a:t> images)</a:t>
            </a:r>
          </a:p>
          <a:p>
            <a:pPr marL="285750" indent="-285750">
              <a:buFont typeface="Arial" panose="020B0604020202020204" pitchFamily="34" charset="0"/>
              <a:buChar char="•"/>
            </a:pPr>
            <a:r>
              <a:rPr lang="nl-NL" dirty="0" err="1"/>
              <a:t>Not</a:t>
            </a:r>
            <a:r>
              <a:rPr lang="nl-NL" dirty="0"/>
              <a:t> a performance bottleneck, but a no-go!</a:t>
            </a:r>
          </a:p>
          <a:p>
            <a:pPr marL="742950" lvl="1" indent="-285750">
              <a:buFont typeface="Arial" panose="020B0604020202020204" pitchFamily="34" charset="0"/>
              <a:buChar char="•"/>
            </a:pPr>
            <a:r>
              <a:rPr lang="nl-NL" dirty="0"/>
              <a:t>But: </a:t>
            </a:r>
            <a:r>
              <a:rPr lang="nl-NL" dirty="0" err="1"/>
              <a:t>unified</a:t>
            </a:r>
            <a:r>
              <a:rPr lang="nl-NL" dirty="0"/>
              <a:t> memory</a:t>
            </a:r>
          </a:p>
        </p:txBody>
      </p:sp>
      <p:cxnSp>
        <p:nvCxnSpPr>
          <p:cNvPr id="9" name="Straight Arrow Connector 8"/>
          <p:cNvCxnSpPr/>
          <p:nvPr/>
        </p:nvCxnSpPr>
        <p:spPr>
          <a:xfrm flipH="1">
            <a:off x="3173683" y="22352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07572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err="1"/>
              <a:t>Compute</a:t>
            </a:r>
            <a:r>
              <a:rPr lang="nl-NL" dirty="0"/>
              <a:t> (</a:t>
            </a:r>
            <a:r>
              <a:rPr lang="nl-NL" dirty="0" err="1"/>
              <a:t>floating</a:t>
            </a:r>
            <a:r>
              <a:rPr lang="nl-NL" dirty="0"/>
              <a:t> point operations per second, FLOPS)</a:t>
            </a:r>
          </a:p>
          <a:p>
            <a:pPr>
              <a:buFont typeface="Arial" panose="020B0604020202020204" pitchFamily="34" charset="0"/>
              <a:buChar char="•"/>
            </a:pPr>
            <a:r>
              <a:rPr lang="nl-NL" dirty="0"/>
              <a:t>Memory </a:t>
            </a:r>
            <a:r>
              <a:rPr lang="nl-NL" dirty="0" err="1"/>
              <a:t>bandwidth</a:t>
            </a:r>
            <a:endParaRPr lang="nl-NL" dirty="0"/>
          </a:p>
          <a:p>
            <a:pPr>
              <a:buFont typeface="Arial" panose="020B0604020202020204" pitchFamily="34" charset="0"/>
              <a:buChar char="•"/>
            </a:pPr>
            <a:r>
              <a:rPr lang="nl-NL" dirty="0"/>
              <a:t>Memory </a:t>
            </a:r>
            <a:r>
              <a:rPr lang="nl-NL" dirty="0" err="1"/>
              <a:t>size</a:t>
            </a:r>
            <a:endParaRPr lang="nl-NL" dirty="0"/>
          </a:p>
          <a:p>
            <a:pPr>
              <a:buFont typeface="Arial" panose="020B0604020202020204" pitchFamily="34" charset="0"/>
              <a:buChar char="•"/>
            </a:pPr>
            <a:r>
              <a:rPr lang="nl-NL" dirty="0"/>
              <a:t>I/O</a:t>
            </a:r>
          </a:p>
          <a:p>
            <a:pPr>
              <a:buFont typeface="Arial" panose="020B0604020202020204" pitchFamily="34" charset="0"/>
              <a:buChar char="•"/>
            </a:pPr>
            <a:r>
              <a:rPr lang="nl-NL" dirty="0"/>
              <a:t>Communication</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17</a:t>
            </a:fld>
            <a:endParaRPr lang="nl-NL"/>
          </a:p>
        </p:txBody>
      </p:sp>
      <p:sp>
        <p:nvSpPr>
          <p:cNvPr id="7" name="TextBox 6"/>
          <p:cNvSpPr txBox="1"/>
          <p:nvPr/>
        </p:nvSpPr>
        <p:spPr>
          <a:xfrm>
            <a:off x="3707083" y="1932970"/>
            <a:ext cx="5337256" cy="2400657"/>
          </a:xfrm>
          <a:prstGeom prst="rect">
            <a:avLst/>
          </a:prstGeom>
          <a:solidFill>
            <a:schemeClr val="bg1"/>
          </a:solidFill>
          <a:ln>
            <a:solidFill>
              <a:schemeClr val="tx1"/>
            </a:solidFill>
          </a:ln>
        </p:spPr>
        <p:txBody>
          <a:bodyPr wrap="square" lIns="182880" tIns="91440" rIns="182880" bIns="91440" rtlCol="0">
            <a:spAutoFit/>
          </a:bodyPr>
          <a:lstStyle/>
          <a:p>
            <a:pPr marL="285750" indent="-285750">
              <a:buFont typeface="Arial" panose="020B0604020202020204" pitchFamily="34" charset="0"/>
              <a:buChar char="•"/>
            </a:pPr>
            <a:r>
              <a:rPr lang="nl-NL" dirty="0"/>
              <a:t>HPC systems </a:t>
            </a:r>
            <a:r>
              <a:rPr lang="nl-NL" dirty="0" err="1"/>
              <a:t>typically</a:t>
            </a:r>
            <a:r>
              <a:rPr lang="nl-NL" dirty="0"/>
              <a:t> have shared file systems</a:t>
            </a:r>
          </a:p>
          <a:p>
            <a:pPr marL="742950" lvl="1" indent="-285750">
              <a:buFont typeface="Arial" panose="020B0604020202020204" pitchFamily="34" charset="0"/>
              <a:buChar char="•"/>
            </a:pPr>
            <a:r>
              <a:rPr lang="nl-NL" dirty="0" err="1"/>
              <a:t>Good</a:t>
            </a:r>
            <a:r>
              <a:rPr lang="nl-NL" dirty="0"/>
              <a:t> </a:t>
            </a:r>
            <a:r>
              <a:rPr lang="nl-NL" dirty="0" err="1"/>
              <a:t>bandwitdh</a:t>
            </a:r>
            <a:endParaRPr lang="nl-NL" dirty="0"/>
          </a:p>
          <a:p>
            <a:pPr marL="742950" lvl="1" indent="-285750">
              <a:buFont typeface="Arial" panose="020B0604020202020204" pitchFamily="34" charset="0"/>
              <a:buChar char="•"/>
            </a:pPr>
            <a:r>
              <a:rPr lang="nl-NL" dirty="0"/>
              <a:t>(</a:t>
            </a:r>
            <a:r>
              <a:rPr lang="nl-NL" dirty="0" err="1"/>
              <a:t>relatively</a:t>
            </a:r>
            <a:r>
              <a:rPr lang="nl-NL" dirty="0"/>
              <a:t>) low I/O operations per second (IOPS)</a:t>
            </a:r>
          </a:p>
          <a:p>
            <a:pPr marL="285750" indent="-285750">
              <a:buFont typeface="Arial" panose="020B0604020202020204" pitchFamily="34" charset="0"/>
              <a:buChar char="•"/>
            </a:pPr>
            <a:r>
              <a:rPr lang="nl-NL" dirty="0"/>
              <a:t>Common bottleneck in </a:t>
            </a:r>
            <a:r>
              <a:rPr lang="nl-NL" dirty="0" err="1"/>
              <a:t>distributed</a:t>
            </a:r>
            <a:r>
              <a:rPr lang="nl-NL" dirty="0"/>
              <a:t> </a:t>
            </a:r>
            <a:r>
              <a:rPr lang="nl-NL" dirty="0" err="1"/>
              <a:t>learning</a:t>
            </a:r>
            <a:r>
              <a:rPr lang="nl-NL" dirty="0"/>
              <a:t>! </a:t>
            </a:r>
            <a:r>
              <a:rPr lang="nl-NL" dirty="0" err="1"/>
              <a:t>Many</a:t>
            </a:r>
            <a:r>
              <a:rPr lang="nl-NL" dirty="0"/>
              <a:t> </a:t>
            </a:r>
            <a:r>
              <a:rPr lang="nl-NL" dirty="0" err="1"/>
              <a:t>nodes</a:t>
            </a:r>
            <a:r>
              <a:rPr lang="nl-NL" dirty="0"/>
              <a:t> reading </a:t>
            </a:r>
            <a:r>
              <a:rPr lang="nl-NL" dirty="0" err="1"/>
              <a:t>from</a:t>
            </a:r>
            <a:r>
              <a:rPr lang="nl-NL" dirty="0"/>
              <a:t> </a:t>
            </a:r>
            <a:r>
              <a:rPr lang="nl-NL" dirty="0" err="1"/>
              <a:t>the</a:t>
            </a:r>
            <a:r>
              <a:rPr lang="nl-NL" dirty="0"/>
              <a:t> </a:t>
            </a:r>
            <a:r>
              <a:rPr lang="nl-NL" dirty="0" err="1"/>
              <a:t>same</a:t>
            </a:r>
            <a:r>
              <a:rPr lang="nl-NL" dirty="0"/>
              <a:t> filesystem.</a:t>
            </a:r>
          </a:p>
          <a:p>
            <a:pPr marL="285750" indent="-285750">
              <a:buFont typeface="Arial" panose="020B0604020202020204" pitchFamily="34" charset="0"/>
              <a:buChar char="•"/>
            </a:pPr>
            <a:r>
              <a:rPr lang="nl-NL" dirty="0" err="1"/>
              <a:t>Other</a:t>
            </a:r>
            <a:r>
              <a:rPr lang="nl-NL" dirty="0"/>
              <a:t> users (&amp; </a:t>
            </a:r>
            <a:r>
              <a:rPr lang="nl-NL" dirty="0" err="1"/>
              <a:t>sysadmins</a:t>
            </a:r>
            <a:r>
              <a:rPr lang="nl-NL" dirty="0"/>
              <a:t>) </a:t>
            </a:r>
            <a:r>
              <a:rPr lang="nl-NL" dirty="0" err="1"/>
              <a:t>will</a:t>
            </a:r>
            <a:r>
              <a:rPr lang="nl-NL" dirty="0"/>
              <a:t> </a:t>
            </a:r>
            <a:r>
              <a:rPr lang="nl-NL" dirty="0" err="1"/>
              <a:t>dislike</a:t>
            </a:r>
            <a:r>
              <a:rPr lang="nl-NL" dirty="0"/>
              <a:t> </a:t>
            </a:r>
            <a:r>
              <a:rPr lang="nl-NL" dirty="0" err="1"/>
              <a:t>you</a:t>
            </a:r>
            <a:r>
              <a:rPr lang="nl-NL" dirty="0"/>
              <a:t> </a:t>
            </a:r>
            <a:r>
              <a:rPr lang="nl-NL" dirty="0" err="1"/>
              <a:t>if</a:t>
            </a:r>
            <a:r>
              <a:rPr lang="nl-NL" dirty="0"/>
              <a:t> </a:t>
            </a:r>
            <a:r>
              <a:rPr lang="nl-NL" dirty="0" err="1"/>
              <a:t>you</a:t>
            </a:r>
            <a:r>
              <a:rPr lang="nl-NL" dirty="0"/>
              <a:t> do I/O in a </a:t>
            </a:r>
            <a:r>
              <a:rPr lang="nl-NL" dirty="0" err="1"/>
              <a:t>naive</a:t>
            </a:r>
            <a:r>
              <a:rPr lang="nl-NL" dirty="0"/>
              <a:t> way!</a:t>
            </a:r>
          </a:p>
        </p:txBody>
      </p:sp>
      <p:cxnSp>
        <p:nvCxnSpPr>
          <p:cNvPr id="9" name="Straight Arrow Connector 8"/>
          <p:cNvCxnSpPr/>
          <p:nvPr/>
        </p:nvCxnSpPr>
        <p:spPr>
          <a:xfrm flipH="1">
            <a:off x="3148283" y="27178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21070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err="1"/>
              <a:t>Compute</a:t>
            </a:r>
            <a:r>
              <a:rPr lang="nl-NL"/>
              <a:t> (</a:t>
            </a:r>
            <a:r>
              <a:rPr lang="nl-NL" err="1"/>
              <a:t>floating</a:t>
            </a:r>
            <a:r>
              <a:rPr lang="nl-NL"/>
              <a:t> point operations per second, FLOPS)</a:t>
            </a:r>
          </a:p>
          <a:p>
            <a:pPr>
              <a:buFont typeface="Arial" panose="020B0604020202020204" pitchFamily="34" charset="0"/>
              <a:buChar char="•"/>
            </a:pPr>
            <a:r>
              <a:rPr lang="nl-NL"/>
              <a:t>Memory </a:t>
            </a:r>
            <a:r>
              <a:rPr lang="nl-NL" err="1"/>
              <a:t>bandwidth</a:t>
            </a:r>
            <a:endParaRPr lang="nl-NL"/>
          </a:p>
          <a:p>
            <a:pPr>
              <a:buFont typeface="Arial" panose="020B0604020202020204" pitchFamily="34" charset="0"/>
              <a:buChar char="•"/>
            </a:pPr>
            <a:r>
              <a:rPr lang="nl-NL"/>
              <a:t>Memory </a:t>
            </a:r>
            <a:r>
              <a:rPr lang="nl-NL" err="1"/>
              <a:t>size</a:t>
            </a:r>
            <a:endParaRPr lang="nl-NL"/>
          </a:p>
          <a:p>
            <a:pPr>
              <a:buFont typeface="Arial" panose="020B0604020202020204" pitchFamily="34" charset="0"/>
              <a:buChar char="•"/>
            </a:pPr>
            <a:r>
              <a:rPr lang="nl-NL"/>
              <a:t>I/O</a:t>
            </a:r>
          </a:p>
          <a:p>
            <a:pPr>
              <a:buFont typeface="Arial" panose="020B0604020202020204" pitchFamily="34" charset="0"/>
              <a:buChar char="•"/>
            </a:pPr>
            <a:r>
              <a:rPr lang="nl-NL"/>
              <a:t>Communication</a:t>
            </a:r>
          </a:p>
          <a:p>
            <a:pPr lvl="1"/>
            <a:endParaRPr lang="nl-NL" sz="1400"/>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18</a:t>
            </a:fld>
            <a:endParaRPr lang="nl-NL"/>
          </a:p>
        </p:txBody>
      </p:sp>
      <p:sp>
        <p:nvSpPr>
          <p:cNvPr id="7" name="TextBox 6"/>
          <p:cNvSpPr txBox="1"/>
          <p:nvPr/>
        </p:nvSpPr>
        <p:spPr>
          <a:xfrm>
            <a:off x="3707082" y="2295800"/>
            <a:ext cx="6033817" cy="2123658"/>
          </a:xfrm>
          <a:prstGeom prst="rect">
            <a:avLst/>
          </a:prstGeom>
          <a:solidFill>
            <a:schemeClr val="bg1"/>
          </a:solidFill>
          <a:ln>
            <a:solidFill>
              <a:schemeClr val="tx1"/>
            </a:solidFill>
          </a:ln>
        </p:spPr>
        <p:txBody>
          <a:bodyPr wrap="square" lIns="182880" tIns="91440" rIns="182880" bIns="91440" rtlCol="0" anchor="t">
            <a:spAutoFit/>
          </a:bodyPr>
          <a:lstStyle/>
          <a:p>
            <a:r>
              <a:rPr lang="nl-NL" dirty="0"/>
              <a:t>Communication </a:t>
            </a:r>
            <a:r>
              <a:rPr lang="nl-NL" dirty="0" err="1"/>
              <a:t>can</a:t>
            </a:r>
            <a:r>
              <a:rPr lang="nl-NL" dirty="0"/>
              <a:t> </a:t>
            </a:r>
            <a:r>
              <a:rPr lang="nl-NL" dirty="0" err="1"/>
              <a:t>be</a:t>
            </a:r>
            <a:r>
              <a:rPr lang="nl-NL" dirty="0"/>
              <a:t> </a:t>
            </a:r>
            <a:r>
              <a:rPr lang="nl-NL" dirty="0" err="1"/>
              <a:t>limiting</a:t>
            </a:r>
            <a:r>
              <a:rPr lang="nl-NL" dirty="0"/>
              <a:t> in </a:t>
            </a:r>
            <a:r>
              <a:rPr lang="nl-NL" dirty="0" err="1"/>
              <a:t>several</a:t>
            </a:r>
            <a:r>
              <a:rPr lang="nl-NL" dirty="0"/>
              <a:t> </a:t>
            </a:r>
            <a:r>
              <a:rPr lang="nl-NL" dirty="0" err="1"/>
              <a:t>ways</a:t>
            </a:r>
            <a:r>
              <a:rPr lang="nl-NL" dirty="0"/>
              <a:t>:</a:t>
            </a:r>
          </a:p>
          <a:p>
            <a:pPr marL="285750" indent="-285750">
              <a:buFont typeface="Arial" panose="020B0604020202020204" pitchFamily="34" charset="0"/>
              <a:buChar char="•"/>
            </a:pPr>
            <a:r>
              <a:rPr lang="nl-NL" dirty="0" err="1"/>
              <a:t>Latency</a:t>
            </a:r>
            <a:r>
              <a:rPr lang="nl-NL" dirty="0"/>
              <a:t> (</a:t>
            </a:r>
            <a:r>
              <a:rPr lang="nl-NL" dirty="0" err="1"/>
              <a:t>many</a:t>
            </a:r>
            <a:r>
              <a:rPr lang="nl-NL" dirty="0"/>
              <a:t>, small </a:t>
            </a:r>
            <a:r>
              <a:rPr lang="nl-NL" dirty="0" err="1"/>
              <a:t>message</a:t>
            </a:r>
            <a:r>
              <a:rPr lang="nl-NL" dirty="0"/>
              <a:t> </a:t>
            </a:r>
            <a:r>
              <a:rPr lang="nl-NL" dirty="0" err="1"/>
              <a:t>send</a:t>
            </a:r>
            <a:r>
              <a:rPr lang="nl-NL" dirty="0"/>
              <a:t> </a:t>
            </a:r>
            <a:r>
              <a:rPr lang="nl-NL" dirty="0" err="1"/>
              <a:t>between</a:t>
            </a:r>
            <a:r>
              <a:rPr lang="nl-NL" dirty="0"/>
              <a:t> </a:t>
            </a:r>
            <a:r>
              <a:rPr lang="nl-NL" dirty="0" err="1"/>
              <a:t>nodes</a:t>
            </a:r>
            <a:r>
              <a:rPr lang="nl-NL" dirty="0"/>
              <a:t>)</a:t>
            </a:r>
            <a:endParaRPr lang="nl-NL" dirty="0">
              <a:cs typeface="Calibri"/>
            </a:endParaRPr>
          </a:p>
          <a:p>
            <a:pPr marL="285750" indent="-285750">
              <a:buFont typeface="Arial" panose="020B0604020202020204" pitchFamily="34" charset="0"/>
              <a:buChar char="•"/>
            </a:pPr>
            <a:r>
              <a:rPr lang="nl-NL" dirty="0" err="1"/>
              <a:t>Bandwidth</a:t>
            </a:r>
            <a:r>
              <a:rPr lang="nl-NL" dirty="0"/>
              <a:t> (few, large </a:t>
            </a:r>
            <a:r>
              <a:rPr lang="nl-NL" dirty="0" err="1"/>
              <a:t>messages</a:t>
            </a:r>
            <a:r>
              <a:rPr lang="nl-NL" dirty="0"/>
              <a:t> </a:t>
            </a:r>
            <a:r>
              <a:rPr lang="nl-NL" dirty="0" err="1"/>
              <a:t>send</a:t>
            </a:r>
            <a:r>
              <a:rPr lang="nl-NL" dirty="0"/>
              <a:t> </a:t>
            </a:r>
            <a:r>
              <a:rPr lang="nl-NL" dirty="0" err="1"/>
              <a:t>between</a:t>
            </a:r>
            <a:r>
              <a:rPr lang="nl-NL" dirty="0"/>
              <a:t> </a:t>
            </a:r>
            <a:r>
              <a:rPr lang="nl-NL" dirty="0" err="1"/>
              <a:t>nodes</a:t>
            </a:r>
            <a:r>
              <a:rPr lang="nl-NL" dirty="0"/>
              <a:t>)</a:t>
            </a:r>
            <a:endParaRPr lang="nl-NL" dirty="0">
              <a:cs typeface="Calibri"/>
            </a:endParaRPr>
          </a:p>
          <a:p>
            <a:pPr marL="285750" indent="-285750">
              <a:buFont typeface="Arial" panose="020B0604020202020204" pitchFamily="34" charset="0"/>
              <a:buChar char="•"/>
            </a:pPr>
            <a:r>
              <a:rPr lang="nl-NL" dirty="0"/>
              <a:t>Load </a:t>
            </a:r>
            <a:r>
              <a:rPr lang="nl-NL" dirty="0" err="1"/>
              <a:t>imbalance</a:t>
            </a:r>
            <a:r>
              <a:rPr lang="nl-NL" dirty="0"/>
              <a:t> (</a:t>
            </a:r>
            <a:r>
              <a:rPr lang="nl-NL" dirty="0" err="1"/>
              <a:t>some</a:t>
            </a:r>
            <a:r>
              <a:rPr lang="nl-NL" dirty="0"/>
              <a:t> </a:t>
            </a:r>
            <a:r>
              <a:rPr lang="nl-NL" dirty="0" err="1"/>
              <a:t>workers</a:t>
            </a:r>
            <a:r>
              <a:rPr lang="nl-NL" dirty="0"/>
              <a:t> in </a:t>
            </a:r>
            <a:r>
              <a:rPr lang="nl-NL" dirty="0" err="1"/>
              <a:t>distributed</a:t>
            </a:r>
            <a:r>
              <a:rPr lang="nl-NL" dirty="0"/>
              <a:t> job are slower / have more </a:t>
            </a:r>
            <a:r>
              <a:rPr lang="nl-NL" dirty="0" err="1"/>
              <a:t>work</a:t>
            </a:r>
            <a:r>
              <a:rPr lang="nl-NL" dirty="0"/>
              <a:t>; </a:t>
            </a:r>
            <a:r>
              <a:rPr lang="nl-NL" dirty="0" err="1"/>
              <a:t>others</a:t>
            </a:r>
            <a:r>
              <a:rPr lang="nl-NL" dirty="0"/>
              <a:t> have </a:t>
            </a:r>
            <a:r>
              <a:rPr lang="nl-NL" dirty="0" err="1"/>
              <a:t>to</a:t>
            </a:r>
            <a:r>
              <a:rPr lang="nl-NL" dirty="0"/>
              <a:t> </a:t>
            </a:r>
            <a:r>
              <a:rPr lang="nl-NL" dirty="0" err="1"/>
              <a:t>wait</a:t>
            </a:r>
            <a:r>
              <a:rPr lang="nl-NL" dirty="0"/>
              <a:t> </a:t>
            </a:r>
            <a:r>
              <a:rPr lang="nl-NL" dirty="0" err="1"/>
              <a:t>when</a:t>
            </a:r>
            <a:r>
              <a:rPr lang="nl-NL" dirty="0"/>
              <a:t> </a:t>
            </a:r>
            <a:r>
              <a:rPr lang="nl-NL" dirty="0" err="1"/>
              <a:t>synchronization</a:t>
            </a:r>
            <a:r>
              <a:rPr lang="nl-NL" dirty="0"/>
              <a:t> is </a:t>
            </a:r>
            <a:r>
              <a:rPr lang="nl-NL" dirty="0" err="1"/>
              <a:t>needed</a:t>
            </a:r>
            <a:r>
              <a:rPr lang="nl-NL" dirty="0"/>
              <a:t>)</a:t>
            </a:r>
            <a:endParaRPr lang="nl-NL" dirty="0">
              <a:cs typeface="Calibri"/>
            </a:endParaRPr>
          </a:p>
          <a:p>
            <a:pPr marL="285750" indent="-285750">
              <a:buFont typeface="Arial" panose="020B0604020202020204" pitchFamily="34" charset="0"/>
              <a:buChar char="•"/>
            </a:pPr>
            <a:r>
              <a:rPr lang="nl-NL" dirty="0"/>
              <a:t>CPU &lt;-&gt;</a:t>
            </a:r>
            <a:r>
              <a:rPr lang="nl-NL" dirty="0">
                <a:sym typeface="Wingdings" panose="05000000000000000000" pitchFamily="2" charset="2"/>
              </a:rPr>
              <a:t> GPU sync</a:t>
            </a:r>
            <a:endParaRPr lang="nl-NL" dirty="0"/>
          </a:p>
        </p:txBody>
      </p:sp>
      <p:cxnSp>
        <p:nvCxnSpPr>
          <p:cNvPr id="9" name="Straight Arrow Connector 8"/>
          <p:cNvCxnSpPr/>
          <p:nvPr/>
        </p:nvCxnSpPr>
        <p:spPr>
          <a:xfrm flipH="1">
            <a:off x="3148283" y="316953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72999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1406" y="151652"/>
            <a:ext cx="11149188" cy="600744"/>
          </a:xfrm>
        </p:spPr>
        <p:txBody>
          <a:bodyPr/>
          <a:lstStyle/>
          <a:p>
            <a:r>
              <a:rPr kumimoji="0" lang="nl-NL" sz="3200" b="1" i="0" u="none" strike="noStrike" kern="1200" cap="none" spc="0" normalizeH="0" baseline="0" noProof="0" dirty="0" err="1">
                <a:ln>
                  <a:noFill/>
                </a:ln>
                <a:solidFill>
                  <a:prstClr val="black"/>
                </a:solidFill>
                <a:effectLst/>
                <a:uLnTx/>
                <a:uFillTx/>
                <a:latin typeface="Calibri"/>
                <a:ea typeface="+mj-ea"/>
                <a:cs typeface="+mj-cs"/>
              </a:rPr>
              <a:t>Some</a:t>
            </a:r>
            <a:r>
              <a:rPr kumimoji="0" lang="nl-NL" sz="3200" b="1" i="0" u="none" strike="noStrike" kern="1200" cap="none" spc="0" normalizeH="0" baseline="0" noProof="0" dirty="0">
                <a:ln>
                  <a:noFill/>
                </a:ln>
                <a:solidFill>
                  <a:prstClr val="black"/>
                </a:solidFill>
                <a:effectLst/>
                <a:uLnTx/>
                <a:uFillTx/>
                <a:latin typeface="Calibri"/>
                <a:ea typeface="+mj-ea"/>
                <a:cs typeface="+mj-cs"/>
              </a:rPr>
              <a:t> context</a:t>
            </a:r>
            <a:endParaRPr lang="nl-NL" sz="28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19</a:t>
            </a:fld>
            <a:endParaRPr lang="nl-NL"/>
          </a:p>
        </p:txBody>
      </p:sp>
      <p:graphicFrame>
        <p:nvGraphicFramePr>
          <p:cNvPr id="7" name="Table 7">
            <a:extLst>
              <a:ext uri="{FF2B5EF4-FFF2-40B4-BE49-F238E27FC236}">
                <a16:creationId xmlns:a16="http://schemas.microsoft.com/office/drawing/2014/main" id="{4D057561-C84D-F8F1-7628-7604D5A5853D}"/>
              </a:ext>
            </a:extLst>
          </p:cNvPr>
          <p:cNvGraphicFramePr>
            <a:graphicFrameLocks noGrp="1"/>
          </p:cNvGraphicFramePr>
          <p:nvPr/>
        </p:nvGraphicFramePr>
        <p:xfrm>
          <a:off x="3235319" y="78889"/>
          <a:ext cx="7858683" cy="6644640"/>
        </p:xfrm>
        <a:graphic>
          <a:graphicData uri="http://schemas.openxmlformats.org/drawingml/2006/table">
            <a:tbl>
              <a:tblPr firstRow="1" bandRow="1">
                <a:tableStyleId>{5C22544A-7EE6-4342-B048-85BDC9FD1C3A}</a:tableStyleId>
              </a:tblPr>
              <a:tblGrid>
                <a:gridCol w="4322147">
                  <a:extLst>
                    <a:ext uri="{9D8B030D-6E8A-4147-A177-3AD203B41FA5}">
                      <a16:colId xmlns:a16="http://schemas.microsoft.com/office/drawing/2014/main" val="3122299815"/>
                    </a:ext>
                  </a:extLst>
                </a:gridCol>
                <a:gridCol w="1768268">
                  <a:extLst>
                    <a:ext uri="{9D8B030D-6E8A-4147-A177-3AD203B41FA5}">
                      <a16:colId xmlns:a16="http://schemas.microsoft.com/office/drawing/2014/main" val="4182471653"/>
                    </a:ext>
                  </a:extLst>
                </a:gridCol>
                <a:gridCol w="1768268">
                  <a:extLst>
                    <a:ext uri="{9D8B030D-6E8A-4147-A177-3AD203B41FA5}">
                      <a16:colId xmlns:a16="http://schemas.microsoft.com/office/drawing/2014/main" val="411628987"/>
                    </a:ext>
                  </a:extLst>
                </a:gridCol>
              </a:tblGrid>
              <a:tr h="370840">
                <a:tc>
                  <a:txBody>
                    <a:bodyPr/>
                    <a:lstStyle/>
                    <a:p>
                      <a:r>
                        <a:rPr lang="en-US" dirty="0"/>
                        <a:t>What?</a:t>
                      </a:r>
                    </a:p>
                  </a:txBody>
                  <a:tcPr/>
                </a:tc>
                <a:tc>
                  <a:txBody>
                    <a:bodyPr/>
                    <a:lstStyle/>
                    <a:p>
                      <a:r>
                        <a:rPr lang="en-US" dirty="0"/>
                        <a:t>Time</a:t>
                      </a:r>
                    </a:p>
                  </a:txBody>
                  <a:tcPr/>
                </a:tc>
                <a:tc>
                  <a:txBody>
                    <a:bodyPr/>
                    <a:lstStyle/>
                    <a:p>
                      <a:r>
                        <a:rPr lang="en-US" dirty="0"/>
                        <a:t>Equivalent to N CPU instructions</a:t>
                      </a:r>
                    </a:p>
                  </a:txBody>
                  <a:tcPr/>
                </a:tc>
                <a:extLst>
                  <a:ext uri="{0D108BD9-81ED-4DB2-BD59-A6C34878D82A}">
                    <a16:rowId xmlns:a16="http://schemas.microsoft.com/office/drawing/2014/main" val="1914075818"/>
                  </a:ext>
                </a:extLst>
              </a:tr>
              <a:tr h="370840">
                <a:tc>
                  <a:txBody>
                    <a:bodyPr/>
                    <a:lstStyle/>
                    <a:p>
                      <a:r>
                        <a:rPr lang="en-US" dirty="0"/>
                        <a:t>CPU instruction</a:t>
                      </a:r>
                    </a:p>
                  </a:txBody>
                  <a:tcPr/>
                </a:tc>
                <a:tc>
                  <a:txBody>
                    <a:bodyPr/>
                    <a:lstStyle/>
                    <a:p>
                      <a:r>
                        <a:rPr lang="en-US" dirty="0"/>
                        <a:t>0.25 ns (@4GHz)</a:t>
                      </a:r>
                    </a:p>
                  </a:txBody>
                  <a:tcPr/>
                </a:tc>
                <a:tc>
                  <a:txBody>
                    <a:bodyPr/>
                    <a:lstStyle/>
                    <a:p>
                      <a:r>
                        <a:rPr lang="en-US" dirty="0"/>
                        <a:t>1</a:t>
                      </a:r>
                    </a:p>
                  </a:txBody>
                  <a:tcPr/>
                </a:tc>
                <a:extLst>
                  <a:ext uri="{0D108BD9-81ED-4DB2-BD59-A6C34878D82A}">
                    <a16:rowId xmlns:a16="http://schemas.microsoft.com/office/drawing/2014/main" val="1242046228"/>
                  </a:ext>
                </a:extLst>
              </a:tr>
              <a:tr h="370840">
                <a:tc>
                  <a:txBody>
                    <a:bodyPr/>
                    <a:lstStyle/>
                    <a:p>
                      <a:r>
                        <a:rPr lang="en-US" dirty="0"/>
                        <a:t>GPU instruction</a:t>
                      </a:r>
                    </a:p>
                  </a:txBody>
                  <a:tcPr/>
                </a:tc>
                <a:tc>
                  <a:txBody>
                    <a:bodyPr/>
                    <a:lstStyle/>
                    <a:p>
                      <a:r>
                        <a:rPr lang="en-US" dirty="0"/>
                        <a:t>1 ns (@1 GHz)</a:t>
                      </a:r>
                    </a:p>
                  </a:txBody>
                  <a:tcPr/>
                </a:tc>
                <a:tc>
                  <a:txBody>
                    <a:bodyPr/>
                    <a:lstStyle/>
                    <a:p>
                      <a:r>
                        <a:rPr lang="en-US" dirty="0"/>
                        <a:t>4</a:t>
                      </a:r>
                    </a:p>
                  </a:txBody>
                  <a:tcPr/>
                </a:tc>
                <a:extLst>
                  <a:ext uri="{0D108BD9-81ED-4DB2-BD59-A6C34878D82A}">
                    <a16:rowId xmlns:a16="http://schemas.microsoft.com/office/drawing/2014/main" val="530555641"/>
                  </a:ext>
                </a:extLst>
              </a:tr>
              <a:tr h="370840">
                <a:tc>
                  <a:txBody>
                    <a:bodyPr/>
                    <a:lstStyle/>
                    <a:p>
                      <a:r>
                        <a:rPr lang="en-US" dirty="0"/>
                        <a:t>Fetch from L1 CPU cache</a:t>
                      </a:r>
                    </a:p>
                  </a:txBody>
                  <a:tcPr/>
                </a:tc>
                <a:tc>
                  <a:txBody>
                    <a:bodyPr/>
                    <a:lstStyle/>
                    <a:p>
                      <a:r>
                        <a:rPr lang="en-US" dirty="0"/>
                        <a:t>0.5 ns</a:t>
                      </a:r>
                    </a:p>
                  </a:txBody>
                  <a:tcPr/>
                </a:tc>
                <a:tc>
                  <a:txBody>
                    <a:bodyPr/>
                    <a:lstStyle/>
                    <a:p>
                      <a:r>
                        <a:rPr lang="en-US" dirty="0"/>
                        <a:t>2</a:t>
                      </a:r>
                    </a:p>
                  </a:txBody>
                  <a:tcPr/>
                </a:tc>
                <a:extLst>
                  <a:ext uri="{0D108BD9-81ED-4DB2-BD59-A6C34878D82A}">
                    <a16:rowId xmlns:a16="http://schemas.microsoft.com/office/drawing/2014/main" val="3884488486"/>
                  </a:ext>
                </a:extLst>
              </a:tr>
              <a:tr h="370840">
                <a:tc>
                  <a:txBody>
                    <a:bodyPr/>
                    <a:lstStyle/>
                    <a:p>
                      <a:r>
                        <a:rPr lang="en-US" dirty="0"/>
                        <a:t>Fetch from L2 CPU cache</a:t>
                      </a:r>
                    </a:p>
                  </a:txBody>
                  <a:tcPr/>
                </a:tc>
                <a:tc>
                  <a:txBody>
                    <a:bodyPr/>
                    <a:lstStyle/>
                    <a:p>
                      <a:r>
                        <a:rPr lang="en-US" dirty="0"/>
                        <a:t>7 ns</a:t>
                      </a:r>
                    </a:p>
                  </a:txBody>
                  <a:tcPr/>
                </a:tc>
                <a:tc>
                  <a:txBody>
                    <a:bodyPr/>
                    <a:lstStyle/>
                    <a:p>
                      <a:r>
                        <a:rPr lang="en-US" dirty="0"/>
                        <a:t>28</a:t>
                      </a:r>
                    </a:p>
                  </a:txBody>
                  <a:tcPr/>
                </a:tc>
                <a:extLst>
                  <a:ext uri="{0D108BD9-81ED-4DB2-BD59-A6C34878D82A}">
                    <a16:rowId xmlns:a16="http://schemas.microsoft.com/office/drawing/2014/main" val="284278350"/>
                  </a:ext>
                </a:extLst>
              </a:tr>
              <a:tr h="370840">
                <a:tc>
                  <a:txBody>
                    <a:bodyPr/>
                    <a:lstStyle/>
                    <a:p>
                      <a:r>
                        <a:rPr lang="en-US" dirty="0"/>
                        <a:t>Fetch from main CPU memory</a:t>
                      </a:r>
                    </a:p>
                  </a:txBody>
                  <a:tcPr/>
                </a:tc>
                <a:tc>
                  <a:txBody>
                    <a:bodyPr/>
                    <a:lstStyle/>
                    <a:p>
                      <a:r>
                        <a:rPr lang="en-US" dirty="0"/>
                        <a:t>100 ns</a:t>
                      </a:r>
                    </a:p>
                  </a:txBody>
                  <a:tcPr/>
                </a:tc>
                <a:tc>
                  <a:txBody>
                    <a:bodyPr/>
                    <a:lstStyle/>
                    <a:p>
                      <a:r>
                        <a:rPr lang="en-US" dirty="0"/>
                        <a:t>400</a:t>
                      </a:r>
                    </a:p>
                  </a:txBody>
                  <a:tcPr/>
                </a:tc>
                <a:extLst>
                  <a:ext uri="{0D108BD9-81ED-4DB2-BD59-A6C34878D82A}">
                    <a16:rowId xmlns:a16="http://schemas.microsoft.com/office/drawing/2014/main" val="1263014813"/>
                  </a:ext>
                </a:extLst>
              </a:tr>
              <a:tr h="370840">
                <a:tc>
                  <a:txBody>
                    <a:bodyPr/>
                    <a:lstStyle/>
                    <a:p>
                      <a:r>
                        <a:rPr lang="en-US" dirty="0"/>
                        <a:t>CPU =&gt; GPU latency (PCI)</a:t>
                      </a:r>
                    </a:p>
                  </a:txBody>
                  <a:tcPr/>
                </a:tc>
                <a:tc>
                  <a:txBody>
                    <a:bodyPr/>
                    <a:lstStyle/>
                    <a:p>
                      <a:r>
                        <a:rPr lang="en-US" dirty="0"/>
                        <a:t>300 ns</a:t>
                      </a:r>
                    </a:p>
                  </a:txBody>
                  <a:tcPr/>
                </a:tc>
                <a:tc>
                  <a:txBody>
                    <a:bodyPr/>
                    <a:lstStyle/>
                    <a:p>
                      <a:r>
                        <a:rPr lang="en-US" dirty="0"/>
                        <a:t>1200</a:t>
                      </a:r>
                    </a:p>
                  </a:txBody>
                  <a:tcPr/>
                </a:tc>
                <a:extLst>
                  <a:ext uri="{0D108BD9-81ED-4DB2-BD59-A6C34878D82A}">
                    <a16:rowId xmlns:a16="http://schemas.microsoft.com/office/drawing/2014/main" val="2225681795"/>
                  </a:ext>
                </a:extLst>
              </a:tr>
              <a:tr h="370840">
                <a:tc>
                  <a:txBody>
                    <a:bodyPr/>
                    <a:lstStyle/>
                    <a:p>
                      <a:r>
                        <a:rPr lang="en-US" dirty="0"/>
                        <a:t>GPU </a:t>
                      </a:r>
                      <a:r>
                        <a:rPr lang="en-US" dirty="0">
                          <a:sym typeface="Wingdings" panose="05000000000000000000" pitchFamily="2" charset="2"/>
                        </a:rPr>
                        <a:t> GPU latency (</a:t>
                      </a:r>
                      <a:r>
                        <a:rPr lang="en-US" dirty="0" err="1">
                          <a:sym typeface="Wingdings" panose="05000000000000000000" pitchFamily="2" charset="2"/>
                        </a:rPr>
                        <a:t>NVLink</a:t>
                      </a:r>
                      <a:r>
                        <a:rPr lang="en-US" dirty="0">
                          <a:sym typeface="Wingdings" panose="05000000000000000000" pitchFamily="2" charset="2"/>
                        </a:rPr>
                        <a:t>)</a:t>
                      </a:r>
                      <a:endParaRPr lang="en-US" dirty="0"/>
                    </a:p>
                  </a:txBody>
                  <a:tcPr/>
                </a:tc>
                <a:tc>
                  <a:txBody>
                    <a:bodyPr/>
                    <a:lstStyle/>
                    <a:p>
                      <a:r>
                        <a:rPr lang="en-US" dirty="0"/>
                        <a:t>300 ns</a:t>
                      </a:r>
                    </a:p>
                  </a:txBody>
                  <a:tcPr/>
                </a:tc>
                <a:tc>
                  <a:txBody>
                    <a:bodyPr/>
                    <a:lstStyle/>
                    <a:p>
                      <a:r>
                        <a:rPr lang="en-US" dirty="0"/>
                        <a:t>1200</a:t>
                      </a:r>
                    </a:p>
                  </a:txBody>
                  <a:tcPr/>
                </a:tc>
                <a:extLst>
                  <a:ext uri="{0D108BD9-81ED-4DB2-BD59-A6C34878D82A}">
                    <a16:rowId xmlns:a16="http://schemas.microsoft.com/office/drawing/2014/main" val="3698570924"/>
                  </a:ext>
                </a:extLst>
              </a:tr>
              <a:tr h="370840">
                <a:tc>
                  <a:txBody>
                    <a:bodyPr/>
                    <a:lstStyle/>
                    <a:p>
                      <a:r>
                        <a:rPr lang="en-US" dirty="0" err="1"/>
                        <a:t>Infiniband</a:t>
                      </a:r>
                      <a:r>
                        <a:rPr lang="en-US" dirty="0"/>
                        <a:t> network latency</a:t>
                      </a:r>
                    </a:p>
                  </a:txBody>
                  <a:tcPr/>
                </a:tc>
                <a:tc>
                  <a:txBody>
                    <a:bodyPr/>
                    <a:lstStyle/>
                    <a:p>
                      <a:r>
                        <a:rPr lang="en-US" dirty="0"/>
                        <a:t>1 </a:t>
                      </a:r>
                      <a:r>
                        <a:rPr lang="el-GR" dirty="0"/>
                        <a:t>μ</a:t>
                      </a:r>
                      <a:r>
                        <a:rPr lang="en-US" dirty="0"/>
                        <a:t>s</a:t>
                      </a:r>
                    </a:p>
                  </a:txBody>
                  <a:tcPr/>
                </a:tc>
                <a:tc>
                  <a:txBody>
                    <a:bodyPr/>
                    <a:lstStyle/>
                    <a:p>
                      <a:r>
                        <a:rPr lang="en-US" dirty="0"/>
                        <a:t>4k</a:t>
                      </a:r>
                    </a:p>
                  </a:txBody>
                  <a:tcPr/>
                </a:tc>
                <a:extLst>
                  <a:ext uri="{0D108BD9-81ED-4DB2-BD59-A6C34878D82A}">
                    <a16:rowId xmlns:a16="http://schemas.microsoft.com/office/drawing/2014/main" val="1524917139"/>
                  </a:ext>
                </a:extLst>
              </a:tr>
              <a:tr h="370840">
                <a:tc>
                  <a:txBody>
                    <a:bodyPr/>
                    <a:lstStyle/>
                    <a:p>
                      <a:r>
                        <a:rPr lang="en-US" dirty="0"/>
                        <a:t>Ethernet network latency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10-1000 </a:t>
                      </a:r>
                      <a:r>
                        <a:rPr lang="el-GR" dirty="0"/>
                        <a:t>μ</a:t>
                      </a:r>
                      <a:r>
                        <a:rPr lang="en-US" dirty="0"/>
                        <a: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40k-4M</a:t>
                      </a:r>
                    </a:p>
                  </a:txBody>
                  <a:tcPr/>
                </a:tc>
                <a:extLst>
                  <a:ext uri="{0D108BD9-81ED-4DB2-BD59-A6C34878D82A}">
                    <a16:rowId xmlns:a16="http://schemas.microsoft.com/office/drawing/2014/main" val="1770872754"/>
                  </a:ext>
                </a:extLst>
              </a:tr>
              <a:tr h="370840">
                <a:tc>
                  <a:txBody>
                    <a:bodyPr/>
                    <a:lstStyle/>
                    <a:p>
                      <a:r>
                        <a:rPr lang="en-US" dirty="0"/>
                        <a:t>Seek time (</a:t>
                      </a:r>
                      <a:r>
                        <a:rPr lang="en-US" dirty="0" err="1"/>
                        <a:t>NVMe</a:t>
                      </a:r>
                      <a:r>
                        <a:rPr lang="en-US" dirty="0"/>
                        <a:t> SSD)</a:t>
                      </a:r>
                    </a:p>
                  </a:txBody>
                  <a:tcPr/>
                </a:tc>
                <a:tc>
                  <a:txBody>
                    <a:bodyPr/>
                    <a:lstStyle/>
                    <a:p>
                      <a:r>
                        <a:rPr lang="en-US" dirty="0"/>
                        <a:t>20 </a:t>
                      </a:r>
                      <a:r>
                        <a:rPr lang="el-GR" dirty="0"/>
                        <a:t>μ</a:t>
                      </a:r>
                      <a:r>
                        <a:rPr lang="en-US" dirty="0"/>
                        <a:t>s</a:t>
                      </a:r>
                    </a:p>
                  </a:txBody>
                  <a:tcPr/>
                </a:tc>
                <a:tc>
                  <a:txBody>
                    <a:bodyPr/>
                    <a:lstStyle/>
                    <a:p>
                      <a:r>
                        <a:rPr lang="en-US" dirty="0"/>
                        <a:t>80k</a:t>
                      </a:r>
                    </a:p>
                  </a:txBody>
                  <a:tcPr/>
                </a:tc>
                <a:extLst>
                  <a:ext uri="{0D108BD9-81ED-4DB2-BD59-A6C34878D82A}">
                    <a16:rowId xmlns:a16="http://schemas.microsoft.com/office/drawing/2014/main" val="982597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Seek time (Sata SSD)</a:t>
                      </a:r>
                    </a:p>
                  </a:txBody>
                  <a:tcPr/>
                </a:tc>
                <a:tc>
                  <a:txBody>
                    <a:bodyPr/>
                    <a:lstStyle/>
                    <a:p>
                      <a:r>
                        <a:rPr lang="en-US" dirty="0"/>
                        <a:t>200 </a:t>
                      </a:r>
                      <a:r>
                        <a:rPr lang="el-GR" dirty="0"/>
                        <a:t>μ</a:t>
                      </a:r>
                      <a:r>
                        <a:rPr lang="en-US" dirty="0"/>
                        <a:t>s</a:t>
                      </a:r>
                    </a:p>
                  </a:txBody>
                  <a:tcPr/>
                </a:tc>
                <a:tc>
                  <a:txBody>
                    <a:bodyPr/>
                    <a:lstStyle/>
                    <a:p>
                      <a:r>
                        <a:rPr lang="en-US" dirty="0"/>
                        <a:t>800k</a:t>
                      </a:r>
                    </a:p>
                  </a:txBody>
                  <a:tcPr/>
                </a:tc>
                <a:extLst>
                  <a:ext uri="{0D108BD9-81ED-4DB2-BD59-A6C34878D82A}">
                    <a16:rowId xmlns:a16="http://schemas.microsoft.com/office/drawing/2014/main" val="397314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Seek time (hard disk)</a:t>
                      </a:r>
                    </a:p>
                  </a:txBody>
                  <a:tcPr/>
                </a:tc>
                <a:tc>
                  <a:txBody>
                    <a:bodyPr/>
                    <a:lstStyle/>
                    <a:p>
                      <a:r>
                        <a:rPr lang="en-US" dirty="0"/>
                        <a:t>2-5 </a:t>
                      </a:r>
                      <a:r>
                        <a:rPr lang="en-US" dirty="0" err="1"/>
                        <a:t>ms</a:t>
                      </a:r>
                      <a:endParaRPr lang="en-US" dirty="0"/>
                    </a:p>
                  </a:txBody>
                  <a:tcPr/>
                </a:tc>
                <a:tc>
                  <a:txBody>
                    <a:bodyPr/>
                    <a:lstStyle/>
                    <a:p>
                      <a:r>
                        <a:rPr lang="en-US" dirty="0"/>
                        <a:t>8-20M</a:t>
                      </a:r>
                    </a:p>
                  </a:txBody>
                  <a:tcPr/>
                </a:tc>
                <a:extLst>
                  <a:ext uri="{0D108BD9-81ED-4DB2-BD59-A6C34878D82A}">
                    <a16:rowId xmlns:a16="http://schemas.microsoft.com/office/drawing/2014/main" val="408680508"/>
                  </a:ext>
                </a:extLst>
              </a:tr>
              <a:tr h="370840">
                <a:tc>
                  <a:txBody>
                    <a:bodyPr/>
                    <a:lstStyle/>
                    <a:p>
                      <a:r>
                        <a:rPr lang="en-US" dirty="0"/>
                        <a:t>Network File System (NFS) response times</a:t>
                      </a:r>
                    </a:p>
                  </a:txBody>
                  <a:tcPr/>
                </a:tc>
                <a:tc>
                  <a:txBody>
                    <a:bodyPr/>
                    <a:lstStyle/>
                    <a:p>
                      <a:r>
                        <a:rPr lang="en-US" dirty="0"/>
                        <a:t>10-40 </a:t>
                      </a:r>
                      <a:r>
                        <a:rPr lang="en-US" dirty="0" err="1"/>
                        <a:t>ms</a:t>
                      </a:r>
                      <a:endParaRPr lang="en-US" dirty="0"/>
                    </a:p>
                  </a:txBody>
                  <a:tcPr/>
                </a:tc>
                <a:tc>
                  <a:txBody>
                    <a:bodyPr/>
                    <a:lstStyle/>
                    <a:p>
                      <a:r>
                        <a:rPr lang="en-US" dirty="0"/>
                        <a:t>40-120M</a:t>
                      </a:r>
                    </a:p>
                  </a:txBody>
                  <a:tcPr/>
                </a:tc>
                <a:extLst>
                  <a:ext uri="{0D108BD9-81ED-4DB2-BD59-A6C34878D82A}">
                    <a16:rowId xmlns:a16="http://schemas.microsoft.com/office/drawing/2014/main" val="1465437273"/>
                  </a:ext>
                </a:extLst>
              </a:tr>
              <a:tr h="370840">
                <a:tc>
                  <a:txBody>
                    <a:bodyPr/>
                    <a:lstStyle/>
                    <a:p>
                      <a:r>
                        <a:rPr lang="en-US" dirty="0"/>
                        <a:t>Robot Fetch time (Tape)</a:t>
                      </a:r>
                    </a:p>
                  </a:txBody>
                  <a:tcPr/>
                </a:tc>
                <a:tc>
                  <a:txBody>
                    <a:bodyPr/>
                    <a:lstStyle/>
                    <a:p>
                      <a:r>
                        <a:rPr lang="en-US" dirty="0"/>
                        <a:t>+- 60 s</a:t>
                      </a:r>
                    </a:p>
                  </a:txBody>
                  <a:tcPr/>
                </a:tc>
                <a:tc>
                  <a:txBody>
                    <a:bodyPr/>
                    <a:lstStyle/>
                    <a:p>
                      <a:r>
                        <a:rPr lang="en-US" dirty="0"/>
                        <a:t>180B</a:t>
                      </a:r>
                    </a:p>
                  </a:txBody>
                  <a:tcPr/>
                </a:tc>
                <a:extLst>
                  <a:ext uri="{0D108BD9-81ED-4DB2-BD59-A6C34878D82A}">
                    <a16:rowId xmlns:a16="http://schemas.microsoft.com/office/drawing/2014/main" val="1955731279"/>
                  </a:ext>
                </a:extLst>
              </a:tr>
            </a:tbl>
          </a:graphicData>
        </a:graphic>
      </p:graphicFrame>
    </p:spTree>
    <p:extLst>
      <p:ext uri="{BB962C8B-B14F-4D97-AF65-F5344CB8AC3E}">
        <p14:creationId xmlns:p14="http://schemas.microsoft.com/office/powerpoint/2010/main" val="199846076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compute</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28403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21</a:t>
            </a:fld>
            <a:endParaRPr lang="nl-NL"/>
          </a:p>
        </p:txBody>
      </p:sp>
      <p:graphicFrame>
        <p:nvGraphicFramePr>
          <p:cNvPr id="9" name="Table 8">
            <a:extLst>
              <a:ext uri="{FF2B5EF4-FFF2-40B4-BE49-F238E27FC236}">
                <a16:creationId xmlns:a16="http://schemas.microsoft.com/office/drawing/2014/main" id="{58680BFC-7F82-2B9C-3AF3-D75E3A00C0DF}"/>
              </a:ext>
            </a:extLst>
          </p:cNvPr>
          <p:cNvGraphicFramePr>
            <a:graphicFrameLocks noGrp="1"/>
          </p:cNvGraphicFramePr>
          <p:nvPr>
            <p:extLst>
              <p:ext uri="{D42A27DB-BD31-4B8C-83A1-F6EECF244321}">
                <p14:modId xmlns:p14="http://schemas.microsoft.com/office/powerpoint/2010/main" val="3290119031"/>
              </p:ext>
            </p:extLst>
          </p:nvPr>
        </p:nvGraphicFramePr>
        <p:xfrm>
          <a:off x="0" y="625353"/>
          <a:ext cx="12192001" cy="6384579"/>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13087">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274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274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85396">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13027">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dirty="0">
                          <a:effectLst/>
                          <a:latin typeface="+mj-lt"/>
                        </a:rPr>
                        <a:t>-</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34207">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1531556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F351DD8E-B6E3-0246-0847-973C54C27332}"/>
              </a:ext>
            </a:extLst>
          </p:cNvPr>
          <p:cNvGraphicFramePr>
            <a:graphicFrameLocks noGrp="1"/>
          </p:cNvGraphicFramePr>
          <p:nvPr>
            <p:extLst>
              <p:ext uri="{D42A27DB-BD31-4B8C-83A1-F6EECF244321}">
                <p14:modId xmlns:p14="http://schemas.microsoft.com/office/powerpoint/2010/main" val="2436060776"/>
              </p:ext>
            </p:extLst>
          </p:nvPr>
        </p:nvGraphicFramePr>
        <p:xfrm>
          <a:off x="0" y="625353"/>
          <a:ext cx="12192001" cy="6458238"/>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31500">
                <a:tc>
                  <a:txBody>
                    <a:bodyPr/>
                    <a:lstStyle/>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dirty="0">
                          <a:effectLst/>
                          <a:latin typeface="+mj-lt"/>
                        </a:rPr>
                        <a:t>INT8</a:t>
                      </a:r>
                      <a:endParaRPr lang="en-US" sz="1600" dirty="0">
                        <a:effectLst/>
                        <a:latin typeface="+mj-lt"/>
                      </a:endParaRPr>
                    </a:p>
                    <a:p>
                      <a:pPr>
                        <a:lnSpc>
                          <a:spcPct val="115000"/>
                        </a:lnSpc>
                        <a:spcAft>
                          <a:spcPts val="700"/>
                        </a:spcAft>
                      </a:pPr>
                      <a:r>
                        <a:rPr lang="en-US" sz="1600" kern="100" dirty="0">
                          <a:effectLst/>
                          <a:latin typeface="+mj-lt"/>
                        </a:rPr>
                        <a:t>[TOPS]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60732">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60732">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96388">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33703">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50833">
                <a:tc>
                  <a:txBody>
                    <a:bodyPr/>
                    <a:lstStyle/>
                    <a:p>
                      <a:pPr>
                        <a:lnSpc>
                          <a:spcPct val="115000"/>
                        </a:lnSpc>
                        <a:spcAft>
                          <a:spcPts val="700"/>
                        </a:spcAft>
                      </a:pPr>
                      <a:r>
                        <a:rPr lang="en-US" sz="1600" kern="100" dirty="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22</a:t>
            </a:fld>
            <a:endParaRPr lang="nl-NL"/>
          </a:p>
        </p:txBody>
      </p:sp>
      <p:sp>
        <p:nvSpPr>
          <p:cNvPr id="7" name="TextBox 6">
            <a:extLst>
              <a:ext uri="{FF2B5EF4-FFF2-40B4-BE49-F238E27FC236}">
                <a16:creationId xmlns:a16="http://schemas.microsoft.com/office/drawing/2014/main" id="{B0B7BE87-189C-884D-5BDC-FEFCF3582353}"/>
              </a:ext>
            </a:extLst>
          </p:cNvPr>
          <p:cNvSpPr txBox="1"/>
          <p:nvPr/>
        </p:nvSpPr>
        <p:spPr>
          <a:xfrm>
            <a:off x="3297286" y="6293816"/>
            <a:ext cx="4320157" cy="430887"/>
          </a:xfrm>
          <a:prstGeom prst="rect">
            <a:avLst/>
          </a:prstGeom>
          <a:noFill/>
        </p:spPr>
        <p:txBody>
          <a:bodyPr wrap="none" lIns="0" tIns="0" rIns="0" bIns="0" rtlCol="0">
            <a:spAutoFit/>
          </a:bodyPr>
          <a:lstStyle/>
          <a:p>
            <a:pPr algn="ctr"/>
            <a:r>
              <a:rPr lang="en-US" sz="1400">
                <a:hlinkClick r:id="rId3"/>
              </a:rPr>
              <a:t>Prace best practice guide – deep learning </a:t>
            </a:r>
            <a:endParaRPr lang="en-US" sz="1400"/>
          </a:p>
          <a:p>
            <a:pPr algn="ctr"/>
            <a:r>
              <a:rPr lang="nl-NL" sz="1400">
                <a:hlinkClick r:id="rId4"/>
              </a:rPr>
              <a:t>https://en.wikipedia.org/wiki/Ampere_(microarchitecture)</a:t>
            </a:r>
            <a:r>
              <a:rPr lang="en-US" sz="1400"/>
              <a:t> </a:t>
            </a:r>
            <a:endParaRPr lang="nl-NL" sz="1400"/>
          </a:p>
        </p:txBody>
      </p:sp>
      <p:cxnSp>
        <p:nvCxnSpPr>
          <p:cNvPr id="8" name="Straight Arrow Connector 7">
            <a:extLst>
              <a:ext uri="{FF2B5EF4-FFF2-40B4-BE49-F238E27FC236}">
                <a16:creationId xmlns:a16="http://schemas.microsoft.com/office/drawing/2014/main" id="{B17DB686-0C81-F3D5-44A9-20E886913C4E}"/>
              </a:ext>
            </a:extLst>
          </p:cNvPr>
          <p:cNvCxnSpPr/>
          <p:nvPr/>
        </p:nvCxnSpPr>
        <p:spPr>
          <a:xfrm flipH="1">
            <a:off x="4056065" y="526419"/>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930EC93-7FF2-9F22-58D1-FC670331CD90}"/>
              </a:ext>
            </a:extLst>
          </p:cNvPr>
          <p:cNvSpPr txBox="1"/>
          <p:nvPr/>
        </p:nvSpPr>
        <p:spPr>
          <a:xfrm>
            <a:off x="4338770" y="28618"/>
            <a:ext cx="3865951" cy="738664"/>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GPUs support reduced precision, which has higher performance</a:t>
            </a:r>
          </a:p>
        </p:txBody>
      </p:sp>
    </p:spTree>
    <p:extLst>
      <p:ext uri="{BB962C8B-B14F-4D97-AF65-F5344CB8AC3E}">
        <p14:creationId xmlns:p14="http://schemas.microsoft.com/office/powerpoint/2010/main" val="403381393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9BDB8C-DE9E-3178-7B69-D2C63FE8EAD9}"/>
              </a:ext>
            </a:extLst>
          </p:cNvPr>
          <p:cNvGraphicFramePr>
            <a:graphicFrameLocks noGrp="1"/>
          </p:cNvGraphicFramePr>
          <p:nvPr>
            <p:extLst>
              <p:ext uri="{D42A27DB-BD31-4B8C-83A1-F6EECF244321}">
                <p14:modId xmlns:p14="http://schemas.microsoft.com/office/powerpoint/2010/main" val="1251099955"/>
              </p:ext>
            </p:extLst>
          </p:nvPr>
        </p:nvGraphicFramePr>
        <p:xfrm>
          <a:off x="0" y="625353"/>
          <a:ext cx="12192001" cy="6458238"/>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31500">
                <a:tc>
                  <a:txBody>
                    <a:bodyPr/>
                    <a:lstStyle/>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dirty="0">
                          <a:effectLst/>
                          <a:latin typeface="+mj-lt"/>
                        </a:rPr>
                        <a:t>INT8</a:t>
                      </a:r>
                      <a:endParaRPr lang="en-US" sz="1600" dirty="0">
                        <a:effectLst/>
                        <a:latin typeface="+mj-lt"/>
                      </a:endParaRPr>
                    </a:p>
                    <a:p>
                      <a:pPr>
                        <a:lnSpc>
                          <a:spcPct val="115000"/>
                        </a:lnSpc>
                        <a:spcAft>
                          <a:spcPts val="700"/>
                        </a:spcAft>
                      </a:pPr>
                      <a:r>
                        <a:rPr lang="en-US" sz="1600" kern="100" dirty="0">
                          <a:effectLst/>
                          <a:latin typeface="+mj-lt"/>
                        </a:rPr>
                        <a:t>[TOPS]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60732">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60732">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96388">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33703">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50833">
                <a:tc>
                  <a:txBody>
                    <a:bodyPr/>
                    <a:lstStyle/>
                    <a:p>
                      <a:pPr>
                        <a:lnSpc>
                          <a:spcPct val="115000"/>
                        </a:lnSpc>
                        <a:spcAft>
                          <a:spcPts val="700"/>
                        </a:spcAft>
                      </a:pPr>
                      <a:r>
                        <a:rPr lang="en-US" sz="1600" kern="100" dirty="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23</a:t>
            </a:fld>
            <a:endParaRPr lang="nl-NL"/>
          </a:p>
        </p:txBody>
      </p:sp>
      <p:sp>
        <p:nvSpPr>
          <p:cNvPr id="6" name="TextBox 5">
            <a:extLst>
              <a:ext uri="{FF2B5EF4-FFF2-40B4-BE49-F238E27FC236}">
                <a16:creationId xmlns:a16="http://schemas.microsoft.com/office/drawing/2014/main" id="{1DCBC485-EAAB-A98C-2DE9-8C6789F5D377}"/>
              </a:ext>
            </a:extLst>
          </p:cNvPr>
          <p:cNvSpPr txBox="1"/>
          <p:nvPr/>
        </p:nvSpPr>
        <p:spPr>
          <a:xfrm>
            <a:off x="5942388" y="4318"/>
            <a:ext cx="2711383" cy="738664"/>
          </a:xfrm>
          <a:prstGeom prst="rect">
            <a:avLst/>
          </a:prstGeom>
          <a:solidFill>
            <a:schemeClr val="bg1"/>
          </a:solidFill>
          <a:ln>
            <a:solidFill>
              <a:schemeClr val="tx1"/>
            </a:solidFill>
          </a:ln>
        </p:spPr>
        <p:txBody>
          <a:bodyPr wrap="none" lIns="182880" tIns="91440" rIns="182880" bIns="91440" rtlCol="0">
            <a:spAutoFit/>
          </a:bodyPr>
          <a:lstStyle/>
          <a:p>
            <a:pPr algn="l"/>
            <a:r>
              <a:rPr lang="nl-NL" err="1"/>
              <a:t>GPUs</a:t>
            </a:r>
            <a:r>
              <a:rPr lang="nl-NL"/>
              <a:t> have a lot of FLOPS</a:t>
            </a:r>
          </a:p>
          <a:p>
            <a:pPr algn="l"/>
            <a:r>
              <a:rPr lang="nl-NL" err="1"/>
              <a:t>compared</a:t>
            </a:r>
            <a:r>
              <a:rPr lang="nl-NL"/>
              <a:t> </a:t>
            </a:r>
            <a:r>
              <a:rPr lang="nl-NL" err="1"/>
              <a:t>to</a:t>
            </a:r>
            <a:r>
              <a:rPr lang="nl-NL"/>
              <a:t> </a:t>
            </a:r>
            <a:r>
              <a:rPr lang="nl-NL" err="1"/>
              <a:t>CPUs</a:t>
            </a:r>
            <a:endParaRPr lang="nl-NL"/>
          </a:p>
        </p:txBody>
      </p:sp>
      <p:cxnSp>
        <p:nvCxnSpPr>
          <p:cNvPr id="8" name="Straight Arrow Connector 7">
            <a:extLst>
              <a:ext uri="{FF2B5EF4-FFF2-40B4-BE49-F238E27FC236}">
                <a16:creationId xmlns:a16="http://schemas.microsoft.com/office/drawing/2014/main" id="{3B729CC2-8B68-0717-ED83-B5A8E623E08C}"/>
              </a:ext>
            </a:extLst>
          </p:cNvPr>
          <p:cNvCxnSpPr/>
          <p:nvPr/>
        </p:nvCxnSpPr>
        <p:spPr>
          <a:xfrm flipH="1">
            <a:off x="5659683" y="466743"/>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47902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D59D99F-2F82-21E9-1F25-820EC2E3FA5E}"/>
              </a:ext>
            </a:extLst>
          </p:cNvPr>
          <p:cNvGraphicFramePr>
            <a:graphicFrameLocks noGrp="1"/>
          </p:cNvGraphicFramePr>
          <p:nvPr>
            <p:extLst>
              <p:ext uri="{D42A27DB-BD31-4B8C-83A1-F6EECF244321}">
                <p14:modId xmlns:p14="http://schemas.microsoft.com/office/powerpoint/2010/main" val="1035335783"/>
              </p:ext>
            </p:extLst>
          </p:nvPr>
        </p:nvGraphicFramePr>
        <p:xfrm>
          <a:off x="0" y="625352"/>
          <a:ext cx="12192001" cy="6433128"/>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25926">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831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831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93060">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93060">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93060">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45800">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45800">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27444">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45800">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24</a:t>
            </a:fld>
            <a:endParaRPr lang="nl-NL"/>
          </a:p>
        </p:txBody>
      </p:sp>
      <p:sp>
        <p:nvSpPr>
          <p:cNvPr id="6" name="TextBox 5">
            <a:extLst>
              <a:ext uri="{FF2B5EF4-FFF2-40B4-BE49-F238E27FC236}">
                <a16:creationId xmlns:a16="http://schemas.microsoft.com/office/drawing/2014/main" id="{0CFD39A9-9E50-6DA9-2926-D6F2CB983487}"/>
              </a:ext>
            </a:extLst>
          </p:cNvPr>
          <p:cNvSpPr txBox="1"/>
          <p:nvPr/>
        </p:nvSpPr>
        <p:spPr>
          <a:xfrm>
            <a:off x="7236648" y="46071"/>
            <a:ext cx="4955351" cy="461665"/>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CPUs have a lot of memory compared to GPUs</a:t>
            </a:r>
          </a:p>
        </p:txBody>
      </p:sp>
      <p:cxnSp>
        <p:nvCxnSpPr>
          <p:cNvPr id="8" name="Straight Arrow Connector 7">
            <a:extLst>
              <a:ext uri="{FF2B5EF4-FFF2-40B4-BE49-F238E27FC236}">
                <a16:creationId xmlns:a16="http://schemas.microsoft.com/office/drawing/2014/main" id="{56153666-E48C-5B95-0E8E-2D2A727EA3CD}"/>
              </a:ext>
            </a:extLst>
          </p:cNvPr>
          <p:cNvCxnSpPr/>
          <p:nvPr/>
        </p:nvCxnSpPr>
        <p:spPr>
          <a:xfrm flipH="1">
            <a:off x="7396614" y="507736"/>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45266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6132FC6-94F1-3435-3466-5AC0D800E9FA}"/>
              </a:ext>
            </a:extLst>
          </p:cNvPr>
          <p:cNvGraphicFramePr>
            <a:graphicFrameLocks noGrp="1"/>
          </p:cNvGraphicFramePr>
          <p:nvPr>
            <p:extLst>
              <p:ext uri="{D42A27DB-BD31-4B8C-83A1-F6EECF244321}">
                <p14:modId xmlns:p14="http://schemas.microsoft.com/office/powerpoint/2010/main" val="924603412"/>
              </p:ext>
            </p:extLst>
          </p:nvPr>
        </p:nvGraphicFramePr>
        <p:xfrm>
          <a:off x="-1" y="625353"/>
          <a:ext cx="12165952" cy="6384579"/>
        </p:xfrm>
        <a:graphic>
          <a:graphicData uri="http://schemas.openxmlformats.org/drawingml/2006/table">
            <a:tbl>
              <a:tblPr>
                <a:tableStyleId>{5C22544A-7EE6-4342-B048-85BDC9FD1C3A}</a:tableStyleId>
              </a:tblPr>
              <a:tblGrid>
                <a:gridCol w="1427571">
                  <a:extLst>
                    <a:ext uri="{9D8B030D-6E8A-4147-A177-3AD203B41FA5}">
                      <a16:colId xmlns:a16="http://schemas.microsoft.com/office/drawing/2014/main" val="20000"/>
                    </a:ext>
                  </a:extLst>
                </a:gridCol>
                <a:gridCol w="968784">
                  <a:extLst>
                    <a:ext uri="{9D8B030D-6E8A-4147-A177-3AD203B41FA5}">
                      <a16:colId xmlns:a16="http://schemas.microsoft.com/office/drawing/2014/main" val="3561807771"/>
                    </a:ext>
                  </a:extLst>
                </a:gridCol>
                <a:gridCol w="942140">
                  <a:extLst>
                    <a:ext uri="{9D8B030D-6E8A-4147-A177-3AD203B41FA5}">
                      <a16:colId xmlns:a16="http://schemas.microsoft.com/office/drawing/2014/main" val="3255052570"/>
                    </a:ext>
                  </a:extLst>
                </a:gridCol>
                <a:gridCol w="799093">
                  <a:extLst>
                    <a:ext uri="{9D8B030D-6E8A-4147-A177-3AD203B41FA5}">
                      <a16:colId xmlns:a16="http://schemas.microsoft.com/office/drawing/2014/main" val="20001"/>
                    </a:ext>
                  </a:extLst>
                </a:gridCol>
                <a:gridCol w="1115121">
                  <a:extLst>
                    <a:ext uri="{9D8B030D-6E8A-4147-A177-3AD203B41FA5}">
                      <a16:colId xmlns:a16="http://schemas.microsoft.com/office/drawing/2014/main" val="20002"/>
                    </a:ext>
                  </a:extLst>
                </a:gridCol>
                <a:gridCol w="948876">
                  <a:extLst>
                    <a:ext uri="{9D8B030D-6E8A-4147-A177-3AD203B41FA5}">
                      <a16:colId xmlns:a16="http://schemas.microsoft.com/office/drawing/2014/main" val="20003"/>
                    </a:ext>
                  </a:extLst>
                </a:gridCol>
                <a:gridCol w="982766">
                  <a:extLst>
                    <a:ext uri="{9D8B030D-6E8A-4147-A177-3AD203B41FA5}">
                      <a16:colId xmlns:a16="http://schemas.microsoft.com/office/drawing/2014/main" val="20004"/>
                    </a:ext>
                  </a:extLst>
                </a:gridCol>
                <a:gridCol w="971468">
                  <a:extLst>
                    <a:ext uri="{9D8B030D-6E8A-4147-A177-3AD203B41FA5}">
                      <a16:colId xmlns:a16="http://schemas.microsoft.com/office/drawing/2014/main" val="20005"/>
                    </a:ext>
                  </a:extLst>
                </a:gridCol>
                <a:gridCol w="1095727">
                  <a:extLst>
                    <a:ext uri="{9D8B030D-6E8A-4147-A177-3AD203B41FA5}">
                      <a16:colId xmlns:a16="http://schemas.microsoft.com/office/drawing/2014/main" val="20006"/>
                    </a:ext>
                  </a:extLst>
                </a:gridCol>
                <a:gridCol w="677769">
                  <a:extLst>
                    <a:ext uri="{9D8B030D-6E8A-4147-A177-3AD203B41FA5}">
                      <a16:colId xmlns:a16="http://schemas.microsoft.com/office/drawing/2014/main" val="20007"/>
                    </a:ext>
                  </a:extLst>
                </a:gridCol>
                <a:gridCol w="994061">
                  <a:extLst>
                    <a:ext uri="{9D8B030D-6E8A-4147-A177-3AD203B41FA5}">
                      <a16:colId xmlns:a16="http://schemas.microsoft.com/office/drawing/2014/main" val="2789311500"/>
                    </a:ext>
                  </a:extLst>
                </a:gridCol>
                <a:gridCol w="1242576">
                  <a:extLst>
                    <a:ext uri="{9D8B030D-6E8A-4147-A177-3AD203B41FA5}">
                      <a16:colId xmlns:a16="http://schemas.microsoft.com/office/drawing/2014/main" val="2973773599"/>
                    </a:ext>
                  </a:extLst>
                </a:gridCol>
              </a:tblGrid>
              <a:tr h="813087">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274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274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85396">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13027">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dirty="0">
                          <a:effectLst/>
                          <a:latin typeface="+mj-lt"/>
                        </a:rPr>
                        <a:t>15.75</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34207">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25</a:t>
            </a:fld>
            <a:endParaRPr lang="nl-NL"/>
          </a:p>
        </p:txBody>
      </p:sp>
      <p:sp>
        <p:nvSpPr>
          <p:cNvPr id="6" name="TextBox 5">
            <a:extLst>
              <a:ext uri="{FF2B5EF4-FFF2-40B4-BE49-F238E27FC236}">
                <a16:creationId xmlns:a16="http://schemas.microsoft.com/office/drawing/2014/main" id="{7840260A-49D4-2DEC-7218-1E7EB3B7D756}"/>
              </a:ext>
            </a:extLst>
          </p:cNvPr>
          <p:cNvSpPr txBox="1"/>
          <p:nvPr/>
        </p:nvSpPr>
        <p:spPr>
          <a:xfrm>
            <a:off x="8630785" y="-84954"/>
            <a:ext cx="3871499" cy="738664"/>
          </a:xfrm>
          <a:prstGeom prst="rect">
            <a:avLst/>
          </a:prstGeom>
          <a:solidFill>
            <a:schemeClr val="bg1"/>
          </a:solidFill>
          <a:ln>
            <a:solidFill>
              <a:schemeClr val="tx1"/>
            </a:solidFill>
          </a:ln>
        </p:spPr>
        <p:txBody>
          <a:bodyPr wrap="square" lIns="182880" tIns="91440" rIns="182880" bIns="91440" rtlCol="0">
            <a:spAutoFit/>
          </a:bodyPr>
          <a:lstStyle/>
          <a:p>
            <a:pPr algn="l"/>
            <a:r>
              <a:rPr lang="nl-NL"/>
              <a:t>Memory </a:t>
            </a:r>
            <a:r>
              <a:rPr lang="nl-NL" err="1"/>
              <a:t>bandwidth</a:t>
            </a:r>
            <a:r>
              <a:rPr lang="nl-NL"/>
              <a:t> </a:t>
            </a:r>
            <a:r>
              <a:rPr lang="nl-NL" err="1"/>
              <a:t>relative</a:t>
            </a:r>
            <a:r>
              <a:rPr lang="nl-NL"/>
              <a:t> </a:t>
            </a:r>
            <a:r>
              <a:rPr lang="nl-NL" err="1"/>
              <a:t>to</a:t>
            </a:r>
            <a:r>
              <a:rPr lang="nl-NL"/>
              <a:t> FLOPS is </a:t>
            </a:r>
            <a:r>
              <a:rPr lang="nl-NL" err="1"/>
              <a:t>approximately</a:t>
            </a:r>
            <a:r>
              <a:rPr lang="nl-NL"/>
              <a:t> </a:t>
            </a:r>
            <a:r>
              <a:rPr lang="nl-NL" err="1"/>
              <a:t>the</a:t>
            </a:r>
            <a:r>
              <a:rPr lang="nl-NL"/>
              <a:t> </a:t>
            </a:r>
            <a:r>
              <a:rPr lang="nl-NL" err="1"/>
              <a:t>same</a:t>
            </a:r>
            <a:endParaRPr lang="nl-NL"/>
          </a:p>
        </p:txBody>
      </p:sp>
      <p:cxnSp>
        <p:nvCxnSpPr>
          <p:cNvPr id="8" name="Straight Arrow Connector 7">
            <a:extLst>
              <a:ext uri="{FF2B5EF4-FFF2-40B4-BE49-F238E27FC236}">
                <a16:creationId xmlns:a16="http://schemas.microsoft.com/office/drawing/2014/main" id="{53B22F13-0734-C067-C4DE-5BA2C16B5F21}"/>
              </a:ext>
            </a:extLst>
          </p:cNvPr>
          <p:cNvCxnSpPr/>
          <p:nvPr/>
        </p:nvCxnSpPr>
        <p:spPr>
          <a:xfrm flipH="1">
            <a:off x="8915639" y="562111"/>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68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1217A1B-AC7E-455E-CB4E-A8BC02067E87}"/>
              </a:ext>
            </a:extLst>
          </p:cNvPr>
          <p:cNvGraphicFramePr>
            <a:graphicFrameLocks noGrp="1"/>
          </p:cNvGraphicFramePr>
          <p:nvPr>
            <p:extLst>
              <p:ext uri="{D42A27DB-BD31-4B8C-83A1-F6EECF244321}">
                <p14:modId xmlns:p14="http://schemas.microsoft.com/office/powerpoint/2010/main" val="1840361117"/>
              </p:ext>
            </p:extLst>
          </p:nvPr>
        </p:nvGraphicFramePr>
        <p:xfrm>
          <a:off x="0" y="625353"/>
          <a:ext cx="12192001" cy="6384579"/>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13087">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274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274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85396">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13027">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34207">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26</a:t>
            </a:fld>
            <a:endParaRPr lang="nl-NL"/>
          </a:p>
        </p:txBody>
      </p:sp>
      <p:sp>
        <p:nvSpPr>
          <p:cNvPr id="6" name="TextBox 5">
            <a:extLst>
              <a:ext uri="{FF2B5EF4-FFF2-40B4-BE49-F238E27FC236}">
                <a16:creationId xmlns:a16="http://schemas.microsoft.com/office/drawing/2014/main" id="{7840260A-49D4-2DEC-7218-1E7EB3B7D756}"/>
              </a:ext>
            </a:extLst>
          </p:cNvPr>
          <p:cNvSpPr txBox="1"/>
          <p:nvPr/>
        </p:nvSpPr>
        <p:spPr>
          <a:xfrm>
            <a:off x="6984787" y="-20598"/>
            <a:ext cx="3715593" cy="738664"/>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GPU </a:t>
            </a:r>
            <a:r>
              <a:rPr lang="nl-NL" dirty="0" err="1"/>
              <a:t>price</a:t>
            </a:r>
            <a:r>
              <a:rPr lang="nl-NL" dirty="0"/>
              <a:t> is </a:t>
            </a:r>
            <a:r>
              <a:rPr lang="nl-NL" dirty="0" err="1"/>
              <a:t>often</a:t>
            </a:r>
            <a:r>
              <a:rPr lang="nl-NL" dirty="0"/>
              <a:t> irrelevant, but </a:t>
            </a:r>
            <a:r>
              <a:rPr lang="nl-NL" dirty="0" err="1"/>
              <a:t>the</a:t>
            </a:r>
            <a:r>
              <a:rPr lang="nl-NL" dirty="0"/>
              <a:t> performance per Watt is. </a:t>
            </a:r>
          </a:p>
        </p:txBody>
      </p:sp>
      <p:cxnSp>
        <p:nvCxnSpPr>
          <p:cNvPr id="8" name="Straight Arrow Connector 7">
            <a:extLst>
              <a:ext uri="{FF2B5EF4-FFF2-40B4-BE49-F238E27FC236}">
                <a16:creationId xmlns:a16="http://schemas.microsoft.com/office/drawing/2014/main" id="{53B22F13-0734-C067-C4DE-5BA2C16B5F21}"/>
              </a:ext>
            </a:extLst>
          </p:cNvPr>
          <p:cNvCxnSpPr>
            <a:cxnSpLocks/>
          </p:cNvCxnSpPr>
          <p:nvPr/>
        </p:nvCxnSpPr>
        <p:spPr>
          <a:xfrm>
            <a:off x="10700380" y="369332"/>
            <a:ext cx="443802" cy="69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289048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B324-1AEE-D9E1-E4C0-114FD8049B66}"/>
              </a:ext>
            </a:extLst>
          </p:cNvPr>
          <p:cNvSpPr>
            <a:spLocks noGrp="1"/>
          </p:cNvSpPr>
          <p:nvPr>
            <p:ph type="title"/>
          </p:nvPr>
        </p:nvSpPr>
        <p:spPr/>
        <p:txBody>
          <a:bodyPr/>
          <a:lstStyle/>
          <a:p>
            <a:r>
              <a:rPr lang="en-US" dirty="0"/>
              <a:t>Performance in practice</a:t>
            </a:r>
          </a:p>
        </p:txBody>
      </p:sp>
      <p:sp>
        <p:nvSpPr>
          <p:cNvPr id="3" name="Vertical Text Placeholder 2">
            <a:extLst>
              <a:ext uri="{FF2B5EF4-FFF2-40B4-BE49-F238E27FC236}">
                <a16:creationId xmlns:a16="http://schemas.microsoft.com/office/drawing/2014/main" id="{1D165B87-0A40-BDA1-1A4B-C41FB84F6758}"/>
              </a:ext>
            </a:extLst>
          </p:cNvPr>
          <p:cNvSpPr>
            <a:spLocks noGrp="1"/>
          </p:cNvSpPr>
          <p:nvPr>
            <p:ph type="body" orient="vert" idx="1"/>
          </p:nvPr>
        </p:nvSpPr>
        <p:spPr>
          <a:xfrm>
            <a:off x="516362" y="958173"/>
            <a:ext cx="8974163" cy="4456846"/>
          </a:xfrm>
        </p:spPr>
        <p:txBody>
          <a:bodyPr/>
          <a:lstStyle/>
          <a:p>
            <a:r>
              <a:rPr lang="en-US" dirty="0"/>
              <a:t>In practice, the performance can be different (depending on software)</a:t>
            </a:r>
          </a:p>
          <a:p>
            <a:r>
              <a:rPr lang="en-US" dirty="0"/>
              <a:t>GPUs: observed FLOPS is ~2/3 of theoretical FLOPS</a:t>
            </a:r>
          </a:p>
        </p:txBody>
      </p:sp>
      <p:sp>
        <p:nvSpPr>
          <p:cNvPr id="4" name="Text Placeholder 3">
            <a:extLst>
              <a:ext uri="{FF2B5EF4-FFF2-40B4-BE49-F238E27FC236}">
                <a16:creationId xmlns:a16="http://schemas.microsoft.com/office/drawing/2014/main" id="{F63EC745-8DEA-01B4-0F5A-AF622F0719ED}"/>
              </a:ext>
            </a:extLst>
          </p:cNvPr>
          <p:cNvSpPr>
            <a:spLocks noGrp="1"/>
          </p:cNvSpPr>
          <p:nvPr>
            <p:ph type="body" sz="quarter" idx="65"/>
          </p:nvPr>
        </p:nvSpPr>
        <p:spPr/>
        <p:txBody>
          <a:bodyPr/>
          <a:lstStyle/>
          <a:p>
            <a:endParaRPr lang="en-US" dirty="0"/>
          </a:p>
        </p:txBody>
      </p:sp>
      <p:sp>
        <p:nvSpPr>
          <p:cNvPr id="5" name="Slide Number Placeholder 4">
            <a:extLst>
              <a:ext uri="{FF2B5EF4-FFF2-40B4-BE49-F238E27FC236}">
                <a16:creationId xmlns:a16="http://schemas.microsoft.com/office/drawing/2014/main" id="{501D2D0E-D091-A820-D223-4BE8D193B808}"/>
              </a:ext>
            </a:extLst>
          </p:cNvPr>
          <p:cNvSpPr>
            <a:spLocks noGrp="1"/>
          </p:cNvSpPr>
          <p:nvPr>
            <p:ph type="sldNum" sz="quarter" idx="12"/>
          </p:nvPr>
        </p:nvSpPr>
        <p:spPr/>
        <p:txBody>
          <a:bodyPr/>
          <a:lstStyle/>
          <a:p>
            <a:fld id="{7AD0FE45-509C-4BDF-9EDE-64426F8DF3D2}" type="slidenum">
              <a:rPr lang="nl-NL" smtClean="0"/>
              <a:t>27</a:t>
            </a:fld>
            <a:endParaRPr lang="nl-NL"/>
          </a:p>
        </p:txBody>
      </p:sp>
      <p:pic>
        <p:nvPicPr>
          <p:cNvPr id="1028" name="Picture 4">
            <a:extLst>
              <a:ext uri="{FF2B5EF4-FFF2-40B4-BE49-F238E27FC236}">
                <a16:creationId xmlns:a16="http://schemas.microsoft.com/office/drawing/2014/main" id="{A146153D-AA2E-9A40-9E19-EAC2DC03B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59" y="1833963"/>
            <a:ext cx="6588145" cy="45420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216B5EE-3EB9-1630-C5E5-2ACF730609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149" y="1833963"/>
            <a:ext cx="6866423" cy="455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757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Tensor cores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71458" y="872921"/>
            <a:ext cx="9882007" cy="4456846"/>
          </a:xfrm>
        </p:spPr>
        <p:txBody>
          <a:bodyPr vert="horz" lIns="0" tIns="0" rIns="0" bIns="0" rtlCol="0" anchor="t">
            <a:noAutofit/>
          </a:bodyPr>
          <a:lstStyle/>
          <a:p>
            <a:pPr marL="0" indent="0">
              <a:buNone/>
            </a:pPr>
            <a:endParaRPr lang="nl-NL" dirty="0"/>
          </a:p>
          <a:p>
            <a:pPr>
              <a:buFont typeface="Arial" panose="020B0604020202020204" pitchFamily="34" charset="0"/>
              <a:buChar char="•"/>
            </a:pPr>
            <a:r>
              <a:rPr lang="nl-NL" dirty="0"/>
              <a:t>Lower precision</a:t>
            </a:r>
          </a:p>
          <a:p>
            <a:pPr>
              <a:buFont typeface="Arial" panose="020B0604020202020204" pitchFamily="34" charset="0"/>
              <a:buChar char="•"/>
            </a:pPr>
            <a:r>
              <a:rPr lang="nl-NL" dirty="0"/>
              <a:t>Increasingly specialized</a:t>
            </a:r>
          </a:p>
          <a:p>
            <a:r>
              <a:rPr lang="nl-NL" dirty="0"/>
              <a:t>Pack as many instructions in one go to avoid instruction overhead, &amp; avoid data movement</a:t>
            </a:r>
          </a:p>
          <a:p>
            <a:pPr>
              <a:buFont typeface="Arial" panose="020B0604020202020204" pitchFamily="34" charset="0"/>
              <a:buChar char="•"/>
            </a:pPr>
            <a:r>
              <a:rPr lang="nl-NL" dirty="0">
                <a:cs typeface="Calibri"/>
              </a:rPr>
              <a:t>H=Half, I=Integer, FMA=Fused Multiply Add, DP=Dot Product, MMA = Matrix Multiplication Add</a:t>
            </a:r>
          </a:p>
          <a:p>
            <a:pPr>
              <a:buFont typeface="Arial" panose="020B0604020202020204" pitchFamily="34" charset="0"/>
              <a:buChar char="•"/>
            </a:pPr>
            <a:endParaRPr lang="nl-NL" dirty="0">
              <a:cs typeface="Calibri"/>
            </a:endParaRPr>
          </a:p>
          <a:p>
            <a:pPr>
              <a:buFont typeface="Arial" panose="020B0604020202020204" pitchFamily="34" charset="0"/>
              <a:buChar char="•"/>
            </a:pPr>
            <a:r>
              <a:rPr lang="nl-NL" dirty="0">
                <a:cs typeface="Calibri"/>
              </a:rPr>
              <a:t>Previously:                                                        Now:</a:t>
            </a:r>
          </a:p>
          <a:p>
            <a:pPr marL="0" indent="0">
              <a:buNone/>
            </a:pPr>
            <a:endParaRPr lang="nl-NL" dirty="0">
              <a:cs typeface="Calibri"/>
            </a:endParaRPr>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marL="0" indent="0">
              <a:buNone/>
            </a:pPr>
            <a:endParaRPr lang="nl-NL" dirty="0">
              <a:cs typeface="Calibri"/>
            </a:endParaRPr>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28</a:t>
            </a:fld>
            <a:endParaRPr lang="nl-NL"/>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4372" y="0"/>
            <a:ext cx="7172473" cy="1916781"/>
          </a:xfrm>
          <a:prstGeom prst="rect">
            <a:avLst/>
          </a:prstGeom>
        </p:spPr>
      </p:pic>
      <p:pic>
        <p:nvPicPr>
          <p:cNvPr id="11" name="Picture 10">
            <a:extLst>
              <a:ext uri="{FF2B5EF4-FFF2-40B4-BE49-F238E27FC236}">
                <a16:creationId xmlns:a16="http://schemas.microsoft.com/office/drawing/2014/main" id="{33768C3F-355C-436D-0CC6-17C41B6C6E07}"/>
              </a:ext>
            </a:extLst>
          </p:cNvPr>
          <p:cNvPicPr>
            <a:picLocks noChangeAspect="1"/>
          </p:cNvPicPr>
          <p:nvPr/>
        </p:nvPicPr>
        <p:blipFill>
          <a:blip r:embed="rId3"/>
          <a:stretch>
            <a:fillRect/>
          </a:stretch>
        </p:blipFill>
        <p:spPr>
          <a:xfrm>
            <a:off x="8176784" y="3676039"/>
            <a:ext cx="3900061" cy="2316724"/>
          </a:xfrm>
          <a:prstGeom prst="rect">
            <a:avLst/>
          </a:prstGeom>
        </p:spPr>
      </p:pic>
      <p:pic>
        <p:nvPicPr>
          <p:cNvPr id="7" name="Picture 6" descr="Diagram of a diagram of a machine&#10;&#10;AI-generated content may be incorrect.">
            <a:extLst>
              <a:ext uri="{FF2B5EF4-FFF2-40B4-BE49-F238E27FC236}">
                <a16:creationId xmlns:a16="http://schemas.microsoft.com/office/drawing/2014/main" id="{754E57AA-F5DC-9E44-2151-99B824CEED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360" y="3704412"/>
            <a:ext cx="3094250" cy="2912946"/>
          </a:xfrm>
          <a:prstGeom prst="rect">
            <a:avLst/>
          </a:prstGeom>
        </p:spPr>
      </p:pic>
      <p:pic>
        <p:nvPicPr>
          <p:cNvPr id="13" name="Picture 12" descr="A diagram of a machine&#10;&#10;AI-generated content may be incorrect.">
            <a:extLst>
              <a:ext uri="{FF2B5EF4-FFF2-40B4-BE49-F238E27FC236}">
                <a16:creationId xmlns:a16="http://schemas.microsoft.com/office/drawing/2014/main" id="{60E08D4E-3D05-9BF5-B896-6CC561E270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33725" y="3694726"/>
            <a:ext cx="3556113" cy="2789789"/>
          </a:xfrm>
          <a:prstGeom prst="rect">
            <a:avLst/>
          </a:prstGeom>
        </p:spPr>
      </p:pic>
    </p:spTree>
    <p:extLst>
      <p:ext uri="{BB962C8B-B14F-4D97-AF65-F5344CB8AC3E}">
        <p14:creationId xmlns:p14="http://schemas.microsoft.com/office/powerpoint/2010/main" val="139647793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671681" y="1330870"/>
            <a:ext cx="9882007" cy="4456846"/>
          </a:xfrm>
        </p:spPr>
        <p:txBody>
          <a:bodyPr/>
          <a:lstStyle/>
          <a:p>
            <a:pPr>
              <a:buFont typeface="Arial" panose="020B0604020202020204" pitchFamily="34" charset="0"/>
              <a:buChar char="•"/>
            </a:pPr>
            <a:r>
              <a:rPr lang="nl-NL" dirty="0"/>
              <a:t>Again: lower precision is a double-whammy of more efficient computation and loading less data</a:t>
            </a:r>
          </a:p>
          <a:p>
            <a:r>
              <a:rPr lang="nl-NL" dirty="0"/>
              <a:t>Generally, </a:t>
            </a:r>
            <a:r>
              <a:rPr lang="nl-NL" i="1" dirty="0"/>
              <a:t>you</a:t>
            </a:r>
            <a:r>
              <a:rPr lang="nl-NL" dirty="0"/>
              <a:t> are responsible for specifying a reduced precision: DL frameworks don’t do this automatically since it may impact your networks accuracy, convergence, etc</a:t>
            </a:r>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29</a:t>
            </a:fld>
            <a:endParaRPr lang="nl-NL"/>
          </a:p>
        </p:txBody>
      </p:sp>
      <p:pic>
        <p:nvPicPr>
          <p:cNvPr id="1026" name="Picture 2">
            <a:extLst>
              <a:ext uri="{FF2B5EF4-FFF2-40B4-BE49-F238E27FC236}">
                <a16:creationId xmlns:a16="http://schemas.microsoft.com/office/drawing/2014/main" id="{F08C7618-2F3D-E756-4DA3-AD40CF34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598" y="2880075"/>
            <a:ext cx="5003905" cy="3189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1AC012-A53C-BB4B-AA5C-14F5B2ABA912}"/>
              </a:ext>
            </a:extLst>
          </p:cNvPr>
          <p:cNvSpPr txBox="1"/>
          <p:nvPr/>
        </p:nvSpPr>
        <p:spPr>
          <a:xfrm>
            <a:off x="1104882" y="4511467"/>
            <a:ext cx="5003905" cy="1015663"/>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Mixed </a:t>
            </a:r>
            <a:r>
              <a:rPr lang="nl-NL" dirty="0" err="1"/>
              <a:t>precision</a:t>
            </a:r>
            <a:r>
              <a:rPr lang="nl-NL" dirty="0"/>
              <a:t> </a:t>
            </a:r>
            <a:r>
              <a:rPr lang="nl-NL" dirty="0" err="1"/>
              <a:t>uses</a:t>
            </a:r>
            <a:r>
              <a:rPr lang="nl-NL" dirty="0"/>
              <a:t> FP16. </a:t>
            </a:r>
            <a:r>
              <a:rPr lang="nl-NL" dirty="0" err="1"/>
              <a:t>Reduced</a:t>
            </a:r>
            <a:r>
              <a:rPr lang="nl-NL" dirty="0"/>
              <a:t> range </a:t>
            </a:r>
            <a:r>
              <a:rPr lang="nl-NL" dirty="0" err="1"/>
              <a:t>causes</a:t>
            </a:r>
            <a:r>
              <a:rPr lang="nl-NL" dirty="0"/>
              <a:t> (</a:t>
            </a:r>
            <a:r>
              <a:rPr lang="nl-NL" dirty="0" err="1"/>
              <a:t>potential</a:t>
            </a:r>
            <a:r>
              <a:rPr lang="nl-NL" dirty="0"/>
              <a:t>) </a:t>
            </a:r>
            <a:r>
              <a:rPr lang="nl-NL" dirty="0" err="1"/>
              <a:t>need</a:t>
            </a:r>
            <a:r>
              <a:rPr lang="nl-NL" dirty="0"/>
              <a:t> </a:t>
            </a:r>
            <a:r>
              <a:rPr lang="nl-NL" dirty="0" err="1"/>
              <a:t>for</a:t>
            </a:r>
            <a:r>
              <a:rPr lang="nl-NL" dirty="0"/>
              <a:t> </a:t>
            </a:r>
            <a:r>
              <a:rPr lang="nl-NL" dirty="0" err="1"/>
              <a:t>gradient</a:t>
            </a:r>
            <a:r>
              <a:rPr lang="nl-NL" dirty="0"/>
              <a:t> </a:t>
            </a:r>
            <a:r>
              <a:rPr lang="nl-NL" dirty="0" err="1"/>
              <a:t>scaling</a:t>
            </a:r>
            <a:r>
              <a:rPr lang="nl-NL" dirty="0"/>
              <a:t> </a:t>
            </a:r>
            <a:r>
              <a:rPr lang="nl-NL" dirty="0" err="1"/>
              <a:t>to</a:t>
            </a:r>
            <a:r>
              <a:rPr lang="nl-NL" dirty="0"/>
              <a:t> </a:t>
            </a:r>
            <a:r>
              <a:rPr lang="nl-NL" dirty="0" err="1"/>
              <a:t>prevent</a:t>
            </a:r>
            <a:r>
              <a:rPr lang="nl-NL" dirty="0"/>
              <a:t> </a:t>
            </a:r>
            <a:r>
              <a:rPr lang="nl-NL" dirty="0" err="1"/>
              <a:t>underflows</a:t>
            </a:r>
            <a:endParaRPr lang="nl-NL" dirty="0"/>
          </a:p>
        </p:txBody>
      </p:sp>
      <p:cxnSp>
        <p:nvCxnSpPr>
          <p:cNvPr id="11" name="Straight Arrow Connector 10">
            <a:extLst>
              <a:ext uri="{FF2B5EF4-FFF2-40B4-BE49-F238E27FC236}">
                <a16:creationId xmlns:a16="http://schemas.microsoft.com/office/drawing/2014/main" id="{7A03C999-67D5-69B6-9EF4-8B7725C0B547}"/>
              </a:ext>
            </a:extLst>
          </p:cNvPr>
          <p:cNvCxnSpPr>
            <a:cxnSpLocks/>
          </p:cNvCxnSpPr>
          <p:nvPr/>
        </p:nvCxnSpPr>
        <p:spPr>
          <a:xfrm>
            <a:off x="6223518" y="4823927"/>
            <a:ext cx="597160" cy="149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56532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30</a:t>
            </a:fld>
            <a:endParaRPr lang="nl-NL"/>
          </a:p>
        </p:txBody>
      </p:sp>
      <p:pic>
        <p:nvPicPr>
          <p:cNvPr id="1026" name="Picture 2">
            <a:extLst>
              <a:ext uri="{FF2B5EF4-FFF2-40B4-BE49-F238E27FC236}">
                <a16:creationId xmlns:a16="http://schemas.microsoft.com/office/drawing/2014/main" id="{F08C7618-2F3D-E756-4DA3-AD40CF34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598" y="2880075"/>
            <a:ext cx="5003905" cy="3189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1AC012-A53C-BB4B-AA5C-14F5B2ABA912}"/>
              </a:ext>
            </a:extLst>
          </p:cNvPr>
          <p:cNvSpPr txBox="1"/>
          <p:nvPr/>
        </p:nvSpPr>
        <p:spPr>
          <a:xfrm>
            <a:off x="232646" y="4581732"/>
            <a:ext cx="5358857" cy="1015663"/>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TF32 tries to combine best of both worlds: range of an FP32 (no gradient scaling needed), but with reduced precision (for speedup &amp; less memory)</a:t>
            </a:r>
          </a:p>
        </p:txBody>
      </p:sp>
      <p:cxnSp>
        <p:nvCxnSpPr>
          <p:cNvPr id="11" name="Straight Arrow Connector 10">
            <a:extLst>
              <a:ext uri="{FF2B5EF4-FFF2-40B4-BE49-F238E27FC236}">
                <a16:creationId xmlns:a16="http://schemas.microsoft.com/office/drawing/2014/main" id="{7A03C999-67D5-69B6-9EF4-8B7725C0B547}"/>
              </a:ext>
            </a:extLst>
          </p:cNvPr>
          <p:cNvCxnSpPr>
            <a:cxnSpLocks/>
          </p:cNvCxnSpPr>
          <p:nvPr/>
        </p:nvCxnSpPr>
        <p:spPr>
          <a:xfrm flipV="1">
            <a:off x="5236551" y="4577183"/>
            <a:ext cx="1397514" cy="512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Vertical Text Placeholder 2">
            <a:extLst>
              <a:ext uri="{FF2B5EF4-FFF2-40B4-BE49-F238E27FC236}">
                <a16:creationId xmlns:a16="http://schemas.microsoft.com/office/drawing/2014/main" id="{99EAED24-A7F3-9F4D-C968-31D09C65F466}"/>
              </a:ext>
            </a:extLst>
          </p:cNvPr>
          <p:cNvSpPr txBox="1">
            <a:spLocks/>
          </p:cNvSpPr>
          <p:nvPr/>
        </p:nvSpPr>
        <p:spPr>
          <a:xfrm>
            <a:off x="668762" y="1297498"/>
            <a:ext cx="9882007" cy="4456846"/>
          </a:xfrm>
          <a:prstGeom prst="rect">
            <a:avLst/>
          </a:prstGeom>
        </p:spPr>
        <p:txBody>
          <a:bodyPr vert="horz" lIns="0" tIns="0" rIns="0" bIns="0" rtlCol="0">
            <a:noAutofit/>
          </a:bodyPr>
          <a:lst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a:lstStyle>
          <a:p>
            <a:r>
              <a:rPr lang="nl-NL" dirty="0"/>
              <a:t>Again: lower precision is a double-whammy of more efficient computation and loading less data</a:t>
            </a:r>
          </a:p>
          <a:p>
            <a:r>
              <a:rPr lang="nl-NL" dirty="0"/>
              <a:t>Generally, </a:t>
            </a:r>
            <a:r>
              <a:rPr lang="nl-NL" i="1" dirty="0"/>
              <a:t>you</a:t>
            </a:r>
            <a:r>
              <a:rPr lang="nl-NL" dirty="0"/>
              <a:t> are responsible for specifying a reduced precision: DL frameworks don’t do this automatically since it may impact your networks accuracy, convergence, etc</a:t>
            </a:r>
          </a:p>
          <a:p>
            <a:endParaRPr lang="nl-NL" dirty="0"/>
          </a:p>
          <a:p>
            <a:endParaRPr lang="nl-NL" dirty="0"/>
          </a:p>
          <a:p>
            <a:endParaRPr lang="nl-NL" dirty="0"/>
          </a:p>
          <a:p>
            <a:endParaRPr lang="nl-NL" dirty="0"/>
          </a:p>
          <a:p>
            <a:pPr marL="0" indent="0">
              <a:buFont typeface="Arial" panose="020B0604020202020204" pitchFamily="34" charset="0"/>
              <a:buNone/>
            </a:pPr>
            <a:endParaRPr lang="nl-NL" dirty="0"/>
          </a:p>
          <a:p>
            <a:endParaRPr lang="nl-NL" dirty="0"/>
          </a:p>
          <a:p>
            <a:endParaRPr lang="nl-NL" dirty="0"/>
          </a:p>
          <a:p>
            <a:pPr marL="0" lvl="1" indent="0">
              <a:buFont typeface="Arial" panose="020B0604020202020204" pitchFamily="34" charset="0"/>
              <a:buNone/>
            </a:pPr>
            <a:endParaRPr lang="nl-NL" sz="1400" dirty="0"/>
          </a:p>
          <a:p>
            <a:endParaRPr lang="nl-NL" sz="1400" dirty="0"/>
          </a:p>
        </p:txBody>
      </p:sp>
    </p:spTree>
    <p:extLst>
      <p:ext uri="{BB962C8B-B14F-4D97-AF65-F5344CB8AC3E}">
        <p14:creationId xmlns:p14="http://schemas.microsoft.com/office/powerpoint/2010/main" val="116240062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671681" y="1285102"/>
            <a:ext cx="9882007" cy="4456846"/>
          </a:xfrm>
        </p:spPr>
        <p:txBody>
          <a:bodyPr/>
          <a:lstStyle/>
          <a:p>
            <a:r>
              <a:rPr lang="nl-NL" dirty="0"/>
              <a:t>Again: lower precision is a double-whammy of more efficient computation and loading less data</a:t>
            </a:r>
          </a:p>
          <a:p>
            <a:r>
              <a:rPr lang="nl-NL" dirty="0"/>
              <a:t>Generally, </a:t>
            </a:r>
            <a:r>
              <a:rPr lang="nl-NL" i="1" dirty="0"/>
              <a:t>you</a:t>
            </a:r>
            <a:r>
              <a:rPr lang="nl-NL" dirty="0"/>
              <a:t> are responsible for specifying a reduced precision: DL frameworks don’t do this automatically since it may impact your networks accuracy, convergence, etc</a:t>
            </a:r>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31</a:t>
            </a:fld>
            <a:endParaRPr lang="nl-NL"/>
          </a:p>
        </p:txBody>
      </p:sp>
      <p:pic>
        <p:nvPicPr>
          <p:cNvPr id="1026" name="Picture 2">
            <a:extLst>
              <a:ext uri="{FF2B5EF4-FFF2-40B4-BE49-F238E27FC236}">
                <a16:creationId xmlns:a16="http://schemas.microsoft.com/office/drawing/2014/main" id="{F08C7618-2F3D-E756-4DA3-AD40CF34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598" y="2880075"/>
            <a:ext cx="5003905" cy="3189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1AC012-A53C-BB4B-AA5C-14F5B2ABA912}"/>
              </a:ext>
            </a:extLst>
          </p:cNvPr>
          <p:cNvSpPr txBox="1"/>
          <p:nvPr/>
        </p:nvSpPr>
        <p:spPr>
          <a:xfrm>
            <a:off x="232646" y="4487932"/>
            <a:ext cx="5003905" cy="1846659"/>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err="1"/>
              <a:t>Automatically</a:t>
            </a:r>
            <a:r>
              <a:rPr lang="nl-NL" dirty="0"/>
              <a:t> </a:t>
            </a:r>
            <a:r>
              <a:rPr lang="nl-NL" dirty="0" err="1"/>
              <a:t>used</a:t>
            </a:r>
            <a:r>
              <a:rPr lang="nl-NL" dirty="0"/>
              <a:t> </a:t>
            </a:r>
            <a:r>
              <a:rPr lang="nl-NL" i="1" dirty="0" err="1"/>
              <a:t>unless</a:t>
            </a:r>
            <a:r>
              <a:rPr lang="nl-NL" dirty="0"/>
              <a:t> </a:t>
            </a:r>
          </a:p>
          <a:p>
            <a:pPr marL="285750" indent="-285750">
              <a:buFontTx/>
              <a:buChar char="-"/>
            </a:pPr>
            <a:r>
              <a:rPr lang="nl-NL" dirty="0"/>
              <a:t>Environment </a:t>
            </a:r>
            <a:r>
              <a:rPr lang="nl-NL" dirty="0" err="1"/>
              <a:t>variable</a:t>
            </a:r>
            <a:r>
              <a:rPr lang="nl-NL" dirty="0"/>
              <a:t> </a:t>
            </a:r>
            <a:r>
              <a:rPr lang="en-US" i="1" dirty="0"/>
              <a:t>NVIDIA_TF32_OVERRIDE=0</a:t>
            </a:r>
            <a:r>
              <a:rPr lang="nl-NL" dirty="0"/>
              <a:t> is set</a:t>
            </a:r>
          </a:p>
          <a:p>
            <a:pPr marL="285750" indent="-285750">
              <a:buFontTx/>
              <a:buChar char="-"/>
            </a:pPr>
            <a:r>
              <a:rPr lang="en-US" i="1" dirty="0"/>
              <a:t>torch.backends.cuda.matmul.allow_tf32 = False </a:t>
            </a:r>
            <a:r>
              <a:rPr lang="en-US" dirty="0"/>
              <a:t>and torch.</a:t>
            </a:r>
            <a:r>
              <a:rPr lang="en-US" i="1" dirty="0"/>
              <a:t>backends.cudnn.allow_tf32 = False</a:t>
            </a:r>
            <a:r>
              <a:rPr lang="en-US" dirty="0"/>
              <a:t> are set</a:t>
            </a:r>
          </a:p>
        </p:txBody>
      </p:sp>
      <p:cxnSp>
        <p:nvCxnSpPr>
          <p:cNvPr id="11" name="Straight Arrow Connector 10">
            <a:extLst>
              <a:ext uri="{FF2B5EF4-FFF2-40B4-BE49-F238E27FC236}">
                <a16:creationId xmlns:a16="http://schemas.microsoft.com/office/drawing/2014/main" id="{7A03C999-67D5-69B6-9EF4-8B7725C0B547}"/>
              </a:ext>
            </a:extLst>
          </p:cNvPr>
          <p:cNvCxnSpPr>
            <a:cxnSpLocks/>
          </p:cNvCxnSpPr>
          <p:nvPr/>
        </p:nvCxnSpPr>
        <p:spPr>
          <a:xfrm flipV="1">
            <a:off x="5236551" y="4577183"/>
            <a:ext cx="1397514" cy="512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09914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a:xfrm>
            <a:off x="522768" y="6368914"/>
            <a:ext cx="392576" cy="216909"/>
          </a:xfrm>
        </p:spPr>
        <p:txBody>
          <a:bodyPr/>
          <a:lstStyle/>
          <a:p>
            <a:fld id="{7AD0FE45-509C-4BDF-9EDE-64426F8DF3D2}" type="slidenum">
              <a:rPr lang="nl-NL" smtClean="0"/>
              <a:t>32</a:t>
            </a:fld>
            <a:endParaRPr lang="nl-NL"/>
          </a:p>
        </p:txBody>
      </p:sp>
      <p:sp>
        <p:nvSpPr>
          <p:cNvPr id="9" name="TextBox 8">
            <a:extLst>
              <a:ext uri="{FF2B5EF4-FFF2-40B4-BE49-F238E27FC236}">
                <a16:creationId xmlns:a16="http://schemas.microsoft.com/office/drawing/2014/main" id="{0E4CE7A0-9C5B-A7C2-EFF8-4745C13BAB70}"/>
              </a:ext>
            </a:extLst>
          </p:cNvPr>
          <p:cNvSpPr txBox="1"/>
          <p:nvPr/>
        </p:nvSpPr>
        <p:spPr>
          <a:xfrm>
            <a:off x="1371600" y="6368914"/>
            <a:ext cx="8020016" cy="276999"/>
          </a:xfrm>
          <a:prstGeom prst="rect">
            <a:avLst/>
          </a:prstGeom>
          <a:noFill/>
        </p:spPr>
        <p:txBody>
          <a:bodyPr wrap="none" lIns="0" tIns="0" rIns="0" bIns="0" rtlCol="0">
            <a:spAutoFit/>
          </a:bodyPr>
          <a:lstStyle/>
          <a:p>
            <a:pPr algn="l"/>
            <a:r>
              <a:rPr lang="en-US"/>
              <a:t>Source: </a:t>
            </a:r>
            <a:r>
              <a:rPr lang="en-US">
                <a:hlinkClick r:id="rId2"/>
              </a:rPr>
              <a:t>https://servicedesk.surf.nl/wiki/display/WIKI/Deep+Learning+on+A100+GPUs</a:t>
            </a:r>
            <a:r>
              <a:rPr lang="en-US"/>
              <a:t> </a:t>
            </a:r>
          </a:p>
        </p:txBody>
      </p:sp>
      <p:pic>
        <p:nvPicPr>
          <p:cNvPr id="8" name="Picture 2">
            <a:extLst>
              <a:ext uri="{FF2B5EF4-FFF2-40B4-BE49-F238E27FC236}">
                <a16:creationId xmlns:a16="http://schemas.microsoft.com/office/drawing/2014/main" id="{0B271578-81FA-1580-AD07-DA262105E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174" y="1289480"/>
            <a:ext cx="5003905" cy="318998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1685F74-E954-CA78-BB4B-0BA884045EBD}"/>
              </a:ext>
            </a:extLst>
          </p:cNvPr>
          <p:cNvPicPr>
            <a:picLocks noChangeAspect="1"/>
          </p:cNvPicPr>
          <p:nvPr/>
        </p:nvPicPr>
        <p:blipFill>
          <a:blip r:embed="rId4"/>
          <a:stretch>
            <a:fillRect/>
          </a:stretch>
        </p:blipFill>
        <p:spPr>
          <a:xfrm>
            <a:off x="5021989" y="2631410"/>
            <a:ext cx="3095887" cy="2852302"/>
          </a:xfrm>
          <a:prstGeom prst="rect">
            <a:avLst/>
          </a:prstGeom>
        </p:spPr>
      </p:pic>
    </p:spTree>
    <p:extLst>
      <p:ext uri="{BB962C8B-B14F-4D97-AF65-F5344CB8AC3E}">
        <p14:creationId xmlns:p14="http://schemas.microsoft.com/office/powerpoint/2010/main" val="22679738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7f899dffe16b4de2bfe03da0c1f57bc6">
            <a:extLst>
              <a:ext uri="{FF2B5EF4-FFF2-40B4-BE49-F238E27FC236}">
                <a16:creationId xmlns:a16="http://schemas.microsoft.com/office/drawing/2014/main" id="{68B73E62-F9AB-F1F0-1B1A-8B81E1BE8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154" y="969228"/>
            <a:ext cx="6555698" cy="368758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Nvidia Hopper (e.g. H100)</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r>
              <a:rPr lang="nl-NL" sz="1400" dirty="0"/>
              <a:t>FP8 support</a:t>
            </a:r>
          </a:p>
          <a:p>
            <a:pPr marL="233363" indent="-233363"/>
            <a:r>
              <a:rPr lang="nl-NL" sz="1400" dirty="0" err="1"/>
              <a:t>Transformer</a:t>
            </a:r>
            <a:r>
              <a:rPr lang="nl-NL" sz="1400" dirty="0"/>
              <a:t> Engine </a:t>
            </a:r>
            <a:r>
              <a:rPr lang="nl-NL" sz="1400" dirty="0" err="1"/>
              <a:t>for</a:t>
            </a:r>
            <a:r>
              <a:rPr lang="nl-NL" sz="1400" dirty="0"/>
              <a:t> </a:t>
            </a:r>
            <a:r>
              <a:rPr lang="nl-NL" sz="1400" dirty="0" err="1"/>
              <a:t>transformer</a:t>
            </a:r>
            <a:r>
              <a:rPr lang="nl-NL" sz="1400" dirty="0"/>
              <a:t> </a:t>
            </a:r>
            <a:r>
              <a:rPr lang="nl-NL" sz="1400" dirty="0" err="1"/>
              <a:t>specific</a:t>
            </a:r>
            <a:r>
              <a:rPr lang="nl-NL" sz="1400" dirty="0"/>
              <a:t> </a:t>
            </a:r>
            <a:r>
              <a:rPr lang="nl-NL" sz="1400" dirty="0" err="1"/>
              <a:t>improvements</a:t>
            </a:r>
            <a:endParaRPr lang="nl-NL" sz="1400" dirty="0"/>
          </a:p>
          <a:p>
            <a:pPr marL="233363" indent="-233363"/>
            <a:endParaRPr lang="nl-NL" sz="1400" dirty="0"/>
          </a:p>
          <a:p>
            <a:pPr marL="233363" indent="-233363"/>
            <a:endParaRPr lang="nl-NL" sz="1400" dirty="0"/>
          </a:p>
          <a:p>
            <a:pPr marL="233363" indent="-233363"/>
            <a:endParaRPr lang="nl-NL" sz="1400" dirty="0"/>
          </a:p>
          <a:p>
            <a:pPr marL="522288" lvl="1" indent="-222250"/>
            <a:endParaRPr lang="nl-NL" sz="1400" dirty="0"/>
          </a:p>
          <a:p>
            <a:pPr lvl="2"/>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33</a:t>
            </a:fld>
            <a:endParaRPr lang="nl-NL"/>
          </a:p>
        </p:txBody>
      </p:sp>
      <p:pic>
        <p:nvPicPr>
          <p:cNvPr id="14" name="Picture 13">
            <a:extLst>
              <a:ext uri="{FF2B5EF4-FFF2-40B4-BE49-F238E27FC236}">
                <a16:creationId xmlns:a16="http://schemas.microsoft.com/office/drawing/2014/main" id="{B1EE0F52-89EB-1B17-E035-C29676E1A2EC}"/>
              </a:ext>
            </a:extLst>
          </p:cNvPr>
          <p:cNvPicPr>
            <a:picLocks noChangeAspect="1"/>
          </p:cNvPicPr>
          <p:nvPr/>
        </p:nvPicPr>
        <p:blipFill>
          <a:blip r:embed="rId3"/>
          <a:stretch>
            <a:fillRect/>
          </a:stretch>
        </p:blipFill>
        <p:spPr>
          <a:xfrm>
            <a:off x="5186250" y="2651869"/>
            <a:ext cx="4006462" cy="2685813"/>
          </a:xfrm>
          <a:prstGeom prst="rect">
            <a:avLst/>
          </a:prstGeom>
        </p:spPr>
      </p:pic>
    </p:spTree>
    <p:extLst>
      <p:ext uri="{BB962C8B-B14F-4D97-AF65-F5344CB8AC3E}">
        <p14:creationId xmlns:p14="http://schemas.microsoft.com/office/powerpoint/2010/main" val="85118319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FB7B-DCB7-DBCB-9C22-B10707F64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58506-4B39-A044-EDD0-17F56C95690D}"/>
              </a:ext>
            </a:extLst>
          </p:cNvPr>
          <p:cNvSpPr>
            <a:spLocks noGrp="1"/>
          </p:cNvSpPr>
          <p:nvPr>
            <p:ph type="title"/>
          </p:nvPr>
        </p:nvSpPr>
        <p:spPr/>
        <p:txBody>
          <a:bodyPr/>
          <a:lstStyle/>
          <a:p>
            <a:r>
              <a:rPr lang="nl-NL" dirty="0"/>
              <a:t>Nvidia Blackwell GPUs (e.g. B300)</a:t>
            </a:r>
          </a:p>
        </p:txBody>
      </p:sp>
      <p:sp>
        <p:nvSpPr>
          <p:cNvPr id="3" name="Vertical Text Placeholder 2">
            <a:extLst>
              <a:ext uri="{FF2B5EF4-FFF2-40B4-BE49-F238E27FC236}">
                <a16:creationId xmlns:a16="http://schemas.microsoft.com/office/drawing/2014/main" id="{C1867F02-19B4-19EC-D5CC-2E5E8F4BBE6B}"/>
              </a:ext>
            </a:extLst>
          </p:cNvPr>
          <p:cNvSpPr>
            <a:spLocks noGrp="1"/>
          </p:cNvSpPr>
          <p:nvPr>
            <p:ph type="body" orient="vert" idx="1"/>
          </p:nvPr>
        </p:nvSpPr>
        <p:spPr>
          <a:xfrm>
            <a:off x="516362" y="1145098"/>
            <a:ext cx="9882007" cy="4456846"/>
          </a:xfrm>
        </p:spPr>
        <p:txBody>
          <a:bodyPr/>
          <a:lstStyle/>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r>
              <a:rPr lang="nl-NL" sz="1400" dirty="0"/>
              <a:t>FP4 support</a:t>
            </a:r>
          </a:p>
          <a:p>
            <a:r>
              <a:rPr lang="nl-NL" sz="1400" dirty="0"/>
              <a:t>Second-generation Transformer Engine</a:t>
            </a:r>
          </a:p>
        </p:txBody>
      </p:sp>
      <p:sp>
        <p:nvSpPr>
          <p:cNvPr id="4" name="Text Placeholder 3">
            <a:extLst>
              <a:ext uri="{FF2B5EF4-FFF2-40B4-BE49-F238E27FC236}">
                <a16:creationId xmlns:a16="http://schemas.microsoft.com/office/drawing/2014/main" id="{6D5ADBA8-4969-EE44-B074-3E34820D6E16}"/>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9E14BF9-0200-CAAB-C8D1-58069B34B030}"/>
              </a:ext>
            </a:extLst>
          </p:cNvPr>
          <p:cNvSpPr>
            <a:spLocks noGrp="1"/>
          </p:cNvSpPr>
          <p:nvPr>
            <p:ph type="sldNum" sz="quarter" idx="12"/>
          </p:nvPr>
        </p:nvSpPr>
        <p:spPr/>
        <p:txBody>
          <a:bodyPr/>
          <a:lstStyle/>
          <a:p>
            <a:fld id="{7AD0FE45-509C-4BDF-9EDE-64426F8DF3D2}" type="slidenum">
              <a:rPr lang="nl-NL" smtClean="0"/>
              <a:t>34</a:t>
            </a:fld>
            <a:endParaRPr lang="nl-NL"/>
          </a:p>
        </p:txBody>
      </p:sp>
      <p:pic>
        <p:nvPicPr>
          <p:cNvPr id="15" name="Picture 14">
            <a:extLst>
              <a:ext uri="{FF2B5EF4-FFF2-40B4-BE49-F238E27FC236}">
                <a16:creationId xmlns:a16="http://schemas.microsoft.com/office/drawing/2014/main" id="{3DDF32CD-3423-0F1E-E9CC-28A6D975113E}"/>
              </a:ext>
            </a:extLst>
          </p:cNvPr>
          <p:cNvPicPr>
            <a:picLocks noChangeAspect="1"/>
          </p:cNvPicPr>
          <p:nvPr/>
        </p:nvPicPr>
        <p:blipFill>
          <a:blip r:embed="rId2"/>
          <a:stretch>
            <a:fillRect/>
          </a:stretch>
        </p:blipFill>
        <p:spPr>
          <a:xfrm>
            <a:off x="443975" y="955569"/>
            <a:ext cx="5013390" cy="3970027"/>
          </a:xfrm>
          <a:prstGeom prst="rect">
            <a:avLst/>
          </a:prstGeom>
        </p:spPr>
      </p:pic>
      <p:pic>
        <p:nvPicPr>
          <p:cNvPr id="22" name="Picture 21">
            <a:extLst>
              <a:ext uri="{FF2B5EF4-FFF2-40B4-BE49-F238E27FC236}">
                <a16:creationId xmlns:a16="http://schemas.microsoft.com/office/drawing/2014/main" id="{692F697C-1714-75B9-EFA5-27819F34B619}"/>
              </a:ext>
            </a:extLst>
          </p:cNvPr>
          <p:cNvPicPr>
            <a:picLocks noChangeAspect="1"/>
          </p:cNvPicPr>
          <p:nvPr/>
        </p:nvPicPr>
        <p:blipFill>
          <a:blip r:embed="rId3"/>
          <a:stretch>
            <a:fillRect/>
          </a:stretch>
        </p:blipFill>
        <p:spPr>
          <a:xfrm>
            <a:off x="5127298" y="2666393"/>
            <a:ext cx="6047553" cy="2646262"/>
          </a:xfrm>
          <a:prstGeom prst="rect">
            <a:avLst/>
          </a:prstGeom>
        </p:spPr>
      </p:pic>
    </p:spTree>
    <p:extLst>
      <p:ext uri="{BB962C8B-B14F-4D97-AF65-F5344CB8AC3E}">
        <p14:creationId xmlns:p14="http://schemas.microsoft.com/office/powerpoint/2010/main" val="119273324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of a number of numbers&#10;&#10;AI-generated content may be incorrect.">
            <a:extLst>
              <a:ext uri="{FF2B5EF4-FFF2-40B4-BE49-F238E27FC236}">
                <a16:creationId xmlns:a16="http://schemas.microsoft.com/office/drawing/2014/main" id="{C7D1BB84-7AA5-8050-79ED-E9B5B897B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910" y="1198328"/>
            <a:ext cx="10042728" cy="5659672"/>
          </a:xfrm>
          <a:prstGeom prst="rect">
            <a:avLst/>
          </a:prstGeom>
        </p:spPr>
      </p:pic>
      <p:sp>
        <p:nvSpPr>
          <p:cNvPr id="2" name="Date Placeholder 1">
            <a:extLst>
              <a:ext uri="{FF2B5EF4-FFF2-40B4-BE49-F238E27FC236}">
                <a16:creationId xmlns:a16="http://schemas.microsoft.com/office/drawing/2014/main" id="{A5A14977-E55E-C17B-292D-41BEEA829D34}"/>
              </a:ext>
            </a:extLst>
          </p:cNvPr>
          <p:cNvSpPr>
            <a:spLocks noGrp="1"/>
          </p:cNvSpPr>
          <p:nvPr>
            <p:ph type="dt" sz="half" idx="10"/>
          </p:nvPr>
        </p:nvSpPr>
        <p:spPr/>
        <p:txBody>
          <a:bodyPr/>
          <a:lstStyle/>
          <a:p>
            <a:fld id="{282E6B19-C172-4760-8A97-D66BFBC0201A}" type="datetime1">
              <a:rPr lang="nl-NL" smtClean="0"/>
              <a:t>13-11-2025</a:t>
            </a:fld>
            <a:endParaRPr lang="nl-NL"/>
          </a:p>
        </p:txBody>
      </p:sp>
      <p:sp>
        <p:nvSpPr>
          <p:cNvPr id="3" name="Footer Placeholder 2">
            <a:extLst>
              <a:ext uri="{FF2B5EF4-FFF2-40B4-BE49-F238E27FC236}">
                <a16:creationId xmlns:a16="http://schemas.microsoft.com/office/drawing/2014/main" id="{08034580-5602-47E3-76D0-3C09096681EF}"/>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9DA76517-F04C-CDD4-E97F-487837B2903A}"/>
              </a:ext>
            </a:extLst>
          </p:cNvPr>
          <p:cNvSpPr>
            <a:spLocks noGrp="1"/>
          </p:cNvSpPr>
          <p:nvPr>
            <p:ph type="title"/>
          </p:nvPr>
        </p:nvSpPr>
        <p:spPr/>
        <p:txBody>
          <a:bodyPr/>
          <a:lstStyle/>
          <a:p>
            <a:r>
              <a:rPr lang="en-US" dirty="0"/>
              <a:t>Thinking about the distribution of your data &amp; model becomes even more important</a:t>
            </a:r>
            <a:endParaRPr lang="en-NL" dirty="0"/>
          </a:p>
        </p:txBody>
      </p:sp>
      <p:sp>
        <p:nvSpPr>
          <p:cNvPr id="6" name="Text Placeholder 5">
            <a:extLst>
              <a:ext uri="{FF2B5EF4-FFF2-40B4-BE49-F238E27FC236}">
                <a16:creationId xmlns:a16="http://schemas.microsoft.com/office/drawing/2014/main" id="{0E195DA1-C643-5637-E646-E4DCCA2A651B}"/>
              </a:ext>
            </a:extLst>
          </p:cNvPr>
          <p:cNvSpPr>
            <a:spLocks noGrp="1"/>
          </p:cNvSpPr>
          <p:nvPr>
            <p:ph type="body" sz="quarter" idx="65"/>
          </p:nvPr>
        </p:nvSpPr>
        <p:spPr/>
        <p:txBody>
          <a:bodyPr/>
          <a:lstStyle/>
          <a:p>
            <a:endParaRPr lang="en-NL" dirty="0"/>
          </a:p>
        </p:txBody>
      </p:sp>
    </p:spTree>
    <p:extLst>
      <p:ext uri="{BB962C8B-B14F-4D97-AF65-F5344CB8AC3E}">
        <p14:creationId xmlns:p14="http://schemas.microsoft.com/office/powerpoint/2010/main" val="6175796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AD22-DC10-728A-F6D2-1034DC1F84F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375C811-9622-E3CE-20BB-EDB3BB17A30F}"/>
              </a:ext>
            </a:extLst>
          </p:cNvPr>
          <p:cNvSpPr>
            <a:spLocks noGrp="1"/>
          </p:cNvSpPr>
          <p:nvPr>
            <p:ph type="dt" sz="half" idx="10"/>
          </p:nvPr>
        </p:nvSpPr>
        <p:spPr/>
        <p:txBody>
          <a:bodyPr/>
          <a:lstStyle/>
          <a:p>
            <a:fld id="{282E6B19-C172-4760-8A97-D66BFBC0201A}" type="datetime1">
              <a:rPr lang="nl-NL" smtClean="0"/>
              <a:t>13-11-2025</a:t>
            </a:fld>
            <a:endParaRPr lang="nl-NL"/>
          </a:p>
        </p:txBody>
      </p:sp>
      <p:sp>
        <p:nvSpPr>
          <p:cNvPr id="3" name="Footer Placeholder 2">
            <a:extLst>
              <a:ext uri="{FF2B5EF4-FFF2-40B4-BE49-F238E27FC236}">
                <a16:creationId xmlns:a16="http://schemas.microsoft.com/office/drawing/2014/main" id="{ED2D3C88-F216-811A-0AF0-A043380DF1E3}"/>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1DDC7BE9-5A06-DFA6-9EC1-E58E76B79962}"/>
              </a:ext>
            </a:extLst>
          </p:cNvPr>
          <p:cNvSpPr>
            <a:spLocks noGrp="1"/>
          </p:cNvSpPr>
          <p:nvPr>
            <p:ph type="title"/>
          </p:nvPr>
        </p:nvSpPr>
        <p:spPr/>
        <p:txBody>
          <a:bodyPr/>
          <a:lstStyle/>
          <a:p>
            <a:r>
              <a:rPr lang="en-US" dirty="0"/>
              <a:t>Thinking about the distribution of your data &amp; model becomes even more important</a:t>
            </a:r>
            <a:endParaRPr lang="en-NL" dirty="0"/>
          </a:p>
        </p:txBody>
      </p:sp>
      <p:sp>
        <p:nvSpPr>
          <p:cNvPr id="6" name="Text Placeholder 5">
            <a:extLst>
              <a:ext uri="{FF2B5EF4-FFF2-40B4-BE49-F238E27FC236}">
                <a16:creationId xmlns:a16="http://schemas.microsoft.com/office/drawing/2014/main" id="{54FB6D69-A654-1447-A8DA-560374A25423}"/>
              </a:ext>
            </a:extLst>
          </p:cNvPr>
          <p:cNvSpPr>
            <a:spLocks noGrp="1"/>
          </p:cNvSpPr>
          <p:nvPr>
            <p:ph type="body" sz="quarter" idx="65"/>
          </p:nvPr>
        </p:nvSpPr>
        <p:spPr/>
        <p:txBody>
          <a:bodyPr/>
          <a:lstStyle/>
          <a:p>
            <a:endParaRPr lang="en-NL" dirty="0"/>
          </a:p>
        </p:txBody>
      </p:sp>
      <p:pic>
        <p:nvPicPr>
          <p:cNvPr id="7" name="Picture 6">
            <a:extLst>
              <a:ext uri="{FF2B5EF4-FFF2-40B4-BE49-F238E27FC236}">
                <a16:creationId xmlns:a16="http://schemas.microsoft.com/office/drawing/2014/main" id="{09F572CF-3E50-CF01-84B4-54CA12473B38}"/>
              </a:ext>
            </a:extLst>
          </p:cNvPr>
          <p:cNvPicPr>
            <a:picLocks noChangeAspect="1"/>
          </p:cNvPicPr>
          <p:nvPr/>
        </p:nvPicPr>
        <p:blipFill>
          <a:blip r:embed="rId2"/>
          <a:stretch>
            <a:fillRect/>
          </a:stretch>
        </p:blipFill>
        <p:spPr>
          <a:xfrm>
            <a:off x="0" y="1320800"/>
            <a:ext cx="12198624" cy="5630909"/>
          </a:xfrm>
          <a:prstGeom prst="rect">
            <a:avLst/>
          </a:prstGeom>
        </p:spPr>
      </p:pic>
      <p:pic>
        <p:nvPicPr>
          <p:cNvPr id="9" name="Picture 8">
            <a:extLst>
              <a:ext uri="{FF2B5EF4-FFF2-40B4-BE49-F238E27FC236}">
                <a16:creationId xmlns:a16="http://schemas.microsoft.com/office/drawing/2014/main" id="{DB4D2FBB-F40A-707A-DBA2-794F27B225B4}"/>
              </a:ext>
            </a:extLst>
          </p:cNvPr>
          <p:cNvPicPr>
            <a:picLocks noChangeAspect="1"/>
          </p:cNvPicPr>
          <p:nvPr/>
        </p:nvPicPr>
        <p:blipFill>
          <a:blip r:embed="rId3"/>
          <a:stretch>
            <a:fillRect/>
          </a:stretch>
        </p:blipFill>
        <p:spPr>
          <a:xfrm>
            <a:off x="5548382" y="2747104"/>
            <a:ext cx="2904737" cy="1994820"/>
          </a:xfrm>
          <a:prstGeom prst="rect">
            <a:avLst/>
          </a:prstGeom>
        </p:spPr>
      </p:pic>
    </p:spTree>
    <p:extLst>
      <p:ext uri="{BB962C8B-B14F-4D97-AF65-F5344CB8AC3E}">
        <p14:creationId xmlns:p14="http://schemas.microsoft.com/office/powerpoint/2010/main" val="156636233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CE9E-7DA0-E597-E554-23AFE7F840E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FE765D0-1BBC-46A9-B3CA-0BCD1D686CF7}"/>
              </a:ext>
            </a:extLst>
          </p:cNvPr>
          <p:cNvSpPr>
            <a:spLocks noGrp="1"/>
          </p:cNvSpPr>
          <p:nvPr>
            <p:ph type="dt" sz="half" idx="10"/>
          </p:nvPr>
        </p:nvSpPr>
        <p:spPr/>
        <p:txBody>
          <a:bodyPr/>
          <a:lstStyle/>
          <a:p>
            <a:fld id="{282E6B19-C172-4760-8A97-D66BFBC0201A}" type="datetime1">
              <a:rPr lang="nl-NL" smtClean="0"/>
              <a:t>13-11-2025</a:t>
            </a:fld>
            <a:endParaRPr lang="nl-NL"/>
          </a:p>
        </p:txBody>
      </p:sp>
      <p:sp>
        <p:nvSpPr>
          <p:cNvPr id="3" name="Footer Placeholder 2">
            <a:extLst>
              <a:ext uri="{FF2B5EF4-FFF2-40B4-BE49-F238E27FC236}">
                <a16:creationId xmlns:a16="http://schemas.microsoft.com/office/drawing/2014/main" id="{572D9B05-3084-C582-E712-38D797342B7C}"/>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7F07BAE3-ADA8-F503-7E51-651BC7CF5BFE}"/>
              </a:ext>
            </a:extLst>
          </p:cNvPr>
          <p:cNvSpPr>
            <a:spLocks noGrp="1"/>
          </p:cNvSpPr>
          <p:nvPr>
            <p:ph type="title"/>
          </p:nvPr>
        </p:nvSpPr>
        <p:spPr/>
        <p:txBody>
          <a:bodyPr/>
          <a:lstStyle/>
          <a:p>
            <a:r>
              <a:rPr lang="en-US" dirty="0"/>
              <a:t>Thinking about the distribution of your data &amp; model becomes even more important</a:t>
            </a:r>
            <a:endParaRPr lang="en-NL" dirty="0"/>
          </a:p>
        </p:txBody>
      </p:sp>
      <p:sp>
        <p:nvSpPr>
          <p:cNvPr id="6" name="Text Placeholder 5">
            <a:extLst>
              <a:ext uri="{FF2B5EF4-FFF2-40B4-BE49-F238E27FC236}">
                <a16:creationId xmlns:a16="http://schemas.microsoft.com/office/drawing/2014/main" id="{01DD8720-1FF7-DE97-B8A6-D1EAEB7D9C72}"/>
              </a:ext>
            </a:extLst>
          </p:cNvPr>
          <p:cNvSpPr>
            <a:spLocks noGrp="1"/>
          </p:cNvSpPr>
          <p:nvPr>
            <p:ph type="body" sz="quarter" idx="65"/>
          </p:nvPr>
        </p:nvSpPr>
        <p:spPr/>
        <p:txBody>
          <a:bodyPr/>
          <a:lstStyle/>
          <a:p>
            <a:endParaRPr lang="en-NL" dirty="0"/>
          </a:p>
        </p:txBody>
      </p:sp>
      <p:pic>
        <p:nvPicPr>
          <p:cNvPr id="7" name="Picture 6">
            <a:extLst>
              <a:ext uri="{FF2B5EF4-FFF2-40B4-BE49-F238E27FC236}">
                <a16:creationId xmlns:a16="http://schemas.microsoft.com/office/drawing/2014/main" id="{D9333AA2-047B-66A6-790B-BB508904CB7E}"/>
              </a:ext>
            </a:extLst>
          </p:cNvPr>
          <p:cNvPicPr>
            <a:picLocks noChangeAspect="1"/>
          </p:cNvPicPr>
          <p:nvPr/>
        </p:nvPicPr>
        <p:blipFill>
          <a:blip r:embed="rId2"/>
          <a:stretch>
            <a:fillRect/>
          </a:stretch>
        </p:blipFill>
        <p:spPr>
          <a:xfrm>
            <a:off x="-1" y="1434601"/>
            <a:ext cx="12192001" cy="5517108"/>
          </a:xfrm>
          <a:prstGeom prst="rect">
            <a:avLst/>
          </a:prstGeom>
        </p:spPr>
      </p:pic>
      <p:pic>
        <p:nvPicPr>
          <p:cNvPr id="10" name="Picture 9">
            <a:extLst>
              <a:ext uri="{FF2B5EF4-FFF2-40B4-BE49-F238E27FC236}">
                <a16:creationId xmlns:a16="http://schemas.microsoft.com/office/drawing/2014/main" id="{60965C05-A68E-A6BD-F72E-F6AB2D4C4A73}"/>
              </a:ext>
            </a:extLst>
          </p:cNvPr>
          <p:cNvPicPr>
            <a:picLocks noChangeAspect="1"/>
          </p:cNvPicPr>
          <p:nvPr/>
        </p:nvPicPr>
        <p:blipFill>
          <a:blip r:embed="rId3"/>
          <a:stretch>
            <a:fillRect/>
          </a:stretch>
        </p:blipFill>
        <p:spPr>
          <a:xfrm>
            <a:off x="5548382" y="2747104"/>
            <a:ext cx="2904737" cy="1994820"/>
          </a:xfrm>
          <a:prstGeom prst="rect">
            <a:avLst/>
          </a:prstGeom>
        </p:spPr>
      </p:pic>
    </p:spTree>
    <p:extLst>
      <p:ext uri="{BB962C8B-B14F-4D97-AF65-F5344CB8AC3E}">
        <p14:creationId xmlns:p14="http://schemas.microsoft.com/office/powerpoint/2010/main" val="133984505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storage</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677395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054"/>
        <p:cNvGrpSpPr/>
        <p:nvPr/>
      </p:nvGrpSpPr>
      <p:grpSpPr>
        <a:xfrm>
          <a:off x="0" y="0"/>
          <a:ext cx="0" cy="0"/>
          <a:chOff x="0" y="0"/>
          <a:chExt cx="0" cy="0"/>
        </a:xfrm>
      </p:grpSpPr>
      <p:sp>
        <p:nvSpPr>
          <p:cNvPr id="7055" name="Google Shape;7055;p100"/>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56" name="Google Shape;7056;p100"/>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57" name="Google Shape;7057;p100"/>
          <p:cNvSpPr txBox="1">
            <a:spLocks noGrp="1"/>
          </p:cNvSpPr>
          <p:nvPr>
            <p:ph type="body" idx="4294967295"/>
          </p:nvPr>
        </p:nvSpPr>
        <p:spPr>
          <a:xfrm>
            <a:off x="720000" y="606053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58" name="Google Shape;7058;p100"/>
          <p:cNvSpPr txBox="1">
            <a:spLocks noGrp="1"/>
          </p:cNvSpPr>
          <p:nvPr>
            <p:ph type="body" idx="1"/>
          </p:nvPr>
        </p:nvSpPr>
        <p:spPr>
          <a:xfrm>
            <a:off x="1308540" y="1592285"/>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400" b="0" i="0" u="none" strike="noStrike" cap="none">
                <a:solidFill>
                  <a:schemeClr val="dk1"/>
                </a:solidFill>
                <a:latin typeface="Calibri"/>
                <a:ea typeface="Calibri"/>
                <a:cs typeface="Calibri"/>
                <a:sym typeface="Calibri"/>
              </a:rPr>
              <a:t>HPC systems typically use parallel shared file systems.</a:t>
            </a:r>
            <a:endParaRPr sz="24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1" i="0" u="none" strike="noStrike" cap="none">
                <a:solidFill>
                  <a:srgbClr val="434343"/>
                </a:solidFill>
              </a:rPr>
              <a:t>Parallel file system</a:t>
            </a:r>
            <a:r>
              <a:rPr lang="en-US" sz="2000" b="0" i="0" u="none" strike="noStrike" cap="none">
                <a:solidFill>
                  <a:schemeClr val="dk1"/>
                </a:solidFill>
                <a:latin typeface="Calibri"/>
                <a:ea typeface="Calibri"/>
                <a:cs typeface="Calibri"/>
                <a:sym typeface="Calibri"/>
              </a:rPr>
              <a:t>: one file can be distributed over many physical disks, to increase I/O bandwidth.</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7059" name="Google Shape;7059;p100"/>
          <p:cNvPicPr preferRelativeResize="0"/>
          <p:nvPr/>
        </p:nvPicPr>
        <p:blipFill rotWithShape="1">
          <a:blip r:embed="rId4">
            <a:alphaModFix/>
          </a:blip>
          <a:srcRect/>
          <a:stretch/>
        </p:blipFill>
        <p:spPr>
          <a:xfrm>
            <a:off x="3034740" y="3334685"/>
            <a:ext cx="6137280" cy="271404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63"/>
        <p:cNvGrpSpPr/>
        <p:nvPr/>
      </p:nvGrpSpPr>
      <p:grpSpPr>
        <a:xfrm>
          <a:off x="0" y="0"/>
          <a:ext cx="0" cy="0"/>
          <a:chOff x="0" y="0"/>
          <a:chExt cx="0" cy="0"/>
        </a:xfrm>
      </p:grpSpPr>
      <p:sp>
        <p:nvSpPr>
          <p:cNvPr id="7064" name="Google Shape;7064;p101"/>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65" name="Google Shape;7065;p101"/>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66" name="Google Shape;7066;p101"/>
          <p:cNvSpPr txBox="1">
            <a:spLocks noGrp="1"/>
          </p:cNvSpPr>
          <p:nvPr>
            <p:ph type="body" idx="4294967295"/>
          </p:nvPr>
        </p:nvSpPr>
        <p:spPr>
          <a:xfrm>
            <a:off x="720000" y="606053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67" name="Google Shape;7067;p101"/>
          <p:cNvSpPr txBox="1">
            <a:spLocks noGrp="1"/>
          </p:cNvSpPr>
          <p:nvPr>
            <p:ph type="body" idx="1"/>
          </p:nvPr>
        </p:nvSpPr>
        <p:spPr>
          <a:xfrm>
            <a:off x="999640" y="1592285"/>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400" b="0" i="0" u="none" strike="noStrike" cap="none">
                <a:solidFill>
                  <a:schemeClr val="dk1"/>
                </a:solidFill>
                <a:latin typeface="Calibri"/>
                <a:ea typeface="Calibri"/>
                <a:cs typeface="Calibri"/>
                <a:sym typeface="Calibri"/>
              </a:rPr>
              <a:t>Two main types of parallel filesystems</a:t>
            </a:r>
            <a:endParaRPr sz="2400" b="0" i="0" u="none" strike="noStrike" cap="none">
              <a:solidFill>
                <a:schemeClr val="dk1"/>
              </a:solidFill>
              <a:latin typeface="Calibri"/>
              <a:ea typeface="Calibri"/>
              <a:cs typeface="Calibri"/>
              <a:sym typeface="Calibri"/>
            </a:endParaRPr>
          </a:p>
          <a:p>
            <a:pPr marL="269999" marR="0" lvl="0" indent="-282699" algn="l" rtl="0">
              <a:lnSpc>
                <a:spcPct val="100000"/>
              </a:lnSpc>
              <a:spcBef>
                <a:spcPts val="1202"/>
              </a:spcBef>
              <a:spcAft>
                <a:spcPts val="0"/>
              </a:spcAft>
              <a:buClr>
                <a:srgbClr val="434343"/>
              </a:buClr>
              <a:buSzPts val="2200"/>
              <a:buChar char="•"/>
            </a:pPr>
            <a:r>
              <a:rPr lang="en-US" sz="2200" b="1" i="0" u="none" strike="noStrike" cap="none">
                <a:solidFill>
                  <a:srgbClr val="434343"/>
                </a:solidFill>
              </a:rPr>
              <a:t>Lustre</a:t>
            </a:r>
            <a:endParaRPr sz="2200" b="1" i="0" u="none" strike="noStrike" cap="none">
              <a:solidFill>
                <a:srgbClr val="434343"/>
              </a:solidFill>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Metadata (filename, size, location, etc) stored on separate server</a:t>
            </a:r>
            <a:endParaRPr sz="2000" b="0" i="0" u="none" strike="noStrike" cap="none">
              <a:solidFill>
                <a:schemeClr val="dk1"/>
              </a:solidFill>
              <a:latin typeface="Calibri"/>
              <a:ea typeface="Calibri"/>
              <a:cs typeface="Calibri"/>
              <a:sym typeface="Calibri"/>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Object Storage Target (OST) stores actual file</a:t>
            </a:r>
            <a:endParaRPr sz="2000" b="0" i="0" u="none" strike="noStrike" cap="none">
              <a:solidFill>
                <a:schemeClr val="dk1"/>
              </a:solidFill>
              <a:latin typeface="Calibri"/>
              <a:ea typeface="Calibri"/>
              <a:cs typeface="Calibri"/>
              <a:sym typeface="Calibri"/>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Striping over multiple OSTs can be managed by user</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434343"/>
              </a:buClr>
              <a:buSzPts val="2000"/>
              <a:buChar char="•"/>
            </a:pPr>
            <a:r>
              <a:rPr lang="en-US" sz="2000" b="1" i="0" u="none" strike="noStrike" cap="none">
                <a:solidFill>
                  <a:srgbClr val="434343"/>
                </a:solidFill>
              </a:rPr>
              <a:t>GPFS (Snellius)</a:t>
            </a:r>
            <a:endParaRPr sz="2000" b="1" i="0" u="none" strike="noStrike" cap="none">
              <a:solidFill>
                <a:srgbClr val="434343"/>
              </a:solidFill>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Metadata and actual file stored on the same server</a:t>
            </a:r>
            <a:endParaRPr sz="2000" b="0" i="0" u="none" strike="noStrike" cap="none">
              <a:solidFill>
                <a:schemeClr val="dk1"/>
              </a:solidFill>
              <a:latin typeface="Calibri"/>
              <a:ea typeface="Calibri"/>
              <a:cs typeface="Calibri"/>
              <a:sym typeface="Calibri"/>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Striping is managed automatically, by file system. User has no control.</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71"/>
        <p:cNvGrpSpPr/>
        <p:nvPr/>
      </p:nvGrpSpPr>
      <p:grpSpPr>
        <a:xfrm>
          <a:off x="0" y="0"/>
          <a:ext cx="0" cy="0"/>
          <a:chOff x="0" y="0"/>
          <a:chExt cx="0" cy="0"/>
        </a:xfrm>
      </p:grpSpPr>
      <p:sp>
        <p:nvSpPr>
          <p:cNvPr id="7072" name="Google Shape;7072;p102"/>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73" name="Google Shape;7073;p102"/>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74" name="Google Shape;7074;p102"/>
          <p:cNvSpPr txBox="1">
            <a:spLocks noGrp="1"/>
          </p:cNvSpPr>
          <p:nvPr>
            <p:ph type="body" idx="4294967295"/>
          </p:nvPr>
        </p:nvSpPr>
        <p:spPr>
          <a:xfrm>
            <a:off x="720000" y="606053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75" name="Google Shape;7075;p102"/>
          <p:cNvSpPr txBox="1">
            <a:spLocks noGrp="1"/>
          </p:cNvSpPr>
          <p:nvPr>
            <p:ph type="body" idx="1"/>
          </p:nvPr>
        </p:nvSpPr>
        <p:spPr>
          <a:xfrm>
            <a:off x="953750" y="1652700"/>
            <a:ext cx="103152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400" b="0" i="0" u="none" strike="noStrike" cap="none">
                <a:solidFill>
                  <a:schemeClr val="dk1"/>
                </a:solidFill>
                <a:latin typeface="Calibri"/>
                <a:ea typeface="Calibri"/>
                <a:cs typeface="Calibri"/>
                <a:sym typeface="Calibri"/>
              </a:rPr>
              <a:t>HPC file systems are optimized for </a:t>
            </a:r>
            <a:r>
              <a:rPr lang="en-US" sz="2400" b="1" i="1" u="none" strike="noStrike" cap="none">
                <a:solidFill>
                  <a:schemeClr val="dk1"/>
                </a:solidFill>
              </a:rPr>
              <a:t>bandwidth</a:t>
            </a:r>
            <a:r>
              <a:rPr lang="en-US" sz="2400" b="0" i="0" u="none" strike="noStrike" cap="none">
                <a:solidFill>
                  <a:schemeClr val="dk1"/>
                </a:solidFill>
                <a:latin typeface="Calibri"/>
                <a:ea typeface="Calibri"/>
                <a:cs typeface="Calibri"/>
                <a:sym typeface="Calibri"/>
              </a:rPr>
              <a:t> not I/O operations per second (IOPS)</a:t>
            </a:r>
            <a:endParaRPr sz="24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E.g. Snellius GPFS: up to 10 GB/s write, 20 GB/s read</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Important when e.g. a 100 node job needs to start from the same 20 GB input file…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HPC file systems are typically </a:t>
            </a:r>
            <a:r>
              <a:rPr lang="en-US" sz="2000" b="1" i="0" u="none" strike="noStrike" cap="none">
                <a:solidFill>
                  <a:schemeClr val="dk1"/>
                </a:solidFill>
                <a:latin typeface="Calibri"/>
                <a:ea typeface="Calibri"/>
                <a:cs typeface="Calibri"/>
                <a:sym typeface="Calibri"/>
              </a:rPr>
              <a:t>not</a:t>
            </a:r>
            <a:r>
              <a:rPr lang="en-US" sz="2000" b="0" i="0" u="none" strike="noStrike" cap="none">
                <a:solidFill>
                  <a:schemeClr val="dk1"/>
                </a:solidFill>
                <a:latin typeface="Calibri"/>
                <a:ea typeface="Calibri"/>
                <a:cs typeface="Calibri"/>
                <a:sym typeface="Calibri"/>
              </a:rPr>
              <a:t> good at AI / data science workloads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AI workloads are generally: reading lots of small files / parts of a file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79"/>
        <p:cNvGrpSpPr/>
        <p:nvPr/>
      </p:nvGrpSpPr>
      <p:grpSpPr>
        <a:xfrm>
          <a:off x="0" y="0"/>
          <a:ext cx="0" cy="0"/>
          <a:chOff x="0" y="0"/>
          <a:chExt cx="0" cy="0"/>
        </a:xfrm>
      </p:grpSpPr>
      <p:sp>
        <p:nvSpPr>
          <p:cNvPr id="7080" name="Google Shape;7080;p103"/>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81" name="Google Shape;7081;p103"/>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82" name="Google Shape;7082;p103"/>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83" name="Google Shape;7083;p103"/>
          <p:cNvSpPr txBox="1">
            <a:spLocks noGrp="1"/>
          </p:cNvSpPr>
          <p:nvPr>
            <p:ph type="body" idx="1"/>
          </p:nvPr>
        </p:nvSpPr>
        <p:spPr>
          <a:xfrm>
            <a:off x="907165" y="1467410"/>
            <a:ext cx="9881700" cy="4456500"/>
          </a:xfrm>
          <a:prstGeom prst="rect">
            <a:avLst/>
          </a:prstGeom>
          <a:noFill/>
          <a:ln>
            <a:noFill/>
          </a:ln>
        </p:spPr>
        <p:txBody>
          <a:bodyPr spcFirstLastPara="1" wrap="square" lIns="0" tIns="0" rIns="0" bIns="0" anchor="t" anchorCtr="0">
            <a:noAutofit/>
          </a:bodyPr>
          <a:lstStyle/>
          <a:p>
            <a:pPr marL="269999" marR="0" lvl="0" indent="-269999"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An inode stores all information about a linux file </a:t>
            </a:r>
            <a:r>
              <a:rPr lang="en-US" sz="2000" b="0" i="1" u="none" strike="noStrike" cap="none">
                <a:solidFill>
                  <a:schemeClr val="dk1"/>
                </a:solidFill>
                <a:latin typeface="Calibri"/>
                <a:ea typeface="Calibri"/>
                <a:cs typeface="Calibri"/>
                <a:sym typeface="Calibri"/>
              </a:rPr>
              <a:t>except</a:t>
            </a:r>
            <a:r>
              <a:rPr lang="en-US" sz="2000" b="0" i="0" u="none" strike="noStrike" cap="none">
                <a:solidFill>
                  <a:schemeClr val="dk1"/>
                </a:solidFill>
                <a:latin typeface="Calibri"/>
                <a:ea typeface="Calibri"/>
                <a:cs typeface="Calibri"/>
                <a:sym typeface="Calibri"/>
              </a:rPr>
              <a:t> its name and data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File size, last change date, file permissions, etc</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On most HPC systems, you’ll have an inode quota, in addition to a size quota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Like total size, each filesystem has a (fixed) maximum number of inodes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It is </a:t>
            </a:r>
            <a:r>
              <a:rPr lang="en-US" sz="2000" b="0" i="1" u="none" strike="noStrike" cap="none">
                <a:solidFill>
                  <a:schemeClr val="dk1"/>
                </a:solidFill>
                <a:latin typeface="Calibri"/>
                <a:ea typeface="Calibri"/>
                <a:cs typeface="Calibri"/>
                <a:sym typeface="Calibri"/>
              </a:rPr>
              <a:t>also</a:t>
            </a:r>
            <a:r>
              <a:rPr lang="en-US" sz="2000" b="0" i="0" u="none" strike="noStrike" cap="none">
                <a:solidFill>
                  <a:schemeClr val="dk1"/>
                </a:solidFill>
                <a:latin typeface="Calibri"/>
                <a:ea typeface="Calibri"/>
                <a:cs typeface="Calibri"/>
                <a:sym typeface="Calibri"/>
              </a:rPr>
              <a:t> a way to discourage doing to many IOPS </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Clr>
                <a:schemeClr val="dk1"/>
              </a:buClr>
              <a:buSzPts val="2000"/>
              <a:buFont typeface="Calibri"/>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87"/>
        <p:cNvGrpSpPr/>
        <p:nvPr/>
      </p:nvGrpSpPr>
      <p:grpSpPr>
        <a:xfrm>
          <a:off x="0" y="0"/>
          <a:ext cx="0" cy="0"/>
          <a:chOff x="0" y="0"/>
          <a:chExt cx="0" cy="0"/>
        </a:xfrm>
      </p:grpSpPr>
      <p:sp>
        <p:nvSpPr>
          <p:cNvPr id="7088" name="Google Shape;7088;p104"/>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89" name="Google Shape;7089;p104"/>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90" name="Google Shape;7090;p104"/>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91" name="Google Shape;7091;p104"/>
          <p:cNvSpPr txBox="1">
            <a:spLocks noGrp="1"/>
          </p:cNvSpPr>
          <p:nvPr>
            <p:ph type="body" idx="1"/>
          </p:nvPr>
        </p:nvSpPr>
        <p:spPr>
          <a:xfrm>
            <a:off x="907165" y="1467410"/>
            <a:ext cx="9881700" cy="4456500"/>
          </a:xfrm>
          <a:prstGeom prst="rect">
            <a:avLst/>
          </a:prstGeom>
          <a:noFill/>
          <a:ln>
            <a:noFill/>
          </a:ln>
        </p:spPr>
        <p:txBody>
          <a:bodyPr spcFirstLastPara="1" wrap="square" lIns="0" tIns="0" rIns="0" bIns="0" anchor="t" anchorCtr="0">
            <a:noAutofit/>
          </a:bodyPr>
          <a:lstStyle/>
          <a:p>
            <a:pPr marL="269999" marR="0" lvl="0" indent="-269999"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An inode stores all information about a linux file </a:t>
            </a:r>
            <a:r>
              <a:rPr lang="en-US" sz="2000" b="0" i="1" u="none" strike="noStrike" cap="none">
                <a:solidFill>
                  <a:schemeClr val="dk1"/>
                </a:solidFill>
                <a:latin typeface="Calibri"/>
                <a:ea typeface="Calibri"/>
                <a:cs typeface="Calibri"/>
                <a:sym typeface="Calibri"/>
              </a:rPr>
              <a:t>except</a:t>
            </a:r>
            <a:r>
              <a:rPr lang="en-US" sz="2000" b="0" i="0" u="none" strike="noStrike" cap="none">
                <a:solidFill>
                  <a:schemeClr val="dk1"/>
                </a:solidFill>
                <a:latin typeface="Calibri"/>
                <a:ea typeface="Calibri"/>
                <a:cs typeface="Calibri"/>
                <a:sym typeface="Calibri"/>
              </a:rPr>
              <a:t> its name and data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File size, last change date, file permissions, etc</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On most HPC systems, you’ll have an inode quota, in addition to a size quota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Like total size, each filesystem has a (fixed) maximum number of inodes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It is </a:t>
            </a:r>
            <a:r>
              <a:rPr lang="en-US" sz="2000" b="0" i="1" u="none" strike="noStrike" cap="none">
                <a:solidFill>
                  <a:schemeClr val="dk1"/>
                </a:solidFill>
                <a:latin typeface="Calibri"/>
                <a:ea typeface="Calibri"/>
                <a:cs typeface="Calibri"/>
                <a:sym typeface="Calibri"/>
              </a:rPr>
              <a:t>also</a:t>
            </a:r>
            <a:r>
              <a:rPr lang="en-US" sz="2000" b="0" i="0" u="none" strike="noStrike" cap="none">
                <a:solidFill>
                  <a:schemeClr val="dk1"/>
                </a:solidFill>
                <a:latin typeface="Calibri"/>
                <a:ea typeface="Calibri"/>
                <a:cs typeface="Calibri"/>
                <a:sym typeface="Calibri"/>
              </a:rPr>
              <a:t> a way to discourage doing to many IOPS </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Seems we’ll run out of inodes before we run out of space on e.g. our home1 filesystem:</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 df -ih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Filesystem     Inodes IUsed IFree IUse% Mounted on</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home1            287M  141M  146M   50%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 df -h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Filesystem      Size  Used Avail Use% Mounted on</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home1           121T   56T   66T  46%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095"/>
        <p:cNvGrpSpPr/>
        <p:nvPr/>
      </p:nvGrpSpPr>
      <p:grpSpPr>
        <a:xfrm>
          <a:off x="0" y="0"/>
          <a:ext cx="0" cy="0"/>
          <a:chOff x="0" y="0"/>
          <a:chExt cx="0" cy="0"/>
        </a:xfrm>
      </p:grpSpPr>
      <p:sp>
        <p:nvSpPr>
          <p:cNvPr id="7096" name="Google Shape;7096;p105"/>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97" name="Google Shape;7097;p105"/>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98" name="Google Shape;7098;p105"/>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99" name="Google Shape;7099;p105"/>
          <p:cNvSpPr txBox="1">
            <a:spLocks noGrp="1"/>
          </p:cNvSpPr>
          <p:nvPr>
            <p:ph type="body" idx="1"/>
          </p:nvPr>
        </p:nvSpPr>
        <p:spPr>
          <a:xfrm>
            <a:off x="714365" y="1652635"/>
            <a:ext cx="64065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Suppose your dataset is 10k png files of 2k each…</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Home1: 121TB, 287M inodes, so 421k per inode</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If everyone does this, the filesystem will be full of inodes, with 99.5% / 120 TB (!) storage still available…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7100" name="Google Shape;7100;p105"/>
          <p:cNvPicPr preferRelativeResize="0"/>
          <p:nvPr/>
        </p:nvPicPr>
        <p:blipFill rotWithShape="1">
          <a:blip r:embed="rId4">
            <a:alphaModFix/>
          </a:blip>
          <a:srcRect r="60955"/>
          <a:stretch/>
        </p:blipFill>
        <p:spPr>
          <a:xfrm>
            <a:off x="6745754" y="678662"/>
            <a:ext cx="3818200" cy="55006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104"/>
        <p:cNvGrpSpPr/>
        <p:nvPr/>
      </p:nvGrpSpPr>
      <p:grpSpPr>
        <a:xfrm>
          <a:off x="0" y="0"/>
          <a:ext cx="0" cy="0"/>
          <a:chOff x="0" y="0"/>
          <a:chExt cx="0" cy="0"/>
        </a:xfrm>
      </p:grpSpPr>
      <p:sp>
        <p:nvSpPr>
          <p:cNvPr id="7105" name="Google Shape;7105;p106"/>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106" name="Google Shape;7106;p106"/>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07" name="Google Shape;7107;p106"/>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08" name="Google Shape;7108;p106"/>
          <p:cNvSpPr txBox="1">
            <a:spLocks noGrp="1"/>
          </p:cNvSpPr>
          <p:nvPr>
            <p:ph type="body" idx="1"/>
          </p:nvPr>
        </p:nvSpPr>
        <p:spPr>
          <a:xfrm>
            <a:off x="714365" y="1652635"/>
            <a:ext cx="64065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Suppose your dataset is 10k png files of 2k each…</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Home1: 121TB, 287M inodes, so 421k per inode</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If everyone does this, the filesystem will be full of inodes, with 99.5% / 120 TB (!) storage still available…</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If you run 100 epochs, you’ll do 1M I/O operations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Your sysadmin won’t like you</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Your fellow users won’t like you: everyone suffers slow I/O because of your job!</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You shouldn’t like you: your I/O might be holding back your training performance…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7109" name="Google Shape;7109;p106"/>
          <p:cNvPicPr preferRelativeResize="0"/>
          <p:nvPr/>
        </p:nvPicPr>
        <p:blipFill rotWithShape="1">
          <a:blip r:embed="rId4">
            <a:alphaModFix/>
          </a:blip>
          <a:srcRect r="60955"/>
          <a:stretch/>
        </p:blipFill>
        <p:spPr>
          <a:xfrm>
            <a:off x="6745754" y="678662"/>
            <a:ext cx="3818200" cy="55006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113"/>
        <p:cNvGrpSpPr/>
        <p:nvPr/>
      </p:nvGrpSpPr>
      <p:grpSpPr>
        <a:xfrm>
          <a:off x="0" y="0"/>
          <a:ext cx="0" cy="0"/>
          <a:chOff x="0" y="0"/>
          <a:chExt cx="0" cy="0"/>
        </a:xfrm>
      </p:grpSpPr>
      <p:sp>
        <p:nvSpPr>
          <p:cNvPr id="7114" name="Google Shape;7114;p107"/>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Packed Data Format</a:t>
            </a:r>
            <a:endParaRPr sz="3700" b="1" dirty="0"/>
          </a:p>
        </p:txBody>
      </p:sp>
      <p:sp>
        <p:nvSpPr>
          <p:cNvPr id="7115" name="Google Shape;7115;p107"/>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16" name="Google Shape;7116;p107"/>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17" name="Google Shape;7117;p107"/>
          <p:cNvSpPr txBox="1">
            <a:spLocks noGrp="1"/>
          </p:cNvSpPr>
          <p:nvPr>
            <p:ph type="body" idx="1"/>
          </p:nvPr>
        </p:nvSpPr>
        <p:spPr>
          <a:xfrm>
            <a:off x="714365" y="1291935"/>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What is a ‘packed data format’?</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Group multiple individual files together in a single ‘packed’/archive file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7118" name="Google Shape;7118;p107"/>
          <p:cNvPicPr preferRelativeResize="0"/>
          <p:nvPr/>
        </p:nvPicPr>
        <p:blipFill rotWithShape="1">
          <a:blip r:embed="rId4">
            <a:alphaModFix/>
          </a:blip>
          <a:srcRect/>
          <a:stretch/>
        </p:blipFill>
        <p:spPr>
          <a:xfrm>
            <a:off x="1698975" y="2054375"/>
            <a:ext cx="8052348" cy="45285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122"/>
        <p:cNvGrpSpPr/>
        <p:nvPr/>
      </p:nvGrpSpPr>
      <p:grpSpPr>
        <a:xfrm>
          <a:off x="0" y="0"/>
          <a:ext cx="0" cy="0"/>
          <a:chOff x="0" y="0"/>
          <a:chExt cx="0" cy="0"/>
        </a:xfrm>
      </p:grpSpPr>
      <p:sp>
        <p:nvSpPr>
          <p:cNvPr id="7123" name="Google Shape;7123;p108"/>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24" name="Google Shape;7124;p108"/>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25" name="Google Shape;7125;p108"/>
          <p:cNvSpPr txBox="1">
            <a:spLocks noGrp="1"/>
          </p:cNvSpPr>
          <p:nvPr>
            <p:ph type="body" idx="1"/>
          </p:nvPr>
        </p:nvSpPr>
        <p:spPr>
          <a:xfrm>
            <a:off x="657215" y="175341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400" b="1" i="0" u="none" strike="noStrike" cap="none" dirty="0">
                <a:solidFill>
                  <a:srgbClr val="000000"/>
                </a:solidFill>
              </a:rPr>
              <a:t>What</a:t>
            </a:r>
            <a:r>
              <a:rPr lang="en-US" sz="2000" b="0" i="0" u="none" strike="noStrike" cap="none" dirty="0">
                <a:solidFill>
                  <a:srgbClr val="000000"/>
                </a:solidFill>
                <a:latin typeface="Calibri"/>
                <a:ea typeface="Calibri"/>
                <a:cs typeface="Calibri"/>
                <a:sym typeface="Calibri"/>
              </a:rPr>
              <a:t> is a ‘packed data format’?</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Group multiple individual files together in a single ‘packed’/archive file</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Examples of packed data formats → ZIP, TAR, LMDB, HDF5, PARQUET, etc.</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Does not necessarily involve compression!</a:t>
            </a:r>
            <a:endParaRPr sz="2000" b="0" i="0" u="none" strike="noStrike" cap="none" dirty="0">
              <a:solidFill>
                <a:schemeClr val="dk1"/>
              </a:solidFill>
              <a:latin typeface="Calibri"/>
              <a:ea typeface="Calibri"/>
              <a:cs typeface="Calibri"/>
              <a:sym typeface="Calibri"/>
            </a:endParaRPr>
          </a:p>
          <a:p>
            <a:pPr marL="569879" marR="0" lvl="1"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Compression is possible, but often runs on single process, so slow to decompress </a:t>
            </a: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1202"/>
              </a:spcBef>
              <a:spcAft>
                <a:spcPts val="0"/>
              </a:spcAft>
              <a:buNone/>
            </a:pPr>
            <a:endParaRPr sz="2000" dirty="0">
              <a:solidFill>
                <a:srgbClr val="000000"/>
              </a:solidFill>
            </a:endParaRPr>
          </a:p>
          <a:p>
            <a:pPr marL="0" marR="0" lvl="0" indent="0" algn="l" rtl="0">
              <a:lnSpc>
                <a:spcPct val="100000"/>
              </a:lnSpc>
              <a:spcBef>
                <a:spcPts val="1202"/>
              </a:spcBef>
              <a:spcAft>
                <a:spcPts val="0"/>
              </a:spcAft>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p:txBody>
      </p:sp>
      <p:pic>
        <p:nvPicPr>
          <p:cNvPr id="7126" name="Google Shape;7126;p108"/>
          <p:cNvPicPr preferRelativeResize="0"/>
          <p:nvPr/>
        </p:nvPicPr>
        <p:blipFill>
          <a:blip r:embed="rId4">
            <a:alphaModFix/>
          </a:blip>
          <a:stretch>
            <a:fillRect/>
          </a:stretch>
        </p:blipFill>
        <p:spPr>
          <a:xfrm>
            <a:off x="657225" y="3975450"/>
            <a:ext cx="5124525" cy="2882551"/>
          </a:xfrm>
          <a:prstGeom prst="rect">
            <a:avLst/>
          </a:prstGeom>
          <a:noFill/>
          <a:ln>
            <a:noFill/>
          </a:ln>
        </p:spPr>
      </p:pic>
      <p:sp>
        <p:nvSpPr>
          <p:cNvPr id="7127" name="Google Shape;7127;p108"/>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Packed Data Format</a:t>
            </a:r>
            <a:endParaRPr sz="37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131"/>
        <p:cNvGrpSpPr/>
        <p:nvPr/>
      </p:nvGrpSpPr>
      <p:grpSpPr>
        <a:xfrm>
          <a:off x="0" y="0"/>
          <a:ext cx="0" cy="0"/>
          <a:chOff x="0" y="0"/>
          <a:chExt cx="0" cy="0"/>
        </a:xfrm>
      </p:grpSpPr>
      <p:sp>
        <p:nvSpPr>
          <p:cNvPr id="7132" name="Google Shape;7132;p109"/>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33" name="Google Shape;7133;p109"/>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34" name="Google Shape;7134;p109"/>
          <p:cNvSpPr txBox="1">
            <a:spLocks noGrp="1"/>
          </p:cNvSpPr>
          <p:nvPr>
            <p:ph type="body" idx="1"/>
          </p:nvPr>
        </p:nvSpPr>
        <p:spPr>
          <a:xfrm>
            <a:off x="657215" y="175341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400" b="1" i="0" u="none" strike="noStrike" cap="none">
                <a:solidFill>
                  <a:srgbClr val="000000"/>
                </a:solidFill>
              </a:rPr>
              <a:t>What</a:t>
            </a:r>
            <a:r>
              <a:rPr lang="en-US" sz="2000" b="0" i="0" u="none" strike="noStrike" cap="none">
                <a:solidFill>
                  <a:srgbClr val="000000"/>
                </a:solidFill>
                <a:latin typeface="Calibri"/>
                <a:ea typeface="Calibri"/>
                <a:cs typeface="Calibri"/>
                <a:sym typeface="Calibri"/>
              </a:rPr>
              <a:t> is a ‘packed data format’?</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Group multiple individual files together in a single ‘packed’/archive file</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Examples of packed data formats → ZIP, TAR, LMDB, HDF5, PARQUET, etc.</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Does not necessarily involve compression!</a:t>
            </a:r>
            <a:endParaRPr sz="2000" b="0" i="0" u="none" strike="noStrike" cap="none">
              <a:solidFill>
                <a:schemeClr val="dk1"/>
              </a:solidFill>
              <a:latin typeface="Calibri"/>
              <a:ea typeface="Calibri"/>
              <a:cs typeface="Calibri"/>
              <a:sym typeface="Calibri"/>
            </a:endParaRPr>
          </a:p>
          <a:p>
            <a:pPr marL="569879" marR="0" lvl="1"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Compression is possible, but often runs on single process, so slow to decompress </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1202"/>
              </a:spcBef>
              <a:spcAft>
                <a:spcPts val="0"/>
              </a:spcAft>
              <a:buNone/>
            </a:pPr>
            <a:endParaRPr sz="2000">
              <a:solidFill>
                <a:srgbClr val="000000"/>
              </a:solidFill>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35" name="Google Shape;7135;p109"/>
          <p:cNvSpPr txBox="1">
            <a:spLocks noGrp="1"/>
          </p:cNvSpPr>
          <p:nvPr>
            <p:ph type="body" idx="1"/>
          </p:nvPr>
        </p:nvSpPr>
        <p:spPr>
          <a:xfrm>
            <a:off x="606865" y="4177460"/>
            <a:ext cx="9881700" cy="4456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000"/>
              <a:buFont typeface="Calibri"/>
              <a:buNone/>
            </a:pPr>
            <a:r>
              <a:rPr lang="en-US" sz="2400" b="1"/>
              <a:t>Why </a:t>
            </a:r>
            <a:r>
              <a:rPr lang="en-US" sz="2000"/>
              <a:t>packed data format</a:t>
            </a:r>
            <a:br>
              <a:rPr lang="en-US" sz="2000"/>
            </a:br>
            <a:endParaRPr sz="2000">
              <a:solidFill>
                <a:srgbClr val="000000"/>
              </a:solidFill>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HPC systems use a </a:t>
            </a:r>
            <a:r>
              <a:rPr lang="en-US" sz="2000" b="1" i="0" u="none" strike="noStrike" cap="none">
                <a:solidFill>
                  <a:srgbClr val="000000"/>
                </a:solidFill>
                <a:latin typeface="Calibri"/>
                <a:ea typeface="Calibri"/>
                <a:cs typeface="Calibri"/>
                <a:sym typeface="Calibri"/>
              </a:rPr>
              <a:t>shared</a:t>
            </a:r>
            <a:r>
              <a:rPr lang="en-US" sz="2000" b="0" i="0" u="none" strike="noStrike" cap="none">
                <a:solidFill>
                  <a:srgbClr val="000000"/>
                </a:solidFill>
                <a:latin typeface="Calibri"/>
                <a:ea typeface="Calibri"/>
                <a:cs typeface="Calibri"/>
                <a:sym typeface="Calibri"/>
              </a:rPr>
              <a:t> filesystem. Packed data formats…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Reduces inode consumption</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Reduces number of I/O operations/s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Reduces slowdown for yourself </a:t>
            </a:r>
            <a:r>
              <a:rPr lang="en-US" sz="2000" b="0" i="1" u="none" strike="noStrike" cap="none">
                <a:solidFill>
                  <a:srgbClr val="000000"/>
                </a:solidFill>
                <a:latin typeface="Calibri"/>
                <a:ea typeface="Calibri"/>
                <a:cs typeface="Calibri"/>
                <a:sym typeface="Calibri"/>
              </a:rPr>
              <a:t>and</a:t>
            </a:r>
            <a:r>
              <a:rPr lang="en-US" sz="2000" b="0" i="0" u="none" strike="noStrike" cap="none">
                <a:solidFill>
                  <a:srgbClr val="000000"/>
                </a:solidFill>
                <a:latin typeface="Calibri"/>
                <a:ea typeface="Calibri"/>
                <a:cs typeface="Calibri"/>
                <a:sym typeface="Calibri"/>
              </a:rPr>
              <a:t> other users</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36" name="Google Shape;7136;p109"/>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Packed Data Format</a:t>
            </a:r>
            <a:endParaRPr sz="3700" b="1" dirty="0"/>
          </a:p>
        </p:txBody>
      </p:sp>
      <p:sp>
        <p:nvSpPr>
          <p:cNvPr id="7137" name="Google Shape;7137;p109"/>
          <p:cNvSpPr txBox="1"/>
          <p:nvPr/>
        </p:nvSpPr>
        <p:spPr>
          <a:xfrm>
            <a:off x="7488575" y="5585875"/>
            <a:ext cx="32163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a:t>https://servicedesk.surf.nl/wiki/spaces/WIKI/pages/56295498/Best+Practice+for+Data+Formats+in+Deep+Learning</a:t>
            </a:r>
            <a:endParaRPr i="1"/>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141"/>
        <p:cNvGrpSpPr/>
        <p:nvPr/>
      </p:nvGrpSpPr>
      <p:grpSpPr>
        <a:xfrm>
          <a:off x="0" y="0"/>
          <a:ext cx="0" cy="0"/>
          <a:chOff x="0" y="0"/>
          <a:chExt cx="0" cy="0"/>
        </a:xfrm>
      </p:grpSpPr>
      <p:sp>
        <p:nvSpPr>
          <p:cNvPr id="7142" name="Google Shape;7142;p110"/>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Local Scratch Disks</a:t>
            </a:r>
            <a:endParaRPr sz="3700" b="1" dirty="0"/>
          </a:p>
        </p:txBody>
      </p:sp>
      <p:sp>
        <p:nvSpPr>
          <p:cNvPr id="7143" name="Google Shape;7143;p110"/>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44" name="Google Shape;7144;p110"/>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45" name="Google Shape;7145;p110"/>
          <p:cNvSpPr txBox="1">
            <a:spLocks noGrp="1"/>
          </p:cNvSpPr>
          <p:nvPr>
            <p:ph type="body" idx="1"/>
          </p:nvPr>
        </p:nvSpPr>
        <p:spPr>
          <a:xfrm>
            <a:off x="445740" y="175946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Some HPC systems have </a:t>
            </a:r>
            <a:r>
              <a:rPr lang="en-US" sz="2000" b="1" i="0" u="none" strike="noStrike" cap="none">
                <a:solidFill>
                  <a:srgbClr val="000000"/>
                </a:solidFill>
              </a:rPr>
              <a:t>local disks</a:t>
            </a:r>
            <a:r>
              <a:rPr lang="en-US" sz="2000" b="0" i="0" u="none" strike="noStrike" cap="none">
                <a:solidFill>
                  <a:srgbClr val="000000"/>
                </a:solidFill>
                <a:latin typeface="Calibri"/>
                <a:ea typeface="Calibri"/>
                <a:cs typeface="Calibri"/>
                <a:sym typeface="Calibri"/>
              </a:rPr>
              <a:t> </a:t>
            </a:r>
            <a:r>
              <a:rPr lang="en-US" sz="2000" b="0" i="1" u="none" strike="noStrike" cap="none">
                <a:solidFill>
                  <a:srgbClr val="000000"/>
                </a:solidFill>
                <a:latin typeface="Calibri"/>
                <a:ea typeface="Calibri"/>
                <a:cs typeface="Calibri"/>
                <a:sym typeface="Calibri"/>
              </a:rPr>
              <a:t>in</a:t>
            </a:r>
            <a:r>
              <a:rPr lang="en-US" sz="2000" b="0" i="0" u="none" strike="noStrike" cap="none">
                <a:solidFill>
                  <a:srgbClr val="000000"/>
                </a:solidFill>
                <a:latin typeface="Calibri"/>
                <a:ea typeface="Calibri"/>
                <a:cs typeface="Calibri"/>
                <a:sym typeface="Calibri"/>
              </a:rPr>
              <a:t> the nodes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On Snellius, these can be requested by adding </a:t>
            </a:r>
            <a:br>
              <a:rPr lang="en-US" sz="2000" b="0" i="0" u="none" strike="noStrike" cap="none"/>
            </a:br>
            <a:r>
              <a:rPr lang="en-US" sz="2000" b="0" i="0" u="none" strike="noStrike" cap="none">
                <a:solidFill>
                  <a:srgbClr val="000000"/>
                </a:solidFill>
                <a:latin typeface="Courier New"/>
                <a:ea typeface="Courier New"/>
                <a:cs typeface="Courier New"/>
                <a:sym typeface="Courier New"/>
              </a:rPr>
              <a:t>#SBATCH –constraint=scratch-node</a:t>
            </a:r>
            <a:r>
              <a:rPr lang="en-US" sz="2000" b="0" i="0" u="none" strike="noStrike" cap="none">
                <a:solidFill>
                  <a:srgbClr val="000000"/>
                </a:solidFill>
                <a:latin typeface="Calibri"/>
                <a:ea typeface="Calibri"/>
                <a:cs typeface="Calibri"/>
                <a:sym typeface="Calibri"/>
              </a:rPr>
              <a:t> to your batch script</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Note: about half our GPU nodes have local scratch disk. You might be in the queue longer if you request </a:t>
            </a:r>
            <a:r>
              <a:rPr lang="en-US" sz="2000" b="0" i="0" u="none" strike="noStrike" cap="none">
                <a:solidFill>
                  <a:srgbClr val="000000"/>
                </a:solidFill>
                <a:latin typeface="Courier New"/>
                <a:ea typeface="Courier New"/>
                <a:cs typeface="Courier New"/>
                <a:sym typeface="Courier New"/>
              </a:rPr>
              <a:t>scratch-node</a:t>
            </a:r>
            <a:r>
              <a:rPr lang="en-US" sz="2000" b="0" i="0" u="none" strike="noStrike" cap="none">
                <a:solidFill>
                  <a:srgbClr val="000000"/>
                </a:solidFill>
                <a:latin typeface="Calibri"/>
                <a:ea typeface="Calibri"/>
                <a:cs typeface="Calibri"/>
                <a:sym typeface="Calibri"/>
              </a:rPr>
              <a:t>, so only do it if you think you benefit from it</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149"/>
        <p:cNvGrpSpPr/>
        <p:nvPr/>
      </p:nvGrpSpPr>
      <p:grpSpPr>
        <a:xfrm>
          <a:off x="0" y="0"/>
          <a:ext cx="0" cy="0"/>
          <a:chOff x="0" y="0"/>
          <a:chExt cx="0" cy="0"/>
        </a:xfrm>
      </p:grpSpPr>
      <p:sp>
        <p:nvSpPr>
          <p:cNvPr id="7150" name="Google Shape;7150;p111"/>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Local Scratch Disks</a:t>
            </a:r>
            <a:endParaRPr sz="3700" b="1" dirty="0"/>
          </a:p>
        </p:txBody>
      </p:sp>
      <p:sp>
        <p:nvSpPr>
          <p:cNvPr id="7151" name="Google Shape;7151;p111"/>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52" name="Google Shape;7152;p111"/>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53" name="Google Shape;7153;p111"/>
          <p:cNvSpPr txBox="1">
            <a:spLocks noGrp="1"/>
          </p:cNvSpPr>
          <p:nvPr>
            <p:ph type="body" idx="1"/>
          </p:nvPr>
        </p:nvSpPr>
        <p:spPr>
          <a:xfrm>
            <a:off x="445740" y="175946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Some HPC systems have </a:t>
            </a:r>
            <a:r>
              <a:rPr lang="en-US" sz="2000" b="1" i="0" u="none" strike="noStrike" cap="none">
                <a:solidFill>
                  <a:srgbClr val="000000"/>
                </a:solidFill>
              </a:rPr>
              <a:t>local disks</a:t>
            </a:r>
            <a:r>
              <a:rPr lang="en-US" sz="2000" b="0" i="0" u="none" strike="noStrike" cap="none">
                <a:solidFill>
                  <a:srgbClr val="000000"/>
                </a:solidFill>
                <a:latin typeface="Calibri"/>
                <a:ea typeface="Calibri"/>
                <a:cs typeface="Calibri"/>
                <a:sym typeface="Calibri"/>
              </a:rPr>
              <a:t> </a:t>
            </a:r>
            <a:r>
              <a:rPr lang="en-US" sz="2000" b="0" i="1" u="none" strike="noStrike" cap="none">
                <a:solidFill>
                  <a:srgbClr val="000000"/>
                </a:solidFill>
                <a:latin typeface="Calibri"/>
                <a:ea typeface="Calibri"/>
                <a:cs typeface="Calibri"/>
                <a:sym typeface="Calibri"/>
              </a:rPr>
              <a:t>in</a:t>
            </a:r>
            <a:r>
              <a:rPr lang="en-US" sz="2000" b="0" i="0" u="none" strike="noStrike" cap="none">
                <a:solidFill>
                  <a:srgbClr val="000000"/>
                </a:solidFill>
                <a:latin typeface="Calibri"/>
                <a:ea typeface="Calibri"/>
                <a:cs typeface="Calibri"/>
                <a:sym typeface="Calibri"/>
              </a:rPr>
              <a:t> the nodes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On Snellius, these can be requested by adding </a:t>
            </a:r>
            <a:br>
              <a:rPr lang="en-US" sz="2000" b="0" i="0" u="none" strike="noStrike" cap="none"/>
            </a:br>
            <a:r>
              <a:rPr lang="en-US" sz="2000" b="0" i="0" u="none" strike="noStrike" cap="none">
                <a:solidFill>
                  <a:srgbClr val="000000"/>
                </a:solidFill>
                <a:latin typeface="Courier New"/>
                <a:ea typeface="Courier New"/>
                <a:cs typeface="Courier New"/>
                <a:sym typeface="Courier New"/>
              </a:rPr>
              <a:t>#SBATCH –constraint=scratch-node</a:t>
            </a:r>
            <a:r>
              <a:rPr lang="en-US" sz="2000" b="0" i="0" u="none" strike="noStrike" cap="none">
                <a:solidFill>
                  <a:srgbClr val="000000"/>
                </a:solidFill>
                <a:latin typeface="Calibri"/>
                <a:ea typeface="Calibri"/>
                <a:cs typeface="Calibri"/>
                <a:sym typeface="Calibri"/>
              </a:rPr>
              <a:t> to your batch script</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Note: about half our GPU nodes have local scratch disk. You might be in the queue longer if you request </a:t>
            </a:r>
            <a:r>
              <a:rPr lang="en-US" sz="2000" b="0" i="0" u="none" strike="noStrike" cap="none">
                <a:solidFill>
                  <a:srgbClr val="000000"/>
                </a:solidFill>
                <a:latin typeface="Courier New"/>
                <a:ea typeface="Courier New"/>
                <a:cs typeface="Courier New"/>
                <a:sym typeface="Courier New"/>
              </a:rPr>
              <a:t>scratch-node</a:t>
            </a:r>
            <a:r>
              <a:rPr lang="en-US" sz="2000" b="0" i="0" u="none" strike="noStrike" cap="none">
                <a:solidFill>
                  <a:srgbClr val="000000"/>
                </a:solidFill>
                <a:latin typeface="Calibri"/>
                <a:ea typeface="Calibri"/>
                <a:cs typeface="Calibri"/>
                <a:sym typeface="Calibri"/>
              </a:rPr>
              <a:t>, so only do it if you think you benefit from it</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Local scratch disks can usually handle much more IOPs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Local scratch disks are </a:t>
            </a:r>
            <a:r>
              <a:rPr lang="en-US" sz="2000" b="1" i="0" u="none" strike="noStrike" cap="none">
                <a:solidFill>
                  <a:srgbClr val="000000"/>
                </a:solidFill>
              </a:rPr>
              <a:t>shared</a:t>
            </a:r>
            <a:r>
              <a:rPr lang="en-US" sz="2000" b="0" i="0" u="none" strike="noStrike" cap="none">
                <a:solidFill>
                  <a:srgbClr val="000000"/>
                </a:solidFill>
                <a:latin typeface="Calibri"/>
                <a:ea typeface="Calibri"/>
                <a:cs typeface="Calibri"/>
                <a:sym typeface="Calibri"/>
              </a:rPr>
              <a:t> between all users in a node</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Users on the same node </a:t>
            </a:r>
            <a:r>
              <a:rPr lang="en-US" sz="2000" b="0" i="1" u="none" strike="noStrike" cap="none">
                <a:solidFill>
                  <a:srgbClr val="000000"/>
                </a:solidFill>
                <a:latin typeface="Calibri"/>
                <a:ea typeface="Calibri"/>
                <a:cs typeface="Calibri"/>
                <a:sym typeface="Calibri"/>
              </a:rPr>
              <a:t>may</a:t>
            </a:r>
            <a:r>
              <a:rPr lang="en-US" sz="2000" b="0" i="0" u="none" strike="noStrike" cap="none">
                <a:solidFill>
                  <a:srgbClr val="000000"/>
                </a:solidFill>
                <a:latin typeface="Calibri"/>
                <a:ea typeface="Calibri"/>
                <a:cs typeface="Calibri"/>
                <a:sym typeface="Calibri"/>
              </a:rPr>
              <a:t> still experience some effects when you ‘hammer’ local scratch with I/O, </a:t>
            </a:r>
            <a:r>
              <a:rPr lang="en-US" sz="2000" b="0" i="1" u="none" strike="noStrike" cap="none">
                <a:solidFill>
                  <a:srgbClr val="000000"/>
                </a:solidFill>
                <a:latin typeface="Calibri"/>
                <a:ea typeface="Calibri"/>
                <a:cs typeface="Calibri"/>
                <a:sym typeface="Calibri"/>
              </a:rPr>
              <a:t>but it’s way less bad than on a shared filesystem!</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57"/>
        <p:cNvGrpSpPr/>
        <p:nvPr/>
      </p:nvGrpSpPr>
      <p:grpSpPr>
        <a:xfrm>
          <a:off x="0" y="0"/>
          <a:ext cx="0" cy="0"/>
          <a:chOff x="0" y="0"/>
          <a:chExt cx="0" cy="0"/>
        </a:xfrm>
      </p:grpSpPr>
      <p:sp>
        <p:nvSpPr>
          <p:cNvPr id="7158" name="Google Shape;7158;p112"/>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Local Scratch Disks</a:t>
            </a:r>
            <a:endParaRPr sz="3700" b="1" dirty="0"/>
          </a:p>
        </p:txBody>
      </p:sp>
      <p:sp>
        <p:nvSpPr>
          <p:cNvPr id="7159" name="Google Shape;7159;p112"/>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60" name="Google Shape;7160;p112"/>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61" name="Google Shape;7161;p112"/>
          <p:cNvSpPr txBox="1">
            <a:spLocks noGrp="1"/>
          </p:cNvSpPr>
          <p:nvPr>
            <p:ph type="body" idx="1"/>
          </p:nvPr>
        </p:nvSpPr>
        <p:spPr>
          <a:xfrm>
            <a:off x="719990" y="153791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Some HPC systems have local disks </a:t>
            </a:r>
            <a:r>
              <a:rPr lang="en-US" sz="2000" b="0" i="1" u="none" strike="noStrike" cap="none" dirty="0">
                <a:solidFill>
                  <a:srgbClr val="000000"/>
                </a:solidFill>
                <a:latin typeface="Calibri"/>
                <a:ea typeface="Calibri"/>
                <a:cs typeface="Calibri"/>
                <a:sym typeface="Calibri"/>
              </a:rPr>
              <a:t>in</a:t>
            </a:r>
            <a:r>
              <a:rPr lang="en-US" sz="2000" b="0" i="0" u="none" strike="noStrike" cap="none" dirty="0">
                <a:solidFill>
                  <a:srgbClr val="000000"/>
                </a:solidFill>
                <a:latin typeface="Calibri"/>
                <a:ea typeface="Calibri"/>
                <a:cs typeface="Calibri"/>
                <a:sym typeface="Calibri"/>
              </a:rPr>
              <a:t> the nodes</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If you really need to use </a:t>
            </a:r>
            <a:r>
              <a:rPr lang="en-US" sz="2000" b="0" i="1" u="none" strike="noStrike" cap="none" dirty="0">
                <a:solidFill>
                  <a:srgbClr val="000000"/>
                </a:solidFill>
                <a:latin typeface="Calibri"/>
                <a:ea typeface="Calibri"/>
                <a:cs typeface="Calibri"/>
                <a:sym typeface="Calibri"/>
              </a:rPr>
              <a:t>individual</a:t>
            </a:r>
            <a:r>
              <a:rPr lang="en-US" sz="2000" b="0" i="0" u="none" strike="noStrike" cap="none" dirty="0">
                <a:solidFill>
                  <a:srgbClr val="000000"/>
                </a:solidFill>
                <a:latin typeface="Calibri"/>
                <a:ea typeface="Calibri"/>
                <a:cs typeface="Calibri"/>
                <a:sym typeface="Calibri"/>
              </a:rPr>
              <a:t> files instead of a packed file format, use local scratch disks in the following way:</a:t>
            </a: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p:txBody>
      </p:sp>
      <p:sp>
        <p:nvSpPr>
          <p:cNvPr id="7162" name="Google Shape;7162;p112"/>
          <p:cNvSpPr txBox="1"/>
          <p:nvPr/>
        </p:nvSpPr>
        <p:spPr>
          <a:xfrm>
            <a:off x="2497450" y="3429000"/>
            <a:ext cx="5800500" cy="1621200"/>
          </a:xfrm>
          <a:prstGeom prst="rect">
            <a:avLst/>
          </a:prstGeom>
          <a:noFill/>
          <a:ln>
            <a:noFill/>
          </a:ln>
        </p:spPr>
        <p:txBody>
          <a:bodyPr spcFirstLastPara="1" wrap="square" lIns="91425" tIns="91425" rIns="91425" bIns="91425" anchor="t" anchorCtr="0">
            <a:noAutofit/>
          </a:bodyPr>
          <a:lstStyle/>
          <a:p>
            <a:pPr marL="457200" lvl="0" indent="-355600" algn="l" rtl="0">
              <a:spcBef>
                <a:spcPts val="1202"/>
              </a:spcBef>
              <a:spcAft>
                <a:spcPts val="0"/>
              </a:spcAft>
              <a:buClr>
                <a:schemeClr val="dk1"/>
              </a:buClr>
              <a:buSzPts val="2000"/>
              <a:buFont typeface="Calibri"/>
              <a:buAutoNum type="arabicPeriod"/>
            </a:pPr>
            <a:r>
              <a:rPr lang="en-US" sz="2000" b="1">
                <a:solidFill>
                  <a:schemeClr val="dk1"/>
                </a:solidFill>
                <a:latin typeface="Calibri"/>
                <a:ea typeface="Calibri"/>
                <a:cs typeface="Calibri"/>
                <a:sym typeface="Calibri"/>
              </a:rPr>
              <a:t>Store</a:t>
            </a:r>
            <a:r>
              <a:rPr lang="en-US" sz="2000">
                <a:solidFill>
                  <a:schemeClr val="dk1"/>
                </a:solidFill>
                <a:latin typeface="Calibri"/>
                <a:ea typeface="Calibri"/>
                <a:cs typeface="Calibri"/>
                <a:sym typeface="Calibri"/>
              </a:rPr>
              <a:t> zip/tar on shared parallel Filesystem. </a:t>
            </a:r>
            <a:endParaRPr sz="2000">
              <a:solidFill>
                <a:schemeClr val="dk1"/>
              </a:solidFill>
              <a:latin typeface="Calibri"/>
              <a:ea typeface="Calibri"/>
              <a:cs typeface="Calibri"/>
              <a:sym typeface="Calibri"/>
            </a:endParaRPr>
          </a:p>
          <a:p>
            <a:pPr marL="457200" lvl="0" indent="-355600" algn="l" rtl="0">
              <a:spcBef>
                <a:spcPts val="1202"/>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At start of job: </a:t>
            </a:r>
            <a:r>
              <a:rPr lang="en-US" sz="2000" b="1">
                <a:solidFill>
                  <a:schemeClr val="dk1"/>
                </a:solidFill>
                <a:latin typeface="Calibri"/>
                <a:ea typeface="Calibri"/>
                <a:cs typeface="Calibri"/>
                <a:sym typeface="Calibri"/>
              </a:rPr>
              <a:t>extract</a:t>
            </a:r>
            <a:r>
              <a:rPr lang="en-US" sz="2000">
                <a:solidFill>
                  <a:schemeClr val="dk1"/>
                </a:solidFill>
                <a:latin typeface="Calibri"/>
                <a:ea typeface="Calibri"/>
                <a:cs typeface="Calibri"/>
                <a:sym typeface="Calibri"/>
              </a:rPr>
              <a:t> to local scratch dir (for every node, if you use multiple)</a:t>
            </a:r>
            <a:endParaRPr sz="2000">
              <a:solidFill>
                <a:schemeClr val="dk1"/>
              </a:solidFill>
              <a:latin typeface="Calibri"/>
              <a:ea typeface="Calibri"/>
              <a:cs typeface="Calibri"/>
              <a:sym typeface="Calibri"/>
            </a:endParaRPr>
          </a:p>
          <a:p>
            <a:pPr marL="457200" lvl="0" indent="-355600" algn="l" rtl="0">
              <a:spcBef>
                <a:spcPts val="1202"/>
              </a:spcBef>
              <a:spcAft>
                <a:spcPts val="0"/>
              </a:spcAft>
              <a:buClr>
                <a:schemeClr val="dk1"/>
              </a:buClr>
              <a:buSzPts val="2000"/>
              <a:buFont typeface="Calibri"/>
              <a:buAutoNum type="arabicPeriod"/>
            </a:pPr>
            <a:r>
              <a:rPr lang="en-US" sz="2000" b="1">
                <a:solidFill>
                  <a:schemeClr val="dk1"/>
                </a:solidFill>
                <a:latin typeface="Calibri"/>
                <a:ea typeface="Calibri"/>
                <a:cs typeface="Calibri"/>
                <a:sym typeface="Calibri"/>
              </a:rPr>
              <a:t>Do </a:t>
            </a:r>
            <a:r>
              <a:rPr lang="en-US" sz="2000">
                <a:solidFill>
                  <a:schemeClr val="dk1"/>
                </a:solidFill>
                <a:latin typeface="Calibri"/>
                <a:ea typeface="Calibri"/>
                <a:cs typeface="Calibri"/>
                <a:sym typeface="Calibri"/>
              </a:rPr>
              <a:t>any further I/O from that local scratch dir</a:t>
            </a:r>
            <a:endParaRPr sz="19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76524-C086-86D1-BBF0-3907DD4086BE}"/>
              </a:ext>
            </a:extLst>
          </p:cNvPr>
          <p:cNvSpPr>
            <a:spLocks noGrp="1"/>
          </p:cNvSpPr>
          <p:nvPr>
            <p:ph type="title"/>
          </p:nvPr>
        </p:nvSpPr>
        <p:spPr/>
        <p:txBody>
          <a:bodyPr/>
          <a:lstStyle/>
          <a:p>
            <a:r>
              <a:rPr lang="en-US" dirty="0"/>
              <a:t>Practically</a:t>
            </a:r>
            <a:endParaRPr lang="en-NL" dirty="0"/>
          </a:p>
        </p:txBody>
      </p:sp>
      <p:sp>
        <p:nvSpPr>
          <p:cNvPr id="3" name="Text Placeholder 2">
            <a:extLst>
              <a:ext uri="{FF2B5EF4-FFF2-40B4-BE49-F238E27FC236}">
                <a16:creationId xmlns:a16="http://schemas.microsoft.com/office/drawing/2014/main" id="{04931ED2-C547-B551-E84D-9E1DCC220DDD}"/>
              </a:ext>
            </a:extLst>
          </p:cNvPr>
          <p:cNvSpPr>
            <a:spLocks noGrp="1"/>
          </p:cNvSpPr>
          <p:nvPr>
            <p:ph type="body" idx="1"/>
          </p:nvPr>
        </p:nvSpPr>
        <p:spPr/>
        <p:txBody>
          <a:bodyPr/>
          <a:lstStyle/>
          <a:p>
            <a:pPr marL="514350" indent="-285750">
              <a:buFont typeface="Arial" panose="020B0604020202020204" pitchFamily="34" charset="0"/>
              <a:buChar char="•"/>
            </a:pPr>
            <a:r>
              <a:rPr lang="en-US" dirty="0"/>
              <a:t>Use </a:t>
            </a:r>
            <a:r>
              <a:rPr lang="en-US" dirty="0" err="1"/>
              <a:t>WebDataset</a:t>
            </a:r>
            <a:endParaRPr lang="en-US" dirty="0"/>
          </a:p>
          <a:p>
            <a:pPr marL="514350" indent="-285750">
              <a:buFont typeface="Arial" panose="020B0604020202020204" pitchFamily="34" charset="0"/>
              <a:buChar char="•"/>
            </a:pPr>
            <a:r>
              <a:rPr lang="en-US" dirty="0"/>
              <a:t>Use Huggingface datasets</a:t>
            </a:r>
            <a:endParaRPr lang="en-NL" dirty="0"/>
          </a:p>
        </p:txBody>
      </p:sp>
      <p:pic>
        <p:nvPicPr>
          <p:cNvPr id="5" name="Picture 4" descr="A screenshot of a computer&#10;&#10;AI-generated content may be incorrect.">
            <a:extLst>
              <a:ext uri="{FF2B5EF4-FFF2-40B4-BE49-F238E27FC236}">
                <a16:creationId xmlns:a16="http://schemas.microsoft.com/office/drawing/2014/main" id="{07C02BE8-69A2-0814-6E71-5EBD422BCF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74" y="3088603"/>
            <a:ext cx="5227375" cy="3653184"/>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6BDAFE14-4091-654D-0C3C-00111B2CBE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9694" y="0"/>
            <a:ext cx="6176127" cy="3133381"/>
          </a:xfrm>
          <a:prstGeom prst="rect">
            <a:avLst/>
          </a:prstGeom>
        </p:spPr>
      </p:pic>
    </p:spTree>
    <p:extLst>
      <p:ext uri="{BB962C8B-B14F-4D97-AF65-F5344CB8AC3E}">
        <p14:creationId xmlns:p14="http://schemas.microsoft.com/office/powerpoint/2010/main" val="2320989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10684545"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parallelism</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339241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What types of parallelization exist?</a:t>
            </a:r>
          </a:p>
          <a:p>
            <a:pPr>
              <a:buFont typeface="Arial" panose="020B0604020202020204" pitchFamily="34" charset="0"/>
              <a:buChar char="•"/>
            </a:pPr>
            <a:r>
              <a:rPr lang="en-US" dirty="0"/>
              <a:t>Instruction level parallelism</a:t>
            </a:r>
          </a:p>
          <a:p>
            <a:pPr>
              <a:buFont typeface="Arial" panose="020B0604020202020204" pitchFamily="34" charset="0"/>
              <a:buChar char="•"/>
            </a:pPr>
            <a:r>
              <a:rPr lang="en-US" dirty="0"/>
              <a:t>Embarrassingly parallel</a:t>
            </a:r>
          </a:p>
          <a:p>
            <a:pPr>
              <a:buFont typeface="Arial" panose="020B0604020202020204" pitchFamily="34" charset="0"/>
              <a:buChar char="•"/>
            </a:pPr>
            <a:r>
              <a:rPr lang="en-US" dirty="0"/>
              <a:t>Data parallel</a:t>
            </a:r>
          </a:p>
          <a:p>
            <a:pPr marL="404813" lvl="4" indent="287338">
              <a:buFont typeface="Arial" panose="020B0604020202020204" pitchFamily="34" charset="0"/>
              <a:buChar char="•"/>
            </a:pPr>
            <a:r>
              <a:rPr lang="nl-NL" dirty="0"/>
              <a:t>Fully Sharded Data parallel</a:t>
            </a:r>
          </a:p>
          <a:p>
            <a:pPr>
              <a:buFont typeface="Arial" panose="020B0604020202020204" pitchFamily="34" charset="0"/>
              <a:buChar char="•"/>
            </a:pPr>
            <a:r>
              <a:rPr lang="nl-NL" dirty="0"/>
              <a:t>Model parallel:</a:t>
            </a:r>
          </a:p>
          <a:p>
            <a:pPr marL="404813" lvl="4" indent="287338">
              <a:buFont typeface="Arial" panose="020B0604020202020204" pitchFamily="34" charset="0"/>
              <a:buChar char="•"/>
            </a:pPr>
            <a:r>
              <a:rPr lang="nl-NL" dirty="0"/>
              <a:t>Pipeline parallel</a:t>
            </a:r>
          </a:p>
          <a:p>
            <a:pPr marL="404813" lvl="4" indent="287338">
              <a:buFont typeface="Arial" panose="020B0604020202020204" pitchFamily="34" charset="0"/>
              <a:buChar char="•"/>
            </a:pPr>
            <a:r>
              <a:rPr lang="nl-NL" dirty="0"/>
              <a:t>Tensor parallel</a:t>
            </a:r>
          </a:p>
          <a:p>
            <a:pPr marL="404813" lvl="4" indent="287338">
              <a:buFont typeface="Arial" panose="020B0604020202020204" pitchFamily="34" charset="0"/>
              <a:buChar char="•"/>
            </a:pPr>
            <a:r>
              <a:rPr lang="nl-NL" dirty="0"/>
              <a:t>Sequence parallel </a:t>
            </a:r>
          </a:p>
          <a:p>
            <a:pPr>
              <a:buFont typeface="Arial" panose="020B0604020202020204" pitchFamily="34" charset="0"/>
              <a:buChar char="•"/>
            </a:pPr>
            <a:r>
              <a:rPr lang="nl-NL" dirty="0"/>
              <a:t>Hybrid data/model parallelism</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54</a:t>
            </a:fld>
            <a:endParaRPr lang="nl-NL"/>
          </a:p>
        </p:txBody>
      </p:sp>
      <p:cxnSp>
        <p:nvCxnSpPr>
          <p:cNvPr id="10" name="Straight Arrow Connector 9">
            <a:extLst>
              <a:ext uri="{FF2B5EF4-FFF2-40B4-BE49-F238E27FC236}">
                <a16:creationId xmlns:a16="http://schemas.microsoft.com/office/drawing/2014/main" id="{51199A66-A9AA-E73B-5F76-39349F5C0FBF}"/>
              </a:ext>
            </a:extLst>
          </p:cNvPr>
          <p:cNvCxnSpPr/>
          <p:nvPr/>
        </p:nvCxnSpPr>
        <p:spPr>
          <a:xfrm>
            <a:off x="5515886" y="2280716"/>
            <a:ext cx="0" cy="1069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418611-AE1F-9A8C-6234-EBE85BDC8AD0}"/>
              </a:ext>
            </a:extLst>
          </p:cNvPr>
          <p:cNvSpPr txBox="1"/>
          <p:nvPr/>
        </p:nvSpPr>
        <p:spPr>
          <a:xfrm>
            <a:off x="6223749" y="2644610"/>
            <a:ext cx="3133487" cy="276999"/>
          </a:xfrm>
          <a:prstGeom prst="rect">
            <a:avLst/>
          </a:prstGeom>
          <a:noFill/>
        </p:spPr>
        <p:txBody>
          <a:bodyPr wrap="none" lIns="0" tIns="0" rIns="0" bIns="0" rtlCol="0">
            <a:spAutoFit/>
          </a:bodyPr>
          <a:lstStyle/>
          <a:p>
            <a:pPr algn="l"/>
            <a:r>
              <a:rPr lang="nl-NL" dirty="0" err="1"/>
              <a:t>Increasing</a:t>
            </a:r>
            <a:r>
              <a:rPr lang="nl-NL" dirty="0"/>
              <a:t> </a:t>
            </a:r>
            <a:r>
              <a:rPr lang="nl-NL" dirty="0" err="1"/>
              <a:t>complexity</a:t>
            </a:r>
            <a:r>
              <a:rPr lang="nl-NL" dirty="0"/>
              <a:t>/</a:t>
            </a:r>
            <a:r>
              <a:rPr lang="nl-NL" dirty="0" err="1"/>
              <a:t>bandwidth</a:t>
            </a:r>
            <a:endParaRPr lang="nl-NL" dirty="0"/>
          </a:p>
        </p:txBody>
      </p:sp>
    </p:spTree>
    <p:extLst>
      <p:ext uri="{BB962C8B-B14F-4D97-AF65-F5344CB8AC3E}">
        <p14:creationId xmlns:p14="http://schemas.microsoft.com/office/powerpoint/2010/main" val="37347362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Instruction level parallelism</a:t>
            </a:r>
          </a:p>
          <a:p>
            <a:pPr marL="569913" lvl="1">
              <a:buFont typeface="Arial" panose="020B0604020202020204" pitchFamily="34" charset="0"/>
              <a:buChar char="•"/>
            </a:pPr>
            <a:r>
              <a:rPr lang="en-US" dirty="0"/>
              <a:t>Executing multiple instructions (e.g. additions) in parallel</a:t>
            </a:r>
          </a:p>
          <a:p>
            <a:pPr marL="569913" lvl="1">
              <a:buFont typeface="Arial" panose="020B0604020202020204" pitchFamily="34" charset="0"/>
              <a:buChar char="•"/>
            </a:pPr>
            <a:r>
              <a:rPr lang="en-US" dirty="0"/>
              <a:t>Examples: vector instructions (CPU), Tensor Cores (GPU)</a:t>
            </a:r>
          </a:p>
          <a:p>
            <a:pPr marL="569913" lvl="1">
              <a:buFont typeface="Arial" panose="020B0604020202020204" pitchFamily="34" charset="0"/>
              <a:buChar char="•"/>
            </a:pPr>
            <a:r>
              <a:rPr lang="en-US" dirty="0">
                <a:hlinkClick r:id="rId2"/>
              </a:rPr>
              <a:t>https://en.wikipedia.org/wiki/Instruction-level_parallelism</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55</a:t>
            </a:fld>
            <a:endParaRPr lang="nl-NL"/>
          </a:p>
        </p:txBody>
      </p:sp>
      <p:graphicFrame>
        <p:nvGraphicFramePr>
          <p:cNvPr id="6" name="Table 2">
            <a:extLst>
              <a:ext uri="{FF2B5EF4-FFF2-40B4-BE49-F238E27FC236}">
                <a16:creationId xmlns:a16="http://schemas.microsoft.com/office/drawing/2014/main" id="{7142D620-9FF3-1DAE-FA9E-07BEB322F5FD}"/>
              </a:ext>
            </a:extLst>
          </p:cNvPr>
          <p:cNvGraphicFramePr>
            <a:graphicFrameLocks noGrp="1"/>
          </p:cNvGraphicFramePr>
          <p:nvPr/>
        </p:nvGraphicFramePr>
        <p:xfrm>
          <a:off x="2797322" y="4533275"/>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1.1</a:t>
                      </a:r>
                    </a:p>
                  </a:txBody>
                  <a:tcPr anchor="ctr">
                    <a:solidFill>
                      <a:srgbClr val="BACAD0"/>
                    </a:solidFill>
                  </a:tcPr>
                </a:tc>
                <a:tc>
                  <a:txBody>
                    <a:bodyPr/>
                    <a:lstStyle/>
                    <a:p>
                      <a:pPr algn="ctr"/>
                      <a:r>
                        <a:rPr lang="en-US" dirty="0">
                          <a:solidFill>
                            <a:schemeClr val="tx1"/>
                          </a:solidFill>
                        </a:rPr>
                        <a:t>3.7</a:t>
                      </a:r>
                    </a:p>
                  </a:txBody>
                  <a:tcPr anchor="ctr">
                    <a:solidFill>
                      <a:srgbClr val="BACAD0"/>
                    </a:solidFill>
                  </a:tcPr>
                </a:tc>
                <a:tc>
                  <a:txBody>
                    <a:bodyPr/>
                    <a:lstStyle/>
                    <a:p>
                      <a:pPr algn="ctr"/>
                      <a:r>
                        <a:rPr lang="en-US" dirty="0">
                          <a:solidFill>
                            <a:schemeClr val="tx1"/>
                          </a:solidFill>
                        </a:rPr>
                        <a:t>-1.6</a:t>
                      </a:r>
                    </a:p>
                  </a:txBody>
                  <a:tcPr anchor="ctr">
                    <a:solidFill>
                      <a:srgbClr val="BACAD0"/>
                    </a:solidFill>
                  </a:tcPr>
                </a:tc>
                <a:tc>
                  <a:txBody>
                    <a:bodyPr/>
                    <a:lstStyle/>
                    <a:p>
                      <a:pPr algn="ctr"/>
                      <a:r>
                        <a:rPr lang="en-US" dirty="0">
                          <a:solidFill>
                            <a:schemeClr val="tx1"/>
                          </a:solidFill>
                        </a:rPr>
                        <a:t>2.3</a:t>
                      </a:r>
                    </a:p>
                  </a:txBody>
                  <a:tcPr anchor="ctr">
                    <a:solidFill>
                      <a:srgbClr val="BACAD0"/>
                    </a:solidFill>
                  </a:tcPr>
                </a:tc>
                <a:extLst>
                  <a:ext uri="{0D108BD9-81ED-4DB2-BD59-A6C34878D82A}">
                    <a16:rowId xmlns:a16="http://schemas.microsoft.com/office/drawing/2014/main" val="4071202945"/>
                  </a:ext>
                </a:extLst>
              </a:tr>
            </a:tbl>
          </a:graphicData>
        </a:graphic>
      </p:graphicFrame>
      <p:graphicFrame>
        <p:nvGraphicFramePr>
          <p:cNvPr id="7" name="Table 2">
            <a:extLst>
              <a:ext uri="{FF2B5EF4-FFF2-40B4-BE49-F238E27FC236}">
                <a16:creationId xmlns:a16="http://schemas.microsoft.com/office/drawing/2014/main" id="{59E5D436-A3FB-76EE-7B42-B58EBF8E93E1}"/>
              </a:ext>
            </a:extLst>
          </p:cNvPr>
          <p:cNvGraphicFramePr>
            <a:graphicFrameLocks noGrp="1"/>
          </p:cNvGraphicFramePr>
          <p:nvPr/>
        </p:nvGraphicFramePr>
        <p:xfrm>
          <a:off x="2797322" y="5312039"/>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-3.4</a:t>
                      </a:r>
                    </a:p>
                  </a:txBody>
                  <a:tcPr anchor="ctr">
                    <a:solidFill>
                      <a:srgbClr val="BACAD0"/>
                    </a:solidFill>
                  </a:tcPr>
                </a:tc>
                <a:tc>
                  <a:txBody>
                    <a:bodyPr/>
                    <a:lstStyle/>
                    <a:p>
                      <a:pPr algn="ctr"/>
                      <a:r>
                        <a:rPr lang="en-US" dirty="0">
                          <a:solidFill>
                            <a:schemeClr val="tx1"/>
                          </a:solidFill>
                        </a:rPr>
                        <a:t>1.7</a:t>
                      </a:r>
                    </a:p>
                  </a:txBody>
                  <a:tcPr anchor="ctr">
                    <a:solidFill>
                      <a:srgbClr val="BACAD0"/>
                    </a:solidFill>
                  </a:tcPr>
                </a:tc>
                <a:tc>
                  <a:txBody>
                    <a:bodyPr/>
                    <a:lstStyle/>
                    <a:p>
                      <a:pPr algn="ctr"/>
                      <a:r>
                        <a:rPr lang="en-US" dirty="0">
                          <a:solidFill>
                            <a:schemeClr val="tx1"/>
                          </a:solidFill>
                        </a:rPr>
                        <a:t>-0.2</a:t>
                      </a:r>
                    </a:p>
                  </a:txBody>
                  <a:tcPr anchor="ctr">
                    <a:solidFill>
                      <a:srgbClr val="BACAD0"/>
                    </a:solidFill>
                  </a:tcPr>
                </a:tc>
                <a:tc>
                  <a:txBody>
                    <a:bodyPr/>
                    <a:lstStyle/>
                    <a:p>
                      <a:pPr algn="ctr"/>
                      <a:r>
                        <a:rPr lang="en-US" dirty="0">
                          <a:solidFill>
                            <a:schemeClr val="tx1"/>
                          </a:solidFill>
                        </a:rPr>
                        <a:t>5.2</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8" name="TextBox 7">
            <a:extLst>
              <a:ext uri="{FF2B5EF4-FFF2-40B4-BE49-F238E27FC236}">
                <a16:creationId xmlns:a16="http://schemas.microsoft.com/office/drawing/2014/main" id="{8A75BC5F-8130-273A-A248-0BC031AAA83A}"/>
              </a:ext>
            </a:extLst>
          </p:cNvPr>
          <p:cNvSpPr txBox="1"/>
          <p:nvPr/>
        </p:nvSpPr>
        <p:spPr>
          <a:xfrm>
            <a:off x="2340064" y="4564806"/>
            <a:ext cx="533067" cy="369332"/>
          </a:xfrm>
          <a:prstGeom prst="rect">
            <a:avLst/>
          </a:prstGeom>
          <a:noFill/>
        </p:spPr>
        <p:txBody>
          <a:bodyPr wrap="square" rtlCol="0">
            <a:spAutoFit/>
          </a:bodyPr>
          <a:lstStyle/>
          <a:p>
            <a:r>
              <a:rPr lang="en-US" dirty="0"/>
              <a:t>X =</a:t>
            </a:r>
          </a:p>
        </p:txBody>
      </p:sp>
      <p:sp>
        <p:nvSpPr>
          <p:cNvPr id="9" name="TextBox 8">
            <a:extLst>
              <a:ext uri="{FF2B5EF4-FFF2-40B4-BE49-F238E27FC236}">
                <a16:creationId xmlns:a16="http://schemas.microsoft.com/office/drawing/2014/main" id="{EA7F0BA3-B6FC-E3DD-F6F6-815ECDC7D9E6}"/>
              </a:ext>
            </a:extLst>
          </p:cNvPr>
          <p:cNvSpPr txBox="1"/>
          <p:nvPr/>
        </p:nvSpPr>
        <p:spPr>
          <a:xfrm>
            <a:off x="2340065" y="5343570"/>
            <a:ext cx="590806" cy="369332"/>
          </a:xfrm>
          <a:prstGeom prst="rect">
            <a:avLst/>
          </a:prstGeom>
          <a:noFill/>
        </p:spPr>
        <p:txBody>
          <a:bodyPr wrap="square" rtlCol="0">
            <a:spAutoFit/>
          </a:bodyPr>
          <a:lstStyle/>
          <a:p>
            <a:r>
              <a:rPr lang="en-US" dirty="0"/>
              <a:t>Y = </a:t>
            </a:r>
          </a:p>
        </p:txBody>
      </p:sp>
      <p:graphicFrame>
        <p:nvGraphicFramePr>
          <p:cNvPr id="12" name="Table 2">
            <a:extLst>
              <a:ext uri="{FF2B5EF4-FFF2-40B4-BE49-F238E27FC236}">
                <a16:creationId xmlns:a16="http://schemas.microsoft.com/office/drawing/2014/main" id="{61F8FCE7-8D23-3051-847C-884A3C5121C8}"/>
              </a:ext>
            </a:extLst>
          </p:cNvPr>
          <p:cNvGraphicFramePr>
            <a:graphicFrameLocks noGrp="1"/>
          </p:cNvGraphicFramePr>
          <p:nvPr/>
        </p:nvGraphicFramePr>
        <p:xfrm>
          <a:off x="5631537" y="4872583"/>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-2.3</a:t>
                      </a:r>
                    </a:p>
                  </a:txBody>
                  <a:tcPr anchor="ctr">
                    <a:solidFill>
                      <a:srgbClr val="BACAD0"/>
                    </a:solidFill>
                  </a:tcPr>
                </a:tc>
                <a:tc>
                  <a:txBody>
                    <a:bodyPr/>
                    <a:lstStyle/>
                    <a:p>
                      <a:pPr algn="ctr"/>
                      <a:r>
                        <a:rPr lang="en-US" dirty="0">
                          <a:solidFill>
                            <a:schemeClr val="tx1"/>
                          </a:solidFill>
                        </a:rPr>
                        <a:t>5.4</a:t>
                      </a:r>
                    </a:p>
                  </a:txBody>
                  <a:tcPr anchor="ctr">
                    <a:solidFill>
                      <a:srgbClr val="BACAD0"/>
                    </a:solidFill>
                  </a:tcPr>
                </a:tc>
                <a:tc>
                  <a:txBody>
                    <a:bodyPr/>
                    <a:lstStyle/>
                    <a:p>
                      <a:pPr algn="ctr"/>
                      <a:r>
                        <a:rPr lang="en-US" dirty="0">
                          <a:solidFill>
                            <a:schemeClr val="tx1"/>
                          </a:solidFill>
                        </a:rPr>
                        <a:t>-1.8</a:t>
                      </a:r>
                    </a:p>
                  </a:txBody>
                  <a:tcPr anchor="ctr">
                    <a:solidFill>
                      <a:srgbClr val="BACAD0"/>
                    </a:solidFill>
                  </a:tcPr>
                </a:tc>
                <a:tc>
                  <a:txBody>
                    <a:bodyPr/>
                    <a:lstStyle/>
                    <a:p>
                      <a:pPr algn="ctr"/>
                      <a:r>
                        <a:rPr lang="en-US" dirty="0">
                          <a:solidFill>
                            <a:schemeClr val="tx1"/>
                          </a:solidFill>
                        </a:rPr>
                        <a:t>7.5</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13" name="TextBox 12">
            <a:extLst>
              <a:ext uri="{FF2B5EF4-FFF2-40B4-BE49-F238E27FC236}">
                <a16:creationId xmlns:a16="http://schemas.microsoft.com/office/drawing/2014/main" id="{96F1FCB5-5424-EB1F-70B9-EBEE465055B3}"/>
              </a:ext>
            </a:extLst>
          </p:cNvPr>
          <p:cNvSpPr txBox="1"/>
          <p:nvPr/>
        </p:nvSpPr>
        <p:spPr>
          <a:xfrm>
            <a:off x="5170658" y="4832946"/>
            <a:ext cx="423174"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7523C04C-9649-A5CC-AF9E-02EA0DEDFBC4}"/>
              </a:ext>
            </a:extLst>
          </p:cNvPr>
          <p:cNvSpPr txBox="1"/>
          <p:nvPr/>
        </p:nvSpPr>
        <p:spPr>
          <a:xfrm>
            <a:off x="3793265" y="4855706"/>
            <a:ext cx="423174" cy="461665"/>
          </a:xfrm>
          <a:prstGeom prst="rect">
            <a:avLst/>
          </a:prstGeom>
          <a:noFill/>
        </p:spPr>
        <p:txBody>
          <a:bodyPr wrap="square" rtlCol="0">
            <a:spAutoFit/>
          </a:bodyPr>
          <a:lstStyle/>
          <a:p>
            <a:r>
              <a:rPr lang="en-US" sz="2400" dirty="0"/>
              <a:t>+</a:t>
            </a:r>
          </a:p>
        </p:txBody>
      </p:sp>
    </p:spTree>
    <p:extLst>
      <p:ext uri="{BB962C8B-B14F-4D97-AF65-F5344CB8AC3E}">
        <p14:creationId xmlns:p14="http://schemas.microsoft.com/office/powerpoint/2010/main" val="216595961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Embarrassingly parallel</a:t>
            </a:r>
          </a:p>
          <a:p>
            <a:pPr marL="569913" lvl="1">
              <a:buFont typeface="Arial" panose="020B0604020202020204" pitchFamily="34" charset="0"/>
              <a:buChar char="•"/>
            </a:pPr>
            <a:r>
              <a:rPr lang="en-US" dirty="0"/>
              <a:t>A workload or problem where little or no effort is needed to separate into number of parallel tasks</a:t>
            </a:r>
          </a:p>
          <a:p>
            <a:pPr marL="569913" lvl="1">
              <a:buFont typeface="Arial" panose="020B0604020202020204" pitchFamily="34" charset="0"/>
              <a:buChar char="•"/>
            </a:pPr>
            <a:r>
              <a:rPr lang="en-US" dirty="0"/>
              <a:t>Examples: hyperparameter grid search, training multiple model architectures</a:t>
            </a:r>
          </a:p>
          <a:p>
            <a:pPr marL="569913" lvl="1">
              <a:buFont typeface="Arial" panose="020B0604020202020204" pitchFamily="34" charset="0"/>
              <a:buChar char="•"/>
            </a:pPr>
            <a:r>
              <a:rPr lang="en-US" dirty="0">
                <a:hlinkClick r:id="rId2"/>
              </a:rPr>
              <a:t>https://en.wikipedia.org/wiki/Embarrassingly_parallel</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56</a:t>
            </a:fld>
            <a:endParaRPr lang="nl-NL"/>
          </a:p>
        </p:txBody>
      </p:sp>
    </p:spTree>
    <p:extLst>
      <p:ext uri="{BB962C8B-B14F-4D97-AF65-F5344CB8AC3E}">
        <p14:creationId xmlns:p14="http://schemas.microsoft.com/office/powerpoint/2010/main" val="3492154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48938" y="833566"/>
            <a:ext cx="8974163" cy="4712231"/>
          </a:xfrm>
        </p:spPr>
        <p:txBody>
          <a:bodyPr/>
          <a:lstStyle/>
          <a:p>
            <a:pPr marL="0" indent="0">
              <a:buNone/>
            </a:pPr>
            <a:r>
              <a:rPr lang="en-US" dirty="0"/>
              <a:t>Train a single model, single set of hyperparameters, but </a:t>
            </a:r>
            <a:r>
              <a:rPr lang="en-US" b="1" i="1" dirty="0"/>
              <a:t>faster</a:t>
            </a:r>
            <a:endParaRPr lang="en-US" b="1" dirty="0"/>
          </a:p>
          <a:p>
            <a:pPr>
              <a:buFont typeface="Arial" panose="020B0604020202020204" pitchFamily="34" charset="0"/>
              <a:buChar char="•"/>
            </a:pPr>
            <a:r>
              <a:rPr lang="en-US" dirty="0"/>
              <a:t>Split the batch over multiple processors (CPUs/GPUs)</a:t>
            </a:r>
          </a:p>
          <a:p>
            <a:pPr>
              <a:buFont typeface="Arial" panose="020B0604020202020204" pitchFamily="34" charset="0"/>
              <a:buChar char="•"/>
            </a:pPr>
            <a:r>
              <a:rPr lang="en-US" dirty="0"/>
              <a:t>Each processor holds a copy of the model</a:t>
            </a:r>
          </a:p>
          <a:p>
            <a:pPr>
              <a:buFont typeface="Arial" panose="020B0604020202020204" pitchFamily="34" charset="0"/>
              <a:buChar char="•"/>
            </a:pPr>
            <a:r>
              <a:rPr lang="en-US" dirty="0"/>
              <a:t>Forward pass: calculated by each of the workers</a:t>
            </a:r>
          </a:p>
          <a:p>
            <a:pPr>
              <a:buFont typeface="Arial" panose="020B0604020202020204" pitchFamily="34" charset="0"/>
              <a:buChar char="•"/>
            </a:pPr>
            <a:r>
              <a:rPr lang="en-US" dirty="0"/>
              <a:t>Backward pass: gradients computed (per worker), communicated and aggregated</a:t>
            </a:r>
          </a:p>
          <a:p>
            <a:pPr>
              <a:buFont typeface="Arial" panose="020B0604020202020204" pitchFamily="34" charset="0"/>
              <a:buChar char="•"/>
            </a:pPr>
            <a:r>
              <a:rPr lang="en-US" dirty="0"/>
              <a:t>Effective batch size is a multiple of the number of workers</a:t>
            </a:r>
          </a:p>
          <a:p>
            <a:pPr>
              <a:buFont typeface="Arial" panose="020B0604020202020204" pitchFamily="34" charset="0"/>
              <a:buChar char="•"/>
            </a:pPr>
            <a:r>
              <a:rPr lang="en-US" dirty="0"/>
              <a:t>In reality: keep the per-device batch-size the same, just scale the global batch-size and increase LR proportionally</a:t>
            </a:r>
          </a:p>
          <a:p>
            <a:pPr>
              <a:buFont typeface="Arial" panose="020B0604020202020204" pitchFamily="34" charset="0"/>
              <a:buChar char="•"/>
            </a:pPr>
            <a:endParaRPr lang="en-US"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57</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471047" y="5885989"/>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71047" y="4392850"/>
            <a:ext cx="1268818" cy="8424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5926768" y="4407395"/>
            <a:ext cx="1350595" cy="827951"/>
            <a:chOff x="3221405" y="3951065"/>
            <a:chExt cx="2152502" cy="1319541"/>
          </a:xfrm>
        </p:grpSpPr>
        <p:sp>
          <p:nvSpPr>
            <p:cNvPr id="16" name="Oval 15">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B94DEA2-AA75-334C-8D87-785551076467}"/>
                </a:ext>
              </a:extLst>
            </p:cNvPr>
            <p:cNvCxnSpPr>
              <a:stCxn id="16" idx="6"/>
              <a:endCxn id="1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700B218-80B5-854E-8A20-998CD205B811}"/>
                </a:ext>
              </a:extLst>
            </p:cNvPr>
            <p:cNvCxnSpPr>
              <a:endCxn id="2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68EE955-F979-804F-966C-3B09E74A511E}"/>
                </a:ext>
              </a:extLst>
            </p:cNvPr>
            <p:cNvCxnSpPr>
              <a:endCxn id="2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FE34918-01CD-324E-ADC7-8C7618B9A137}"/>
                </a:ext>
              </a:extLst>
            </p:cNvPr>
            <p:cNvCxnSpPr>
              <a:endCxn id="2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4B8F354-AC16-1B41-9E21-62A17EFD04B0}"/>
                </a:ext>
              </a:extLst>
            </p:cNvPr>
            <p:cNvCxnSpPr>
              <a:endCxn id="1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2D17DA8-ADE8-7A41-A4B3-2AA2404B596C}"/>
                </a:ext>
              </a:extLst>
            </p:cNvPr>
            <p:cNvCxnSpPr>
              <a:endCxn id="23"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76B3456-D16B-9744-880A-A88B8590C98D}"/>
                </a:ext>
              </a:extLst>
            </p:cNvPr>
            <p:cNvCxnSpPr>
              <a:endCxn id="23"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F90248C-A018-2542-967F-34DCDEFE8026}"/>
                </a:ext>
              </a:extLst>
            </p:cNvPr>
            <p:cNvCxnSpPr>
              <a:endCxn id="23"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5926768" y="5834783"/>
            <a:ext cx="1350595" cy="827951"/>
            <a:chOff x="3221405" y="3951065"/>
            <a:chExt cx="2152502" cy="1319541"/>
          </a:xfrm>
        </p:grpSpPr>
        <p:sp>
          <p:nvSpPr>
            <p:cNvPr id="45" name="Oval 44">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4B94DEA2-AA75-334C-8D87-785551076467}"/>
                </a:ext>
              </a:extLst>
            </p:cNvPr>
            <p:cNvCxnSpPr>
              <a:stCxn id="45" idx="6"/>
              <a:endCxn id="48"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700B218-80B5-854E-8A20-998CD205B811}"/>
                </a:ext>
              </a:extLst>
            </p:cNvPr>
            <p:cNvCxnSpPr>
              <a:endCxn id="49"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68EE955-F979-804F-966C-3B09E74A511E}"/>
                </a:ext>
              </a:extLst>
            </p:cNvPr>
            <p:cNvCxnSpPr>
              <a:endCxn id="49"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FE34918-01CD-324E-ADC7-8C7618B9A137}"/>
                </a:ext>
              </a:extLst>
            </p:cNvPr>
            <p:cNvCxnSpPr>
              <a:endCxn id="50"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4B8F354-AC16-1B41-9E21-62A17EFD04B0}"/>
                </a:ext>
              </a:extLst>
            </p:cNvPr>
            <p:cNvCxnSpPr>
              <a:endCxn id="48"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2D17DA8-ADE8-7A41-A4B3-2AA2404B596C}"/>
                </a:ext>
              </a:extLst>
            </p:cNvPr>
            <p:cNvCxnSpPr>
              <a:endCxn id="51"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76B3456-D16B-9744-880A-A88B8590C98D}"/>
                </a:ext>
              </a:extLst>
            </p:cNvPr>
            <p:cNvCxnSpPr>
              <a:endCxn id="51"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F90248C-A018-2542-967F-34DCDEFE8026}"/>
                </a:ext>
              </a:extLst>
            </p:cNvPr>
            <p:cNvCxnSpPr>
              <a:endCxn id="51"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8468606" y="4677118"/>
            <a:ext cx="1081515" cy="276999"/>
          </a:xfrm>
          <a:prstGeom prst="rect">
            <a:avLst/>
          </a:prstGeom>
          <a:noFill/>
        </p:spPr>
        <p:txBody>
          <a:bodyPr wrap="none" lIns="0" tIns="0" rIns="0" bIns="0" rtlCol="0">
            <a:spAutoFit/>
          </a:bodyPr>
          <a:lstStyle/>
          <a:p>
            <a:pPr algn="l"/>
            <a:r>
              <a:rPr lang="nl-NL" dirty="0"/>
              <a:t>Processor 1</a:t>
            </a:r>
          </a:p>
        </p:txBody>
      </p:sp>
      <p:sp>
        <p:nvSpPr>
          <p:cNvPr id="69" name="Rectangle 68"/>
          <p:cNvSpPr/>
          <p:nvPr/>
        </p:nvSpPr>
        <p:spPr>
          <a:xfrm>
            <a:off x="3045890" y="560082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tangle 69"/>
          <p:cNvSpPr/>
          <p:nvPr/>
        </p:nvSpPr>
        <p:spPr>
          <a:xfrm>
            <a:off x="3045889" y="4177692"/>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TextBox 70"/>
          <p:cNvSpPr txBox="1"/>
          <p:nvPr/>
        </p:nvSpPr>
        <p:spPr>
          <a:xfrm>
            <a:off x="8504051" y="6133354"/>
            <a:ext cx="1081515" cy="276999"/>
          </a:xfrm>
          <a:prstGeom prst="rect">
            <a:avLst/>
          </a:prstGeom>
          <a:noFill/>
        </p:spPr>
        <p:txBody>
          <a:bodyPr wrap="none" lIns="0" tIns="0" rIns="0" bIns="0" rtlCol="0">
            <a:spAutoFit/>
          </a:bodyPr>
          <a:lstStyle/>
          <a:p>
            <a:pPr algn="l"/>
            <a:r>
              <a:rPr lang="nl-NL" dirty="0"/>
              <a:t>Processor 2</a:t>
            </a:r>
          </a:p>
        </p:txBody>
      </p:sp>
      <p:pic>
        <p:nvPicPr>
          <p:cNvPr id="73"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14989" y="4749457"/>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05955" y="5149298"/>
            <a:ext cx="1320391" cy="825245"/>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Arrow Connector 73">
            <a:extLst>
              <a:ext uri="{FF2B5EF4-FFF2-40B4-BE49-F238E27FC236}">
                <a16:creationId xmlns:a16="http://schemas.microsoft.com/office/drawing/2014/main" id="{791F324A-7E04-2B47-B61E-BD806D6AB00B}"/>
              </a:ext>
            </a:extLst>
          </p:cNvPr>
          <p:cNvCxnSpPr>
            <a:endCxn id="70" idx="1"/>
          </p:cNvCxnSpPr>
          <p:nvPr/>
        </p:nvCxnSpPr>
        <p:spPr>
          <a:xfrm flipV="1">
            <a:off x="1883807" y="4807760"/>
            <a:ext cx="1162082" cy="11424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91F324A-7E04-2B47-B61E-BD806D6AB00B}"/>
              </a:ext>
            </a:extLst>
          </p:cNvPr>
          <p:cNvCxnSpPr/>
          <p:nvPr/>
        </p:nvCxnSpPr>
        <p:spPr>
          <a:xfrm>
            <a:off x="2021701" y="5498903"/>
            <a:ext cx="1024188" cy="5610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94D5BAFE-129D-4635-74E5-F99C969C62C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127990" y="787410"/>
            <a:ext cx="1831881" cy="779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00691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7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Train a single </a:t>
            </a:r>
            <a:r>
              <a:rPr lang="en-US" b="1" i="1" dirty="0"/>
              <a:t>very big</a:t>
            </a:r>
            <a:r>
              <a:rPr lang="en-US" b="1" dirty="0"/>
              <a:t> </a:t>
            </a:r>
            <a:r>
              <a:rPr lang="en-US" dirty="0"/>
              <a:t>model, single set of hyperparameters</a:t>
            </a:r>
          </a:p>
          <a:p>
            <a:pPr>
              <a:buFont typeface="Arial" panose="020B0604020202020204" pitchFamily="34" charset="0"/>
              <a:buChar char="•"/>
            </a:pPr>
            <a:r>
              <a:rPr lang="en-US" dirty="0"/>
              <a:t>Split the model over multiple processors (CPUs/GPUs or a hybrid)</a:t>
            </a:r>
          </a:p>
          <a:p>
            <a:pPr>
              <a:buFont typeface="Arial" panose="020B0604020202020204" pitchFamily="34" charset="0"/>
              <a:buChar char="•"/>
            </a:pPr>
            <a:r>
              <a:rPr lang="en-US" dirty="0"/>
              <a:t>Each processor sees all the data</a:t>
            </a:r>
          </a:p>
          <a:p>
            <a:pPr>
              <a:buFont typeface="Arial" panose="020B0604020202020204" pitchFamily="34" charset="0"/>
              <a:buChar char="•"/>
            </a:pPr>
            <a:r>
              <a:rPr lang="en-US" dirty="0"/>
              <a:t>Communication needed both during forward and backward pass!</a:t>
            </a:r>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58</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6233165" y="4229594"/>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04757" y="4098334"/>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96586" y="4387762"/>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1</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2</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1"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16388" y="3623630"/>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08217" y="39130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196317" y="486029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388146" y="5149719"/>
            <a:ext cx="1320391" cy="825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6351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Pipeline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nl-NL" dirty="0"/>
              <a:t>Model </a:t>
            </a:r>
            <a:r>
              <a:rPr lang="nl-NL" dirty="0" err="1"/>
              <a:t>parallelism</a:t>
            </a:r>
            <a:r>
              <a:rPr lang="nl-NL" dirty="0"/>
              <a:t>, executed in a pipelined fashion over multiple micro-batches (data </a:t>
            </a:r>
            <a:r>
              <a:rPr lang="nl-NL" dirty="0" err="1"/>
              <a:t>parallelism</a:t>
            </a:r>
            <a:r>
              <a:rPr lang="nl-NL" dirty="0"/>
              <a:t>).</a:t>
            </a:r>
          </a:p>
          <a:p>
            <a:pPr>
              <a:buFont typeface="Arial" panose="020B0604020202020204" pitchFamily="34" charset="0"/>
              <a:buChar char="•"/>
            </a:pPr>
            <a:r>
              <a:rPr lang="nl-NL" dirty="0"/>
              <a:t>More efficient than model parallelism: hides communication </a:t>
            </a:r>
            <a:r>
              <a:rPr lang="nl-NL" dirty="0" err="1"/>
              <a:t>with</a:t>
            </a:r>
            <a:r>
              <a:rPr lang="nl-NL" dirty="0"/>
              <a:t> </a:t>
            </a:r>
            <a:r>
              <a:rPr lang="nl-NL" dirty="0" err="1"/>
              <a:t>computation</a:t>
            </a:r>
            <a:endParaRPr lang="nl-NL" dirty="0"/>
          </a:p>
          <a:p>
            <a:pPr>
              <a:buFont typeface="Arial" panose="020B0604020202020204" pitchFamily="34" charset="0"/>
              <a:buChar char="•"/>
            </a:pPr>
            <a:r>
              <a:rPr lang="nl-NL" dirty="0"/>
              <a:t>See </a:t>
            </a:r>
            <a:r>
              <a:rPr lang="nl-NL" dirty="0">
                <a:hlinkClick r:id="rId3"/>
              </a:rPr>
              <a:t>https://pytorch.org/docs/stable/distributed.pipelining.html</a:t>
            </a:r>
            <a:r>
              <a:rPr lang="nl-NL" dirty="0"/>
              <a:t> </a:t>
            </a: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59</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4"/>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5"/>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6"/>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7"/>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Image" descr="Image">
            <a:extLst>
              <a:ext uri="{FF2B5EF4-FFF2-40B4-BE49-F238E27FC236}">
                <a16:creationId xmlns:a16="http://schemas.microsoft.com/office/drawing/2014/main" id="{33235536-6674-4364-8212-D2825C4FC595}"/>
              </a:ext>
            </a:extLst>
          </p:cNvPr>
          <p:cNvPicPr/>
          <p:nvPr/>
        </p:nvPicPr>
        <p:blipFill>
          <a:blip r:embed="rId8"/>
          <a:stretch/>
        </p:blipFill>
        <p:spPr>
          <a:xfrm>
            <a:off x="1145409" y="2902225"/>
            <a:ext cx="8275660" cy="3704106"/>
          </a:xfrm>
          <a:prstGeom prst="rect">
            <a:avLst/>
          </a:prstGeom>
          <a:ln w="12600">
            <a:noFill/>
          </a:ln>
        </p:spPr>
      </p:pic>
      <p:sp>
        <p:nvSpPr>
          <p:cNvPr id="8" name="CustomShape 2">
            <a:extLst>
              <a:ext uri="{FF2B5EF4-FFF2-40B4-BE49-F238E27FC236}">
                <a16:creationId xmlns:a16="http://schemas.microsoft.com/office/drawing/2014/main" id="{08AB26FD-8887-42CA-BEAE-8A12BCB6587A}"/>
              </a:ext>
            </a:extLst>
          </p:cNvPr>
          <p:cNvSpPr/>
          <p:nvPr/>
        </p:nvSpPr>
        <p:spPr>
          <a:xfrm>
            <a:off x="7145448" y="6257598"/>
            <a:ext cx="3561022"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nl-NL" sz="1600" b="0" i="1" strike="noStrike" spc="-1" dirty="0">
                <a:solidFill>
                  <a:srgbClr val="929292"/>
                </a:solidFill>
                <a:latin typeface="Helvetica Neue"/>
                <a:ea typeface="Helvetica Neue"/>
              </a:rPr>
              <a:t>Huang et al. (2019, arXiv:</a:t>
            </a:r>
            <a:r>
              <a:rPr lang="nl-NL" sz="1600" b="0" i="1" u="sng" strike="noStrike" spc="-1" dirty="0">
                <a:solidFill>
                  <a:srgbClr val="0000FF"/>
                </a:solidFill>
                <a:uFillTx/>
                <a:latin typeface="Helvetica Neue"/>
                <a:ea typeface="Helvetica Neue"/>
                <a:hlinkClick r:id="rId9"/>
              </a:rPr>
              <a:t>1811.06965</a:t>
            </a:r>
            <a:r>
              <a:rPr lang="nl-NL" sz="1600" b="0" i="1" strike="noStrike" spc="-1" dirty="0">
                <a:solidFill>
                  <a:srgbClr val="929292"/>
                </a:solidFill>
                <a:latin typeface="Helvetica Neue"/>
                <a:ea typeface="Helvetica Neue"/>
              </a:rPr>
              <a:t>)</a:t>
            </a:r>
            <a:endParaRPr lang="nl-NL" sz="1600" b="0" strike="noStrike" spc="-1" dirty="0">
              <a:latin typeface="Calibri"/>
            </a:endParaRPr>
          </a:p>
        </p:txBody>
      </p:sp>
      <p:pic>
        <p:nvPicPr>
          <p:cNvPr id="6" name="Picture 2">
            <a:extLst>
              <a:ext uri="{FF2B5EF4-FFF2-40B4-BE49-F238E27FC236}">
                <a16:creationId xmlns:a16="http://schemas.microsoft.com/office/drawing/2014/main" id="{422C42B5-6256-04F4-E1EE-731CC5CCB4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1842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Tensor </a:t>
            </a:r>
            <a:r>
              <a:rPr lang="nl-NL" dirty="0" err="1"/>
              <a:t>parallelism</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60</a:t>
            </a:fld>
            <a:endParaRPr lang="nl-NL"/>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D2C8596C-FADD-393F-0640-0574E134CE2B}"/>
                  </a:ext>
                </a:extLst>
              </p:cNvPr>
              <p:cNvSpPr>
                <a:spLocks noGrp="1"/>
              </p:cNvSpPr>
              <p:nvPr>
                <p:ph type="body" orient="vert" idx="1"/>
              </p:nvPr>
            </p:nvSpPr>
            <p:spPr>
              <a:xfrm>
                <a:off x="523807" y="1145098"/>
                <a:ext cx="9369836" cy="4712231"/>
              </a:xfrm>
            </p:spPr>
            <p:txBody>
              <a:bodyPr/>
              <a:lstStyle/>
              <a:p>
                <a:pPr marL="0" indent="0">
                  <a:buNone/>
                </a:pPr>
                <a:r>
                  <a:rPr lang="en-US" dirty="0"/>
                  <a:t>Split individual weight W and/or feature X tensors across devices:</a:t>
                </a:r>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𝑊</m:t>
                        </m:r>
                      </m:e>
                    </m:d>
                  </m:oMath>
                </a14:m>
                <a:endParaRPr lang="en-US" b="0" i="1" dirty="0"/>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eqArr>
                      </m:e>
                    </m:d>
                  </m:oMath>
                </a14:m>
                <a:r>
                  <a:rPr lang="en-US" dirty="0"/>
                  <a:t> -&gt;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0" smtClean="0">
                        <a:latin typeface="Cambria Math" panose="02040503050406030204" pitchFamily="18" charset="0"/>
                      </a:rPr>
                      <m:t>)</m:t>
                    </m:r>
                  </m:oMath>
                </a14:m>
                <a:endParaRPr lang="en-US" dirty="0"/>
              </a:p>
              <a:p>
                <a:pPr>
                  <a:buFont typeface="Arial" panose="020B0604020202020204" pitchFamily="34" charset="0"/>
                  <a:buChar char="•"/>
                </a:pPr>
                <a:r>
                  <a:rPr lang="en-US" dirty="0"/>
                  <a:t>Requires device sync due to non-linearity a synchronization is required, instead split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oMath>
                </a14:m>
                <a:endParaRPr lang="en-US" b="0" dirty="0"/>
              </a:p>
              <a:p>
                <a:pPr>
                  <a:buFont typeface="Arial" panose="020B0604020202020204" pitchFamily="34" charset="0"/>
                  <a:buChar char="•"/>
                </a:pP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d>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r>
                      <a:rPr lang="en-US" b="0" i="0" smtClean="0">
                        <a:latin typeface="Cambria Math" panose="02040503050406030204" pitchFamily="18" charset="0"/>
                      </a:rPr>
                      <m:t>]</m:t>
                    </m:r>
                  </m:oMath>
                </a14:m>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D2C8596C-FADD-393F-0640-0574E134CE2B}"/>
                  </a:ext>
                </a:extLst>
              </p:cNvPr>
              <p:cNvSpPr>
                <a:spLocks noGrp="1" noRot="1" noChangeAspect="1" noMove="1" noResize="1" noEditPoints="1" noAdjustHandles="1" noChangeArrowheads="1" noChangeShapeType="1" noTextEdit="1"/>
              </p:cNvSpPr>
              <p:nvPr>
                <p:ph type="body" orient="vert" idx="1"/>
              </p:nvPr>
            </p:nvSpPr>
            <p:spPr>
              <a:xfrm>
                <a:off x="523807" y="1145098"/>
                <a:ext cx="9369836" cy="4712231"/>
              </a:xfrm>
              <a:blipFill>
                <a:blip r:embed="rId2"/>
                <a:stretch>
                  <a:fillRect l="-1759" t="-161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06733B1-A034-4744-39BE-005E41768F58}"/>
              </a:ext>
            </a:extLst>
          </p:cNvPr>
          <p:cNvPicPr>
            <a:picLocks noChangeAspect="1"/>
          </p:cNvPicPr>
          <p:nvPr/>
        </p:nvPicPr>
        <p:blipFill>
          <a:blip r:embed="rId3"/>
          <a:srcRect r="5039" b="16606"/>
          <a:stretch/>
        </p:blipFill>
        <p:spPr>
          <a:xfrm>
            <a:off x="56121" y="3807506"/>
            <a:ext cx="6524511" cy="2785464"/>
          </a:xfrm>
          <a:prstGeom prst="rect">
            <a:avLst/>
          </a:prstGeom>
        </p:spPr>
      </p:pic>
      <p:sp>
        <p:nvSpPr>
          <p:cNvPr id="41" name="TextBox 40">
            <a:extLst>
              <a:ext uri="{FF2B5EF4-FFF2-40B4-BE49-F238E27FC236}">
                <a16:creationId xmlns:a16="http://schemas.microsoft.com/office/drawing/2014/main" id="{DF8DADDB-781A-9F00-FED9-6C187C97DF35}"/>
              </a:ext>
            </a:extLst>
          </p:cNvPr>
          <p:cNvSpPr txBox="1"/>
          <p:nvPr/>
        </p:nvSpPr>
        <p:spPr>
          <a:xfrm>
            <a:off x="868948" y="5528236"/>
            <a:ext cx="6104238" cy="369332"/>
          </a:xfrm>
          <a:prstGeom prst="rect">
            <a:avLst/>
          </a:prstGeom>
          <a:noFill/>
        </p:spPr>
        <p:txBody>
          <a:bodyPr wrap="square">
            <a:spAutoFit/>
          </a:bodyPr>
          <a:lstStyle/>
          <a:p>
            <a:r>
              <a:rPr lang="en-US" dirty="0">
                <a:hlinkClick r:id="rId4"/>
              </a:rPr>
              <a:t>https://arxiv.org/pdf/1909.08053</a:t>
            </a:r>
            <a:r>
              <a:rPr lang="en-US" dirty="0"/>
              <a:t> </a:t>
            </a:r>
          </a:p>
        </p:txBody>
      </p:sp>
      <p:pic>
        <p:nvPicPr>
          <p:cNvPr id="7" name="Picture 2">
            <a:extLst>
              <a:ext uri="{FF2B5EF4-FFF2-40B4-BE49-F238E27FC236}">
                <a16:creationId xmlns:a16="http://schemas.microsoft.com/office/drawing/2014/main" id="{68E35373-28C9-8D3E-425B-EE5B81CA8D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diagram of a multicolored square&#10;&#10;AI-generated content may be incorrect.">
            <a:extLst>
              <a:ext uri="{FF2B5EF4-FFF2-40B4-BE49-F238E27FC236}">
                <a16:creationId xmlns:a16="http://schemas.microsoft.com/office/drawing/2014/main" id="{D6BC1921-B40F-60A6-E001-EF60056BA1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80632" y="3701604"/>
            <a:ext cx="5611368" cy="3156395"/>
          </a:xfrm>
          <a:prstGeom prst="rect">
            <a:avLst/>
          </a:prstGeom>
        </p:spPr>
      </p:pic>
    </p:spTree>
    <p:extLst>
      <p:ext uri="{BB962C8B-B14F-4D97-AF65-F5344CB8AC3E}">
        <p14:creationId xmlns:p14="http://schemas.microsoft.com/office/powerpoint/2010/main" val="34269749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65B6-772B-F1E7-F903-E0AF69BFE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189D-38BF-CC91-7288-9C4C311966AE}"/>
              </a:ext>
            </a:extLst>
          </p:cNvPr>
          <p:cNvSpPr>
            <a:spLocks noGrp="1"/>
          </p:cNvSpPr>
          <p:nvPr>
            <p:ph type="title"/>
          </p:nvPr>
        </p:nvSpPr>
        <p:spPr/>
        <p:txBody>
          <a:bodyPr/>
          <a:lstStyle/>
          <a:p>
            <a:r>
              <a:rPr lang="nl-NL" dirty="0"/>
              <a:t>Model </a:t>
            </a:r>
            <a:r>
              <a:rPr lang="nl-NL" dirty="0" err="1"/>
              <a:t>parallelism</a:t>
            </a:r>
            <a:r>
              <a:rPr lang="nl-NL" dirty="0"/>
              <a:t>: </a:t>
            </a:r>
            <a:r>
              <a:rPr lang="nl-NL" dirty="0" err="1"/>
              <a:t>Sequence</a:t>
            </a:r>
            <a:r>
              <a:rPr lang="nl-NL" dirty="0"/>
              <a:t> parallel</a:t>
            </a:r>
          </a:p>
        </p:txBody>
      </p:sp>
      <p:sp>
        <p:nvSpPr>
          <p:cNvPr id="3" name="Vertical Text Placeholder 2">
            <a:extLst>
              <a:ext uri="{FF2B5EF4-FFF2-40B4-BE49-F238E27FC236}">
                <a16:creationId xmlns:a16="http://schemas.microsoft.com/office/drawing/2014/main" id="{C9AFBC2B-0557-4AC4-0F6B-142347EE2C44}"/>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Split longer sequences (e.g. sentences) across devices.</a:t>
            </a:r>
          </a:p>
          <a:p>
            <a:pPr>
              <a:buFont typeface="Arial" panose="020B0604020202020204" pitchFamily="34" charset="0"/>
              <a:buChar char="•"/>
            </a:pPr>
            <a:r>
              <a:rPr lang="en-US" dirty="0"/>
              <a:t>Higher maximum batch size and throughput compared to tensor parallel</a:t>
            </a:r>
          </a:p>
        </p:txBody>
      </p:sp>
      <p:sp>
        <p:nvSpPr>
          <p:cNvPr id="4" name="Text Placeholder 3">
            <a:extLst>
              <a:ext uri="{FF2B5EF4-FFF2-40B4-BE49-F238E27FC236}">
                <a16:creationId xmlns:a16="http://schemas.microsoft.com/office/drawing/2014/main" id="{B8884301-7AE9-B7C7-43EE-169D86B3C9F6}"/>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48509F1-ADA9-3236-C480-90C07F151659}"/>
              </a:ext>
            </a:extLst>
          </p:cNvPr>
          <p:cNvSpPr>
            <a:spLocks noGrp="1"/>
          </p:cNvSpPr>
          <p:nvPr>
            <p:ph type="sldNum" sz="quarter" idx="12"/>
          </p:nvPr>
        </p:nvSpPr>
        <p:spPr/>
        <p:txBody>
          <a:bodyPr/>
          <a:lstStyle/>
          <a:p>
            <a:fld id="{7AD0FE45-509C-4BDF-9EDE-64426F8DF3D2}" type="slidenum">
              <a:rPr lang="nl-NL" smtClean="0"/>
              <a:t>61</a:t>
            </a:fld>
            <a:endParaRPr lang="nl-NL"/>
          </a:p>
        </p:txBody>
      </p:sp>
      <p:sp>
        <p:nvSpPr>
          <p:cNvPr id="22" name="Rectangle 3">
            <a:extLst>
              <a:ext uri="{FF2B5EF4-FFF2-40B4-BE49-F238E27FC236}">
                <a16:creationId xmlns:a16="http://schemas.microsoft.com/office/drawing/2014/main" id="{7414F149-C04F-81EF-E02E-7D088F812511}"/>
              </a:ext>
            </a:extLst>
          </p:cNvPr>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3"/>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4"/>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5"/>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6"/>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4100" name="Picture 4">
            <a:extLst>
              <a:ext uri="{FF2B5EF4-FFF2-40B4-BE49-F238E27FC236}">
                <a16:creationId xmlns:a16="http://schemas.microsoft.com/office/drawing/2014/main" id="{7EB1A6B2-A552-A8CF-D35B-FE570E8FB8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48074" y="941365"/>
            <a:ext cx="2086584" cy="8555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23BED4C-2BA8-14F0-5390-07E1C0120707}"/>
              </a:ext>
            </a:extLst>
          </p:cNvPr>
          <p:cNvPicPr>
            <a:picLocks noChangeAspect="1"/>
          </p:cNvPicPr>
          <p:nvPr/>
        </p:nvPicPr>
        <p:blipFill>
          <a:blip r:embed="rId8"/>
          <a:stretch>
            <a:fillRect/>
          </a:stretch>
        </p:blipFill>
        <p:spPr>
          <a:xfrm>
            <a:off x="-815254" y="3303237"/>
            <a:ext cx="11652284" cy="2885674"/>
          </a:xfrm>
          <a:prstGeom prst="rect">
            <a:avLst/>
          </a:prstGeom>
        </p:spPr>
      </p:pic>
      <p:sp>
        <p:nvSpPr>
          <p:cNvPr id="10" name="CustomShape 2">
            <a:extLst>
              <a:ext uri="{FF2B5EF4-FFF2-40B4-BE49-F238E27FC236}">
                <a16:creationId xmlns:a16="http://schemas.microsoft.com/office/drawing/2014/main" id="{5A2CD48E-560F-3484-B7F1-659B413EDF80}"/>
              </a:ext>
            </a:extLst>
          </p:cNvPr>
          <p:cNvSpPr/>
          <p:nvPr/>
        </p:nvSpPr>
        <p:spPr>
          <a:xfrm>
            <a:off x="6116162" y="6310148"/>
            <a:ext cx="4985259"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en-US" sz="1600" b="0" i="0" u="none" strike="noStrike" dirty="0">
                <a:solidFill>
                  <a:srgbClr val="222222"/>
                </a:solidFill>
                <a:effectLst/>
                <a:latin typeface="Arial" panose="020B0604020202020204" pitchFamily="34" charset="0"/>
              </a:rPr>
              <a:t>Li, </a:t>
            </a:r>
            <a:r>
              <a:rPr lang="en-US" sz="1600" b="0" i="0" u="none" strike="noStrike" dirty="0" err="1">
                <a:solidFill>
                  <a:srgbClr val="222222"/>
                </a:solidFill>
                <a:effectLst/>
                <a:latin typeface="Arial" panose="020B0604020202020204" pitchFamily="34" charset="0"/>
              </a:rPr>
              <a:t>Shenggui</a:t>
            </a:r>
            <a:r>
              <a:rPr lang="en-US" sz="1600" b="0" i="0" u="none" strike="noStrike" dirty="0">
                <a:solidFill>
                  <a:srgbClr val="222222"/>
                </a:solidFill>
                <a:effectLst/>
                <a:latin typeface="Arial" panose="020B0604020202020204" pitchFamily="34" charset="0"/>
              </a:rPr>
              <a:t>, et al. </a:t>
            </a:r>
            <a:r>
              <a:rPr lang="en-US" sz="1600" b="0" i="1" u="none" strike="noStrike" dirty="0" err="1">
                <a:solidFill>
                  <a:srgbClr val="222222"/>
                </a:solidFill>
                <a:effectLst/>
                <a:latin typeface="Arial" panose="020B0604020202020204" pitchFamily="34" charset="0"/>
              </a:rPr>
              <a:t>arXiv</a:t>
            </a:r>
            <a:r>
              <a:rPr lang="en-US" sz="1600" b="0" i="1" u="none" strike="noStrike" dirty="0">
                <a:solidFill>
                  <a:srgbClr val="222222"/>
                </a:solidFill>
                <a:effectLst/>
                <a:latin typeface="Arial" panose="020B0604020202020204" pitchFamily="34" charset="0"/>
              </a:rPr>
              <a:t> preprint:</a:t>
            </a:r>
            <a:r>
              <a:rPr lang="en-US" sz="1600" b="0" i="1" u="none" strike="noStrike" dirty="0">
                <a:solidFill>
                  <a:srgbClr val="222222"/>
                </a:solidFill>
                <a:effectLst/>
                <a:latin typeface="Arial" panose="020B0604020202020204" pitchFamily="34" charset="0"/>
                <a:hlinkClick r:id="rId9"/>
              </a:rPr>
              <a:t>2105.13120</a:t>
            </a:r>
            <a:r>
              <a:rPr lang="en-US" sz="1600" b="0" i="0" u="none" strike="noStrike" dirty="0">
                <a:solidFill>
                  <a:srgbClr val="222222"/>
                </a:solidFill>
                <a:effectLst/>
                <a:latin typeface="Arial" panose="020B0604020202020204" pitchFamily="34" charset="0"/>
              </a:rPr>
              <a:t> (2021).</a:t>
            </a:r>
            <a:endParaRPr lang="nl-NL" sz="1600" b="0" strike="noStrike" spc="-1" dirty="0">
              <a:latin typeface="Calibri"/>
            </a:endParaRPr>
          </a:p>
        </p:txBody>
      </p:sp>
    </p:spTree>
    <p:extLst>
      <p:ext uri="{BB962C8B-B14F-4D97-AF65-F5344CB8AC3E}">
        <p14:creationId xmlns:p14="http://schemas.microsoft.com/office/powerpoint/2010/main" val="165860213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7C170-5EA7-9D3C-AFE8-171B534A5BE8}"/>
              </a:ext>
            </a:extLst>
          </p:cNvPr>
          <p:cNvSpPr>
            <a:spLocks noGrp="1"/>
          </p:cNvSpPr>
          <p:nvPr>
            <p:ph type="dt" sz="half" idx="10"/>
          </p:nvPr>
        </p:nvSpPr>
        <p:spPr/>
        <p:txBody>
          <a:bodyPr/>
          <a:lstStyle/>
          <a:p>
            <a:fld id="{282E6B19-C172-4760-8A97-D66BFBC0201A}" type="datetime1">
              <a:rPr lang="nl-NL" smtClean="0"/>
              <a:t>13-11-2025</a:t>
            </a:fld>
            <a:endParaRPr lang="nl-NL"/>
          </a:p>
        </p:txBody>
      </p:sp>
      <p:sp>
        <p:nvSpPr>
          <p:cNvPr id="3" name="Footer Placeholder 2">
            <a:extLst>
              <a:ext uri="{FF2B5EF4-FFF2-40B4-BE49-F238E27FC236}">
                <a16:creationId xmlns:a16="http://schemas.microsoft.com/office/drawing/2014/main" id="{B6711817-D493-D380-B833-6B24C6C08E32}"/>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DB710FB6-A04B-290E-5A5B-8DB64BCE286E}"/>
              </a:ext>
            </a:extLst>
          </p:cNvPr>
          <p:cNvSpPr>
            <a:spLocks noGrp="1"/>
          </p:cNvSpPr>
          <p:nvPr>
            <p:ph type="title"/>
          </p:nvPr>
        </p:nvSpPr>
        <p:spPr/>
        <p:txBody>
          <a:bodyPr/>
          <a:lstStyle/>
          <a:p>
            <a:r>
              <a:rPr lang="en-GB" dirty="0"/>
              <a:t>FSDP Workflow</a:t>
            </a:r>
            <a:endParaRPr lang="en-NL" dirty="0"/>
          </a:p>
        </p:txBody>
      </p:sp>
      <p:sp>
        <p:nvSpPr>
          <p:cNvPr id="5" name="Vertical Text Placeholder 4">
            <a:extLst>
              <a:ext uri="{FF2B5EF4-FFF2-40B4-BE49-F238E27FC236}">
                <a16:creationId xmlns:a16="http://schemas.microsoft.com/office/drawing/2014/main" id="{AD50FC15-7AD5-8D9A-0E0A-994E9489349A}"/>
              </a:ext>
            </a:extLst>
          </p:cNvPr>
          <p:cNvSpPr>
            <a:spLocks noGrp="1"/>
          </p:cNvSpPr>
          <p:nvPr>
            <p:ph type="body" orient="vert" idx="1"/>
          </p:nvPr>
        </p:nvSpPr>
        <p:spPr>
          <a:xfrm>
            <a:off x="523807" y="1400483"/>
            <a:ext cx="5545527" cy="5185340"/>
          </a:xfrm>
        </p:spPr>
        <p:txBody>
          <a:bodyPr/>
          <a:lstStyle/>
          <a:p>
            <a:pPr marL="0" indent="0">
              <a:spcBef>
                <a:spcPts val="1600"/>
              </a:spcBef>
              <a:buNone/>
            </a:pPr>
            <a:r>
              <a:rPr lang="en-US" i="1" dirty="0"/>
              <a:t>AKA weird non-pipeline parallel, non-tensor parallel, </a:t>
            </a:r>
            <a:r>
              <a:rPr lang="en-US" i="1" dirty="0" err="1"/>
              <a:t>tensor+pipeline</a:t>
            </a:r>
            <a:r>
              <a:rPr lang="en-US" i="1" dirty="0"/>
              <a:t> parallel (actually just DP)</a:t>
            </a:r>
          </a:p>
          <a:p>
            <a:pPr marL="0" indent="0">
              <a:spcBef>
                <a:spcPts val="1600"/>
              </a:spcBef>
              <a:buNone/>
            </a:pPr>
            <a:r>
              <a:rPr lang="en-US" i="1" dirty="0"/>
              <a:t>In constructor</a:t>
            </a:r>
            <a:br>
              <a:rPr lang="en-US" i="1" dirty="0"/>
            </a:br>
            <a:r>
              <a:rPr lang="en-US" i="1" dirty="0"/>
              <a:t>- </a:t>
            </a:r>
            <a:r>
              <a:rPr lang="en-US" dirty="0"/>
              <a:t>Shard model parameters and each rank only keeps its own shard</a:t>
            </a:r>
          </a:p>
          <a:p>
            <a:pPr marL="0" indent="0">
              <a:spcBef>
                <a:spcPts val="1600"/>
              </a:spcBef>
              <a:buNone/>
            </a:pPr>
            <a:r>
              <a:rPr lang="en-US" i="1" dirty="0"/>
              <a:t>In forward path</a:t>
            </a:r>
            <a:br>
              <a:rPr lang="en-US" i="1" dirty="0"/>
            </a:br>
            <a:r>
              <a:rPr lang="en-US" i="1" dirty="0"/>
              <a:t>- </a:t>
            </a:r>
            <a:r>
              <a:rPr lang="en-US" dirty="0"/>
              <a:t>Run </a:t>
            </a:r>
            <a:r>
              <a:rPr lang="en-US" dirty="0" err="1"/>
              <a:t>all_gather</a:t>
            </a:r>
            <a:r>
              <a:rPr lang="en-US" dirty="0"/>
              <a:t> to collect all shards from all ranks to recover the full parameter in this FSDP unit</a:t>
            </a:r>
            <a:br>
              <a:rPr lang="en-US" dirty="0"/>
            </a:br>
            <a:r>
              <a:rPr lang="en-US" dirty="0"/>
              <a:t>- Run forward computation</a:t>
            </a:r>
            <a:br>
              <a:rPr lang="en-US" dirty="0"/>
            </a:br>
            <a:r>
              <a:rPr lang="en-US" dirty="0"/>
              <a:t>- Discard parameter shards it has just collected</a:t>
            </a:r>
          </a:p>
          <a:p>
            <a:pPr marL="0" indent="0">
              <a:spcBef>
                <a:spcPts val="1600"/>
              </a:spcBef>
              <a:spcAft>
                <a:spcPts val="1600"/>
              </a:spcAft>
              <a:buNone/>
            </a:pPr>
            <a:r>
              <a:rPr lang="en-US" i="1" dirty="0"/>
              <a:t>In backward path</a:t>
            </a:r>
            <a:br>
              <a:rPr lang="en-US" i="1" dirty="0"/>
            </a:br>
            <a:r>
              <a:rPr lang="en-US" i="1" dirty="0"/>
              <a:t>- </a:t>
            </a:r>
            <a:r>
              <a:rPr lang="en-US" dirty="0"/>
              <a:t>Run </a:t>
            </a:r>
            <a:r>
              <a:rPr lang="en-US" dirty="0" err="1"/>
              <a:t>all_gather</a:t>
            </a:r>
            <a:r>
              <a:rPr lang="en-US" dirty="0"/>
              <a:t> to collect all shards from all ranks to recover the full parameter in this FSDP unit</a:t>
            </a:r>
            <a:br>
              <a:rPr lang="en-US" dirty="0"/>
            </a:br>
            <a:r>
              <a:rPr lang="en-US" dirty="0"/>
              <a:t>- Run backward computation</a:t>
            </a:r>
            <a:br>
              <a:rPr lang="en-US" dirty="0"/>
            </a:br>
            <a:r>
              <a:rPr lang="en-US" dirty="0"/>
              <a:t>- Run </a:t>
            </a:r>
            <a:r>
              <a:rPr lang="en-US" dirty="0" err="1"/>
              <a:t>reduce_scatter</a:t>
            </a:r>
            <a:r>
              <a:rPr lang="en-US" dirty="0"/>
              <a:t> to sync gradients</a:t>
            </a:r>
            <a:br>
              <a:rPr lang="en-US" dirty="0"/>
            </a:br>
            <a:r>
              <a:rPr lang="en-US" dirty="0"/>
              <a:t>- Discard parameters.</a:t>
            </a:r>
          </a:p>
          <a:p>
            <a:endParaRPr lang="en-NL" dirty="0"/>
          </a:p>
        </p:txBody>
      </p:sp>
      <p:sp>
        <p:nvSpPr>
          <p:cNvPr id="6" name="Text Placeholder 5">
            <a:extLst>
              <a:ext uri="{FF2B5EF4-FFF2-40B4-BE49-F238E27FC236}">
                <a16:creationId xmlns:a16="http://schemas.microsoft.com/office/drawing/2014/main" id="{1BD48B23-659D-537D-4029-1CD7990EBBA9}"/>
              </a:ext>
            </a:extLst>
          </p:cNvPr>
          <p:cNvSpPr>
            <a:spLocks noGrp="1"/>
          </p:cNvSpPr>
          <p:nvPr>
            <p:ph type="body" sz="quarter" idx="65"/>
          </p:nvPr>
        </p:nvSpPr>
        <p:spPr/>
        <p:txBody>
          <a:bodyPr/>
          <a:lstStyle/>
          <a:p>
            <a:endParaRPr lang="en-NL"/>
          </a:p>
        </p:txBody>
      </p:sp>
      <p:pic>
        <p:nvPicPr>
          <p:cNvPr id="7" name="Google Shape;295;p43">
            <a:extLst>
              <a:ext uri="{FF2B5EF4-FFF2-40B4-BE49-F238E27FC236}">
                <a16:creationId xmlns:a16="http://schemas.microsoft.com/office/drawing/2014/main" id="{3A622851-4440-6D85-DB89-7F612B43C597}"/>
              </a:ext>
            </a:extLst>
          </p:cNvPr>
          <p:cNvPicPr preferRelativeResize="0"/>
          <p:nvPr/>
        </p:nvPicPr>
        <p:blipFill>
          <a:blip r:embed="rId2">
            <a:alphaModFix/>
          </a:blip>
          <a:stretch>
            <a:fillRect/>
          </a:stretch>
        </p:blipFill>
        <p:spPr>
          <a:xfrm>
            <a:off x="5880634" y="61933"/>
            <a:ext cx="6359273" cy="3367067"/>
          </a:xfrm>
          <a:prstGeom prst="rect">
            <a:avLst/>
          </a:prstGeom>
          <a:noFill/>
          <a:ln>
            <a:noFill/>
          </a:ln>
        </p:spPr>
      </p:pic>
      <p:pic>
        <p:nvPicPr>
          <p:cNvPr id="8" name="Google Shape;296;p43">
            <a:extLst>
              <a:ext uri="{FF2B5EF4-FFF2-40B4-BE49-F238E27FC236}">
                <a16:creationId xmlns:a16="http://schemas.microsoft.com/office/drawing/2014/main" id="{097B8321-81CB-E071-5546-A8A492B493FE}"/>
              </a:ext>
            </a:extLst>
          </p:cNvPr>
          <p:cNvPicPr preferRelativeResize="0"/>
          <p:nvPr/>
        </p:nvPicPr>
        <p:blipFill>
          <a:blip r:embed="rId3">
            <a:alphaModFix/>
          </a:blip>
          <a:stretch>
            <a:fillRect/>
          </a:stretch>
        </p:blipFill>
        <p:spPr>
          <a:xfrm>
            <a:off x="6122667" y="3553733"/>
            <a:ext cx="5875199" cy="3225800"/>
          </a:xfrm>
          <a:prstGeom prst="rect">
            <a:avLst/>
          </a:prstGeom>
          <a:noFill/>
          <a:ln>
            <a:noFill/>
          </a:ln>
        </p:spPr>
      </p:pic>
    </p:spTree>
    <p:extLst>
      <p:ext uri="{BB962C8B-B14F-4D97-AF65-F5344CB8AC3E}">
        <p14:creationId xmlns:p14="http://schemas.microsoft.com/office/powerpoint/2010/main" val="382293026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Hybrid model/data parallelism</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63</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5591553" y="4201312"/>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12034" y="4288987"/>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3</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4</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37745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5048793"/>
            <a:ext cx="1320391" cy="82524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7CEB41A8-8A82-3090-8F7A-ED6A9B2BCCEF}"/>
              </a:ext>
            </a:extLst>
          </p:cNvPr>
          <p:cNvGrpSpPr/>
          <p:nvPr/>
        </p:nvGrpSpPr>
        <p:grpSpPr>
          <a:xfrm rot="5400000">
            <a:off x="5446491" y="1651970"/>
            <a:ext cx="2243289" cy="1375196"/>
            <a:chOff x="3221405" y="3951065"/>
            <a:chExt cx="2152502" cy="1319541"/>
          </a:xfrm>
        </p:grpSpPr>
        <p:sp>
          <p:nvSpPr>
            <p:cNvPr id="46" name="Oval 45">
              <a:extLst>
                <a:ext uri="{FF2B5EF4-FFF2-40B4-BE49-F238E27FC236}">
                  <a16:creationId xmlns:a16="http://schemas.microsoft.com/office/drawing/2014/main" id="{F23A330B-C0A6-4149-CB34-9030C66FE444}"/>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F858D09-D3C8-9767-EC79-C6252972715C}"/>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B35CD79-4373-3B73-B31A-9AA541DF18EF}"/>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3B7393F-64DF-8952-056F-C43795344400}"/>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DB9B757-BDE3-C3B5-931F-0FDEB7DFF1C5}"/>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448B495-4B8E-BB68-2ABC-9064CF464065}"/>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19135FF-1BE1-783A-F3AE-A33285F88CB1}"/>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F5DFB624-62A3-0922-B9AD-E7A54537432B}"/>
                </a:ext>
              </a:extLst>
            </p:cNvPr>
            <p:cNvCxnSpPr>
              <a:stCxn id="46" idx="6"/>
              <a:endCxn id="4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BF45E2C-10AE-6B0A-6DC9-4D2823FB8CCE}"/>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B1E7D06-3036-CD56-7625-4F8AC599A242}"/>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D021204-DF69-D68B-531B-368AA7AA8BE6}"/>
                </a:ext>
              </a:extLst>
            </p:cNvPr>
            <p:cNvCxnSpPr>
              <a:endCxn id="5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E990A5B-8FD8-DB5F-C8F9-CDA6ACA31A80}"/>
                </a:ext>
              </a:extLst>
            </p:cNvPr>
            <p:cNvCxnSpPr>
              <a:endCxn id="5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BC2A9A7-9FF3-C905-33ED-7C73236C352E}"/>
                </a:ext>
              </a:extLst>
            </p:cNvPr>
            <p:cNvCxnSpPr>
              <a:endCxn id="5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62BEF8D-FEC4-51C7-D2A1-911DE104A2D2}"/>
                </a:ext>
              </a:extLst>
            </p:cNvPr>
            <p:cNvCxnSpPr>
              <a:endCxn id="4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7144F11-2E40-2B38-0EE1-7A998E20B048}"/>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EF7F550-5781-7AF9-9349-95D362A18B63}"/>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3625766-2CB3-9400-DEDD-B2708D501385}"/>
                </a:ext>
              </a:extLst>
            </p:cNvPr>
            <p:cNvCxnSpPr>
              <a:endCxn id="52"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B1C6F30-0380-4262-CE13-F32BE0E8CB4C}"/>
                </a:ext>
              </a:extLst>
            </p:cNvPr>
            <p:cNvCxnSpPr>
              <a:endCxn id="52"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69A015A-8C5C-4ACB-8736-F99DC53B21FE}"/>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27188E-842F-4070-DC10-ECD7083AFA4C}"/>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BC8E90A-C498-DC19-BD01-37858BCD086F}"/>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5AAEF15-31E4-940F-5E01-84ABF24C864F}"/>
                </a:ext>
              </a:extLst>
            </p:cNvPr>
            <p:cNvCxnSpPr>
              <a:endCxn id="52"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7DD80DF3-ABD8-EB81-8627-FC7502E91B33}"/>
              </a:ext>
            </a:extLst>
          </p:cNvPr>
          <p:cNvSpPr/>
          <p:nvPr/>
        </p:nvSpPr>
        <p:spPr>
          <a:xfrm>
            <a:off x="2935657" y="2273411"/>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tangle 68">
            <a:extLst>
              <a:ext uri="{FF2B5EF4-FFF2-40B4-BE49-F238E27FC236}">
                <a16:creationId xmlns:a16="http://schemas.microsoft.com/office/drawing/2014/main" id="{EFA3ADF7-38F9-FBC8-1B22-1628C986559D}"/>
              </a:ext>
            </a:extLst>
          </p:cNvPr>
          <p:cNvSpPr/>
          <p:nvPr/>
        </p:nvSpPr>
        <p:spPr>
          <a:xfrm>
            <a:off x="2935657" y="102051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70" name="Picture 4" descr="Afbeeldingsresultaat voor cats and dogs">
            <a:extLst>
              <a:ext uri="{FF2B5EF4-FFF2-40B4-BE49-F238E27FC236}">
                <a16:creationId xmlns:a16="http://schemas.microsoft.com/office/drawing/2014/main" id="{D6B7E459-D476-A687-FA92-73352423E320}"/>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04757" y="1592275"/>
            <a:ext cx="1268818" cy="842496"/>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E22A29E2-01EB-C20C-A305-B9B05528C3EF}"/>
              </a:ext>
            </a:extLst>
          </p:cNvPr>
          <p:cNvSpPr txBox="1"/>
          <p:nvPr/>
        </p:nvSpPr>
        <p:spPr>
          <a:xfrm>
            <a:off x="8482112" y="1542623"/>
            <a:ext cx="1081515" cy="276999"/>
          </a:xfrm>
          <a:prstGeom prst="rect">
            <a:avLst/>
          </a:prstGeom>
          <a:noFill/>
        </p:spPr>
        <p:txBody>
          <a:bodyPr wrap="none" lIns="0" tIns="0" rIns="0" bIns="0" rtlCol="0">
            <a:spAutoFit/>
          </a:bodyPr>
          <a:lstStyle/>
          <a:p>
            <a:pPr algn="l"/>
            <a:r>
              <a:rPr lang="nl-NL" dirty="0"/>
              <a:t>Processor 1</a:t>
            </a:r>
          </a:p>
        </p:txBody>
      </p:sp>
      <p:sp>
        <p:nvSpPr>
          <p:cNvPr id="73" name="TextBox 72">
            <a:extLst>
              <a:ext uri="{FF2B5EF4-FFF2-40B4-BE49-F238E27FC236}">
                <a16:creationId xmlns:a16="http://schemas.microsoft.com/office/drawing/2014/main" id="{A8E2B783-9E3D-AA9E-0C1C-224EB5908CF2}"/>
              </a:ext>
            </a:extLst>
          </p:cNvPr>
          <p:cNvSpPr txBox="1"/>
          <p:nvPr/>
        </p:nvSpPr>
        <p:spPr>
          <a:xfrm>
            <a:off x="8482112" y="2795524"/>
            <a:ext cx="1081515" cy="276999"/>
          </a:xfrm>
          <a:prstGeom prst="rect">
            <a:avLst/>
          </a:prstGeom>
          <a:noFill/>
        </p:spPr>
        <p:txBody>
          <a:bodyPr wrap="none" lIns="0" tIns="0" rIns="0" bIns="0" rtlCol="0">
            <a:spAutoFit/>
          </a:bodyPr>
          <a:lstStyle/>
          <a:p>
            <a:pPr algn="l"/>
            <a:r>
              <a:rPr lang="nl-NL" dirty="0"/>
              <a:t>Processor 2</a:t>
            </a:r>
          </a:p>
        </p:txBody>
      </p:sp>
      <p:cxnSp>
        <p:nvCxnSpPr>
          <p:cNvPr id="74" name="Straight Arrow Connector 73">
            <a:extLst>
              <a:ext uri="{FF2B5EF4-FFF2-40B4-BE49-F238E27FC236}">
                <a16:creationId xmlns:a16="http://schemas.microsoft.com/office/drawing/2014/main" id="{D42423EF-5769-1A4F-7F44-D8C069140C69}"/>
              </a:ext>
            </a:extLst>
          </p:cNvPr>
          <p:cNvCxnSpPr/>
          <p:nvPr/>
        </p:nvCxnSpPr>
        <p:spPr>
          <a:xfrm flipV="1">
            <a:off x="2229777" y="1634527"/>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FADE8B79-9502-4611-950F-46CEEFD17215}"/>
              </a:ext>
            </a:extLst>
          </p:cNvPr>
          <p:cNvSpPr/>
          <p:nvPr/>
        </p:nvSpPr>
        <p:spPr>
          <a:xfrm>
            <a:off x="155290" y="1230148"/>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6" name="Straight Arrow Connector 75">
            <a:extLst>
              <a:ext uri="{FF2B5EF4-FFF2-40B4-BE49-F238E27FC236}">
                <a16:creationId xmlns:a16="http://schemas.microsoft.com/office/drawing/2014/main" id="{EB816EE0-850F-B30B-1EBB-AB96EEC25F96}"/>
              </a:ext>
            </a:extLst>
          </p:cNvPr>
          <p:cNvCxnSpPr/>
          <p:nvPr/>
        </p:nvCxnSpPr>
        <p:spPr>
          <a:xfrm>
            <a:off x="2229777" y="2546710"/>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77" name="Picture 4" descr="Afbeeldingsresultaat voor cats and dogs">
            <a:extLst>
              <a:ext uri="{FF2B5EF4-FFF2-40B4-BE49-F238E27FC236}">
                <a16:creationId xmlns:a16="http://schemas.microsoft.com/office/drawing/2014/main" id="{D105B7FD-C88B-BD8D-9631-FF9CE615922E}"/>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216388" y="111757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4" descr="Afbeeldingsresultaat voor cats and dogs">
            <a:extLst>
              <a:ext uri="{FF2B5EF4-FFF2-40B4-BE49-F238E27FC236}">
                <a16:creationId xmlns:a16="http://schemas.microsoft.com/office/drawing/2014/main" id="{AD4D34BD-C6DA-374F-766D-AE9F238CD5AB}"/>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196317" y="2354232"/>
            <a:ext cx="1268818" cy="842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14476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7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A7BD-898A-79BD-D42B-953B98570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F0FD-E609-FFDB-BEB7-D04AD31632AB}"/>
              </a:ext>
            </a:extLst>
          </p:cNvPr>
          <p:cNvSpPr>
            <a:spLocks noGrp="1"/>
          </p:cNvSpPr>
          <p:nvPr>
            <p:ph type="title"/>
          </p:nvPr>
        </p:nvSpPr>
        <p:spPr/>
        <p:txBody>
          <a:bodyPr/>
          <a:lstStyle/>
          <a:p>
            <a:r>
              <a:rPr lang="nl-NL" dirty="0"/>
              <a:t>3D </a:t>
            </a:r>
            <a:r>
              <a:rPr lang="nl-NL" dirty="0" err="1"/>
              <a:t>Parallelism</a:t>
            </a:r>
            <a:endParaRPr lang="nl-NL" dirty="0"/>
          </a:p>
        </p:txBody>
      </p:sp>
      <p:sp>
        <p:nvSpPr>
          <p:cNvPr id="4" name="Text Placeholder 3">
            <a:extLst>
              <a:ext uri="{FF2B5EF4-FFF2-40B4-BE49-F238E27FC236}">
                <a16:creationId xmlns:a16="http://schemas.microsoft.com/office/drawing/2014/main" id="{E147CA27-2C2E-267C-DD6D-249C495B1B7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86DC573C-FD64-D618-01F9-AE2543559BA6}"/>
              </a:ext>
            </a:extLst>
          </p:cNvPr>
          <p:cNvSpPr>
            <a:spLocks noGrp="1"/>
          </p:cNvSpPr>
          <p:nvPr>
            <p:ph type="sldNum" sz="quarter" idx="12"/>
          </p:nvPr>
        </p:nvSpPr>
        <p:spPr/>
        <p:txBody>
          <a:bodyPr/>
          <a:lstStyle/>
          <a:p>
            <a:fld id="{7AD0FE45-509C-4BDF-9EDE-64426F8DF3D2}" type="slidenum">
              <a:rPr lang="nl-NL" smtClean="0"/>
              <a:t>64</a:t>
            </a:fld>
            <a:endParaRPr lang="nl-NL"/>
          </a:p>
        </p:txBody>
      </p:sp>
      <p:sp>
        <p:nvSpPr>
          <p:cNvPr id="3" name="Vertical Text Placeholder 2">
            <a:extLst>
              <a:ext uri="{FF2B5EF4-FFF2-40B4-BE49-F238E27FC236}">
                <a16:creationId xmlns:a16="http://schemas.microsoft.com/office/drawing/2014/main" id="{277C3814-5E9F-B89D-2040-F845965698A7}"/>
              </a:ext>
            </a:extLst>
          </p:cNvPr>
          <p:cNvSpPr>
            <a:spLocks noGrp="1"/>
          </p:cNvSpPr>
          <p:nvPr>
            <p:ph type="body" orient="vert" idx="1"/>
          </p:nvPr>
        </p:nvSpPr>
        <p:spPr>
          <a:xfrm>
            <a:off x="523808" y="1145098"/>
            <a:ext cx="7619824" cy="5804342"/>
          </a:xfrm>
        </p:spPr>
        <p:txBody>
          <a:bodyPr/>
          <a:lstStyle/>
          <a:p>
            <a:pPr>
              <a:buFont typeface="Arial" panose="020B0604020202020204" pitchFamily="34" charset="0"/>
              <a:buChar char="•"/>
            </a:pPr>
            <a:r>
              <a:rPr lang="en-US" dirty="0"/>
              <a:t>Combined Data Parallel, Pipeline Parallel, Tensor Parallel</a:t>
            </a:r>
          </a:p>
          <a:p>
            <a:pPr marL="809625" indent="-254000">
              <a:buFont typeface="Arial" panose="020B0604020202020204" pitchFamily="34" charset="0"/>
              <a:buChar char="•"/>
            </a:pPr>
            <a:r>
              <a:rPr lang="en-US" dirty="0"/>
              <a:t>4D: including Sequence parallel</a:t>
            </a:r>
          </a:p>
          <a:p>
            <a:pPr>
              <a:buFont typeface="Arial" panose="020B0604020202020204" pitchFamily="34" charset="0"/>
              <a:buChar char="•"/>
            </a:pPr>
            <a:r>
              <a:rPr lang="en-US" dirty="0"/>
              <a:t>3D grid of devices</a:t>
            </a:r>
          </a:p>
          <a:p>
            <a:pPr marL="630238" indent="-265113">
              <a:buFont typeface="Arial" panose="020B0604020202020204" pitchFamily="34" charset="0"/>
              <a:buChar char="•"/>
            </a:pPr>
            <a:r>
              <a:rPr lang="en-US" dirty="0"/>
              <a:t>Each dimension deals with its own parallelization type</a:t>
            </a:r>
          </a:p>
          <a:p>
            <a:pPr marL="285750" indent="-285750">
              <a:buFont typeface="Arial" panose="020B0604020202020204" pitchFamily="34" charset="0"/>
              <a:buChar char="•"/>
            </a:pPr>
            <a:r>
              <a:rPr lang="en-US" dirty="0"/>
              <a:t>Physical location of GPUs with respect to each other matters</a:t>
            </a:r>
          </a:p>
          <a:p>
            <a:pPr marL="285750" indent="-285750">
              <a:buFont typeface="Arial" panose="020B0604020202020204" pitchFamily="34" charset="0"/>
              <a:buChar char="•"/>
            </a:pPr>
            <a:r>
              <a:rPr lang="en-US" dirty="0"/>
              <a:t>For example:</a:t>
            </a:r>
          </a:p>
          <a:p>
            <a:pPr marL="635000" indent="-304800">
              <a:buFont typeface="Arial" panose="020B0604020202020204" pitchFamily="34" charset="0"/>
              <a:buChar char="•"/>
            </a:pPr>
            <a:r>
              <a:rPr lang="en-US" dirty="0"/>
              <a:t>Tensor parallel between GPUs in node</a:t>
            </a:r>
          </a:p>
          <a:p>
            <a:pPr marL="635000" indent="-304800">
              <a:buFont typeface="Arial" panose="020B0604020202020204" pitchFamily="34" charset="0"/>
              <a:buChar char="•"/>
            </a:pPr>
            <a:r>
              <a:rPr lang="en-US" dirty="0"/>
              <a:t>Pipeline parallel between nodes</a:t>
            </a:r>
          </a:p>
          <a:p>
            <a:pPr marL="635000" indent="-304800">
              <a:buFont typeface="Arial" panose="020B0604020202020204" pitchFamily="34" charset="0"/>
              <a:buChar char="•"/>
            </a:pPr>
            <a:r>
              <a:rPr lang="en-US" dirty="0"/>
              <a:t>Data parallel between racks</a:t>
            </a:r>
          </a:p>
          <a:p>
            <a:pPr marL="11113" indent="319088">
              <a:buFont typeface="Arial" panose="020B0604020202020204" pitchFamily="34" charset="0"/>
              <a:buChar char="•"/>
              <a:tabLst>
                <a:tab pos="277813" algn="l"/>
              </a:tabLst>
            </a:pPr>
            <a:endParaRPr lang="en-US" dirty="0"/>
          </a:p>
          <a:p>
            <a:pPr marL="635000" indent="-304800">
              <a:buFont typeface="Arial" panose="020B0604020202020204" pitchFamily="34" charset="0"/>
              <a:buChar char="•"/>
            </a:pPr>
            <a:endParaRPr lang="en-US" dirty="0"/>
          </a:p>
          <a:p>
            <a:pPr marL="635000" indent="-304800">
              <a:buFont typeface="Arial" panose="020B0604020202020204" pitchFamily="34" charset="0"/>
              <a:buChar char="•"/>
            </a:pPr>
            <a:endParaRPr lang="en-US" dirty="0"/>
          </a:p>
          <a:p>
            <a:pPr marL="330200" indent="0">
              <a:buNone/>
            </a:pPr>
            <a:endParaRPr lang="en-US" dirty="0"/>
          </a:p>
          <a:p>
            <a:pPr marL="635000" indent="-304800">
              <a:buFont typeface="Arial" panose="020B0604020202020204" pitchFamily="34" charset="0"/>
              <a:buChar char="•"/>
            </a:pPr>
            <a:endParaRPr lang="en-US" dirty="0"/>
          </a:p>
          <a:p>
            <a:pPr marL="630238" indent="-265113">
              <a:buFont typeface="Arial" panose="020B0604020202020204" pitchFamily="34" charset="0"/>
              <a:buChar char="•"/>
            </a:pPr>
            <a:endParaRPr lang="en-US" dirty="0"/>
          </a:p>
        </p:txBody>
      </p:sp>
      <p:pic>
        <p:nvPicPr>
          <p:cNvPr id="1026" name="Picture 2" descr="Colorful blocks showing  Mapping of workers in Figure 1 to GPUs on a system with eight nodes, each with four GPUs. Coloring denotes GPUs on the same node.">
            <a:extLst>
              <a:ext uri="{FF2B5EF4-FFF2-40B4-BE49-F238E27FC236}">
                <a16:creationId xmlns:a16="http://schemas.microsoft.com/office/drawing/2014/main" id="{D6490F2D-917C-3547-40C4-74913EFDA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8885" y="2820712"/>
            <a:ext cx="5301762" cy="306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50906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67E44-1EB1-2940-21F6-A67E98B5917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A04D2C8-2781-7918-F423-4923F9FC29B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E7B0141-BE37-AB1E-19C7-EE5FB1402A39}"/>
              </a:ext>
            </a:extLst>
          </p:cNvPr>
          <p:cNvPicPr>
            <a:picLocks noChangeAspect="1"/>
          </p:cNvPicPr>
          <p:nvPr/>
        </p:nvPicPr>
        <p:blipFill>
          <a:blip r:embed="rId2"/>
          <a:stretch>
            <a:fillRect/>
          </a:stretch>
        </p:blipFill>
        <p:spPr>
          <a:xfrm>
            <a:off x="398929" y="0"/>
            <a:ext cx="11394141"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71F8794-8929-3E08-02BB-9B9E1F2DF6E0}"/>
                  </a:ext>
                </a:extLst>
              </p14:cNvPr>
              <p14:cNvContentPartPr/>
              <p14:nvPr/>
            </p14:nvContentPartPr>
            <p14:xfrm>
              <a:off x="1311934" y="667659"/>
              <a:ext cx="118440" cy="9000"/>
            </p14:xfrm>
          </p:contentPart>
        </mc:Choice>
        <mc:Fallback xmlns="">
          <p:pic>
            <p:nvPicPr>
              <p:cNvPr id="7" name="Ink 6">
                <a:extLst>
                  <a:ext uri="{FF2B5EF4-FFF2-40B4-BE49-F238E27FC236}">
                    <a16:creationId xmlns:a16="http://schemas.microsoft.com/office/drawing/2014/main" id="{071F8794-8929-3E08-02BB-9B9E1F2DF6E0}"/>
                  </a:ext>
                </a:extLst>
              </p:cNvPr>
              <p:cNvPicPr/>
              <p:nvPr/>
            </p:nvPicPr>
            <p:blipFill>
              <a:blip r:embed="rId4"/>
              <a:stretch>
                <a:fillRect/>
              </a:stretch>
            </p:blipFill>
            <p:spPr>
              <a:xfrm>
                <a:off x="1305814" y="661539"/>
                <a:ext cx="1306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FD7E098-E125-E45E-3407-391DA3CBE1CC}"/>
                  </a:ext>
                </a:extLst>
              </p14:cNvPr>
              <p14:cNvContentPartPr/>
              <p14:nvPr/>
            </p14:nvContentPartPr>
            <p14:xfrm>
              <a:off x="1884334" y="642819"/>
              <a:ext cx="246240" cy="9360"/>
            </p14:xfrm>
          </p:contentPart>
        </mc:Choice>
        <mc:Fallback xmlns="">
          <p:pic>
            <p:nvPicPr>
              <p:cNvPr id="8" name="Ink 7">
                <a:extLst>
                  <a:ext uri="{FF2B5EF4-FFF2-40B4-BE49-F238E27FC236}">
                    <a16:creationId xmlns:a16="http://schemas.microsoft.com/office/drawing/2014/main" id="{FFD7E098-E125-E45E-3407-391DA3CBE1CC}"/>
                  </a:ext>
                </a:extLst>
              </p:cNvPr>
              <p:cNvPicPr/>
              <p:nvPr/>
            </p:nvPicPr>
            <p:blipFill>
              <a:blip r:embed="rId6"/>
              <a:stretch>
                <a:fillRect/>
              </a:stretch>
            </p:blipFill>
            <p:spPr>
              <a:xfrm>
                <a:off x="1878214" y="636699"/>
                <a:ext cx="258480" cy="21600"/>
              </a:xfrm>
              <a:prstGeom prst="rect">
                <a:avLst/>
              </a:prstGeom>
            </p:spPr>
          </p:pic>
        </mc:Fallback>
      </mc:AlternateContent>
      <p:grpSp>
        <p:nvGrpSpPr>
          <p:cNvPr id="25" name="Group 24">
            <a:extLst>
              <a:ext uri="{FF2B5EF4-FFF2-40B4-BE49-F238E27FC236}">
                <a16:creationId xmlns:a16="http://schemas.microsoft.com/office/drawing/2014/main" id="{597CDDBB-90E9-A8D4-36C0-B8AA291B4E2A}"/>
              </a:ext>
            </a:extLst>
          </p:cNvPr>
          <p:cNvGrpSpPr/>
          <p:nvPr/>
        </p:nvGrpSpPr>
        <p:grpSpPr>
          <a:xfrm>
            <a:off x="2703334" y="603939"/>
            <a:ext cx="3840840" cy="64080"/>
            <a:chOff x="2703334" y="603939"/>
            <a:chExt cx="3840840" cy="64080"/>
          </a:xfrm>
        </p:grpSpPr>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45F44F5-4D51-18C5-DB7C-774B8FF94B34}"/>
                    </a:ext>
                  </a:extLst>
                </p14:cNvPr>
                <p14:cNvContentPartPr/>
                <p14:nvPr/>
              </p14:nvContentPartPr>
              <p14:xfrm>
                <a:off x="2703334" y="651819"/>
                <a:ext cx="14400" cy="360"/>
              </p14:xfrm>
            </p:contentPart>
          </mc:Choice>
          <mc:Fallback xmlns="">
            <p:pic>
              <p:nvPicPr>
                <p:cNvPr id="9" name="Ink 8">
                  <a:extLst>
                    <a:ext uri="{FF2B5EF4-FFF2-40B4-BE49-F238E27FC236}">
                      <a16:creationId xmlns:a16="http://schemas.microsoft.com/office/drawing/2014/main" id="{045F44F5-4D51-18C5-DB7C-774B8FF94B34}"/>
                    </a:ext>
                  </a:extLst>
                </p:cNvPr>
                <p:cNvPicPr/>
                <p:nvPr/>
              </p:nvPicPr>
              <p:blipFill>
                <a:blip r:embed="rId8"/>
                <a:stretch>
                  <a:fillRect/>
                </a:stretch>
              </p:blipFill>
              <p:spPr>
                <a:xfrm>
                  <a:off x="2697214" y="645699"/>
                  <a:ext cx="266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5970A6F0-8D67-A326-27BA-9C54CB22087F}"/>
                    </a:ext>
                  </a:extLst>
                </p14:cNvPr>
                <p14:cNvContentPartPr/>
                <p14:nvPr/>
              </p14:nvContentPartPr>
              <p14:xfrm>
                <a:off x="2957494" y="659379"/>
                <a:ext cx="365760" cy="8640"/>
              </p14:xfrm>
            </p:contentPart>
          </mc:Choice>
          <mc:Fallback xmlns="">
            <p:pic>
              <p:nvPicPr>
                <p:cNvPr id="10" name="Ink 9">
                  <a:extLst>
                    <a:ext uri="{FF2B5EF4-FFF2-40B4-BE49-F238E27FC236}">
                      <a16:creationId xmlns:a16="http://schemas.microsoft.com/office/drawing/2014/main" id="{5970A6F0-8D67-A326-27BA-9C54CB22087F}"/>
                    </a:ext>
                  </a:extLst>
                </p:cNvPr>
                <p:cNvPicPr/>
                <p:nvPr/>
              </p:nvPicPr>
              <p:blipFill>
                <a:blip r:embed="rId10"/>
                <a:stretch>
                  <a:fillRect/>
                </a:stretch>
              </p:blipFill>
              <p:spPr>
                <a:xfrm>
                  <a:off x="2951374" y="653259"/>
                  <a:ext cx="3780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904E6FDF-7C48-CF66-1E00-075C8BAFFB91}"/>
                    </a:ext>
                  </a:extLst>
                </p14:cNvPr>
                <p14:cNvContentPartPr/>
                <p14:nvPr/>
              </p14:nvContentPartPr>
              <p14:xfrm>
                <a:off x="3601894" y="651099"/>
                <a:ext cx="317520" cy="9000"/>
              </p14:xfrm>
            </p:contentPart>
          </mc:Choice>
          <mc:Fallback xmlns="">
            <p:pic>
              <p:nvPicPr>
                <p:cNvPr id="11" name="Ink 10">
                  <a:extLst>
                    <a:ext uri="{FF2B5EF4-FFF2-40B4-BE49-F238E27FC236}">
                      <a16:creationId xmlns:a16="http://schemas.microsoft.com/office/drawing/2014/main" id="{904E6FDF-7C48-CF66-1E00-075C8BAFFB91}"/>
                    </a:ext>
                  </a:extLst>
                </p:cNvPr>
                <p:cNvPicPr/>
                <p:nvPr/>
              </p:nvPicPr>
              <p:blipFill>
                <a:blip r:embed="rId12"/>
                <a:stretch>
                  <a:fillRect/>
                </a:stretch>
              </p:blipFill>
              <p:spPr>
                <a:xfrm>
                  <a:off x="3595774" y="644979"/>
                  <a:ext cx="3297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C693A69D-4DFF-9E22-E0DD-40330B5EFB83}"/>
                    </a:ext>
                  </a:extLst>
                </p14:cNvPr>
                <p14:cNvContentPartPr/>
                <p14:nvPr/>
              </p14:nvContentPartPr>
              <p14:xfrm>
                <a:off x="4214254" y="651819"/>
                <a:ext cx="293760" cy="360"/>
              </p14:xfrm>
            </p:contentPart>
          </mc:Choice>
          <mc:Fallback xmlns="">
            <p:pic>
              <p:nvPicPr>
                <p:cNvPr id="12" name="Ink 11">
                  <a:extLst>
                    <a:ext uri="{FF2B5EF4-FFF2-40B4-BE49-F238E27FC236}">
                      <a16:creationId xmlns:a16="http://schemas.microsoft.com/office/drawing/2014/main" id="{C693A69D-4DFF-9E22-E0DD-40330B5EFB83}"/>
                    </a:ext>
                  </a:extLst>
                </p:cNvPr>
                <p:cNvPicPr/>
                <p:nvPr/>
              </p:nvPicPr>
              <p:blipFill>
                <a:blip r:embed="rId14"/>
                <a:stretch>
                  <a:fillRect/>
                </a:stretch>
              </p:blipFill>
              <p:spPr>
                <a:xfrm>
                  <a:off x="4208134" y="645699"/>
                  <a:ext cx="306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6811E98-1AEA-43A2-EE18-425E506F20F6}"/>
                    </a:ext>
                  </a:extLst>
                </p14:cNvPr>
                <p14:cNvContentPartPr/>
                <p14:nvPr/>
              </p14:nvContentPartPr>
              <p14:xfrm>
                <a:off x="4786654" y="651819"/>
                <a:ext cx="372960" cy="360"/>
              </p14:xfrm>
            </p:contentPart>
          </mc:Choice>
          <mc:Fallback xmlns="">
            <p:pic>
              <p:nvPicPr>
                <p:cNvPr id="13" name="Ink 12">
                  <a:extLst>
                    <a:ext uri="{FF2B5EF4-FFF2-40B4-BE49-F238E27FC236}">
                      <a16:creationId xmlns:a16="http://schemas.microsoft.com/office/drawing/2014/main" id="{16811E98-1AEA-43A2-EE18-425E506F20F6}"/>
                    </a:ext>
                  </a:extLst>
                </p:cNvPr>
                <p:cNvPicPr/>
                <p:nvPr/>
              </p:nvPicPr>
              <p:blipFill>
                <a:blip r:embed="rId16"/>
                <a:stretch>
                  <a:fillRect/>
                </a:stretch>
              </p:blipFill>
              <p:spPr>
                <a:xfrm>
                  <a:off x="4780534" y="645699"/>
                  <a:ext cx="385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AB90BF3A-E83B-F380-2CA8-2CF3DAA10D5E}"/>
                    </a:ext>
                  </a:extLst>
                </p14:cNvPr>
                <p14:cNvContentPartPr/>
                <p14:nvPr/>
              </p14:nvContentPartPr>
              <p14:xfrm>
                <a:off x="5541934" y="635979"/>
                <a:ext cx="401040" cy="360"/>
              </p14:xfrm>
            </p:contentPart>
          </mc:Choice>
          <mc:Fallback xmlns="">
            <p:pic>
              <p:nvPicPr>
                <p:cNvPr id="14" name="Ink 13">
                  <a:extLst>
                    <a:ext uri="{FF2B5EF4-FFF2-40B4-BE49-F238E27FC236}">
                      <a16:creationId xmlns:a16="http://schemas.microsoft.com/office/drawing/2014/main" id="{AB90BF3A-E83B-F380-2CA8-2CF3DAA10D5E}"/>
                    </a:ext>
                  </a:extLst>
                </p:cNvPr>
                <p:cNvPicPr/>
                <p:nvPr/>
              </p:nvPicPr>
              <p:blipFill>
                <a:blip r:embed="rId18"/>
                <a:stretch>
                  <a:fillRect/>
                </a:stretch>
              </p:blipFill>
              <p:spPr>
                <a:xfrm>
                  <a:off x="5535814" y="629859"/>
                  <a:ext cx="413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C759DEEB-4FED-F879-F1E7-20EFC51841A1}"/>
                    </a:ext>
                  </a:extLst>
                </p14:cNvPr>
                <p14:cNvContentPartPr/>
                <p14:nvPr/>
              </p14:nvContentPartPr>
              <p14:xfrm>
                <a:off x="6257614" y="603939"/>
                <a:ext cx="286560" cy="24120"/>
              </p14:xfrm>
            </p:contentPart>
          </mc:Choice>
          <mc:Fallback xmlns="">
            <p:pic>
              <p:nvPicPr>
                <p:cNvPr id="15" name="Ink 14">
                  <a:extLst>
                    <a:ext uri="{FF2B5EF4-FFF2-40B4-BE49-F238E27FC236}">
                      <a16:creationId xmlns:a16="http://schemas.microsoft.com/office/drawing/2014/main" id="{C759DEEB-4FED-F879-F1E7-20EFC51841A1}"/>
                    </a:ext>
                  </a:extLst>
                </p:cNvPr>
                <p:cNvPicPr/>
                <p:nvPr/>
              </p:nvPicPr>
              <p:blipFill>
                <a:blip r:embed="rId20"/>
                <a:stretch>
                  <a:fillRect/>
                </a:stretch>
              </p:blipFill>
              <p:spPr>
                <a:xfrm>
                  <a:off x="6251494" y="597819"/>
                  <a:ext cx="298800" cy="36360"/>
                </a:xfrm>
                <a:prstGeom prst="rect">
                  <a:avLst/>
                </a:prstGeom>
              </p:spPr>
            </p:pic>
          </mc:Fallback>
        </mc:AlternateContent>
      </p:grpSp>
      <p:grpSp>
        <p:nvGrpSpPr>
          <p:cNvPr id="24" name="Group 23">
            <a:extLst>
              <a:ext uri="{FF2B5EF4-FFF2-40B4-BE49-F238E27FC236}">
                <a16:creationId xmlns:a16="http://schemas.microsoft.com/office/drawing/2014/main" id="{99951CC0-AB9C-6C45-6EC7-FE3FA1021A69}"/>
              </a:ext>
            </a:extLst>
          </p:cNvPr>
          <p:cNvGrpSpPr/>
          <p:nvPr/>
        </p:nvGrpSpPr>
        <p:grpSpPr>
          <a:xfrm>
            <a:off x="7124494" y="588099"/>
            <a:ext cx="1056600" cy="50040"/>
            <a:chOff x="7124494" y="588099"/>
            <a:chExt cx="1056600" cy="50040"/>
          </a:xfrm>
        </p:grpSpPr>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DACBC639-DCC4-31DD-ECB1-E87BDD501BD2}"/>
                    </a:ext>
                  </a:extLst>
                </p14:cNvPr>
                <p14:cNvContentPartPr/>
                <p14:nvPr/>
              </p14:nvContentPartPr>
              <p14:xfrm>
                <a:off x="7124494" y="588099"/>
                <a:ext cx="540000" cy="16560"/>
              </p14:xfrm>
            </p:contentPart>
          </mc:Choice>
          <mc:Fallback xmlns="">
            <p:pic>
              <p:nvPicPr>
                <p:cNvPr id="16" name="Ink 15">
                  <a:extLst>
                    <a:ext uri="{FF2B5EF4-FFF2-40B4-BE49-F238E27FC236}">
                      <a16:creationId xmlns:a16="http://schemas.microsoft.com/office/drawing/2014/main" id="{DACBC639-DCC4-31DD-ECB1-E87BDD501BD2}"/>
                    </a:ext>
                  </a:extLst>
                </p:cNvPr>
                <p:cNvPicPr/>
                <p:nvPr/>
              </p:nvPicPr>
              <p:blipFill>
                <a:blip r:embed="rId22"/>
                <a:stretch>
                  <a:fillRect/>
                </a:stretch>
              </p:blipFill>
              <p:spPr>
                <a:xfrm>
                  <a:off x="7118374" y="581979"/>
                  <a:ext cx="5522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A2B5A09-6A6A-88DE-3216-C6ACF63B7C68}"/>
                    </a:ext>
                  </a:extLst>
                </p14:cNvPr>
                <p14:cNvContentPartPr/>
                <p14:nvPr/>
              </p14:nvContentPartPr>
              <p14:xfrm>
                <a:off x="7855654" y="628059"/>
                <a:ext cx="325440" cy="10080"/>
              </p14:xfrm>
            </p:contentPart>
          </mc:Choice>
          <mc:Fallback xmlns="">
            <p:pic>
              <p:nvPicPr>
                <p:cNvPr id="17" name="Ink 16">
                  <a:extLst>
                    <a:ext uri="{FF2B5EF4-FFF2-40B4-BE49-F238E27FC236}">
                      <a16:creationId xmlns:a16="http://schemas.microsoft.com/office/drawing/2014/main" id="{DA2B5A09-6A6A-88DE-3216-C6ACF63B7C68}"/>
                    </a:ext>
                  </a:extLst>
                </p:cNvPr>
                <p:cNvPicPr/>
                <p:nvPr/>
              </p:nvPicPr>
              <p:blipFill>
                <a:blip r:embed="rId24"/>
                <a:stretch>
                  <a:fillRect/>
                </a:stretch>
              </p:blipFill>
              <p:spPr>
                <a:xfrm>
                  <a:off x="7849534" y="621939"/>
                  <a:ext cx="337680" cy="22320"/>
                </a:xfrm>
                <a:prstGeom prst="rect">
                  <a:avLst/>
                </a:prstGeom>
              </p:spPr>
            </p:pic>
          </mc:Fallback>
        </mc:AlternateContent>
      </p:grpSp>
      <p:grpSp>
        <p:nvGrpSpPr>
          <p:cNvPr id="23" name="Group 22">
            <a:extLst>
              <a:ext uri="{FF2B5EF4-FFF2-40B4-BE49-F238E27FC236}">
                <a16:creationId xmlns:a16="http://schemas.microsoft.com/office/drawing/2014/main" id="{DCCBBC31-56F3-B32E-1E82-B6F0E6C271EF}"/>
              </a:ext>
            </a:extLst>
          </p:cNvPr>
          <p:cNvGrpSpPr/>
          <p:nvPr/>
        </p:nvGrpSpPr>
        <p:grpSpPr>
          <a:xfrm>
            <a:off x="8825854" y="604299"/>
            <a:ext cx="1075680" cy="32040"/>
            <a:chOff x="8825854" y="604299"/>
            <a:chExt cx="1075680" cy="32040"/>
          </a:xfrm>
        </p:grpSpPr>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B4F9AC04-A4DB-79F6-F69D-B190019EF67E}"/>
                    </a:ext>
                  </a:extLst>
                </p14:cNvPr>
                <p14:cNvContentPartPr/>
                <p14:nvPr/>
              </p14:nvContentPartPr>
              <p14:xfrm>
                <a:off x="8825854" y="635979"/>
                <a:ext cx="372960" cy="360"/>
              </p14:xfrm>
            </p:contentPart>
          </mc:Choice>
          <mc:Fallback xmlns="">
            <p:pic>
              <p:nvPicPr>
                <p:cNvPr id="18" name="Ink 17">
                  <a:extLst>
                    <a:ext uri="{FF2B5EF4-FFF2-40B4-BE49-F238E27FC236}">
                      <a16:creationId xmlns:a16="http://schemas.microsoft.com/office/drawing/2014/main" id="{B4F9AC04-A4DB-79F6-F69D-B190019EF67E}"/>
                    </a:ext>
                  </a:extLst>
                </p:cNvPr>
                <p:cNvPicPr/>
                <p:nvPr/>
              </p:nvPicPr>
              <p:blipFill>
                <a:blip r:embed="rId16"/>
                <a:stretch>
                  <a:fillRect/>
                </a:stretch>
              </p:blipFill>
              <p:spPr>
                <a:xfrm>
                  <a:off x="8819734" y="629859"/>
                  <a:ext cx="385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7FC5C484-D8CF-8C93-279B-A2211709CB42}"/>
                    </a:ext>
                  </a:extLst>
                </p14:cNvPr>
                <p14:cNvContentPartPr/>
                <p14:nvPr/>
              </p14:nvContentPartPr>
              <p14:xfrm>
                <a:off x="9429934" y="604299"/>
                <a:ext cx="471600" cy="360"/>
              </p14:xfrm>
            </p:contentPart>
          </mc:Choice>
          <mc:Fallback xmlns="">
            <p:pic>
              <p:nvPicPr>
                <p:cNvPr id="19" name="Ink 18">
                  <a:extLst>
                    <a:ext uri="{FF2B5EF4-FFF2-40B4-BE49-F238E27FC236}">
                      <a16:creationId xmlns:a16="http://schemas.microsoft.com/office/drawing/2014/main" id="{7FC5C484-D8CF-8C93-279B-A2211709CB42}"/>
                    </a:ext>
                  </a:extLst>
                </p:cNvPr>
                <p:cNvPicPr/>
                <p:nvPr/>
              </p:nvPicPr>
              <p:blipFill>
                <a:blip r:embed="rId27"/>
                <a:stretch>
                  <a:fillRect/>
                </a:stretch>
              </p:blipFill>
              <p:spPr>
                <a:xfrm>
                  <a:off x="9423814" y="598179"/>
                  <a:ext cx="483840" cy="12600"/>
                </a:xfrm>
                <a:prstGeom prst="rect">
                  <a:avLst/>
                </a:prstGeom>
              </p:spPr>
            </p:pic>
          </mc:Fallback>
        </mc:AlternateContent>
      </p:grpSp>
      <p:grpSp>
        <p:nvGrpSpPr>
          <p:cNvPr id="22" name="Group 21">
            <a:extLst>
              <a:ext uri="{FF2B5EF4-FFF2-40B4-BE49-F238E27FC236}">
                <a16:creationId xmlns:a16="http://schemas.microsoft.com/office/drawing/2014/main" id="{7321C0B7-E69A-1742-3AB9-A7B5FA68EC81}"/>
              </a:ext>
            </a:extLst>
          </p:cNvPr>
          <p:cNvGrpSpPr/>
          <p:nvPr/>
        </p:nvGrpSpPr>
        <p:grpSpPr>
          <a:xfrm>
            <a:off x="10352614" y="572259"/>
            <a:ext cx="478800" cy="32040"/>
            <a:chOff x="10352614" y="572259"/>
            <a:chExt cx="478800" cy="32040"/>
          </a:xfrm>
        </p:grpSpPr>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94C746BD-8281-EC07-C082-1B3FC4F2233C}"/>
                    </a:ext>
                  </a:extLst>
                </p14:cNvPr>
                <p14:cNvContentPartPr/>
                <p14:nvPr/>
              </p14:nvContentPartPr>
              <p14:xfrm>
                <a:off x="10352614" y="590979"/>
                <a:ext cx="201240" cy="13320"/>
              </p14:xfrm>
            </p:contentPart>
          </mc:Choice>
          <mc:Fallback xmlns="">
            <p:pic>
              <p:nvPicPr>
                <p:cNvPr id="20" name="Ink 19">
                  <a:extLst>
                    <a:ext uri="{FF2B5EF4-FFF2-40B4-BE49-F238E27FC236}">
                      <a16:creationId xmlns:a16="http://schemas.microsoft.com/office/drawing/2014/main" id="{94C746BD-8281-EC07-C082-1B3FC4F2233C}"/>
                    </a:ext>
                  </a:extLst>
                </p:cNvPr>
                <p:cNvPicPr/>
                <p:nvPr/>
              </p:nvPicPr>
              <p:blipFill>
                <a:blip r:embed="rId29"/>
                <a:stretch>
                  <a:fillRect/>
                </a:stretch>
              </p:blipFill>
              <p:spPr>
                <a:xfrm>
                  <a:off x="10346494" y="584859"/>
                  <a:ext cx="2134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59542A5D-2404-0A4F-D1AC-C271E0CA8BD0}"/>
                    </a:ext>
                  </a:extLst>
                </p14:cNvPr>
                <p14:cNvContentPartPr/>
                <p14:nvPr/>
              </p14:nvContentPartPr>
              <p14:xfrm>
                <a:off x="10829614" y="572259"/>
                <a:ext cx="1800" cy="360"/>
              </p14:xfrm>
            </p:contentPart>
          </mc:Choice>
          <mc:Fallback xmlns="">
            <p:pic>
              <p:nvPicPr>
                <p:cNvPr id="21" name="Ink 20">
                  <a:extLst>
                    <a:ext uri="{FF2B5EF4-FFF2-40B4-BE49-F238E27FC236}">
                      <a16:creationId xmlns:a16="http://schemas.microsoft.com/office/drawing/2014/main" id="{59542A5D-2404-0A4F-D1AC-C271E0CA8BD0}"/>
                    </a:ext>
                  </a:extLst>
                </p:cNvPr>
                <p:cNvPicPr/>
                <p:nvPr/>
              </p:nvPicPr>
              <p:blipFill>
                <a:blip r:embed="rId31"/>
                <a:stretch>
                  <a:fillRect/>
                </a:stretch>
              </p:blipFill>
              <p:spPr>
                <a:xfrm>
                  <a:off x="10823494" y="566139"/>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76D3C8C0-7458-7595-4C59-336E74E824B0}"/>
                  </a:ext>
                </a:extLst>
              </p14:cNvPr>
              <p14:cNvContentPartPr/>
              <p14:nvPr/>
            </p14:nvContentPartPr>
            <p14:xfrm>
              <a:off x="158854" y="6154059"/>
              <a:ext cx="360" cy="360"/>
            </p14:xfrm>
          </p:contentPart>
        </mc:Choice>
        <mc:Fallback xmlns="">
          <p:pic>
            <p:nvPicPr>
              <p:cNvPr id="26" name="Ink 25">
                <a:extLst>
                  <a:ext uri="{FF2B5EF4-FFF2-40B4-BE49-F238E27FC236}">
                    <a16:creationId xmlns:a16="http://schemas.microsoft.com/office/drawing/2014/main" id="{76D3C8C0-7458-7595-4C59-336E74E824B0}"/>
                  </a:ext>
                </a:extLst>
              </p:cNvPr>
              <p:cNvPicPr/>
              <p:nvPr/>
            </p:nvPicPr>
            <p:blipFill>
              <a:blip r:embed="rId33"/>
              <a:stretch>
                <a:fillRect/>
              </a:stretch>
            </p:blipFill>
            <p:spPr>
              <a:xfrm>
                <a:off x="152734" y="6147939"/>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BAE0FA10-9939-E73E-3AB4-9B9EF67A9F11}"/>
                  </a:ext>
                </a:extLst>
              </p14:cNvPr>
              <p14:cNvContentPartPr/>
              <p14:nvPr/>
            </p14:nvContentPartPr>
            <p14:xfrm>
              <a:off x="238414" y="5957859"/>
              <a:ext cx="65880" cy="101160"/>
            </p14:xfrm>
          </p:contentPart>
        </mc:Choice>
        <mc:Fallback xmlns="">
          <p:pic>
            <p:nvPicPr>
              <p:cNvPr id="27" name="Ink 26">
                <a:extLst>
                  <a:ext uri="{FF2B5EF4-FFF2-40B4-BE49-F238E27FC236}">
                    <a16:creationId xmlns:a16="http://schemas.microsoft.com/office/drawing/2014/main" id="{BAE0FA10-9939-E73E-3AB4-9B9EF67A9F11}"/>
                  </a:ext>
                </a:extLst>
              </p:cNvPr>
              <p:cNvPicPr/>
              <p:nvPr/>
            </p:nvPicPr>
            <p:blipFill>
              <a:blip r:embed="rId35"/>
              <a:stretch>
                <a:fillRect/>
              </a:stretch>
            </p:blipFill>
            <p:spPr>
              <a:xfrm>
                <a:off x="232294" y="5951739"/>
                <a:ext cx="781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BD4B6712-4534-91E0-E1DD-0A88248570E8}"/>
                  </a:ext>
                </a:extLst>
              </p14:cNvPr>
              <p14:cNvContentPartPr/>
              <p14:nvPr/>
            </p14:nvContentPartPr>
            <p14:xfrm>
              <a:off x="516694" y="5598939"/>
              <a:ext cx="218880" cy="142200"/>
            </p14:xfrm>
          </p:contentPart>
        </mc:Choice>
        <mc:Fallback xmlns="">
          <p:pic>
            <p:nvPicPr>
              <p:cNvPr id="28" name="Ink 27">
                <a:extLst>
                  <a:ext uri="{FF2B5EF4-FFF2-40B4-BE49-F238E27FC236}">
                    <a16:creationId xmlns:a16="http://schemas.microsoft.com/office/drawing/2014/main" id="{BD4B6712-4534-91E0-E1DD-0A88248570E8}"/>
                  </a:ext>
                </a:extLst>
              </p:cNvPr>
              <p:cNvPicPr/>
              <p:nvPr/>
            </p:nvPicPr>
            <p:blipFill>
              <a:blip r:embed="rId37"/>
              <a:stretch>
                <a:fillRect/>
              </a:stretch>
            </p:blipFill>
            <p:spPr>
              <a:xfrm>
                <a:off x="510574" y="5592819"/>
                <a:ext cx="2311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5357116C-70CC-9639-F8DF-CFFF3FF8F462}"/>
                  </a:ext>
                </a:extLst>
              </p14:cNvPr>
              <p14:cNvContentPartPr/>
              <p14:nvPr/>
            </p14:nvContentPartPr>
            <p14:xfrm>
              <a:off x="882454" y="5160819"/>
              <a:ext cx="288360" cy="254160"/>
            </p14:xfrm>
          </p:contentPart>
        </mc:Choice>
        <mc:Fallback xmlns="">
          <p:pic>
            <p:nvPicPr>
              <p:cNvPr id="29" name="Ink 28">
                <a:extLst>
                  <a:ext uri="{FF2B5EF4-FFF2-40B4-BE49-F238E27FC236}">
                    <a16:creationId xmlns:a16="http://schemas.microsoft.com/office/drawing/2014/main" id="{5357116C-70CC-9639-F8DF-CFFF3FF8F462}"/>
                  </a:ext>
                </a:extLst>
              </p:cNvPr>
              <p:cNvPicPr/>
              <p:nvPr/>
            </p:nvPicPr>
            <p:blipFill>
              <a:blip r:embed="rId39"/>
              <a:stretch>
                <a:fillRect/>
              </a:stretch>
            </p:blipFill>
            <p:spPr>
              <a:xfrm>
                <a:off x="876334" y="5154699"/>
                <a:ext cx="3006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FAC2389B-82EA-E931-B9A2-4D6D44C35C89}"/>
                  </a:ext>
                </a:extLst>
              </p14:cNvPr>
              <p14:cNvContentPartPr/>
              <p14:nvPr/>
            </p14:nvContentPartPr>
            <p14:xfrm>
              <a:off x="1486894" y="4786779"/>
              <a:ext cx="398160" cy="199080"/>
            </p14:xfrm>
          </p:contentPart>
        </mc:Choice>
        <mc:Fallback xmlns="">
          <p:pic>
            <p:nvPicPr>
              <p:cNvPr id="30" name="Ink 29">
                <a:extLst>
                  <a:ext uri="{FF2B5EF4-FFF2-40B4-BE49-F238E27FC236}">
                    <a16:creationId xmlns:a16="http://schemas.microsoft.com/office/drawing/2014/main" id="{FAC2389B-82EA-E931-B9A2-4D6D44C35C89}"/>
                  </a:ext>
                </a:extLst>
              </p:cNvPr>
              <p:cNvPicPr/>
              <p:nvPr/>
            </p:nvPicPr>
            <p:blipFill>
              <a:blip r:embed="rId41"/>
              <a:stretch>
                <a:fillRect/>
              </a:stretch>
            </p:blipFill>
            <p:spPr>
              <a:xfrm>
                <a:off x="1480774" y="4780659"/>
                <a:ext cx="4104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56C0F656-F4AD-24D0-E06F-D159F4DA02A9}"/>
                  </a:ext>
                </a:extLst>
              </p14:cNvPr>
              <p14:cNvContentPartPr/>
              <p14:nvPr/>
            </p14:nvContentPartPr>
            <p14:xfrm>
              <a:off x="2138494" y="4468179"/>
              <a:ext cx="253440" cy="104040"/>
            </p14:xfrm>
          </p:contentPart>
        </mc:Choice>
        <mc:Fallback xmlns="">
          <p:pic>
            <p:nvPicPr>
              <p:cNvPr id="31" name="Ink 30">
                <a:extLst>
                  <a:ext uri="{FF2B5EF4-FFF2-40B4-BE49-F238E27FC236}">
                    <a16:creationId xmlns:a16="http://schemas.microsoft.com/office/drawing/2014/main" id="{56C0F656-F4AD-24D0-E06F-D159F4DA02A9}"/>
                  </a:ext>
                </a:extLst>
              </p:cNvPr>
              <p:cNvPicPr/>
              <p:nvPr/>
            </p:nvPicPr>
            <p:blipFill>
              <a:blip r:embed="rId43"/>
              <a:stretch>
                <a:fillRect/>
              </a:stretch>
            </p:blipFill>
            <p:spPr>
              <a:xfrm>
                <a:off x="2132374" y="4462059"/>
                <a:ext cx="2656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91D58849-9CCB-1F86-8526-28ABACB20288}"/>
                  </a:ext>
                </a:extLst>
              </p14:cNvPr>
              <p14:cNvContentPartPr/>
              <p14:nvPr/>
            </p14:nvContentPartPr>
            <p14:xfrm>
              <a:off x="2695414" y="3939339"/>
              <a:ext cx="369000" cy="259200"/>
            </p14:xfrm>
          </p:contentPart>
        </mc:Choice>
        <mc:Fallback xmlns="">
          <p:pic>
            <p:nvPicPr>
              <p:cNvPr id="32" name="Ink 31">
                <a:extLst>
                  <a:ext uri="{FF2B5EF4-FFF2-40B4-BE49-F238E27FC236}">
                    <a16:creationId xmlns:a16="http://schemas.microsoft.com/office/drawing/2014/main" id="{91D58849-9CCB-1F86-8526-28ABACB20288}"/>
                  </a:ext>
                </a:extLst>
              </p:cNvPr>
              <p:cNvPicPr/>
              <p:nvPr/>
            </p:nvPicPr>
            <p:blipFill>
              <a:blip r:embed="rId45"/>
              <a:stretch>
                <a:fillRect/>
              </a:stretch>
            </p:blipFill>
            <p:spPr>
              <a:xfrm>
                <a:off x="2689294" y="3933219"/>
                <a:ext cx="3812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2A4B0368-AEDD-2A03-1332-8FB924ECAA7C}"/>
                  </a:ext>
                </a:extLst>
              </p14:cNvPr>
              <p14:cNvContentPartPr/>
              <p14:nvPr/>
            </p14:nvContentPartPr>
            <p14:xfrm>
              <a:off x="3458614" y="3636939"/>
              <a:ext cx="381600" cy="171720"/>
            </p14:xfrm>
          </p:contentPart>
        </mc:Choice>
        <mc:Fallback xmlns="">
          <p:pic>
            <p:nvPicPr>
              <p:cNvPr id="33" name="Ink 32">
                <a:extLst>
                  <a:ext uri="{FF2B5EF4-FFF2-40B4-BE49-F238E27FC236}">
                    <a16:creationId xmlns:a16="http://schemas.microsoft.com/office/drawing/2014/main" id="{2A4B0368-AEDD-2A03-1332-8FB924ECAA7C}"/>
                  </a:ext>
                </a:extLst>
              </p:cNvPr>
              <p:cNvPicPr/>
              <p:nvPr/>
            </p:nvPicPr>
            <p:blipFill>
              <a:blip r:embed="rId47"/>
              <a:stretch>
                <a:fillRect/>
              </a:stretch>
            </p:blipFill>
            <p:spPr>
              <a:xfrm>
                <a:off x="3452494" y="3630819"/>
                <a:ext cx="3938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0042A2D7-9C1B-D418-C0A8-BE21F30C95FB}"/>
                  </a:ext>
                </a:extLst>
              </p14:cNvPr>
              <p14:cNvContentPartPr/>
              <p14:nvPr/>
            </p14:nvContentPartPr>
            <p14:xfrm>
              <a:off x="4198054" y="3207819"/>
              <a:ext cx="322560" cy="211320"/>
            </p14:xfrm>
          </p:contentPart>
        </mc:Choice>
        <mc:Fallback xmlns="">
          <p:pic>
            <p:nvPicPr>
              <p:cNvPr id="34" name="Ink 33">
                <a:extLst>
                  <a:ext uri="{FF2B5EF4-FFF2-40B4-BE49-F238E27FC236}">
                    <a16:creationId xmlns:a16="http://schemas.microsoft.com/office/drawing/2014/main" id="{0042A2D7-9C1B-D418-C0A8-BE21F30C95FB}"/>
                  </a:ext>
                </a:extLst>
              </p:cNvPr>
              <p:cNvPicPr/>
              <p:nvPr/>
            </p:nvPicPr>
            <p:blipFill>
              <a:blip r:embed="rId49"/>
              <a:stretch>
                <a:fillRect/>
              </a:stretch>
            </p:blipFill>
            <p:spPr>
              <a:xfrm>
                <a:off x="4191934" y="3201699"/>
                <a:ext cx="3348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4159CA99-448D-B030-9E4E-1BF3F859FE14}"/>
                  </a:ext>
                </a:extLst>
              </p14:cNvPr>
              <p14:cNvContentPartPr/>
              <p14:nvPr/>
            </p14:nvContentPartPr>
            <p14:xfrm>
              <a:off x="4770814" y="2923419"/>
              <a:ext cx="412560" cy="162000"/>
            </p14:xfrm>
          </p:contentPart>
        </mc:Choice>
        <mc:Fallback xmlns="">
          <p:pic>
            <p:nvPicPr>
              <p:cNvPr id="35" name="Ink 34">
                <a:extLst>
                  <a:ext uri="{FF2B5EF4-FFF2-40B4-BE49-F238E27FC236}">
                    <a16:creationId xmlns:a16="http://schemas.microsoft.com/office/drawing/2014/main" id="{4159CA99-448D-B030-9E4E-1BF3F859FE14}"/>
                  </a:ext>
                </a:extLst>
              </p:cNvPr>
              <p:cNvPicPr/>
              <p:nvPr/>
            </p:nvPicPr>
            <p:blipFill>
              <a:blip r:embed="rId51"/>
              <a:stretch>
                <a:fillRect/>
              </a:stretch>
            </p:blipFill>
            <p:spPr>
              <a:xfrm>
                <a:off x="4764694" y="2917299"/>
                <a:ext cx="424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611087FB-E44E-F95D-688C-1B58FDB4F1D6}"/>
                  </a:ext>
                </a:extLst>
              </p14:cNvPr>
              <p14:cNvContentPartPr/>
              <p14:nvPr/>
            </p14:nvContentPartPr>
            <p14:xfrm>
              <a:off x="5557774" y="2681139"/>
              <a:ext cx="259560" cy="78120"/>
            </p14:xfrm>
          </p:contentPart>
        </mc:Choice>
        <mc:Fallback xmlns="">
          <p:pic>
            <p:nvPicPr>
              <p:cNvPr id="36" name="Ink 35">
                <a:extLst>
                  <a:ext uri="{FF2B5EF4-FFF2-40B4-BE49-F238E27FC236}">
                    <a16:creationId xmlns:a16="http://schemas.microsoft.com/office/drawing/2014/main" id="{611087FB-E44E-F95D-688C-1B58FDB4F1D6}"/>
                  </a:ext>
                </a:extLst>
              </p:cNvPr>
              <p:cNvPicPr/>
              <p:nvPr/>
            </p:nvPicPr>
            <p:blipFill>
              <a:blip r:embed="rId53"/>
              <a:stretch>
                <a:fillRect/>
              </a:stretch>
            </p:blipFill>
            <p:spPr>
              <a:xfrm>
                <a:off x="5551654" y="2675019"/>
                <a:ext cx="2718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713BAE07-F2CB-9202-E563-A585824CD0BC}"/>
                  </a:ext>
                </a:extLst>
              </p14:cNvPr>
              <p14:cNvContentPartPr/>
              <p14:nvPr/>
            </p14:nvContentPartPr>
            <p14:xfrm>
              <a:off x="6209734" y="2483499"/>
              <a:ext cx="300960" cy="77400"/>
            </p14:xfrm>
          </p:contentPart>
        </mc:Choice>
        <mc:Fallback xmlns="">
          <p:pic>
            <p:nvPicPr>
              <p:cNvPr id="37" name="Ink 36">
                <a:extLst>
                  <a:ext uri="{FF2B5EF4-FFF2-40B4-BE49-F238E27FC236}">
                    <a16:creationId xmlns:a16="http://schemas.microsoft.com/office/drawing/2014/main" id="{713BAE07-F2CB-9202-E563-A585824CD0BC}"/>
                  </a:ext>
                </a:extLst>
              </p:cNvPr>
              <p:cNvPicPr/>
              <p:nvPr/>
            </p:nvPicPr>
            <p:blipFill>
              <a:blip r:embed="rId55"/>
              <a:stretch>
                <a:fillRect/>
              </a:stretch>
            </p:blipFill>
            <p:spPr>
              <a:xfrm>
                <a:off x="6203614" y="2477379"/>
                <a:ext cx="3132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C73931C3-F20B-7C4E-7BC8-24A65BB84ABA}"/>
                  </a:ext>
                </a:extLst>
              </p14:cNvPr>
              <p14:cNvContentPartPr/>
              <p14:nvPr/>
            </p14:nvContentPartPr>
            <p14:xfrm>
              <a:off x="6917494" y="2268939"/>
              <a:ext cx="357480" cy="84960"/>
            </p14:xfrm>
          </p:contentPart>
        </mc:Choice>
        <mc:Fallback xmlns="">
          <p:pic>
            <p:nvPicPr>
              <p:cNvPr id="38" name="Ink 37">
                <a:extLst>
                  <a:ext uri="{FF2B5EF4-FFF2-40B4-BE49-F238E27FC236}">
                    <a16:creationId xmlns:a16="http://schemas.microsoft.com/office/drawing/2014/main" id="{C73931C3-F20B-7C4E-7BC8-24A65BB84ABA}"/>
                  </a:ext>
                </a:extLst>
              </p:cNvPr>
              <p:cNvPicPr/>
              <p:nvPr/>
            </p:nvPicPr>
            <p:blipFill>
              <a:blip r:embed="rId57"/>
              <a:stretch>
                <a:fillRect/>
              </a:stretch>
            </p:blipFill>
            <p:spPr>
              <a:xfrm>
                <a:off x="6911374" y="2262819"/>
                <a:ext cx="369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50BB2F5A-F2B9-EA0E-AD19-A0493EF68AF6}"/>
                  </a:ext>
                </a:extLst>
              </p14:cNvPr>
              <p14:cNvContentPartPr/>
              <p14:nvPr/>
            </p14:nvContentPartPr>
            <p14:xfrm>
              <a:off x="7704814" y="2046819"/>
              <a:ext cx="540000" cy="132120"/>
            </p14:xfrm>
          </p:contentPart>
        </mc:Choice>
        <mc:Fallback xmlns="">
          <p:pic>
            <p:nvPicPr>
              <p:cNvPr id="39" name="Ink 38">
                <a:extLst>
                  <a:ext uri="{FF2B5EF4-FFF2-40B4-BE49-F238E27FC236}">
                    <a16:creationId xmlns:a16="http://schemas.microsoft.com/office/drawing/2014/main" id="{50BB2F5A-F2B9-EA0E-AD19-A0493EF68AF6}"/>
                  </a:ext>
                </a:extLst>
              </p:cNvPr>
              <p:cNvPicPr/>
              <p:nvPr/>
            </p:nvPicPr>
            <p:blipFill>
              <a:blip r:embed="rId59"/>
              <a:stretch>
                <a:fillRect/>
              </a:stretch>
            </p:blipFill>
            <p:spPr>
              <a:xfrm>
                <a:off x="7698694" y="2040699"/>
                <a:ext cx="5522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72B3D02A-B833-323B-D4BD-AD70A1259C44}"/>
                  </a:ext>
                </a:extLst>
              </p14:cNvPr>
              <p14:cNvContentPartPr/>
              <p14:nvPr/>
            </p14:nvContentPartPr>
            <p14:xfrm>
              <a:off x="8881654" y="1759899"/>
              <a:ext cx="439920" cy="84960"/>
            </p14:xfrm>
          </p:contentPart>
        </mc:Choice>
        <mc:Fallback xmlns="">
          <p:pic>
            <p:nvPicPr>
              <p:cNvPr id="40" name="Ink 39">
                <a:extLst>
                  <a:ext uri="{FF2B5EF4-FFF2-40B4-BE49-F238E27FC236}">
                    <a16:creationId xmlns:a16="http://schemas.microsoft.com/office/drawing/2014/main" id="{72B3D02A-B833-323B-D4BD-AD70A1259C44}"/>
                  </a:ext>
                </a:extLst>
              </p:cNvPr>
              <p:cNvPicPr/>
              <p:nvPr/>
            </p:nvPicPr>
            <p:blipFill>
              <a:blip r:embed="rId61"/>
              <a:stretch>
                <a:fillRect/>
              </a:stretch>
            </p:blipFill>
            <p:spPr>
              <a:xfrm>
                <a:off x="8875534" y="1753779"/>
                <a:ext cx="4521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979798B4-5817-7BD7-8B49-F06F0214581A}"/>
                  </a:ext>
                </a:extLst>
              </p14:cNvPr>
              <p14:cNvContentPartPr/>
              <p14:nvPr/>
            </p14:nvContentPartPr>
            <p14:xfrm>
              <a:off x="9867334" y="1494219"/>
              <a:ext cx="277920" cy="56160"/>
            </p14:xfrm>
          </p:contentPart>
        </mc:Choice>
        <mc:Fallback xmlns="">
          <p:pic>
            <p:nvPicPr>
              <p:cNvPr id="41" name="Ink 40">
                <a:extLst>
                  <a:ext uri="{FF2B5EF4-FFF2-40B4-BE49-F238E27FC236}">
                    <a16:creationId xmlns:a16="http://schemas.microsoft.com/office/drawing/2014/main" id="{979798B4-5817-7BD7-8B49-F06F0214581A}"/>
                  </a:ext>
                </a:extLst>
              </p:cNvPr>
              <p:cNvPicPr/>
              <p:nvPr/>
            </p:nvPicPr>
            <p:blipFill>
              <a:blip r:embed="rId63"/>
              <a:stretch>
                <a:fillRect/>
              </a:stretch>
            </p:blipFill>
            <p:spPr>
              <a:xfrm>
                <a:off x="9861214" y="1488099"/>
                <a:ext cx="2901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6B1F7A7F-B28F-1FEC-C73B-A4AF5437AB39}"/>
                  </a:ext>
                </a:extLst>
              </p14:cNvPr>
              <p14:cNvContentPartPr/>
              <p14:nvPr/>
            </p14:nvContentPartPr>
            <p14:xfrm>
              <a:off x="10615054" y="1422939"/>
              <a:ext cx="253800" cy="48600"/>
            </p14:xfrm>
          </p:contentPart>
        </mc:Choice>
        <mc:Fallback xmlns="">
          <p:pic>
            <p:nvPicPr>
              <p:cNvPr id="42" name="Ink 41">
                <a:extLst>
                  <a:ext uri="{FF2B5EF4-FFF2-40B4-BE49-F238E27FC236}">
                    <a16:creationId xmlns:a16="http://schemas.microsoft.com/office/drawing/2014/main" id="{6B1F7A7F-B28F-1FEC-C73B-A4AF5437AB39}"/>
                  </a:ext>
                </a:extLst>
              </p:cNvPr>
              <p:cNvPicPr/>
              <p:nvPr/>
            </p:nvPicPr>
            <p:blipFill>
              <a:blip r:embed="rId65"/>
              <a:stretch>
                <a:fillRect/>
              </a:stretch>
            </p:blipFill>
            <p:spPr>
              <a:xfrm>
                <a:off x="10608934" y="1416819"/>
                <a:ext cx="266040" cy="60840"/>
              </a:xfrm>
              <a:prstGeom prst="rect">
                <a:avLst/>
              </a:prstGeom>
            </p:spPr>
          </p:pic>
        </mc:Fallback>
      </mc:AlternateContent>
      <p:grpSp>
        <p:nvGrpSpPr>
          <p:cNvPr id="51" name="Group 50">
            <a:extLst>
              <a:ext uri="{FF2B5EF4-FFF2-40B4-BE49-F238E27FC236}">
                <a16:creationId xmlns:a16="http://schemas.microsoft.com/office/drawing/2014/main" id="{2BEFE367-32F3-6D46-B4A5-EB02586CDE96}"/>
              </a:ext>
            </a:extLst>
          </p:cNvPr>
          <p:cNvGrpSpPr/>
          <p:nvPr/>
        </p:nvGrpSpPr>
        <p:grpSpPr>
          <a:xfrm>
            <a:off x="11354134" y="1168419"/>
            <a:ext cx="700200" cy="135720"/>
            <a:chOff x="11354134" y="1168419"/>
            <a:chExt cx="700200" cy="135720"/>
          </a:xfrm>
        </p:grpSpPr>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A17545D9-936B-1E35-6D87-F5AC81BD792E}"/>
                    </a:ext>
                  </a:extLst>
                </p14:cNvPr>
                <p14:cNvContentPartPr/>
                <p14:nvPr/>
              </p14:nvContentPartPr>
              <p14:xfrm>
                <a:off x="11354134" y="1259859"/>
                <a:ext cx="307080" cy="44280"/>
              </p14:xfrm>
            </p:contentPart>
          </mc:Choice>
          <mc:Fallback xmlns="">
            <p:pic>
              <p:nvPicPr>
                <p:cNvPr id="43" name="Ink 42">
                  <a:extLst>
                    <a:ext uri="{FF2B5EF4-FFF2-40B4-BE49-F238E27FC236}">
                      <a16:creationId xmlns:a16="http://schemas.microsoft.com/office/drawing/2014/main" id="{A17545D9-936B-1E35-6D87-F5AC81BD792E}"/>
                    </a:ext>
                  </a:extLst>
                </p:cNvPr>
                <p:cNvPicPr/>
                <p:nvPr/>
              </p:nvPicPr>
              <p:blipFill>
                <a:blip r:embed="rId67"/>
                <a:stretch>
                  <a:fillRect/>
                </a:stretch>
              </p:blipFill>
              <p:spPr>
                <a:xfrm>
                  <a:off x="11348014" y="1253739"/>
                  <a:ext cx="3193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68EECDCA-6998-A30A-DE8B-FDB5C10DE5D3}"/>
                    </a:ext>
                  </a:extLst>
                </p14:cNvPr>
                <p14:cNvContentPartPr/>
                <p14:nvPr/>
              </p14:nvContentPartPr>
              <p14:xfrm>
                <a:off x="11839054" y="1178139"/>
                <a:ext cx="152280" cy="38520"/>
              </p14:xfrm>
            </p:contentPart>
          </mc:Choice>
          <mc:Fallback xmlns="">
            <p:pic>
              <p:nvPicPr>
                <p:cNvPr id="44" name="Ink 43">
                  <a:extLst>
                    <a:ext uri="{FF2B5EF4-FFF2-40B4-BE49-F238E27FC236}">
                      <a16:creationId xmlns:a16="http://schemas.microsoft.com/office/drawing/2014/main" id="{68EECDCA-6998-A30A-DE8B-FDB5C10DE5D3}"/>
                    </a:ext>
                  </a:extLst>
                </p:cNvPr>
                <p:cNvPicPr/>
                <p:nvPr/>
              </p:nvPicPr>
              <p:blipFill>
                <a:blip r:embed="rId69"/>
                <a:stretch>
                  <a:fillRect/>
                </a:stretch>
              </p:blipFill>
              <p:spPr>
                <a:xfrm>
                  <a:off x="11832934" y="1172019"/>
                  <a:ext cx="1645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000DECFC-3353-7588-50F6-E53F8A87249F}"/>
                    </a:ext>
                  </a:extLst>
                </p14:cNvPr>
                <p14:cNvContentPartPr/>
                <p14:nvPr/>
              </p14:nvContentPartPr>
              <p14:xfrm>
                <a:off x="12053974" y="1168419"/>
                <a:ext cx="360" cy="360"/>
              </p14:xfrm>
            </p:contentPart>
          </mc:Choice>
          <mc:Fallback xmlns="">
            <p:pic>
              <p:nvPicPr>
                <p:cNvPr id="45" name="Ink 44">
                  <a:extLst>
                    <a:ext uri="{FF2B5EF4-FFF2-40B4-BE49-F238E27FC236}">
                      <a16:creationId xmlns:a16="http://schemas.microsoft.com/office/drawing/2014/main" id="{000DECFC-3353-7588-50F6-E53F8A87249F}"/>
                    </a:ext>
                  </a:extLst>
                </p:cNvPr>
                <p:cNvPicPr/>
                <p:nvPr/>
              </p:nvPicPr>
              <p:blipFill>
                <a:blip r:embed="rId33"/>
                <a:stretch>
                  <a:fillRect/>
                </a:stretch>
              </p:blipFill>
              <p:spPr>
                <a:xfrm>
                  <a:off x="12047854" y="1162299"/>
                  <a:ext cx="12600" cy="12600"/>
                </a:xfrm>
                <a:prstGeom prst="rect">
                  <a:avLst/>
                </a:prstGeom>
              </p:spPr>
            </p:pic>
          </mc:Fallback>
        </mc:AlternateContent>
      </p:grpSp>
      <p:grpSp>
        <p:nvGrpSpPr>
          <p:cNvPr id="50" name="Group 49">
            <a:extLst>
              <a:ext uri="{FF2B5EF4-FFF2-40B4-BE49-F238E27FC236}">
                <a16:creationId xmlns:a16="http://schemas.microsoft.com/office/drawing/2014/main" id="{230E41FF-987E-D84D-9BF8-2A51CC1FE2F9}"/>
              </a:ext>
            </a:extLst>
          </p:cNvPr>
          <p:cNvGrpSpPr/>
          <p:nvPr/>
        </p:nvGrpSpPr>
        <p:grpSpPr>
          <a:xfrm>
            <a:off x="10932934" y="532659"/>
            <a:ext cx="1231920" cy="72000"/>
            <a:chOff x="10932934" y="532659"/>
            <a:chExt cx="1231920" cy="72000"/>
          </a:xfrm>
        </p:grpSpPr>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41C95CEA-0802-6950-201E-41D78C509BE1}"/>
                    </a:ext>
                  </a:extLst>
                </p14:cNvPr>
                <p14:cNvContentPartPr/>
                <p14:nvPr/>
              </p14:nvContentPartPr>
              <p14:xfrm>
                <a:off x="10932934" y="563979"/>
                <a:ext cx="500760" cy="24480"/>
              </p14:xfrm>
            </p:contentPart>
          </mc:Choice>
          <mc:Fallback xmlns="">
            <p:pic>
              <p:nvPicPr>
                <p:cNvPr id="46" name="Ink 45">
                  <a:extLst>
                    <a:ext uri="{FF2B5EF4-FFF2-40B4-BE49-F238E27FC236}">
                      <a16:creationId xmlns:a16="http://schemas.microsoft.com/office/drawing/2014/main" id="{41C95CEA-0802-6950-201E-41D78C509BE1}"/>
                    </a:ext>
                  </a:extLst>
                </p:cNvPr>
                <p:cNvPicPr/>
                <p:nvPr/>
              </p:nvPicPr>
              <p:blipFill>
                <a:blip r:embed="rId72"/>
                <a:stretch>
                  <a:fillRect/>
                </a:stretch>
              </p:blipFill>
              <p:spPr>
                <a:xfrm>
                  <a:off x="10926814" y="557859"/>
                  <a:ext cx="5130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CA1F92F0-D526-7862-06FD-9BEBE818374D}"/>
                    </a:ext>
                  </a:extLst>
                </p14:cNvPr>
                <p14:cNvContentPartPr/>
                <p14:nvPr/>
              </p14:nvContentPartPr>
              <p14:xfrm>
                <a:off x="11719894" y="548139"/>
                <a:ext cx="254160" cy="56520"/>
              </p14:xfrm>
            </p:contentPart>
          </mc:Choice>
          <mc:Fallback xmlns="">
            <p:pic>
              <p:nvPicPr>
                <p:cNvPr id="47" name="Ink 46">
                  <a:extLst>
                    <a:ext uri="{FF2B5EF4-FFF2-40B4-BE49-F238E27FC236}">
                      <a16:creationId xmlns:a16="http://schemas.microsoft.com/office/drawing/2014/main" id="{CA1F92F0-D526-7862-06FD-9BEBE818374D}"/>
                    </a:ext>
                  </a:extLst>
                </p:cNvPr>
                <p:cNvPicPr/>
                <p:nvPr/>
              </p:nvPicPr>
              <p:blipFill>
                <a:blip r:embed="rId74"/>
                <a:stretch>
                  <a:fillRect/>
                </a:stretch>
              </p:blipFill>
              <p:spPr>
                <a:xfrm>
                  <a:off x="11713774" y="542019"/>
                  <a:ext cx="2664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5E7C3C91-93F6-F29F-AB19-3D2E51AAB107}"/>
                    </a:ext>
                  </a:extLst>
                </p14:cNvPr>
                <p14:cNvContentPartPr/>
                <p14:nvPr/>
              </p14:nvContentPartPr>
              <p14:xfrm>
                <a:off x="12086014" y="532659"/>
                <a:ext cx="78840" cy="360"/>
              </p14:xfrm>
            </p:contentPart>
          </mc:Choice>
          <mc:Fallback xmlns="">
            <p:pic>
              <p:nvPicPr>
                <p:cNvPr id="48" name="Ink 47">
                  <a:extLst>
                    <a:ext uri="{FF2B5EF4-FFF2-40B4-BE49-F238E27FC236}">
                      <a16:creationId xmlns:a16="http://schemas.microsoft.com/office/drawing/2014/main" id="{5E7C3C91-93F6-F29F-AB19-3D2E51AAB107}"/>
                    </a:ext>
                  </a:extLst>
                </p:cNvPr>
                <p:cNvPicPr/>
                <p:nvPr/>
              </p:nvPicPr>
              <p:blipFill>
                <a:blip r:embed="rId76"/>
                <a:stretch>
                  <a:fillRect/>
                </a:stretch>
              </p:blipFill>
              <p:spPr>
                <a:xfrm>
                  <a:off x="12079894" y="526539"/>
                  <a:ext cx="91080" cy="12600"/>
                </a:xfrm>
                <a:prstGeom prst="rect">
                  <a:avLst/>
                </a:prstGeom>
              </p:spPr>
            </p:pic>
          </mc:Fallback>
        </mc:AlternateContent>
      </p:grpSp>
      <p:grpSp>
        <p:nvGrpSpPr>
          <p:cNvPr id="57" name="Group 56">
            <a:extLst>
              <a:ext uri="{FF2B5EF4-FFF2-40B4-BE49-F238E27FC236}">
                <a16:creationId xmlns:a16="http://schemas.microsoft.com/office/drawing/2014/main" id="{89C6451D-D3A6-17F3-C0EE-13195118D632}"/>
              </a:ext>
            </a:extLst>
          </p:cNvPr>
          <p:cNvGrpSpPr/>
          <p:nvPr/>
        </p:nvGrpSpPr>
        <p:grpSpPr>
          <a:xfrm rot="19839277">
            <a:off x="6486566" y="6596380"/>
            <a:ext cx="386640" cy="253080"/>
            <a:chOff x="6758014" y="770979"/>
            <a:chExt cx="386640" cy="253080"/>
          </a:xfrm>
        </p:grpSpPr>
        <mc:AlternateContent xmlns:mc="http://schemas.openxmlformats.org/markup-compatibility/2006" xmlns:p14="http://schemas.microsoft.com/office/powerpoint/2010/main">
          <mc:Choice Requires="p14">
            <p:contentPart p14:bwMode="auto" r:id="rId77">
              <p14:nvContentPartPr>
                <p14:cNvPr id="52" name="Ink 51">
                  <a:extLst>
                    <a:ext uri="{FF2B5EF4-FFF2-40B4-BE49-F238E27FC236}">
                      <a16:creationId xmlns:a16="http://schemas.microsoft.com/office/drawing/2014/main" id="{4DADD525-290C-1238-FF2D-90CB856FD3AF}"/>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3" name="Ink 52">
                  <a:extLst>
                    <a:ext uri="{FF2B5EF4-FFF2-40B4-BE49-F238E27FC236}">
                      <a16:creationId xmlns:a16="http://schemas.microsoft.com/office/drawing/2014/main" id="{1F725BF6-82AD-1DC8-89D7-FDA52B3C2125}"/>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6" name="Ink 55">
                  <a:extLst>
                    <a:ext uri="{FF2B5EF4-FFF2-40B4-BE49-F238E27FC236}">
                      <a16:creationId xmlns:a16="http://schemas.microsoft.com/office/drawing/2014/main" id="{49192F2F-6BD8-251F-9EBB-9CE61690B802}"/>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grpSp>
        <p:nvGrpSpPr>
          <p:cNvPr id="61" name="Group 60">
            <a:extLst>
              <a:ext uri="{FF2B5EF4-FFF2-40B4-BE49-F238E27FC236}">
                <a16:creationId xmlns:a16="http://schemas.microsoft.com/office/drawing/2014/main" id="{D91C5716-B42D-DA50-DBE5-18EF2E1CE8DC}"/>
              </a:ext>
            </a:extLst>
          </p:cNvPr>
          <p:cNvGrpSpPr/>
          <p:nvPr/>
        </p:nvGrpSpPr>
        <p:grpSpPr>
          <a:xfrm>
            <a:off x="6923614" y="2520219"/>
            <a:ext cx="558000" cy="588600"/>
            <a:chOff x="6923614" y="2520219"/>
            <a:chExt cx="558000" cy="588600"/>
          </a:xfrm>
        </p:grpSpPr>
        <mc:AlternateContent xmlns:mc="http://schemas.openxmlformats.org/markup-compatibility/2006" xmlns:p14="http://schemas.microsoft.com/office/powerpoint/2010/main">
          <mc:Choice Requires="p14">
            <p:contentPart p14:bwMode="auto" r:id="rId83">
              <p14:nvContentPartPr>
                <p14:cNvPr id="58" name="Ink 57">
                  <a:extLst>
                    <a:ext uri="{FF2B5EF4-FFF2-40B4-BE49-F238E27FC236}">
                      <a16:creationId xmlns:a16="http://schemas.microsoft.com/office/drawing/2014/main" id="{6E4C6B95-6BE5-7085-1451-AB375E0E9B68}"/>
                    </a:ext>
                  </a:extLst>
                </p14:cNvPr>
                <p14:cNvContentPartPr/>
                <p14:nvPr/>
              </p14:nvContentPartPr>
              <p14:xfrm>
                <a:off x="6923614" y="2560179"/>
                <a:ext cx="75960" cy="244080"/>
              </p14:xfrm>
            </p:contentPart>
          </mc:Choice>
          <mc:Fallback xmlns="">
            <p:pic>
              <p:nvPicPr>
                <p:cNvPr id="58" name="Ink 57">
                  <a:extLst>
                    <a:ext uri="{FF2B5EF4-FFF2-40B4-BE49-F238E27FC236}">
                      <a16:creationId xmlns:a16="http://schemas.microsoft.com/office/drawing/2014/main" id="{6E4C6B95-6BE5-7085-1451-AB375E0E9B68}"/>
                    </a:ext>
                  </a:extLst>
                </p:cNvPr>
                <p:cNvPicPr/>
                <p:nvPr/>
              </p:nvPicPr>
              <p:blipFill>
                <a:blip r:embed="rId84"/>
                <a:stretch>
                  <a:fillRect/>
                </a:stretch>
              </p:blipFill>
              <p:spPr>
                <a:xfrm>
                  <a:off x="6917494" y="2554059"/>
                  <a:ext cx="88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9" name="Ink 58">
                  <a:extLst>
                    <a:ext uri="{FF2B5EF4-FFF2-40B4-BE49-F238E27FC236}">
                      <a16:creationId xmlns:a16="http://schemas.microsoft.com/office/drawing/2014/main" id="{78C5FCA7-A89E-5D60-C902-775695A420BE}"/>
                    </a:ext>
                  </a:extLst>
                </p14:cNvPr>
                <p14:cNvContentPartPr/>
                <p14:nvPr/>
              </p14:nvContentPartPr>
              <p14:xfrm>
                <a:off x="7004974" y="2520219"/>
                <a:ext cx="277920" cy="128520"/>
              </p14:xfrm>
            </p:contentPart>
          </mc:Choice>
          <mc:Fallback xmlns="">
            <p:pic>
              <p:nvPicPr>
                <p:cNvPr id="59" name="Ink 58">
                  <a:extLst>
                    <a:ext uri="{FF2B5EF4-FFF2-40B4-BE49-F238E27FC236}">
                      <a16:creationId xmlns:a16="http://schemas.microsoft.com/office/drawing/2014/main" id="{78C5FCA7-A89E-5D60-C902-775695A420BE}"/>
                    </a:ext>
                  </a:extLst>
                </p:cNvPr>
                <p:cNvPicPr/>
                <p:nvPr/>
              </p:nvPicPr>
              <p:blipFill>
                <a:blip r:embed="rId86"/>
                <a:stretch>
                  <a:fillRect/>
                </a:stretch>
              </p:blipFill>
              <p:spPr>
                <a:xfrm>
                  <a:off x="6998854" y="2514099"/>
                  <a:ext cx="2901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0" name="Ink 59">
                  <a:extLst>
                    <a:ext uri="{FF2B5EF4-FFF2-40B4-BE49-F238E27FC236}">
                      <a16:creationId xmlns:a16="http://schemas.microsoft.com/office/drawing/2014/main" id="{785B768B-06FB-E746-8348-8563B83BB8FC}"/>
                    </a:ext>
                  </a:extLst>
                </p14:cNvPr>
                <p14:cNvContentPartPr/>
                <p14:nvPr/>
              </p14:nvContentPartPr>
              <p14:xfrm>
                <a:off x="7020814" y="2560179"/>
                <a:ext cx="460800" cy="548640"/>
              </p14:xfrm>
            </p:contentPart>
          </mc:Choice>
          <mc:Fallback xmlns="">
            <p:pic>
              <p:nvPicPr>
                <p:cNvPr id="60" name="Ink 59">
                  <a:extLst>
                    <a:ext uri="{FF2B5EF4-FFF2-40B4-BE49-F238E27FC236}">
                      <a16:creationId xmlns:a16="http://schemas.microsoft.com/office/drawing/2014/main" id="{785B768B-06FB-E746-8348-8563B83BB8FC}"/>
                    </a:ext>
                  </a:extLst>
                </p:cNvPr>
                <p:cNvPicPr/>
                <p:nvPr/>
              </p:nvPicPr>
              <p:blipFill>
                <a:blip r:embed="rId88"/>
                <a:stretch>
                  <a:fillRect/>
                </a:stretch>
              </p:blipFill>
              <p:spPr>
                <a:xfrm>
                  <a:off x="7014694" y="2554059"/>
                  <a:ext cx="473040" cy="560880"/>
                </a:xfrm>
                <a:prstGeom prst="rect">
                  <a:avLst/>
                </a:prstGeom>
              </p:spPr>
            </p:pic>
          </mc:Fallback>
        </mc:AlternateContent>
      </p:grpSp>
      <p:sp>
        <p:nvSpPr>
          <p:cNvPr id="63" name="TextBox 62">
            <a:extLst>
              <a:ext uri="{FF2B5EF4-FFF2-40B4-BE49-F238E27FC236}">
                <a16:creationId xmlns:a16="http://schemas.microsoft.com/office/drawing/2014/main" id="{01FCE444-C15F-E5E5-DF78-7737B56163F5}"/>
              </a:ext>
            </a:extLst>
          </p:cNvPr>
          <p:cNvSpPr txBox="1"/>
          <p:nvPr/>
        </p:nvSpPr>
        <p:spPr>
          <a:xfrm>
            <a:off x="10046779" y="3313479"/>
            <a:ext cx="2118075" cy="954107"/>
          </a:xfrm>
          <a:prstGeom prst="rect">
            <a:avLst/>
          </a:prstGeom>
          <a:noFill/>
        </p:spPr>
        <p:txBody>
          <a:bodyPr wrap="square" rtlCol="0">
            <a:spAutoFit/>
          </a:bodyPr>
          <a:lstStyle/>
          <a:p>
            <a:r>
              <a:rPr lang="en-US" sz="1400" dirty="0">
                <a:solidFill>
                  <a:srgbClr val="FF0000"/>
                </a:solidFill>
              </a:rPr>
              <a:t>- TP=4 better than TP=2, implying TP=8 may be better than TP=4 given enough bandwidth</a:t>
            </a:r>
            <a:endParaRPr lang="en-NL" sz="1400" dirty="0">
              <a:solidFill>
                <a:srgbClr val="FF0000"/>
              </a:solidFill>
            </a:endParaRPr>
          </a:p>
        </p:txBody>
      </p:sp>
      <p:sp>
        <p:nvSpPr>
          <p:cNvPr id="64" name="TextBox 63">
            <a:extLst>
              <a:ext uri="{FF2B5EF4-FFF2-40B4-BE49-F238E27FC236}">
                <a16:creationId xmlns:a16="http://schemas.microsoft.com/office/drawing/2014/main" id="{DF8764A1-7A41-4AAD-3B7D-8DD2EBF1D220}"/>
              </a:ext>
            </a:extLst>
          </p:cNvPr>
          <p:cNvSpPr txBox="1"/>
          <p:nvPr/>
        </p:nvSpPr>
        <p:spPr>
          <a:xfrm>
            <a:off x="7333294" y="825493"/>
            <a:ext cx="3220560" cy="646331"/>
          </a:xfrm>
          <a:prstGeom prst="rect">
            <a:avLst/>
          </a:prstGeom>
          <a:noFill/>
        </p:spPr>
        <p:txBody>
          <a:bodyPr wrap="square" rtlCol="0">
            <a:spAutoFit/>
          </a:bodyPr>
          <a:lstStyle/>
          <a:p>
            <a:r>
              <a:rPr lang="en-US" dirty="0">
                <a:solidFill>
                  <a:srgbClr val="FF0000"/>
                </a:solidFill>
              </a:rPr>
              <a:t>TP=4 (TP=tensor parallel) Not bottlenecked by network</a:t>
            </a:r>
            <a:endParaRPr lang="en-NL" dirty="0">
              <a:solidFill>
                <a:srgbClr val="FF0000"/>
              </a:solidFill>
            </a:endParaRPr>
          </a:p>
        </p:txBody>
      </p:sp>
      <p:sp>
        <p:nvSpPr>
          <p:cNvPr id="65" name="TextBox 64">
            <a:extLst>
              <a:ext uri="{FF2B5EF4-FFF2-40B4-BE49-F238E27FC236}">
                <a16:creationId xmlns:a16="http://schemas.microsoft.com/office/drawing/2014/main" id="{3244477F-CA4B-9FAD-3CBB-51852746B71B}"/>
              </a:ext>
            </a:extLst>
          </p:cNvPr>
          <p:cNvSpPr txBox="1"/>
          <p:nvPr/>
        </p:nvSpPr>
        <p:spPr>
          <a:xfrm>
            <a:off x="7438845" y="2648739"/>
            <a:ext cx="2706409" cy="3170099"/>
          </a:xfrm>
          <a:prstGeom prst="rect">
            <a:avLst/>
          </a:prstGeom>
          <a:noFill/>
        </p:spPr>
        <p:txBody>
          <a:bodyPr wrap="square" rtlCol="0">
            <a:spAutoFit/>
          </a:bodyPr>
          <a:lstStyle/>
          <a:p>
            <a:r>
              <a:rPr lang="en-US" sz="1400" dirty="0">
                <a:solidFill>
                  <a:srgbClr val="FF0000"/>
                </a:solidFill>
              </a:rPr>
              <a:t>TP=8 (so outside the node) clearly scaling</a:t>
            </a:r>
            <a:br>
              <a:rPr lang="en-US" sz="1400" dirty="0">
                <a:solidFill>
                  <a:srgbClr val="FF0000"/>
                </a:solidFill>
              </a:rPr>
            </a:br>
            <a:r>
              <a:rPr lang="en-US" sz="1400" dirty="0">
                <a:solidFill>
                  <a:srgbClr val="FF0000"/>
                </a:solidFill>
              </a:rPr>
              <a:t>with network bandwidth.</a:t>
            </a:r>
          </a:p>
          <a:p>
            <a:r>
              <a:rPr lang="en-US" sz="1400" dirty="0">
                <a:solidFill>
                  <a:srgbClr val="FF0000"/>
                </a:solidFill>
              </a:rPr>
              <a:t>Lost performance fraction</a:t>
            </a:r>
          </a:p>
          <a:p>
            <a:r>
              <a:rPr lang="en-US" sz="1400" dirty="0">
                <a:solidFill>
                  <a:srgbClr val="FF0000"/>
                </a:solidFill>
              </a:rPr>
              <a:t>~0.45, implying in a best case at least ~400Gbps</a:t>
            </a:r>
            <a:br>
              <a:rPr lang="en-US" sz="1400" dirty="0">
                <a:solidFill>
                  <a:srgbClr val="FF0000"/>
                </a:solidFill>
              </a:rPr>
            </a:br>
            <a:r>
              <a:rPr lang="en-US" sz="1400" dirty="0">
                <a:solidFill>
                  <a:srgbClr val="FF0000"/>
                </a:solidFill>
              </a:rPr>
              <a:t>needed per GPU to not be bottlenecked by Network, </a:t>
            </a:r>
            <a:br>
              <a:rPr lang="en-US" sz="1400" dirty="0">
                <a:solidFill>
                  <a:srgbClr val="FF0000"/>
                </a:solidFill>
              </a:rPr>
            </a:br>
            <a:r>
              <a:rPr lang="en-US" sz="1400" dirty="0">
                <a:solidFill>
                  <a:srgbClr val="FF0000"/>
                </a:solidFill>
              </a:rPr>
              <a:t>Probably more like </a:t>
            </a:r>
            <a:br>
              <a:rPr lang="en-US" sz="1400" dirty="0">
                <a:solidFill>
                  <a:srgbClr val="FF0000"/>
                </a:solidFill>
              </a:rPr>
            </a:br>
            <a:r>
              <a:rPr lang="en-US" sz="1400" dirty="0">
                <a:solidFill>
                  <a:srgbClr val="FF0000"/>
                </a:solidFill>
              </a:rPr>
              <a:t>~600-800Gbps per GPU</a:t>
            </a:r>
            <a:br>
              <a:rPr lang="en-US" sz="1400" dirty="0">
                <a:solidFill>
                  <a:srgbClr val="FF0000"/>
                </a:solidFill>
              </a:rPr>
            </a:br>
            <a:r>
              <a:rPr lang="en-US" sz="1400" dirty="0">
                <a:solidFill>
                  <a:srgbClr val="FF0000"/>
                </a:solidFill>
              </a:rPr>
              <a:t>due to Amdahl’s law (not taking into account TP=8 may scale above TP=4)</a:t>
            </a:r>
            <a:br>
              <a:rPr lang="en-US" dirty="0">
                <a:solidFill>
                  <a:srgbClr val="FF0000"/>
                </a:solidFill>
              </a:rPr>
            </a:br>
            <a:endParaRPr lang="en-NL" dirty="0">
              <a:solidFill>
                <a:srgbClr val="FF0000"/>
              </a:solidFill>
            </a:endParaRPr>
          </a:p>
        </p:txBody>
      </p:sp>
      <p:grpSp>
        <p:nvGrpSpPr>
          <p:cNvPr id="4" name="Group 3">
            <a:extLst>
              <a:ext uri="{FF2B5EF4-FFF2-40B4-BE49-F238E27FC236}">
                <a16:creationId xmlns:a16="http://schemas.microsoft.com/office/drawing/2014/main" id="{3A6DD18D-E9BF-C8D7-DE1D-BBCE8230F0B3}"/>
              </a:ext>
            </a:extLst>
          </p:cNvPr>
          <p:cNvGrpSpPr/>
          <p:nvPr/>
        </p:nvGrpSpPr>
        <p:grpSpPr>
          <a:xfrm>
            <a:off x="6910414" y="923379"/>
            <a:ext cx="386640" cy="253080"/>
            <a:chOff x="6758014" y="770979"/>
            <a:chExt cx="386640" cy="253080"/>
          </a:xfrm>
        </p:grpSpPr>
        <mc:AlternateContent xmlns:mc="http://schemas.openxmlformats.org/markup-compatibility/2006" xmlns:p14="http://schemas.microsoft.com/office/powerpoint/2010/main">
          <mc:Choice Requires="p14">
            <p:contentPart p14:bwMode="auto" r:id="rId89">
              <p14:nvContentPartPr>
                <p14:cNvPr id="6" name="Ink 5">
                  <a:extLst>
                    <a:ext uri="{FF2B5EF4-FFF2-40B4-BE49-F238E27FC236}">
                      <a16:creationId xmlns:a16="http://schemas.microsoft.com/office/drawing/2014/main" id="{85468519-FA6D-9B65-7BE9-8FE11D07383E}"/>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90E6183D-4D49-957F-2CF8-629C3438831C}"/>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4" name="Ink 53">
                  <a:extLst>
                    <a:ext uri="{FF2B5EF4-FFF2-40B4-BE49-F238E27FC236}">
                      <a16:creationId xmlns:a16="http://schemas.microsoft.com/office/drawing/2014/main" id="{23CAB8A8-5EE6-04B2-17BA-F3A03FDF8673}"/>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55" name="TextBox 54">
            <a:extLst>
              <a:ext uri="{FF2B5EF4-FFF2-40B4-BE49-F238E27FC236}">
                <a16:creationId xmlns:a16="http://schemas.microsoft.com/office/drawing/2014/main" id="{E7C1E0A3-C6DE-4211-995C-079741B2F5A8}"/>
              </a:ext>
            </a:extLst>
          </p:cNvPr>
          <p:cNvSpPr txBox="1"/>
          <p:nvPr/>
        </p:nvSpPr>
        <p:spPr>
          <a:xfrm>
            <a:off x="6983048" y="6469477"/>
            <a:ext cx="5302332" cy="369332"/>
          </a:xfrm>
          <a:prstGeom prst="rect">
            <a:avLst/>
          </a:prstGeom>
          <a:noFill/>
        </p:spPr>
        <p:txBody>
          <a:bodyPr wrap="square" rtlCol="0">
            <a:spAutoFit/>
          </a:bodyPr>
          <a:lstStyle/>
          <a:p>
            <a:r>
              <a:rPr lang="en-US" dirty="0">
                <a:solidFill>
                  <a:srgbClr val="FF0000"/>
                </a:solidFill>
              </a:rPr>
              <a:t>Different levels of GPU&gt;GPU speed (in Gbps)</a:t>
            </a:r>
            <a:endParaRPr lang="en-NL" dirty="0">
              <a:solidFill>
                <a:srgbClr val="FF0000"/>
              </a:solidFill>
            </a:endParaRPr>
          </a:p>
        </p:txBody>
      </p:sp>
      <p:grpSp>
        <p:nvGrpSpPr>
          <p:cNvPr id="62" name="Group 61">
            <a:extLst>
              <a:ext uri="{FF2B5EF4-FFF2-40B4-BE49-F238E27FC236}">
                <a16:creationId xmlns:a16="http://schemas.microsoft.com/office/drawing/2014/main" id="{78B22B11-800F-E0C5-2D1E-111CFAFBB421}"/>
              </a:ext>
            </a:extLst>
          </p:cNvPr>
          <p:cNvGrpSpPr/>
          <p:nvPr/>
        </p:nvGrpSpPr>
        <p:grpSpPr>
          <a:xfrm rot="15812786">
            <a:off x="470841" y="2291840"/>
            <a:ext cx="386640" cy="253080"/>
            <a:chOff x="6758014" y="770979"/>
            <a:chExt cx="386640" cy="253080"/>
          </a:xfrm>
        </p:grpSpPr>
        <mc:AlternateContent xmlns:mc="http://schemas.openxmlformats.org/markup-compatibility/2006" xmlns:p14="http://schemas.microsoft.com/office/powerpoint/2010/main">
          <mc:Choice Requires="p14">
            <p:contentPart p14:bwMode="auto" r:id="rId92">
              <p14:nvContentPartPr>
                <p14:cNvPr id="66" name="Ink 65">
                  <a:extLst>
                    <a:ext uri="{FF2B5EF4-FFF2-40B4-BE49-F238E27FC236}">
                      <a16:creationId xmlns:a16="http://schemas.microsoft.com/office/drawing/2014/main" id="{A5886CB4-86B4-C474-A581-C3391B4E13BE}"/>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7" name="Ink 66">
                  <a:extLst>
                    <a:ext uri="{FF2B5EF4-FFF2-40B4-BE49-F238E27FC236}">
                      <a16:creationId xmlns:a16="http://schemas.microsoft.com/office/drawing/2014/main" id="{54341295-1D62-DD6C-4545-3F5AC502BB76}"/>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E3398F2A-8397-225F-FF3A-6423F8783C6E}"/>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69" name="TextBox 68">
            <a:extLst>
              <a:ext uri="{FF2B5EF4-FFF2-40B4-BE49-F238E27FC236}">
                <a16:creationId xmlns:a16="http://schemas.microsoft.com/office/drawing/2014/main" id="{C6EA74C5-C76B-6BD6-101D-0931DDD929E7}"/>
              </a:ext>
            </a:extLst>
          </p:cNvPr>
          <p:cNvSpPr txBox="1"/>
          <p:nvPr/>
        </p:nvSpPr>
        <p:spPr>
          <a:xfrm>
            <a:off x="0" y="1722095"/>
            <a:ext cx="5302332" cy="369332"/>
          </a:xfrm>
          <a:prstGeom prst="rect">
            <a:avLst/>
          </a:prstGeom>
          <a:noFill/>
        </p:spPr>
        <p:txBody>
          <a:bodyPr wrap="square" rtlCol="0">
            <a:spAutoFit/>
          </a:bodyPr>
          <a:lstStyle/>
          <a:p>
            <a:r>
              <a:rPr lang="en-US" dirty="0">
                <a:solidFill>
                  <a:srgbClr val="FF0000"/>
                </a:solidFill>
              </a:rPr>
              <a:t>TFLOPs per GPU.</a:t>
            </a:r>
            <a:endParaRPr lang="en-NL" dirty="0">
              <a:solidFill>
                <a:srgbClr val="FF0000"/>
              </a:solidFill>
            </a:endParaRPr>
          </a:p>
        </p:txBody>
      </p:sp>
      <p:grpSp>
        <p:nvGrpSpPr>
          <p:cNvPr id="74" name="Group 73">
            <a:extLst>
              <a:ext uri="{FF2B5EF4-FFF2-40B4-BE49-F238E27FC236}">
                <a16:creationId xmlns:a16="http://schemas.microsoft.com/office/drawing/2014/main" id="{5E43350C-CC94-0E3D-DCA9-D552450B04AA}"/>
              </a:ext>
            </a:extLst>
          </p:cNvPr>
          <p:cNvGrpSpPr/>
          <p:nvPr/>
        </p:nvGrpSpPr>
        <p:grpSpPr>
          <a:xfrm rot="19839277">
            <a:off x="7240441" y="5822475"/>
            <a:ext cx="386640" cy="253080"/>
            <a:chOff x="6758014" y="770979"/>
            <a:chExt cx="386640" cy="253080"/>
          </a:xfrm>
        </p:grpSpPr>
        <mc:AlternateContent xmlns:mc="http://schemas.openxmlformats.org/markup-compatibility/2006" xmlns:p14="http://schemas.microsoft.com/office/powerpoint/2010/main">
          <mc:Choice Requires="p14">
            <p:contentPart p14:bwMode="auto" r:id="rId95">
              <p14:nvContentPartPr>
                <p14:cNvPr id="75" name="Ink 74">
                  <a:extLst>
                    <a:ext uri="{FF2B5EF4-FFF2-40B4-BE49-F238E27FC236}">
                      <a16:creationId xmlns:a16="http://schemas.microsoft.com/office/drawing/2014/main" id="{6FF478FC-8A47-8AEE-0720-91AC3E3F8249}"/>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6" name="Ink 75">
                  <a:extLst>
                    <a:ext uri="{FF2B5EF4-FFF2-40B4-BE49-F238E27FC236}">
                      <a16:creationId xmlns:a16="http://schemas.microsoft.com/office/drawing/2014/main" id="{028ED2C3-B506-6A24-44A6-9392C97703E7}"/>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7" name="Ink 76">
                  <a:extLst>
                    <a:ext uri="{FF2B5EF4-FFF2-40B4-BE49-F238E27FC236}">
                      <a16:creationId xmlns:a16="http://schemas.microsoft.com/office/drawing/2014/main" id="{9410FFDF-3662-5A16-39F4-AC0E96262800}"/>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78" name="TextBox 77">
            <a:extLst>
              <a:ext uri="{FF2B5EF4-FFF2-40B4-BE49-F238E27FC236}">
                <a16:creationId xmlns:a16="http://schemas.microsoft.com/office/drawing/2014/main" id="{F154247A-D551-B02B-5F76-E27B2D67888F}"/>
              </a:ext>
            </a:extLst>
          </p:cNvPr>
          <p:cNvSpPr txBox="1"/>
          <p:nvPr/>
        </p:nvSpPr>
        <p:spPr>
          <a:xfrm>
            <a:off x="7723851" y="5772072"/>
            <a:ext cx="5302332" cy="369332"/>
          </a:xfrm>
          <a:prstGeom prst="rect">
            <a:avLst/>
          </a:prstGeom>
          <a:noFill/>
        </p:spPr>
        <p:txBody>
          <a:bodyPr wrap="square" rtlCol="0">
            <a:spAutoFit/>
          </a:bodyPr>
          <a:lstStyle/>
          <a:p>
            <a:r>
              <a:rPr lang="en-US" dirty="0">
                <a:solidFill>
                  <a:srgbClr val="FF0000"/>
                </a:solidFill>
              </a:rPr>
              <a:t>Out of memory runs register as -1.</a:t>
            </a:r>
            <a:endParaRPr lang="en-NL" dirty="0">
              <a:solidFill>
                <a:srgbClr val="FF0000"/>
              </a:solidFill>
            </a:endParaRPr>
          </a:p>
        </p:txBody>
      </p:sp>
    </p:spTree>
    <p:extLst>
      <p:ext uri="{BB962C8B-B14F-4D97-AF65-F5344CB8AC3E}">
        <p14:creationId xmlns:p14="http://schemas.microsoft.com/office/powerpoint/2010/main" val="3672694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7CF9774-8A2E-E255-8D9B-1AC473783223}"/>
              </a:ext>
            </a:extLst>
          </p:cNvPr>
          <p:cNvPicPr>
            <a:picLocks noChangeAspect="1"/>
          </p:cNvPicPr>
          <p:nvPr/>
        </p:nvPicPr>
        <p:blipFill>
          <a:blip r:embed="rId2"/>
          <a:stretch>
            <a:fillRect/>
          </a:stretch>
        </p:blipFill>
        <p:spPr>
          <a:xfrm>
            <a:off x="0" y="0"/>
            <a:ext cx="11502000" cy="6858000"/>
          </a:xfrm>
          <a:prstGeom prst="rect">
            <a:avLst/>
          </a:prstGeom>
        </p:spPr>
      </p:pic>
      <p:sp>
        <p:nvSpPr>
          <p:cNvPr id="6" name="TextBox 5">
            <a:extLst>
              <a:ext uri="{FF2B5EF4-FFF2-40B4-BE49-F238E27FC236}">
                <a16:creationId xmlns:a16="http://schemas.microsoft.com/office/drawing/2014/main" id="{A06E9B87-C693-7882-7BFD-B11909A159FD}"/>
              </a:ext>
            </a:extLst>
          </p:cNvPr>
          <p:cNvSpPr txBox="1"/>
          <p:nvPr/>
        </p:nvSpPr>
        <p:spPr>
          <a:xfrm>
            <a:off x="9739160" y="3429000"/>
            <a:ext cx="2452840" cy="1815882"/>
          </a:xfrm>
          <a:prstGeom prst="rect">
            <a:avLst/>
          </a:prstGeom>
          <a:noFill/>
        </p:spPr>
        <p:txBody>
          <a:bodyPr wrap="square" rtlCol="0">
            <a:spAutoFit/>
          </a:bodyPr>
          <a:lstStyle/>
          <a:p>
            <a:r>
              <a:rPr lang="en-US" sz="1400" dirty="0">
                <a:solidFill>
                  <a:srgbClr val="FF0000"/>
                </a:solidFill>
              </a:rPr>
              <a:t>Flipping to PP (pipeline parallel) view:</a:t>
            </a:r>
          </a:p>
          <a:p>
            <a:pPr marL="285750" indent="-285750">
              <a:buFontTx/>
              <a:buChar char="-"/>
            </a:pPr>
            <a:r>
              <a:rPr lang="en-US" sz="1400" dirty="0">
                <a:solidFill>
                  <a:srgbClr val="FF0000"/>
                </a:solidFill>
              </a:rPr>
              <a:t>TP=4 Still dominates performant codes</a:t>
            </a:r>
          </a:p>
          <a:p>
            <a:pPr marL="285750" indent="-285750">
              <a:buFontTx/>
              <a:buChar char="-"/>
            </a:pPr>
            <a:r>
              <a:rPr lang="en-US" sz="1400" dirty="0">
                <a:solidFill>
                  <a:srgbClr val="FF0000"/>
                </a:solidFill>
              </a:rPr>
              <a:t>Again implying that TP=8 may be better given enough bandwidth</a:t>
            </a:r>
          </a:p>
          <a:p>
            <a:pPr marL="285750" indent="-285750">
              <a:buFontTx/>
              <a:buChar char="-"/>
            </a:pPr>
            <a:endParaRPr lang="en-NL" sz="1400" dirty="0"/>
          </a:p>
        </p:txBody>
      </p:sp>
    </p:spTree>
    <p:extLst>
      <p:ext uri="{BB962C8B-B14F-4D97-AF65-F5344CB8AC3E}">
        <p14:creationId xmlns:p14="http://schemas.microsoft.com/office/powerpoint/2010/main" val="15666381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7720-6C1F-BAE4-391C-E3980942C7FC}"/>
            </a:ext>
          </a:extLst>
        </p:cNvPr>
        <p:cNvGrpSpPr/>
        <p:nvPr/>
      </p:nvGrpSpPr>
      <p:grpSpPr>
        <a:xfrm>
          <a:off x="0" y="0"/>
          <a:ext cx="0" cy="0"/>
          <a:chOff x="0" y="0"/>
          <a:chExt cx="0" cy="0"/>
        </a:xfrm>
      </p:grpSpPr>
      <p:pic>
        <p:nvPicPr>
          <p:cNvPr id="3" name="Picture 2" descr="A graph of different colored dots&#10;&#10;AI-generated content may be incorrect.">
            <a:extLst>
              <a:ext uri="{FF2B5EF4-FFF2-40B4-BE49-F238E27FC236}">
                <a16:creationId xmlns:a16="http://schemas.microsoft.com/office/drawing/2014/main" id="{DF7A2CBE-022D-D269-15E6-13CC052CB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754" y="-54943"/>
            <a:ext cx="11031733" cy="6912943"/>
          </a:xfrm>
          <a:prstGeom prst="rect">
            <a:avLst/>
          </a:prstGeom>
        </p:spPr>
      </p:pic>
      <p:sp>
        <p:nvSpPr>
          <p:cNvPr id="4" name="TextBox 3">
            <a:extLst>
              <a:ext uri="{FF2B5EF4-FFF2-40B4-BE49-F238E27FC236}">
                <a16:creationId xmlns:a16="http://schemas.microsoft.com/office/drawing/2014/main" id="{C3A2F753-95CC-C2A1-D5A8-4A60889A3FE9}"/>
              </a:ext>
            </a:extLst>
          </p:cNvPr>
          <p:cNvSpPr txBox="1"/>
          <p:nvPr/>
        </p:nvSpPr>
        <p:spPr>
          <a:xfrm>
            <a:off x="9559087" y="3805361"/>
            <a:ext cx="2493579" cy="1200329"/>
          </a:xfrm>
          <a:prstGeom prst="rect">
            <a:avLst/>
          </a:prstGeom>
          <a:noFill/>
        </p:spPr>
        <p:txBody>
          <a:bodyPr wrap="square" rtlCol="0">
            <a:spAutoFit/>
          </a:bodyPr>
          <a:lstStyle/>
          <a:p>
            <a:pPr marL="285750" indent="-285750">
              <a:buFontTx/>
              <a:buChar char="-"/>
            </a:pPr>
            <a:r>
              <a:rPr lang="en-US" dirty="0">
                <a:solidFill>
                  <a:srgbClr val="FF0000"/>
                </a:solidFill>
              </a:rPr>
              <a:t>Using single node training  we can show this scaling indeed continues </a:t>
            </a:r>
            <a:endParaRPr lang="en-NL" dirty="0">
              <a:solidFill>
                <a:srgbClr val="FF0000"/>
              </a:solidFill>
            </a:endParaRPr>
          </a:p>
        </p:txBody>
      </p:sp>
    </p:spTree>
    <p:extLst>
      <p:ext uri="{BB962C8B-B14F-4D97-AF65-F5344CB8AC3E}">
        <p14:creationId xmlns:p14="http://schemas.microsoft.com/office/powerpoint/2010/main" val="28912498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63A5-F116-7C12-102C-7F9187242F9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786858-24FA-2529-6420-D274B426827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6AD57F2-CB0D-C04B-9881-2DB40D290BF9}"/>
              </a:ext>
            </a:extLst>
          </p:cNvPr>
          <p:cNvPicPr>
            <a:picLocks noChangeAspect="1"/>
          </p:cNvPicPr>
          <p:nvPr/>
        </p:nvPicPr>
        <p:blipFill>
          <a:blip r:embed="rId3"/>
          <a:stretch>
            <a:fillRect/>
          </a:stretch>
        </p:blipFill>
        <p:spPr>
          <a:xfrm>
            <a:off x="0" y="0"/>
            <a:ext cx="11376422" cy="6858000"/>
          </a:xfrm>
          <a:prstGeom prst="rect">
            <a:avLst/>
          </a:prstGeom>
        </p:spPr>
      </p:pic>
      <p:sp>
        <p:nvSpPr>
          <p:cNvPr id="6" name="TextBox 5">
            <a:extLst>
              <a:ext uri="{FF2B5EF4-FFF2-40B4-BE49-F238E27FC236}">
                <a16:creationId xmlns:a16="http://schemas.microsoft.com/office/drawing/2014/main" id="{B49187B5-189C-387E-F1EF-AAA7C73D2ABF}"/>
              </a:ext>
            </a:extLst>
          </p:cNvPr>
          <p:cNvSpPr txBox="1"/>
          <p:nvPr/>
        </p:nvSpPr>
        <p:spPr>
          <a:xfrm>
            <a:off x="9640110" y="2879387"/>
            <a:ext cx="2493579" cy="2862322"/>
          </a:xfrm>
          <a:prstGeom prst="rect">
            <a:avLst/>
          </a:prstGeom>
          <a:noFill/>
        </p:spPr>
        <p:txBody>
          <a:bodyPr wrap="square" rtlCol="0">
            <a:spAutoFit/>
          </a:bodyPr>
          <a:lstStyle/>
          <a:p>
            <a:pPr marL="285750" indent="-285750">
              <a:buFontTx/>
              <a:buChar char="-"/>
            </a:pPr>
            <a:r>
              <a:rPr lang="en-US" dirty="0">
                <a:solidFill>
                  <a:srgbClr val="FF0000"/>
                </a:solidFill>
              </a:rPr>
              <a:t>FLOPS efficiency scale with memory util</a:t>
            </a:r>
          </a:p>
          <a:p>
            <a:pPr marL="285750" indent="-285750">
              <a:buFontTx/>
              <a:buChar char="-"/>
            </a:pPr>
            <a:r>
              <a:rPr lang="en-US" dirty="0">
                <a:solidFill>
                  <a:srgbClr val="FF0000"/>
                </a:solidFill>
              </a:rPr>
              <a:t>TP and PP decrease</a:t>
            </a:r>
            <a:br>
              <a:rPr lang="en-US" dirty="0">
                <a:solidFill>
                  <a:srgbClr val="FF0000"/>
                </a:solidFill>
              </a:rPr>
            </a:br>
            <a:r>
              <a:rPr lang="en-US" dirty="0">
                <a:solidFill>
                  <a:srgbClr val="FF0000"/>
                </a:solidFill>
              </a:rPr>
              <a:t>memory util enabling scaling in model size and input size</a:t>
            </a:r>
          </a:p>
          <a:p>
            <a:pPr marL="285750" indent="-285750">
              <a:buFontTx/>
              <a:buChar char="-"/>
            </a:pPr>
            <a:r>
              <a:rPr lang="en-US" dirty="0">
                <a:solidFill>
                  <a:srgbClr val="FF0000"/>
                </a:solidFill>
              </a:rPr>
              <a:t>TP typically decreases memory consumption more than PP…</a:t>
            </a:r>
            <a:endParaRPr lang="en-NL" dirty="0">
              <a:solidFill>
                <a:srgbClr val="FF0000"/>
              </a:solidFill>
            </a:endParaRPr>
          </a:p>
        </p:txBody>
      </p:sp>
    </p:spTree>
    <p:extLst>
      <p:ext uri="{BB962C8B-B14F-4D97-AF65-F5344CB8AC3E}">
        <p14:creationId xmlns:p14="http://schemas.microsoft.com/office/powerpoint/2010/main" val="42660541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E08661A-86BB-1198-BE82-FFAF3CFB76A6}"/>
              </a:ext>
            </a:extLst>
          </p:cNvPr>
          <p:cNvPicPr>
            <a:picLocks noChangeAspect="1"/>
          </p:cNvPicPr>
          <p:nvPr/>
        </p:nvPicPr>
        <p:blipFill>
          <a:blip r:embed="rId2"/>
          <a:stretch>
            <a:fillRect/>
          </a:stretch>
        </p:blipFill>
        <p:spPr>
          <a:xfrm>
            <a:off x="375008" y="0"/>
            <a:ext cx="11441984"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0E114D3-CD27-17B3-EC9D-0A99EE471B0F}"/>
                  </a:ext>
                </a:extLst>
              </p14:cNvPr>
              <p14:cNvContentPartPr/>
              <p14:nvPr/>
            </p14:nvContentPartPr>
            <p14:xfrm>
              <a:off x="5197091" y="542257"/>
              <a:ext cx="2796480" cy="2431800"/>
            </p14:xfrm>
          </p:contentPart>
        </mc:Choice>
        <mc:Fallback xmlns="">
          <p:pic>
            <p:nvPicPr>
              <p:cNvPr id="7" name="Ink 6">
                <a:extLst>
                  <a:ext uri="{FF2B5EF4-FFF2-40B4-BE49-F238E27FC236}">
                    <a16:creationId xmlns:a16="http://schemas.microsoft.com/office/drawing/2014/main" id="{70E114D3-CD27-17B3-EC9D-0A99EE471B0F}"/>
                  </a:ext>
                </a:extLst>
              </p:cNvPr>
              <p:cNvPicPr/>
              <p:nvPr/>
            </p:nvPicPr>
            <p:blipFill>
              <a:blip r:embed="rId4"/>
              <a:stretch>
                <a:fillRect/>
              </a:stretch>
            </p:blipFill>
            <p:spPr>
              <a:xfrm>
                <a:off x="5190971" y="536137"/>
                <a:ext cx="2808720" cy="2444040"/>
              </a:xfrm>
              <a:prstGeom prst="rect">
                <a:avLst/>
              </a:prstGeom>
            </p:spPr>
          </p:pic>
        </mc:Fallback>
      </mc:AlternateContent>
      <p:sp>
        <p:nvSpPr>
          <p:cNvPr id="8" name="TextBox 7">
            <a:extLst>
              <a:ext uri="{FF2B5EF4-FFF2-40B4-BE49-F238E27FC236}">
                <a16:creationId xmlns:a16="http://schemas.microsoft.com/office/drawing/2014/main" id="{77FFB592-F645-8C30-70BB-92C004FDCEB4}"/>
              </a:ext>
            </a:extLst>
          </p:cNvPr>
          <p:cNvSpPr txBox="1"/>
          <p:nvPr/>
        </p:nvSpPr>
        <p:spPr>
          <a:xfrm>
            <a:off x="5653225" y="724462"/>
            <a:ext cx="2279487" cy="646331"/>
          </a:xfrm>
          <a:prstGeom prst="rect">
            <a:avLst/>
          </a:prstGeom>
          <a:noFill/>
        </p:spPr>
        <p:txBody>
          <a:bodyPr wrap="square" rtlCol="0">
            <a:spAutoFit/>
          </a:bodyPr>
          <a:lstStyle/>
          <a:p>
            <a:r>
              <a:rPr lang="en-US" dirty="0">
                <a:solidFill>
                  <a:srgbClr val="FF0000"/>
                </a:solidFill>
              </a:rPr>
              <a:t>Underutilization</a:t>
            </a:r>
          </a:p>
          <a:p>
            <a:r>
              <a:rPr lang="en-US" dirty="0">
                <a:solidFill>
                  <a:srgbClr val="FF0000"/>
                </a:solidFill>
              </a:rPr>
              <a:t>          Of memory.  </a:t>
            </a:r>
            <a:endParaRPr lang="en-NL" dirty="0">
              <a:solidFill>
                <a:srgbClr val="FF0000"/>
              </a:solidFill>
            </a:endParaRPr>
          </a:p>
        </p:txBody>
      </p:sp>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531E8F2-F398-75C2-A02C-31289D291995}"/>
                  </a:ext>
                </a:extLst>
              </p14:cNvPr>
              <p14:cNvContentPartPr/>
              <p14:nvPr/>
            </p14:nvContentPartPr>
            <p14:xfrm>
              <a:off x="5522879" y="567053"/>
              <a:ext cx="669600" cy="419040"/>
            </p14:xfrm>
          </p:contentPart>
        </mc:Choice>
        <mc:Fallback xmlns="">
          <p:pic>
            <p:nvPicPr>
              <p:cNvPr id="9" name="Ink 8">
                <a:extLst>
                  <a:ext uri="{FF2B5EF4-FFF2-40B4-BE49-F238E27FC236}">
                    <a16:creationId xmlns:a16="http://schemas.microsoft.com/office/drawing/2014/main" id="{B531E8F2-F398-75C2-A02C-31289D291995}"/>
                  </a:ext>
                </a:extLst>
              </p:cNvPr>
              <p:cNvPicPr/>
              <p:nvPr/>
            </p:nvPicPr>
            <p:blipFill>
              <a:blip r:embed="rId6"/>
              <a:stretch>
                <a:fillRect/>
              </a:stretch>
            </p:blipFill>
            <p:spPr>
              <a:xfrm>
                <a:off x="5516759" y="560933"/>
                <a:ext cx="681840" cy="431280"/>
              </a:xfrm>
              <a:prstGeom prst="rect">
                <a:avLst/>
              </a:prstGeom>
            </p:spPr>
          </p:pic>
        </mc:Fallback>
      </mc:AlternateContent>
      <p:grpSp>
        <p:nvGrpSpPr>
          <p:cNvPr id="20" name="Group 19">
            <a:extLst>
              <a:ext uri="{FF2B5EF4-FFF2-40B4-BE49-F238E27FC236}">
                <a16:creationId xmlns:a16="http://schemas.microsoft.com/office/drawing/2014/main" id="{60E45CD8-D1C8-1028-2BEA-5B874797656B}"/>
              </a:ext>
            </a:extLst>
          </p:cNvPr>
          <p:cNvGrpSpPr/>
          <p:nvPr/>
        </p:nvGrpSpPr>
        <p:grpSpPr>
          <a:xfrm>
            <a:off x="5914912" y="603792"/>
            <a:ext cx="2017800" cy="1930680"/>
            <a:chOff x="5411258" y="712735"/>
            <a:chExt cx="2017800" cy="193068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D2AA414-0A60-DFAA-AD07-7288F86B5156}"/>
                    </a:ext>
                  </a:extLst>
                </p14:cNvPr>
                <p14:cNvContentPartPr/>
                <p14:nvPr/>
              </p14:nvContentPartPr>
              <p14:xfrm>
                <a:off x="6051338" y="1133935"/>
                <a:ext cx="1296360" cy="811800"/>
              </p14:xfrm>
            </p:contentPart>
          </mc:Choice>
          <mc:Fallback xmlns="">
            <p:pic>
              <p:nvPicPr>
                <p:cNvPr id="10" name="Ink 9">
                  <a:extLst>
                    <a:ext uri="{FF2B5EF4-FFF2-40B4-BE49-F238E27FC236}">
                      <a16:creationId xmlns:a16="http://schemas.microsoft.com/office/drawing/2014/main" id="{BD2AA414-0A60-DFAA-AD07-7288F86B5156}"/>
                    </a:ext>
                  </a:extLst>
                </p:cNvPr>
                <p:cNvPicPr/>
                <p:nvPr/>
              </p:nvPicPr>
              <p:blipFill>
                <a:blip r:embed="rId8"/>
                <a:stretch>
                  <a:fillRect/>
                </a:stretch>
              </p:blipFill>
              <p:spPr>
                <a:xfrm>
                  <a:off x="6045218" y="1127815"/>
                  <a:ext cx="1308600" cy="82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A6CED503-630B-7F1A-8727-3681590C2E2B}"/>
                    </a:ext>
                  </a:extLst>
                </p14:cNvPr>
                <p14:cNvContentPartPr/>
                <p14:nvPr/>
              </p14:nvContentPartPr>
              <p14:xfrm>
                <a:off x="6467138" y="1711015"/>
                <a:ext cx="730080" cy="616680"/>
              </p14:xfrm>
            </p:contentPart>
          </mc:Choice>
          <mc:Fallback xmlns="">
            <p:pic>
              <p:nvPicPr>
                <p:cNvPr id="11" name="Ink 10">
                  <a:extLst>
                    <a:ext uri="{FF2B5EF4-FFF2-40B4-BE49-F238E27FC236}">
                      <a16:creationId xmlns:a16="http://schemas.microsoft.com/office/drawing/2014/main" id="{A6CED503-630B-7F1A-8727-3681590C2E2B}"/>
                    </a:ext>
                  </a:extLst>
                </p:cNvPr>
                <p:cNvPicPr/>
                <p:nvPr/>
              </p:nvPicPr>
              <p:blipFill>
                <a:blip r:embed="rId10"/>
                <a:stretch>
                  <a:fillRect/>
                </a:stretch>
              </p:blipFill>
              <p:spPr>
                <a:xfrm>
                  <a:off x="6461018" y="1704895"/>
                  <a:ext cx="742320" cy="628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93A978E9-328B-B655-4EFD-969D608EAF46}"/>
                    </a:ext>
                  </a:extLst>
                </p14:cNvPr>
                <p14:cNvContentPartPr/>
                <p14:nvPr/>
              </p14:nvContentPartPr>
              <p14:xfrm>
                <a:off x="6733178" y="2185495"/>
                <a:ext cx="695880" cy="457920"/>
              </p14:xfrm>
            </p:contentPart>
          </mc:Choice>
          <mc:Fallback xmlns="">
            <p:pic>
              <p:nvPicPr>
                <p:cNvPr id="13" name="Ink 12">
                  <a:extLst>
                    <a:ext uri="{FF2B5EF4-FFF2-40B4-BE49-F238E27FC236}">
                      <a16:creationId xmlns:a16="http://schemas.microsoft.com/office/drawing/2014/main" id="{93A978E9-328B-B655-4EFD-969D608EAF46}"/>
                    </a:ext>
                  </a:extLst>
                </p:cNvPr>
                <p:cNvPicPr/>
                <p:nvPr/>
              </p:nvPicPr>
              <p:blipFill>
                <a:blip r:embed="rId12"/>
                <a:stretch>
                  <a:fillRect/>
                </a:stretch>
              </p:blipFill>
              <p:spPr>
                <a:xfrm>
                  <a:off x="6727058" y="2179375"/>
                  <a:ext cx="70812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ECB46608-8827-1FA5-BAE2-E30E683BFC73}"/>
                    </a:ext>
                  </a:extLst>
                </p14:cNvPr>
                <p14:cNvContentPartPr/>
                <p14:nvPr/>
              </p14:nvContentPartPr>
              <p14:xfrm>
                <a:off x="5411258" y="1318975"/>
                <a:ext cx="149760" cy="19800"/>
              </p14:xfrm>
            </p:contentPart>
          </mc:Choice>
          <mc:Fallback xmlns="">
            <p:pic>
              <p:nvPicPr>
                <p:cNvPr id="15" name="Ink 14">
                  <a:extLst>
                    <a:ext uri="{FF2B5EF4-FFF2-40B4-BE49-F238E27FC236}">
                      <a16:creationId xmlns:a16="http://schemas.microsoft.com/office/drawing/2014/main" id="{ECB46608-8827-1FA5-BAE2-E30E683BFC73}"/>
                    </a:ext>
                  </a:extLst>
                </p:cNvPr>
                <p:cNvPicPr/>
                <p:nvPr/>
              </p:nvPicPr>
              <p:blipFill>
                <a:blip r:embed="rId14"/>
                <a:stretch>
                  <a:fillRect/>
                </a:stretch>
              </p:blipFill>
              <p:spPr>
                <a:xfrm>
                  <a:off x="5405138" y="1312855"/>
                  <a:ext cx="1620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B7AEBFA4-99F6-5CF4-7ACC-1B3E71EFB65C}"/>
                    </a:ext>
                  </a:extLst>
                </p14:cNvPr>
                <p14:cNvContentPartPr/>
                <p14:nvPr/>
              </p14:nvContentPartPr>
              <p14:xfrm>
                <a:off x="5935058" y="1410775"/>
                <a:ext cx="496080" cy="318240"/>
              </p14:xfrm>
            </p:contentPart>
          </mc:Choice>
          <mc:Fallback xmlns="">
            <p:pic>
              <p:nvPicPr>
                <p:cNvPr id="17" name="Ink 16">
                  <a:extLst>
                    <a:ext uri="{FF2B5EF4-FFF2-40B4-BE49-F238E27FC236}">
                      <a16:creationId xmlns:a16="http://schemas.microsoft.com/office/drawing/2014/main" id="{B7AEBFA4-99F6-5CF4-7ACC-1B3E71EFB65C}"/>
                    </a:ext>
                  </a:extLst>
                </p:cNvPr>
                <p:cNvPicPr/>
                <p:nvPr/>
              </p:nvPicPr>
              <p:blipFill>
                <a:blip r:embed="rId16"/>
                <a:stretch>
                  <a:fillRect/>
                </a:stretch>
              </p:blipFill>
              <p:spPr>
                <a:xfrm>
                  <a:off x="5928938" y="1404655"/>
                  <a:ext cx="50832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E2972D69-817E-EF0D-79E1-CE21827CEEFF}"/>
                    </a:ext>
                  </a:extLst>
                </p14:cNvPr>
                <p14:cNvContentPartPr/>
                <p14:nvPr/>
              </p14:nvContentPartPr>
              <p14:xfrm>
                <a:off x="6267698" y="712735"/>
                <a:ext cx="238320" cy="110160"/>
              </p14:xfrm>
            </p:contentPart>
          </mc:Choice>
          <mc:Fallback xmlns="">
            <p:pic>
              <p:nvPicPr>
                <p:cNvPr id="16" name="Ink 15">
                  <a:extLst>
                    <a:ext uri="{FF2B5EF4-FFF2-40B4-BE49-F238E27FC236}">
                      <a16:creationId xmlns:a16="http://schemas.microsoft.com/office/drawing/2014/main" id="{E2972D69-817E-EF0D-79E1-CE21827CEEFF}"/>
                    </a:ext>
                  </a:extLst>
                </p:cNvPr>
                <p:cNvPicPr/>
                <p:nvPr/>
              </p:nvPicPr>
              <p:blipFill>
                <a:blip r:embed="rId18"/>
                <a:stretch>
                  <a:fillRect/>
                </a:stretch>
              </p:blipFill>
              <p:spPr>
                <a:xfrm>
                  <a:off x="6261578" y="706615"/>
                  <a:ext cx="250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F7EF800B-62BB-D8A1-FD1D-9262EB292E95}"/>
                    </a:ext>
                  </a:extLst>
                </p14:cNvPr>
                <p14:cNvContentPartPr/>
                <p14:nvPr/>
              </p14:nvContentPartPr>
              <p14:xfrm>
                <a:off x="6916058" y="820015"/>
                <a:ext cx="246600" cy="160920"/>
              </p14:xfrm>
            </p:contentPart>
          </mc:Choice>
          <mc:Fallback xmlns="">
            <p:pic>
              <p:nvPicPr>
                <p:cNvPr id="18" name="Ink 17">
                  <a:extLst>
                    <a:ext uri="{FF2B5EF4-FFF2-40B4-BE49-F238E27FC236}">
                      <a16:creationId xmlns:a16="http://schemas.microsoft.com/office/drawing/2014/main" id="{F7EF800B-62BB-D8A1-FD1D-9262EB292E95}"/>
                    </a:ext>
                  </a:extLst>
                </p:cNvPr>
                <p:cNvPicPr/>
                <p:nvPr/>
              </p:nvPicPr>
              <p:blipFill>
                <a:blip r:embed="rId20"/>
                <a:stretch>
                  <a:fillRect/>
                </a:stretch>
              </p:blipFill>
              <p:spPr>
                <a:xfrm>
                  <a:off x="6909938" y="813895"/>
                  <a:ext cx="258840" cy="173160"/>
                </a:xfrm>
                <a:prstGeom prst="rect">
                  <a:avLst/>
                </a:prstGeom>
              </p:spPr>
            </p:pic>
          </mc:Fallback>
        </mc:AlternateContent>
      </p:grpSp>
      <p:sp>
        <p:nvSpPr>
          <p:cNvPr id="2" name="TextBox 1">
            <a:extLst>
              <a:ext uri="{FF2B5EF4-FFF2-40B4-BE49-F238E27FC236}">
                <a16:creationId xmlns:a16="http://schemas.microsoft.com/office/drawing/2014/main" id="{BB2F22C2-2148-96A8-5846-ADAD94BEAE45}"/>
              </a:ext>
            </a:extLst>
          </p:cNvPr>
          <p:cNvSpPr txBox="1"/>
          <p:nvPr/>
        </p:nvSpPr>
        <p:spPr>
          <a:xfrm>
            <a:off x="8211728" y="1024992"/>
            <a:ext cx="2279487" cy="1477328"/>
          </a:xfrm>
          <a:prstGeom prst="rect">
            <a:avLst/>
          </a:prstGeom>
          <a:noFill/>
        </p:spPr>
        <p:txBody>
          <a:bodyPr wrap="square" rtlCol="0">
            <a:spAutoFit/>
          </a:bodyPr>
          <a:lstStyle/>
          <a:p>
            <a:r>
              <a:rPr lang="en-US" dirty="0">
                <a:solidFill>
                  <a:srgbClr val="FF0000"/>
                </a:solidFill>
              </a:rPr>
              <a:t>Performance of TP&gt;=4 might have been even better with larger batch size/sequence length</a:t>
            </a:r>
            <a:endParaRPr lang="en-NL" dirty="0">
              <a:solidFill>
                <a:srgbClr val="FF0000"/>
              </a:solidFill>
            </a:endParaRPr>
          </a:p>
        </p:txBody>
      </p:sp>
    </p:spTree>
    <p:extLst>
      <p:ext uri="{BB962C8B-B14F-4D97-AF65-F5344CB8AC3E}">
        <p14:creationId xmlns:p14="http://schemas.microsoft.com/office/powerpoint/2010/main" val="13494180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807" y="162068"/>
            <a:ext cx="11149188" cy="600744"/>
          </a:xfrm>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 =&gt; Model / Pipeline / Tensor / Sequence / FSDP</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70</a:t>
            </a:fld>
            <a:endParaRPr lang="nl-NL"/>
          </a:p>
        </p:txBody>
      </p:sp>
    </p:spTree>
    <p:extLst>
      <p:ext uri="{BB962C8B-B14F-4D97-AF65-F5344CB8AC3E}">
        <p14:creationId xmlns:p14="http://schemas.microsoft.com/office/powerpoint/2010/main" val="264677087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AAC0-9309-C9A6-04E8-52E995A67D7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5B7AB15-C5C6-54F7-B24F-BC9E207C562C}"/>
              </a:ext>
            </a:extLst>
          </p:cNvPr>
          <p:cNvSpPr/>
          <p:nvPr/>
        </p:nvSpPr>
        <p:spPr>
          <a:xfrm>
            <a:off x="270588" y="1026367"/>
            <a:ext cx="7501812" cy="51318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a:extLst>
              <a:ext uri="{FF2B5EF4-FFF2-40B4-BE49-F238E27FC236}">
                <a16:creationId xmlns:a16="http://schemas.microsoft.com/office/drawing/2014/main" id="{0D53E424-44F5-9D94-D69B-B223133A6E2B}"/>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r>
              <a:rPr lang="en-US" dirty="0"/>
              <a:t>Single model is too big for memory =&gt; Model / Pipeline / Tensor / Sequence / FSDP</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1F11C36-C2DB-3D26-8BFC-C6FA27B0EE47}"/>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C3669F0B-BB84-7CC4-73FD-87D51789F90B}"/>
              </a:ext>
            </a:extLst>
          </p:cNvPr>
          <p:cNvSpPr>
            <a:spLocks noGrp="1"/>
          </p:cNvSpPr>
          <p:nvPr>
            <p:ph type="sldNum" sz="quarter" idx="12"/>
          </p:nvPr>
        </p:nvSpPr>
        <p:spPr/>
        <p:txBody>
          <a:bodyPr/>
          <a:lstStyle/>
          <a:p>
            <a:fld id="{7AD0FE45-509C-4BDF-9EDE-64426F8DF3D2}" type="slidenum">
              <a:rPr lang="nl-NL" smtClean="0"/>
              <a:t>71</a:t>
            </a:fld>
            <a:endParaRPr lang="nl-NL"/>
          </a:p>
        </p:txBody>
      </p:sp>
      <p:cxnSp>
        <p:nvCxnSpPr>
          <p:cNvPr id="8" name="Straight Arrow Connector 7">
            <a:extLst>
              <a:ext uri="{FF2B5EF4-FFF2-40B4-BE49-F238E27FC236}">
                <a16:creationId xmlns:a16="http://schemas.microsoft.com/office/drawing/2014/main" id="{8E306371-6DDB-79D4-030F-B8C7D660F319}"/>
              </a:ext>
            </a:extLst>
          </p:cNvPr>
          <p:cNvCxnSpPr/>
          <p:nvPr/>
        </p:nvCxnSpPr>
        <p:spPr>
          <a:xfrm>
            <a:off x="7772400" y="1278294"/>
            <a:ext cx="373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CEC31BF-EEB3-5E65-D93D-6E0768CA818E}"/>
              </a:ext>
            </a:extLst>
          </p:cNvPr>
          <p:cNvSpPr txBox="1"/>
          <p:nvPr/>
        </p:nvSpPr>
        <p:spPr>
          <a:xfrm>
            <a:off x="8476453" y="1026367"/>
            <a:ext cx="2230017" cy="553998"/>
          </a:xfrm>
          <a:prstGeom prst="rect">
            <a:avLst/>
          </a:prstGeom>
          <a:noFill/>
        </p:spPr>
        <p:txBody>
          <a:bodyPr wrap="square" lIns="0" tIns="0" rIns="0" bIns="0" rtlCol="0">
            <a:spAutoFit/>
          </a:bodyPr>
          <a:lstStyle/>
          <a:p>
            <a:pPr algn="l"/>
            <a:r>
              <a:rPr lang="en-US" dirty="0"/>
              <a:t>Any cluster will do, no fast network needed</a:t>
            </a:r>
          </a:p>
        </p:txBody>
      </p:sp>
      <p:sp>
        <p:nvSpPr>
          <p:cNvPr id="12" name="Title 1">
            <a:extLst>
              <a:ext uri="{FF2B5EF4-FFF2-40B4-BE49-F238E27FC236}">
                <a16:creationId xmlns:a16="http://schemas.microsoft.com/office/drawing/2014/main" id="{E80F14AD-3B98-07CE-3D0D-99F4C3725D30}"/>
              </a:ext>
            </a:extLst>
          </p:cNvPr>
          <p:cNvSpPr>
            <a:spLocks noGrp="1"/>
          </p:cNvSpPr>
          <p:nvPr>
            <p:ph type="title"/>
          </p:nvPr>
        </p:nvSpPr>
        <p:spPr>
          <a:xfrm>
            <a:off x="523807" y="162068"/>
            <a:ext cx="11149188" cy="600744"/>
          </a:xfrm>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Tree>
    <p:extLst>
      <p:ext uri="{BB962C8B-B14F-4D97-AF65-F5344CB8AC3E}">
        <p14:creationId xmlns:p14="http://schemas.microsoft.com/office/powerpoint/2010/main" val="37501185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3168765-A964-76C1-7DC3-D8184AFCA217}"/>
              </a:ext>
            </a:extLst>
          </p:cNvPr>
          <p:cNvSpPr/>
          <p:nvPr/>
        </p:nvSpPr>
        <p:spPr>
          <a:xfrm>
            <a:off x="186612" y="1552369"/>
            <a:ext cx="9451909" cy="19839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r>
              <a:rPr lang="en-US" dirty="0"/>
              <a:t>Single model is too big for memory =&gt; Model / Pipeline / Tensor / Sequence / FSDP</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72</a:t>
            </a:fld>
            <a:endParaRPr lang="nl-NL"/>
          </a:p>
        </p:txBody>
      </p:sp>
      <p:cxnSp>
        <p:nvCxnSpPr>
          <p:cNvPr id="8" name="Straight Arrow Connector 7">
            <a:extLst>
              <a:ext uri="{FF2B5EF4-FFF2-40B4-BE49-F238E27FC236}">
                <a16:creationId xmlns:a16="http://schemas.microsoft.com/office/drawing/2014/main" id="{0839A618-2CD3-FC55-65B7-3A94369E6408}"/>
              </a:ext>
            </a:extLst>
          </p:cNvPr>
          <p:cNvCxnSpPr>
            <a:cxnSpLocks/>
          </p:cNvCxnSpPr>
          <p:nvPr/>
        </p:nvCxnSpPr>
        <p:spPr>
          <a:xfrm>
            <a:off x="4926155" y="3741576"/>
            <a:ext cx="0"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1B7CB0-1A43-6E11-032D-8B3677BB970B}"/>
              </a:ext>
            </a:extLst>
          </p:cNvPr>
          <p:cNvSpPr txBox="1"/>
          <p:nvPr/>
        </p:nvSpPr>
        <p:spPr>
          <a:xfrm>
            <a:off x="2666037" y="4404050"/>
            <a:ext cx="5084533" cy="553998"/>
          </a:xfrm>
          <a:prstGeom prst="rect">
            <a:avLst/>
          </a:prstGeom>
          <a:noFill/>
        </p:spPr>
        <p:txBody>
          <a:bodyPr wrap="square" lIns="0" tIns="0" rIns="0" bIns="0" rtlCol="0">
            <a:spAutoFit/>
          </a:bodyPr>
          <a:lstStyle/>
          <a:p>
            <a:pPr algn="l"/>
            <a:r>
              <a:rPr lang="en-US" dirty="0"/>
              <a:t>HPC cluster needed, i.e. with fast network and fast connections between e.g. GPUs in a single node</a:t>
            </a:r>
          </a:p>
        </p:txBody>
      </p:sp>
      <p:sp>
        <p:nvSpPr>
          <p:cNvPr id="11" name="Title 1">
            <a:extLst>
              <a:ext uri="{FF2B5EF4-FFF2-40B4-BE49-F238E27FC236}">
                <a16:creationId xmlns:a16="http://schemas.microsoft.com/office/drawing/2014/main" id="{038C99DB-299C-3B2B-C735-544F50D54584}"/>
              </a:ext>
            </a:extLst>
          </p:cNvPr>
          <p:cNvSpPr>
            <a:spLocks noGrp="1"/>
          </p:cNvSpPr>
          <p:nvPr>
            <p:ph type="title"/>
          </p:nvPr>
        </p:nvSpPr>
        <p:spPr>
          <a:xfrm>
            <a:off x="523807" y="162068"/>
            <a:ext cx="11149188" cy="600744"/>
          </a:xfrm>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Tree>
    <p:extLst>
      <p:ext uri="{BB962C8B-B14F-4D97-AF65-F5344CB8AC3E}">
        <p14:creationId xmlns:p14="http://schemas.microsoft.com/office/powerpoint/2010/main" val="399220394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A420-0D0D-DBD6-BF1C-961F006534A6}"/>
              </a:ext>
            </a:extLst>
          </p:cNvPr>
          <p:cNvSpPr>
            <a:spLocks noGrp="1"/>
          </p:cNvSpPr>
          <p:nvPr>
            <p:ph type="title"/>
          </p:nvPr>
        </p:nvSpPr>
        <p:spPr>
          <a:xfrm>
            <a:off x="372793" y="382344"/>
            <a:ext cx="10582630" cy="342211"/>
          </a:xfrm>
        </p:spPr>
        <p:txBody>
          <a:bodyPr/>
          <a:lstStyle/>
          <a:p>
            <a:r>
              <a:rPr lang="en-US" dirty="0"/>
              <a:t>So….. What type of parallelization? Optimal performance</a:t>
            </a:r>
          </a:p>
        </p:txBody>
      </p:sp>
      <p:sp>
        <p:nvSpPr>
          <p:cNvPr id="3" name="Content Placeholder 2">
            <a:extLst>
              <a:ext uri="{FF2B5EF4-FFF2-40B4-BE49-F238E27FC236}">
                <a16:creationId xmlns:a16="http://schemas.microsoft.com/office/drawing/2014/main" id="{4FBE036F-5C1D-22DC-EE7E-5533987D0B45}"/>
              </a:ext>
            </a:extLst>
          </p:cNvPr>
          <p:cNvSpPr>
            <a:spLocks noGrp="1"/>
          </p:cNvSpPr>
          <p:nvPr>
            <p:ph idx="1"/>
          </p:nvPr>
        </p:nvSpPr>
        <p:spPr>
          <a:xfrm>
            <a:off x="192163" y="1430216"/>
            <a:ext cx="11268000" cy="6261100"/>
          </a:xfrm>
        </p:spPr>
        <p:txBody>
          <a:bodyPr/>
          <a:lstStyle/>
          <a:p>
            <a:r>
              <a:rPr lang="en-US" dirty="0"/>
              <a:t>Data parallel (DP)</a:t>
            </a:r>
          </a:p>
          <a:p>
            <a:pPr marL="800100" indent="-266700"/>
            <a:r>
              <a:rPr lang="en-US" dirty="0"/>
              <a:t>Easy to set-up. </a:t>
            </a:r>
          </a:p>
          <a:p>
            <a:pPr marL="800100" indent="-266700"/>
            <a:r>
              <a:rPr lang="en-US" dirty="0"/>
              <a:t>Relatively infrequent and low-bandwidth communication (only once per forward/backwards)</a:t>
            </a:r>
          </a:p>
          <a:p>
            <a:pPr marL="800100" indent="-266700"/>
            <a:r>
              <a:rPr lang="en-US" dirty="0"/>
              <a:t>Model is copied to each device, so redundancy in memory that might hamper efficiency</a:t>
            </a:r>
          </a:p>
          <a:p>
            <a:pPr marL="1600200" indent="-342900"/>
            <a:r>
              <a:rPr lang="en-US" dirty="0"/>
              <a:t>FSDP (fully sharded DP) partially solves this by sharding the model and retrieving the weights for a layer just-in-time. Requires more communication. </a:t>
            </a:r>
          </a:p>
          <a:p>
            <a:pPr marL="50800" indent="228600"/>
            <a:r>
              <a:rPr lang="en-US" dirty="0"/>
              <a:t>Pipeline parallel</a:t>
            </a:r>
          </a:p>
          <a:p>
            <a:pPr marL="508000" indent="228600"/>
            <a:r>
              <a:rPr lang="en-US" dirty="0"/>
              <a:t>Complicated to set-up, lots of tuning to avoid bubbles</a:t>
            </a:r>
          </a:p>
          <a:p>
            <a:pPr marL="508000" indent="228600"/>
            <a:r>
              <a:rPr lang="en-US" dirty="0"/>
              <a:t>Moderate communication (after each block of layers)</a:t>
            </a:r>
          </a:p>
          <a:p>
            <a:pPr marL="508000" indent="228600"/>
            <a:r>
              <a:rPr lang="en-US" dirty="0"/>
              <a:t>Significant memory reduction by splitting model and batches over devices</a:t>
            </a:r>
          </a:p>
          <a:p>
            <a:pPr marL="114300" indent="228600"/>
            <a:r>
              <a:rPr lang="en-US" dirty="0"/>
              <a:t>Tensor parallel</a:t>
            </a:r>
          </a:p>
          <a:p>
            <a:pPr marL="508000" indent="228600"/>
            <a:r>
              <a:rPr lang="en-US" dirty="0"/>
              <a:t>More involved than DP to set-up but does not suffer from bubbles. Computationally very efficient.</a:t>
            </a:r>
          </a:p>
          <a:p>
            <a:pPr marL="508000" indent="228600"/>
            <a:r>
              <a:rPr lang="en-US" dirty="0"/>
              <a:t>Very high bandwidth requirement</a:t>
            </a:r>
          </a:p>
          <a:p>
            <a:pPr marL="508000" indent="228600"/>
            <a:r>
              <a:rPr lang="en-US" dirty="0"/>
              <a:t>Significant memory reduction. Typically even more than pipeline</a:t>
            </a:r>
          </a:p>
          <a:p>
            <a:pPr marL="508000" indent="228600"/>
            <a:endParaRPr lang="en-US" dirty="0"/>
          </a:p>
          <a:p>
            <a:pPr marL="0" lvl="1" indent="0">
              <a:buNone/>
            </a:pPr>
            <a:endParaRPr lang="en-US" dirty="0"/>
          </a:p>
        </p:txBody>
      </p:sp>
      <p:sp>
        <p:nvSpPr>
          <p:cNvPr id="4" name="Slide Number Placeholder 3">
            <a:extLst>
              <a:ext uri="{FF2B5EF4-FFF2-40B4-BE49-F238E27FC236}">
                <a16:creationId xmlns:a16="http://schemas.microsoft.com/office/drawing/2014/main" id="{74C11FE4-E371-7EC3-A56D-34D0008219CE}"/>
              </a:ext>
            </a:extLst>
          </p:cNvPr>
          <p:cNvSpPr>
            <a:spLocks noGrp="1"/>
          </p:cNvSpPr>
          <p:nvPr>
            <p:ph type="sldNum" sz="quarter" idx="12"/>
          </p:nvPr>
        </p:nvSpPr>
        <p:spPr/>
        <p:txBody>
          <a:bodyPr/>
          <a:lstStyle/>
          <a:p>
            <a:fld id="{E47D697A-CF44-4C00-81BC-B5B9DDDC8359}" type="slidenum">
              <a:rPr lang="en-NL" smtClean="0"/>
              <a:t>73</a:t>
            </a:fld>
            <a:endParaRPr lang="en-NL"/>
          </a:p>
        </p:txBody>
      </p:sp>
    </p:spTree>
    <p:extLst>
      <p:ext uri="{BB962C8B-B14F-4D97-AF65-F5344CB8AC3E}">
        <p14:creationId xmlns:p14="http://schemas.microsoft.com/office/powerpoint/2010/main" val="6893779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Do I </a:t>
            </a:r>
            <a:r>
              <a:rPr lang="nl-NL" dirty="0" err="1"/>
              <a:t>need</a:t>
            </a:r>
            <a:r>
              <a:rPr lang="nl-NL" dirty="0"/>
              <a:t> </a:t>
            </a:r>
            <a:r>
              <a:rPr lang="nl-NL" dirty="0" err="1"/>
              <a:t>to</a:t>
            </a:r>
            <a:r>
              <a:rPr lang="nl-NL" dirty="0"/>
              <a:t> </a:t>
            </a:r>
            <a:r>
              <a:rPr lang="nl-NL" dirty="0" err="1"/>
              <a:t>parallelise</a:t>
            </a:r>
            <a:r>
              <a:rPr lang="nl-NL" dirty="0"/>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Consider alternatives:</a:t>
            </a:r>
          </a:p>
          <a:p>
            <a:pPr>
              <a:buFont typeface="Arial" panose="020B0604020202020204" pitchFamily="34" charset="0"/>
              <a:buChar char="•"/>
            </a:pPr>
            <a:r>
              <a:rPr lang="en-US" dirty="0"/>
              <a:t>Model pruning</a:t>
            </a:r>
          </a:p>
          <a:p>
            <a:pPr>
              <a:buFont typeface="Arial" panose="020B0604020202020204" pitchFamily="34" charset="0"/>
              <a:buChar char="•"/>
            </a:pPr>
            <a:r>
              <a:rPr lang="en-US" dirty="0"/>
              <a:t>Use different hardware architecture </a:t>
            </a:r>
          </a:p>
          <a:p>
            <a:pPr>
              <a:buFont typeface="Arial" panose="020B0604020202020204" pitchFamily="34" charset="0"/>
              <a:buChar char="•"/>
            </a:pPr>
            <a:r>
              <a:rPr lang="en-US" dirty="0"/>
              <a:t>Reduced precision datatypes </a:t>
            </a:r>
          </a:p>
          <a:p>
            <a:pPr>
              <a:buFont typeface="Arial" panose="020B0604020202020204" pitchFamily="34" charset="0"/>
              <a:buChar char="•"/>
            </a:pPr>
            <a:r>
              <a:rPr lang="en-US" dirty="0"/>
              <a:t>Low rank fine-tuning (</a:t>
            </a:r>
            <a:r>
              <a:rPr lang="en-US" dirty="0" err="1"/>
              <a:t>LoRA</a:t>
            </a:r>
            <a:r>
              <a:rPr lang="en-US" dirty="0"/>
              <a:t>/</a:t>
            </a:r>
            <a:r>
              <a:rPr lang="en-US" dirty="0" err="1"/>
              <a:t>QLoRA</a:t>
            </a:r>
            <a:r>
              <a:rPr lang="en-US" dirty="0"/>
              <a:t>)</a:t>
            </a:r>
          </a:p>
          <a:p>
            <a:pPr>
              <a:buFont typeface="Arial" panose="020B0604020202020204" pitchFamily="34" charset="0"/>
              <a:buChar char="•"/>
            </a:pPr>
            <a:r>
              <a:rPr lang="en-US" dirty="0"/>
              <a:t>Quantization (inference)</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74</a:t>
            </a:fld>
            <a:endParaRPr lang="nl-NL"/>
          </a:p>
        </p:txBody>
      </p:sp>
    </p:spTree>
    <p:extLst>
      <p:ext uri="{BB962C8B-B14F-4D97-AF65-F5344CB8AC3E}">
        <p14:creationId xmlns:p14="http://schemas.microsoft.com/office/powerpoint/2010/main" val="38834560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DCB7-7FB7-4A8E-B1F9-13A02393E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93FD2-D534-BD73-F119-DA52EDAF5514}"/>
              </a:ext>
            </a:extLst>
          </p:cNvPr>
          <p:cNvSpPr>
            <a:spLocks noGrp="1"/>
          </p:cNvSpPr>
          <p:nvPr>
            <p:ph type="title"/>
          </p:nvPr>
        </p:nvSpPr>
        <p:spPr/>
        <p:txBody>
          <a:bodyPr/>
          <a:lstStyle/>
          <a:p>
            <a:r>
              <a:rPr lang="nl-NL" dirty="0" err="1"/>
              <a:t>Parallelization</a:t>
            </a:r>
            <a:r>
              <a:rPr lang="nl-NL" dirty="0"/>
              <a:t> tools/</a:t>
            </a:r>
            <a:r>
              <a:rPr lang="nl-NL" dirty="0" err="1"/>
              <a:t>wrappers</a:t>
            </a:r>
            <a:endParaRPr lang="nl-NL" dirty="0"/>
          </a:p>
        </p:txBody>
      </p:sp>
      <p:sp>
        <p:nvSpPr>
          <p:cNvPr id="3" name="Vertical Text Placeholder 2">
            <a:extLst>
              <a:ext uri="{FF2B5EF4-FFF2-40B4-BE49-F238E27FC236}">
                <a16:creationId xmlns:a16="http://schemas.microsoft.com/office/drawing/2014/main" id="{D34D55CD-71D2-FE51-3AE8-2DAE2A03E336}"/>
              </a:ext>
            </a:extLst>
          </p:cNvPr>
          <p:cNvSpPr>
            <a:spLocks noGrp="1"/>
          </p:cNvSpPr>
          <p:nvPr>
            <p:ph type="body" orient="vert" idx="1"/>
          </p:nvPr>
        </p:nvSpPr>
        <p:spPr>
          <a:xfrm>
            <a:off x="523807" y="1145098"/>
            <a:ext cx="10182663" cy="4602559"/>
          </a:xfrm>
        </p:spPr>
        <p:txBody>
          <a:bodyPr/>
          <a:lstStyle/>
          <a:p>
            <a:pPr>
              <a:buFont typeface="Arial" panose="020B0604020202020204" pitchFamily="34" charset="0"/>
              <a:buChar char="•"/>
            </a:pPr>
            <a:r>
              <a:rPr lang="en-US" dirty="0" err="1"/>
              <a:t>torch.distributed</a:t>
            </a:r>
            <a:r>
              <a:rPr lang="en-US" dirty="0"/>
              <a:t>: </a:t>
            </a:r>
            <a:r>
              <a:rPr lang="en-US" dirty="0">
                <a:hlinkClick r:id="rId2"/>
              </a:rPr>
              <a:t>https://pytorch.org/docs/stable/distributed.html</a:t>
            </a:r>
            <a:r>
              <a:rPr lang="en-US" dirty="0"/>
              <a:t> </a:t>
            </a:r>
          </a:p>
          <a:p>
            <a:pPr>
              <a:buFont typeface="Arial" panose="020B0604020202020204" pitchFamily="34" charset="0"/>
              <a:buChar char="•"/>
            </a:pPr>
            <a:r>
              <a:rPr lang="en-US" dirty="0" err="1"/>
              <a:t>tf.distribute</a:t>
            </a:r>
            <a:r>
              <a:rPr lang="en-US" dirty="0"/>
              <a:t>: </a:t>
            </a:r>
            <a:r>
              <a:rPr lang="en-US" dirty="0">
                <a:hlinkClick r:id="rId3"/>
              </a:rPr>
              <a:t>https://www.tensorflow.org/guide/distributed_training</a:t>
            </a:r>
            <a:r>
              <a:rPr lang="en-US" dirty="0"/>
              <a:t> </a:t>
            </a:r>
          </a:p>
          <a:p>
            <a:pPr>
              <a:buFont typeface="Arial" panose="020B0604020202020204" pitchFamily="34" charset="0"/>
              <a:buChar char="•"/>
            </a:pPr>
            <a:r>
              <a:rPr lang="en-US" dirty="0"/>
              <a:t>Data parallel:</a:t>
            </a:r>
          </a:p>
          <a:p>
            <a:pPr marL="635000">
              <a:buFont typeface="Arial" panose="020B0604020202020204" pitchFamily="34" charset="0"/>
              <a:buChar char="•"/>
            </a:pPr>
            <a:r>
              <a:rPr lang="en-US" dirty="0" err="1"/>
              <a:t>PyTorch</a:t>
            </a:r>
            <a:r>
              <a:rPr lang="en-US" dirty="0"/>
              <a:t> Distributed Data Parallel (DDP)</a:t>
            </a:r>
          </a:p>
          <a:p>
            <a:pPr marL="303213" indent="-303213">
              <a:buFont typeface="Arial" panose="020B0604020202020204" pitchFamily="34" charset="0"/>
              <a:buChar char="•"/>
            </a:pPr>
            <a:r>
              <a:rPr lang="en-US" dirty="0"/>
              <a:t>Model parallel:</a:t>
            </a:r>
          </a:p>
          <a:p>
            <a:pPr marL="800100" indent="-357188">
              <a:buFont typeface="Arial" panose="020B0604020202020204" pitchFamily="34" charset="0"/>
              <a:buChar char="•"/>
            </a:pPr>
            <a:r>
              <a:rPr lang="en-US" dirty="0" err="1"/>
              <a:t>DeepSpeed</a:t>
            </a:r>
            <a:r>
              <a:rPr lang="en-US" dirty="0"/>
              <a:t> </a:t>
            </a:r>
            <a:r>
              <a:rPr lang="en-US" dirty="0" err="1"/>
              <a:t>ZeRO</a:t>
            </a:r>
            <a:endParaRPr lang="en-US" dirty="0"/>
          </a:p>
          <a:p>
            <a:pPr marL="800100" indent="-357188">
              <a:buFont typeface="Arial" panose="020B0604020202020204" pitchFamily="34" charset="0"/>
              <a:buChar char="•"/>
            </a:pPr>
            <a:r>
              <a:rPr lang="en-US" dirty="0"/>
              <a:t>Torch </a:t>
            </a:r>
            <a:r>
              <a:rPr lang="en-US" dirty="0" err="1"/>
              <a:t>FullyShardedDataParallel</a:t>
            </a:r>
            <a:r>
              <a:rPr lang="en-US" dirty="0"/>
              <a:t> (FSDP): </a:t>
            </a:r>
            <a:r>
              <a:rPr lang="en-US" dirty="0">
                <a:hlinkClick r:id="rId4"/>
              </a:rPr>
              <a:t>https://pytorch.org/docs/stable/fsdp.html</a:t>
            </a:r>
            <a:r>
              <a:rPr lang="en-US" dirty="0"/>
              <a:t> </a:t>
            </a:r>
          </a:p>
          <a:p>
            <a:pPr marL="1200150" indent="-357188">
              <a:buFont typeface="Arial" panose="020B0604020202020204" pitchFamily="34" charset="0"/>
              <a:buChar char="•"/>
            </a:pPr>
            <a:r>
              <a:rPr lang="en-US" dirty="0"/>
              <a:t>Wrapper of ZeRO-3</a:t>
            </a:r>
          </a:p>
          <a:p>
            <a:pPr marL="365125" indent="-365125">
              <a:buFont typeface="Arial" panose="020B0604020202020204" pitchFamily="34" charset="0"/>
              <a:buChar char="•"/>
            </a:pPr>
            <a:r>
              <a:rPr lang="en-US" dirty="0" err="1"/>
              <a:t>Huggingface’s</a:t>
            </a:r>
            <a:r>
              <a:rPr lang="en-US" dirty="0"/>
              <a:t> accelerate: </a:t>
            </a:r>
            <a:r>
              <a:rPr lang="en-US" dirty="0">
                <a:hlinkClick r:id="rId5"/>
              </a:rPr>
              <a:t>https://huggingface.co/docs/transformers/main/en/accelerate</a:t>
            </a:r>
            <a:r>
              <a:rPr lang="en-US" dirty="0"/>
              <a:t> </a:t>
            </a:r>
          </a:p>
          <a:p>
            <a:pPr marL="303213" indent="-303213">
              <a:buFont typeface="Arial" panose="020B0604020202020204" pitchFamily="34" charset="0"/>
              <a:buChar char="•"/>
            </a:pPr>
            <a:endParaRPr lang="en-US" dirty="0"/>
          </a:p>
          <a:p>
            <a:pPr marL="635000">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74DB135C-FB5C-386C-3D6B-BFA8919D8C3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A7FCEDF-C961-8858-BBC5-6F26BBBDF728}"/>
              </a:ext>
            </a:extLst>
          </p:cNvPr>
          <p:cNvSpPr>
            <a:spLocks noGrp="1"/>
          </p:cNvSpPr>
          <p:nvPr>
            <p:ph type="sldNum" sz="quarter" idx="12"/>
          </p:nvPr>
        </p:nvSpPr>
        <p:spPr/>
        <p:txBody>
          <a:bodyPr/>
          <a:lstStyle/>
          <a:p>
            <a:fld id="{7AD0FE45-509C-4BDF-9EDE-64426F8DF3D2}" type="slidenum">
              <a:rPr lang="nl-NL" smtClean="0"/>
              <a:t>75</a:t>
            </a:fld>
            <a:endParaRPr lang="nl-NL"/>
          </a:p>
        </p:txBody>
      </p:sp>
      <p:sp>
        <p:nvSpPr>
          <p:cNvPr id="8" name="Vertical Text Placeholder 2">
            <a:extLst>
              <a:ext uri="{FF2B5EF4-FFF2-40B4-BE49-F238E27FC236}">
                <a16:creationId xmlns:a16="http://schemas.microsoft.com/office/drawing/2014/main" id="{41BEAFEE-662D-651C-AFB9-DEFAF13F6619}"/>
              </a:ext>
            </a:extLst>
          </p:cNvPr>
          <p:cNvSpPr txBox="1">
            <a:spLocks/>
          </p:cNvSpPr>
          <p:nvPr/>
        </p:nvSpPr>
        <p:spPr>
          <a:xfrm>
            <a:off x="7094424" y="2405135"/>
            <a:ext cx="8974163" cy="1409219"/>
          </a:xfrm>
          <a:prstGeom prst="rect">
            <a:avLst/>
          </a:prstGeom>
        </p:spPr>
        <p:txBody>
          <a:bodyPr vert="horz" lIns="0" tIns="0" rIns="0" bIns="0" rtlCol="0">
            <a:no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6"/>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7"/>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8"/>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9"/>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lvl="0">
              <a:buFont typeface="Arial" panose="020B0604020202020204" pitchFamily="34" charset="0"/>
              <a:buChar char="•"/>
            </a:pPr>
            <a:r>
              <a:rPr lang="en-US" b="1" dirty="0"/>
              <a:t>ZeRO-1: </a:t>
            </a:r>
            <a:r>
              <a:rPr lang="en-US" dirty="0"/>
              <a:t>Partition optimizer state</a:t>
            </a:r>
          </a:p>
          <a:p>
            <a:pPr lvl="0">
              <a:buFont typeface="Arial" panose="020B0604020202020204" pitchFamily="34" charset="0"/>
              <a:buChar char="•"/>
            </a:pPr>
            <a:r>
              <a:rPr lang="en-US" b="1" dirty="0"/>
              <a:t>ZeRO-2: </a:t>
            </a:r>
            <a:r>
              <a:rPr lang="en-US" dirty="0"/>
              <a:t>Partition gradients</a:t>
            </a:r>
          </a:p>
          <a:p>
            <a:pPr lvl="0">
              <a:buFont typeface="Arial" panose="020B0604020202020204" pitchFamily="34" charset="0"/>
              <a:buChar char="•"/>
            </a:pPr>
            <a:r>
              <a:rPr lang="en-US" b="1" dirty="0"/>
              <a:t>ZeRO-3: </a:t>
            </a:r>
            <a:r>
              <a:rPr lang="en-US" dirty="0"/>
              <a:t>Partition Model Weights </a:t>
            </a:r>
          </a:p>
          <a:p>
            <a:pPr marL="303213" lvl="0" indent="-303213">
              <a:buFont typeface="Arial" panose="020B0604020202020204" pitchFamily="34" charset="0"/>
              <a:buChar char="•"/>
            </a:pPr>
            <a:endParaRPr lang="en-US" dirty="0"/>
          </a:p>
          <a:p>
            <a:pPr marL="635000" lvl="0">
              <a:buFont typeface="Arial" panose="020B0604020202020204" pitchFamily="34" charset="0"/>
              <a:buChar char="•"/>
            </a:pPr>
            <a:endParaRPr lang="en-US" dirty="0"/>
          </a:p>
          <a:p>
            <a:pPr lvl="0">
              <a:buFont typeface="Arial" panose="020B0604020202020204" pitchFamily="34" charset="0"/>
              <a:buChar char="•"/>
            </a:pPr>
            <a:endParaRPr lang="en-US" dirty="0"/>
          </a:p>
        </p:txBody>
      </p:sp>
    </p:spTree>
    <p:extLst>
      <p:ext uri="{BB962C8B-B14F-4D97-AF65-F5344CB8AC3E}">
        <p14:creationId xmlns:p14="http://schemas.microsoft.com/office/powerpoint/2010/main" val="3699725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2F65-8F22-F596-BD52-3EDE573D486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682ED0-DA4A-0EB1-CA79-33B451AB7727}"/>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99240A70-CCC3-C76E-C1BA-8A82943B335B}"/>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0769D4D4-DC7D-F92F-9B23-364A7C18F9C6}"/>
              </a:ext>
            </a:extLst>
          </p:cNvPr>
          <p:cNvSpPr>
            <a:spLocks noGrp="1"/>
          </p:cNvSpPr>
          <p:nvPr>
            <p:ph type="title"/>
          </p:nvPr>
        </p:nvSpPr>
        <p:spPr/>
        <p:txBody>
          <a:bodyPr/>
          <a:lstStyle/>
          <a:p>
            <a:r>
              <a:rPr lang="en-US" dirty="0"/>
              <a:t>Fit your distribution</a:t>
            </a:r>
            <a:br>
              <a:rPr lang="en-US" dirty="0"/>
            </a:br>
            <a:r>
              <a:rPr lang="en-US" dirty="0"/>
              <a:t>method to your system</a:t>
            </a:r>
            <a:endParaRPr lang="en-NL" dirty="0"/>
          </a:p>
        </p:txBody>
      </p:sp>
      <p:sp>
        <p:nvSpPr>
          <p:cNvPr id="5" name="Content Placeholder 4">
            <a:extLst>
              <a:ext uri="{FF2B5EF4-FFF2-40B4-BE49-F238E27FC236}">
                <a16:creationId xmlns:a16="http://schemas.microsoft.com/office/drawing/2014/main" id="{E76BB838-3B28-B3DC-0231-7E25F02DC298}"/>
              </a:ext>
            </a:extLst>
          </p:cNvPr>
          <p:cNvSpPr>
            <a:spLocks noGrp="1"/>
          </p:cNvSpPr>
          <p:nvPr>
            <p:ph idx="19"/>
          </p:nvPr>
        </p:nvSpPr>
        <p:spPr>
          <a:xfrm>
            <a:off x="865162" y="2075294"/>
            <a:ext cx="7428606" cy="4060393"/>
          </a:xfrm>
        </p:spPr>
        <p:txBody>
          <a:bodyPr/>
          <a:lstStyle/>
          <a:p>
            <a:r>
              <a:rPr lang="en-US" dirty="0"/>
              <a:t>TP inside a node, PP/DP outside of a node</a:t>
            </a:r>
          </a:p>
        </p:txBody>
      </p:sp>
      <p:pic>
        <p:nvPicPr>
          <p:cNvPr id="13" name="Picture 12">
            <a:extLst>
              <a:ext uri="{FF2B5EF4-FFF2-40B4-BE49-F238E27FC236}">
                <a16:creationId xmlns:a16="http://schemas.microsoft.com/office/drawing/2014/main" id="{F6D91FB5-114C-BE7E-2A70-C1DCF552B16F}"/>
              </a:ext>
            </a:extLst>
          </p:cNvPr>
          <p:cNvPicPr>
            <a:picLocks noChangeAspect="1"/>
          </p:cNvPicPr>
          <p:nvPr/>
        </p:nvPicPr>
        <p:blipFill>
          <a:blip r:embed="rId2"/>
          <a:stretch>
            <a:fillRect/>
          </a:stretch>
        </p:blipFill>
        <p:spPr>
          <a:xfrm>
            <a:off x="6018521" y="0"/>
            <a:ext cx="6173480" cy="3429000"/>
          </a:xfrm>
          <a:prstGeom prst="rect">
            <a:avLst/>
          </a:prstGeom>
        </p:spPr>
      </p:pic>
      <p:pic>
        <p:nvPicPr>
          <p:cNvPr id="15" name="Picture 14">
            <a:extLst>
              <a:ext uri="{FF2B5EF4-FFF2-40B4-BE49-F238E27FC236}">
                <a16:creationId xmlns:a16="http://schemas.microsoft.com/office/drawing/2014/main" id="{A70ECFFE-4D1E-13D6-DB21-95555A47871D}"/>
              </a:ext>
            </a:extLst>
          </p:cNvPr>
          <p:cNvPicPr>
            <a:picLocks noChangeAspect="1"/>
          </p:cNvPicPr>
          <p:nvPr/>
        </p:nvPicPr>
        <p:blipFill>
          <a:blip r:embed="rId3"/>
          <a:stretch>
            <a:fillRect/>
          </a:stretch>
        </p:blipFill>
        <p:spPr>
          <a:xfrm>
            <a:off x="2820589" y="3664780"/>
            <a:ext cx="9371411" cy="3086576"/>
          </a:xfrm>
          <a:prstGeom prst="rect">
            <a:avLst/>
          </a:prstGeom>
        </p:spPr>
      </p:pic>
    </p:spTree>
    <p:extLst>
      <p:ext uri="{BB962C8B-B14F-4D97-AF65-F5344CB8AC3E}">
        <p14:creationId xmlns:p14="http://schemas.microsoft.com/office/powerpoint/2010/main" val="2381069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56FCE-0699-B9EC-2E15-C6F0E2BF79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E0D9AA-0941-0C17-69E5-36A32DC2D45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B8BF1CCD-6FFE-D672-797A-7B6D57BEB590}"/>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C702C03A-52C7-5C98-1605-0C714C39AEB1}"/>
              </a:ext>
            </a:extLst>
          </p:cNvPr>
          <p:cNvSpPr>
            <a:spLocks noGrp="1"/>
          </p:cNvSpPr>
          <p:nvPr>
            <p:ph type="title"/>
          </p:nvPr>
        </p:nvSpPr>
        <p:spPr/>
        <p:txBody>
          <a:bodyPr/>
          <a:lstStyle/>
          <a:p>
            <a:r>
              <a:rPr lang="en-US" dirty="0"/>
              <a:t>So you want to do multi-</a:t>
            </a:r>
            <a:r>
              <a:rPr lang="en-US" dirty="0" err="1"/>
              <a:t>gpu</a:t>
            </a:r>
            <a:r>
              <a:rPr lang="en-US" dirty="0"/>
              <a:t>?</a:t>
            </a:r>
            <a:endParaRPr lang="en-NL" dirty="0"/>
          </a:p>
        </p:txBody>
      </p:sp>
      <p:sp>
        <p:nvSpPr>
          <p:cNvPr id="5" name="Content Placeholder 4">
            <a:extLst>
              <a:ext uri="{FF2B5EF4-FFF2-40B4-BE49-F238E27FC236}">
                <a16:creationId xmlns:a16="http://schemas.microsoft.com/office/drawing/2014/main" id="{116BC912-E193-C114-64CF-47590E512A15}"/>
              </a:ext>
            </a:extLst>
          </p:cNvPr>
          <p:cNvSpPr>
            <a:spLocks noGrp="1"/>
          </p:cNvSpPr>
          <p:nvPr>
            <p:ph idx="19"/>
          </p:nvPr>
        </p:nvSpPr>
        <p:spPr>
          <a:xfrm>
            <a:off x="865162" y="2075294"/>
            <a:ext cx="3650692" cy="4060393"/>
          </a:xfrm>
        </p:spPr>
        <p:txBody>
          <a:bodyPr/>
          <a:lstStyle/>
          <a:p>
            <a:r>
              <a:rPr lang="en-US" dirty="0"/>
              <a:t>Scaling inside a node is much easier than outside a node</a:t>
            </a:r>
          </a:p>
          <a:p>
            <a:r>
              <a:rPr lang="en-US" dirty="0"/>
              <a:t>Scaling should always be 90%+ (unless you have a very good reason not to)</a:t>
            </a:r>
          </a:p>
        </p:txBody>
      </p:sp>
      <p:pic>
        <p:nvPicPr>
          <p:cNvPr id="7" name="Picture 6">
            <a:extLst>
              <a:ext uri="{FF2B5EF4-FFF2-40B4-BE49-F238E27FC236}">
                <a16:creationId xmlns:a16="http://schemas.microsoft.com/office/drawing/2014/main" id="{0A40D41C-6B76-C5AE-EDF6-7D84B07CB40A}"/>
              </a:ext>
            </a:extLst>
          </p:cNvPr>
          <p:cNvPicPr>
            <a:picLocks noChangeAspect="1"/>
          </p:cNvPicPr>
          <p:nvPr/>
        </p:nvPicPr>
        <p:blipFill>
          <a:blip r:embed="rId2"/>
          <a:stretch>
            <a:fillRect/>
          </a:stretch>
        </p:blipFill>
        <p:spPr>
          <a:xfrm>
            <a:off x="6546323" y="1505558"/>
            <a:ext cx="7082923" cy="4748463"/>
          </a:xfrm>
          <a:prstGeom prst="rect">
            <a:avLst/>
          </a:prstGeom>
        </p:spPr>
      </p:pic>
      <p:pic>
        <p:nvPicPr>
          <p:cNvPr id="9" name="Picture 8" descr="A graph of a number of nodes&#10;&#10;AI-generated content may be incorrect.">
            <a:extLst>
              <a:ext uri="{FF2B5EF4-FFF2-40B4-BE49-F238E27FC236}">
                <a16:creationId xmlns:a16="http://schemas.microsoft.com/office/drawing/2014/main" id="{4A60A0B7-593B-646B-750B-2B14C53F6E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377" y="3593551"/>
            <a:ext cx="4294133" cy="3174059"/>
          </a:xfrm>
          <a:prstGeom prst="rect">
            <a:avLst/>
          </a:prstGeom>
        </p:spPr>
      </p:pic>
    </p:spTree>
    <p:extLst>
      <p:ext uri="{BB962C8B-B14F-4D97-AF65-F5344CB8AC3E}">
        <p14:creationId xmlns:p14="http://schemas.microsoft.com/office/powerpoint/2010/main" val="18347734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Monitoring!</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154959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jdelijke aanduiding voor tekst 10">
            <a:extLst>
              <a:ext uri="{FF2B5EF4-FFF2-40B4-BE49-F238E27FC236}">
                <a16:creationId xmlns:a16="http://schemas.microsoft.com/office/drawing/2014/main" id="{EEE66043-85EF-D548-6EA3-FC5096CA14BD}"/>
              </a:ext>
            </a:extLst>
          </p:cNvPr>
          <p:cNvSpPr txBox="1">
            <a:spLocks/>
          </p:cNvSpPr>
          <p:nvPr/>
        </p:nvSpPr>
        <p:spPr>
          <a:xfrm>
            <a:off x="193040" y="225424"/>
            <a:ext cx="11805920" cy="6424295"/>
          </a:xfrm>
          <a:prstGeom prst="roundRect">
            <a:avLst>
              <a:gd name="adj" fmla="val 3563"/>
            </a:avLst>
          </a:prstGeom>
          <a:solidFill>
            <a:srgbClr val="FCE4D4"/>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E7628"/>
              </a:buClr>
              <a:buSzPct val="110000"/>
              <a:buFont typeface="Aptos" panose="020B0004020202020204" pitchFamily="34" charset="0"/>
              <a:buNone/>
              <a:tabLst/>
              <a:defRPr/>
            </a:pPr>
            <a:r>
              <a:rPr kumimoji="0" lang="en-GB" sz="100" b="0" i="0" u="none" strike="noStrike" kern="1200" cap="none" spc="0" normalizeH="0" baseline="0" noProof="0" dirty="0">
                <a:ln>
                  <a:noFill/>
                </a:ln>
                <a:solidFill>
                  <a:srgbClr val="000000"/>
                </a:solidFill>
                <a:effectLst/>
                <a:uLnTx/>
                <a:uFillTx/>
                <a:latin typeface="Aptos"/>
                <a:ea typeface="+mn-ea"/>
                <a:cs typeface="+mn-cs"/>
              </a:rPr>
              <a:t> </a:t>
            </a:r>
          </a:p>
        </p:txBody>
      </p:sp>
      <p:sp>
        <p:nvSpPr>
          <p:cNvPr id="25" name="Vorm 6">
            <a:extLst>
              <a:ext uri="{FF2B5EF4-FFF2-40B4-BE49-F238E27FC236}">
                <a16:creationId xmlns:a16="http://schemas.microsoft.com/office/drawing/2014/main" id="{997B0FE5-06F0-A9B5-FF11-8428FEFC98AC}"/>
              </a:ext>
            </a:extLst>
          </p:cNvPr>
          <p:cNvSpPr txBox="1"/>
          <p:nvPr/>
        </p:nvSpPr>
        <p:spPr>
          <a:xfrm>
            <a:off x="4753972" y="4786172"/>
            <a:ext cx="5359746" cy="1026000"/>
          </a:xfrm>
          <a:prstGeom prst="rect">
            <a:avLst/>
          </a:prstGeom>
          <a:solidFill>
            <a:srgbClr val="D5ECDD"/>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1"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4" name="Vorm 6">
            <a:extLst>
              <a:ext uri="{FF2B5EF4-FFF2-40B4-BE49-F238E27FC236}">
                <a16:creationId xmlns:a16="http://schemas.microsoft.com/office/drawing/2014/main" id="{71CB7B59-BFCD-A4F5-E149-E9A046A81117}"/>
              </a:ext>
            </a:extLst>
          </p:cNvPr>
          <p:cNvSpPr txBox="1"/>
          <p:nvPr/>
        </p:nvSpPr>
        <p:spPr>
          <a:xfrm>
            <a:off x="4753972" y="3725517"/>
            <a:ext cx="5359746" cy="1026000"/>
          </a:xfrm>
          <a:prstGeom prst="rect">
            <a:avLst/>
          </a:prstGeom>
          <a:solidFill>
            <a:srgbClr val="D1E4F2"/>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1"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3" name="Vorm 6">
            <a:extLst>
              <a:ext uri="{FF2B5EF4-FFF2-40B4-BE49-F238E27FC236}">
                <a16:creationId xmlns:a16="http://schemas.microsoft.com/office/drawing/2014/main" id="{A462DA75-4D75-A95A-27DA-6E74FA9166DA}"/>
              </a:ext>
            </a:extLst>
          </p:cNvPr>
          <p:cNvSpPr txBox="1"/>
          <p:nvPr/>
        </p:nvSpPr>
        <p:spPr>
          <a:xfrm>
            <a:off x="4753972" y="2670575"/>
            <a:ext cx="5359746" cy="1026000"/>
          </a:xfrm>
          <a:prstGeom prst="rect">
            <a:avLst/>
          </a:prstGeom>
          <a:solidFill>
            <a:srgbClr val="FDF8DA"/>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1"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1" name="Vorm 4">
            <a:extLst>
              <a:ext uri="{FF2B5EF4-FFF2-40B4-BE49-F238E27FC236}">
                <a16:creationId xmlns:a16="http://schemas.microsoft.com/office/drawing/2014/main" id="{0618E69C-0048-0238-23A2-CD45C57A7A70}"/>
              </a:ext>
            </a:extLst>
          </p:cNvPr>
          <p:cNvSpPr txBox="1"/>
          <p:nvPr/>
        </p:nvSpPr>
        <p:spPr>
          <a:xfrm>
            <a:off x="4753973" y="1578320"/>
            <a:ext cx="5359746" cy="1060232"/>
          </a:xfrm>
          <a:prstGeom prst="rect">
            <a:avLst/>
          </a:prstGeom>
          <a:solidFill>
            <a:schemeClr val="bg2"/>
          </a:solidFill>
          <a:ln>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0"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 name="Tijdelijke aanduiding voor tekst 1">
            <a:extLst>
              <a:ext uri="{FF2B5EF4-FFF2-40B4-BE49-F238E27FC236}">
                <a16:creationId xmlns:a16="http://schemas.microsoft.com/office/drawing/2014/main" id="{B2DA2214-1EA4-E3F1-C026-15DCB2448B27}"/>
              </a:ext>
            </a:extLst>
          </p:cNvPr>
          <p:cNvSpPr>
            <a:spLocks noGrp="1"/>
          </p:cNvSpPr>
          <p:nvPr>
            <p:ph type="body" sz="quarter" idx="14"/>
          </p:nvPr>
        </p:nvSpPr>
        <p:spPr/>
        <p:txBody>
          <a:bodyPr/>
          <a:lstStyle/>
          <a:p>
            <a:r>
              <a:rPr lang="en-GB" dirty="0"/>
              <a:t> </a:t>
            </a:r>
          </a:p>
        </p:txBody>
      </p:sp>
      <p:sp>
        <p:nvSpPr>
          <p:cNvPr id="3" name="Tijdelijke aanduiding voor tekst 2">
            <a:extLst>
              <a:ext uri="{FF2B5EF4-FFF2-40B4-BE49-F238E27FC236}">
                <a16:creationId xmlns:a16="http://schemas.microsoft.com/office/drawing/2014/main" id="{D7F0A341-5EC5-5383-B842-A265DDD52623}"/>
              </a:ext>
            </a:extLst>
          </p:cNvPr>
          <p:cNvSpPr>
            <a:spLocks noGrp="1"/>
          </p:cNvSpPr>
          <p:nvPr>
            <p:ph type="body" sz="quarter" idx="18"/>
          </p:nvPr>
        </p:nvSpPr>
        <p:spPr/>
        <p:txBody>
          <a:bodyPr/>
          <a:lstStyle/>
          <a:p>
            <a:r>
              <a:rPr lang="en-GB" dirty="0"/>
              <a:t> </a:t>
            </a:r>
          </a:p>
        </p:txBody>
      </p:sp>
      <p:sp>
        <p:nvSpPr>
          <p:cNvPr id="4" name="Titel 3">
            <a:extLst>
              <a:ext uri="{FF2B5EF4-FFF2-40B4-BE49-F238E27FC236}">
                <a16:creationId xmlns:a16="http://schemas.microsoft.com/office/drawing/2014/main" id="{18A3DDFD-9D1A-59E0-9C60-B0504FFF48F3}"/>
              </a:ext>
            </a:extLst>
          </p:cNvPr>
          <p:cNvSpPr>
            <a:spLocks noGrp="1"/>
          </p:cNvSpPr>
          <p:nvPr>
            <p:ph type="title"/>
          </p:nvPr>
        </p:nvSpPr>
        <p:spPr/>
        <p:txBody>
          <a:bodyPr/>
          <a:lstStyle/>
          <a:p>
            <a:r>
              <a:rPr lang="en-GB" dirty="0"/>
              <a:t>Monitoring pyramid</a:t>
            </a:r>
          </a:p>
        </p:txBody>
      </p:sp>
      <p:sp>
        <p:nvSpPr>
          <p:cNvPr id="5" name="Trapezium 4">
            <a:extLst>
              <a:ext uri="{FF2B5EF4-FFF2-40B4-BE49-F238E27FC236}">
                <a16:creationId xmlns:a16="http://schemas.microsoft.com/office/drawing/2014/main" id="{BB547A6C-21E0-B4F6-70FA-6B2EB89F64F1}"/>
              </a:ext>
            </a:extLst>
          </p:cNvPr>
          <p:cNvSpPr txBox="1"/>
          <p:nvPr/>
        </p:nvSpPr>
        <p:spPr>
          <a:xfrm>
            <a:off x="2332401" y="1441115"/>
            <a:ext cx="1957324"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lang="en-GB" sz="1499" b="1" dirty="0">
                <a:solidFill>
                  <a:srgbClr val="070809"/>
                </a:solidFill>
                <a:latin typeface="Aptos"/>
              </a:rPr>
              <a:t>Kernel-level profiling</a:t>
            </a:r>
          </a:p>
        </p:txBody>
      </p:sp>
      <p:sp>
        <p:nvSpPr>
          <p:cNvPr id="6" name="Trapezium 6">
            <a:extLst>
              <a:ext uri="{FF2B5EF4-FFF2-40B4-BE49-F238E27FC236}">
                <a16:creationId xmlns:a16="http://schemas.microsoft.com/office/drawing/2014/main" id="{F5E941E2-AAD4-A55C-92B5-6B04961281EA}"/>
              </a:ext>
            </a:extLst>
          </p:cNvPr>
          <p:cNvSpPr txBox="1"/>
          <p:nvPr/>
        </p:nvSpPr>
        <p:spPr>
          <a:xfrm>
            <a:off x="601744" y="2507491"/>
            <a:ext cx="3042206"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lang="en-GB" sz="1499" b="1" dirty="0">
                <a:solidFill>
                  <a:srgbClr val="070809"/>
                </a:solidFill>
                <a:latin typeface="Aptos"/>
              </a:rPr>
              <a:t>Job-level </a:t>
            </a:r>
            <a:r>
              <a:rPr kumimoji="0" lang="en-GB" sz="1499" b="1" i="0" u="none" strike="noStrike" kern="1200" cap="none" spc="0" normalizeH="0" baseline="0" noProof="0" dirty="0">
                <a:ln>
                  <a:noFill/>
                </a:ln>
                <a:solidFill>
                  <a:srgbClr val="070809"/>
                </a:solidFill>
                <a:effectLst/>
                <a:uLnTx/>
                <a:uFillTx/>
                <a:latin typeface="Aptos"/>
                <a:ea typeface="+mn-ea"/>
                <a:cs typeface="+mn-cs"/>
              </a:rPr>
              <a:t>Profiling</a:t>
            </a:r>
          </a:p>
        </p:txBody>
      </p:sp>
      <p:sp>
        <p:nvSpPr>
          <p:cNvPr id="7" name="Trapezium 8">
            <a:extLst>
              <a:ext uri="{FF2B5EF4-FFF2-40B4-BE49-F238E27FC236}">
                <a16:creationId xmlns:a16="http://schemas.microsoft.com/office/drawing/2014/main" id="{DEBCCE6C-AD2E-BE5C-EFF4-D5FE6D9C8485}"/>
              </a:ext>
            </a:extLst>
          </p:cNvPr>
          <p:cNvSpPr txBox="1"/>
          <p:nvPr/>
        </p:nvSpPr>
        <p:spPr>
          <a:xfrm>
            <a:off x="137498" y="3573866"/>
            <a:ext cx="2833970"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lang="en-GB" sz="1499" b="1" dirty="0">
                <a:solidFill>
                  <a:srgbClr val="070809"/>
                </a:solidFill>
                <a:latin typeface="Aptos"/>
              </a:rPr>
              <a:t>Performance metric collection</a:t>
            </a:r>
            <a:endParaRPr kumimoji="0" lang="en-GB" sz="1499" b="1" i="0" u="none" strike="noStrike" kern="1200" cap="none" spc="0" normalizeH="0" baseline="0" noProof="0" dirty="0">
              <a:ln>
                <a:noFill/>
              </a:ln>
              <a:solidFill>
                <a:srgbClr val="070809"/>
              </a:solidFill>
              <a:effectLst/>
              <a:uLnTx/>
              <a:uFillTx/>
              <a:latin typeface="Aptos"/>
              <a:ea typeface="+mn-ea"/>
              <a:cs typeface="+mn-cs"/>
            </a:endParaRPr>
          </a:p>
        </p:txBody>
      </p:sp>
      <p:sp>
        <p:nvSpPr>
          <p:cNvPr id="26" name="Vrije vorm: vorm 25">
            <a:extLst>
              <a:ext uri="{FF2B5EF4-FFF2-40B4-BE49-F238E27FC236}">
                <a16:creationId xmlns:a16="http://schemas.microsoft.com/office/drawing/2014/main" id="{3A70BCFE-909E-1A83-C281-959146F35F25}"/>
              </a:ext>
            </a:extLst>
          </p:cNvPr>
          <p:cNvSpPr/>
          <p:nvPr/>
        </p:nvSpPr>
        <p:spPr>
          <a:xfrm rot="5400000" flipH="1" flipV="1">
            <a:off x="9057310" y="3402635"/>
            <a:ext cx="4213225" cy="592482"/>
          </a:xfrm>
          <a:custGeom>
            <a:avLst/>
            <a:gdLst>
              <a:gd name="connsiteX0" fmla="*/ 4213225 w 4213225"/>
              <a:gd name="connsiteY0" fmla="*/ 296242 h 592482"/>
              <a:gd name="connsiteX1" fmla="*/ 4198659 w 4213225"/>
              <a:gd name="connsiteY1" fmla="*/ 322816 h 592482"/>
              <a:gd name="connsiteX2" fmla="*/ 3885242 w 4213225"/>
              <a:gd name="connsiteY2" fmla="*/ 575446 h 592482"/>
              <a:gd name="connsiteX3" fmla="*/ 3829491 w 4213225"/>
              <a:gd name="connsiteY3" fmla="*/ 592482 h 592482"/>
              <a:gd name="connsiteX4" fmla="*/ 2702737 w 4213225"/>
              <a:gd name="connsiteY4" fmla="*/ 592482 h 592482"/>
              <a:gd name="connsiteX5" fmla="*/ 2702741 w 4213225"/>
              <a:gd name="connsiteY5" fmla="*/ 592479 h 592482"/>
              <a:gd name="connsiteX6" fmla="*/ 0 w 4213225"/>
              <a:gd name="connsiteY6" fmla="*/ 592479 h 592482"/>
              <a:gd name="connsiteX7" fmla="*/ 0 w 4213225"/>
              <a:gd name="connsiteY7" fmla="*/ 0 h 592482"/>
              <a:gd name="connsiteX8" fmla="*/ 3779781 w 4213225"/>
              <a:gd name="connsiteY8" fmla="*/ 0 h 592482"/>
              <a:gd name="connsiteX9" fmla="*/ 3779783 w 4213225"/>
              <a:gd name="connsiteY9" fmla="*/ 2 h 592482"/>
              <a:gd name="connsiteX10" fmla="*/ 3829491 w 4213225"/>
              <a:gd name="connsiteY10" fmla="*/ 2 h 592482"/>
              <a:gd name="connsiteX11" fmla="*/ 3885242 w 4213225"/>
              <a:gd name="connsiteY11" fmla="*/ 17039 h 592482"/>
              <a:gd name="connsiteX12" fmla="*/ 4198659 w 4213225"/>
              <a:gd name="connsiteY12" fmla="*/ 269668 h 592482"/>
              <a:gd name="connsiteX13" fmla="*/ 4213225 w 4213225"/>
              <a:gd name="connsiteY13" fmla="*/ 296242 h 59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13225" h="592482">
                <a:moveTo>
                  <a:pt x="4213225" y="296242"/>
                </a:moveTo>
                <a:cubicBezTo>
                  <a:pt x="4213225" y="305612"/>
                  <a:pt x="4208369" y="314983"/>
                  <a:pt x="4198659" y="322816"/>
                </a:cubicBezTo>
                <a:lnTo>
                  <a:pt x="3885242" y="575446"/>
                </a:lnTo>
                <a:cubicBezTo>
                  <a:pt x="3871917" y="586186"/>
                  <a:pt x="3851301" y="592482"/>
                  <a:pt x="3829491" y="592482"/>
                </a:cubicBezTo>
                <a:lnTo>
                  <a:pt x="2702737" y="592482"/>
                </a:lnTo>
                <a:lnTo>
                  <a:pt x="2702741" y="592479"/>
                </a:lnTo>
                <a:lnTo>
                  <a:pt x="0" y="592479"/>
                </a:lnTo>
                <a:lnTo>
                  <a:pt x="0" y="0"/>
                </a:lnTo>
                <a:lnTo>
                  <a:pt x="3779781" y="0"/>
                </a:lnTo>
                <a:lnTo>
                  <a:pt x="3779783" y="2"/>
                </a:lnTo>
                <a:lnTo>
                  <a:pt x="3829491" y="2"/>
                </a:lnTo>
                <a:cubicBezTo>
                  <a:pt x="3851301" y="2"/>
                  <a:pt x="3871917" y="6298"/>
                  <a:pt x="3885242" y="17039"/>
                </a:cubicBezTo>
                <a:lnTo>
                  <a:pt x="4198659" y="269668"/>
                </a:lnTo>
                <a:cubicBezTo>
                  <a:pt x="4208369" y="277502"/>
                  <a:pt x="4213225" y="286872"/>
                  <a:pt x="4213225" y="296242"/>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vert="horz" wrap="square" tIns="71972" bIns="71972"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Time investment</a:t>
            </a:r>
          </a:p>
        </p:txBody>
      </p:sp>
      <p:sp>
        <p:nvSpPr>
          <p:cNvPr id="9" name="Vorm 4">
            <a:extLst>
              <a:ext uri="{FF2B5EF4-FFF2-40B4-BE49-F238E27FC236}">
                <a16:creationId xmlns:a16="http://schemas.microsoft.com/office/drawing/2014/main" id="{6FD8C71D-9E10-30A4-D2E5-9F09B9CD630A}"/>
              </a:ext>
            </a:extLst>
          </p:cNvPr>
          <p:cNvSpPr txBox="1"/>
          <p:nvPr/>
        </p:nvSpPr>
        <p:spPr>
          <a:xfrm>
            <a:off x="5588539" y="1578320"/>
            <a:ext cx="4525180" cy="1060232"/>
          </a:xfrm>
          <a:prstGeom prst="rect">
            <a:avLst/>
          </a:prstGeom>
          <a:noFill/>
          <a:ln>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lvl="0" algn="r" defTabSz="888644">
              <a:lnSpc>
                <a:spcPct val="90000"/>
              </a:lnSpc>
              <a:spcBef>
                <a:spcPct val="0"/>
              </a:spcBef>
              <a:spcAft>
                <a:spcPct val="35000"/>
              </a:spcAft>
              <a:defRPr/>
            </a:pPr>
            <a:r>
              <a:rPr lang="en-GB" sz="1400" b="1" dirty="0">
                <a:solidFill>
                  <a:srgbClr val="070809"/>
                </a:solidFill>
              </a:rPr>
              <a:t>Nsight compute</a:t>
            </a:r>
          </a:p>
        </p:txBody>
      </p:sp>
      <p:sp>
        <p:nvSpPr>
          <p:cNvPr id="10" name="Vorm 6">
            <a:extLst>
              <a:ext uri="{FF2B5EF4-FFF2-40B4-BE49-F238E27FC236}">
                <a16:creationId xmlns:a16="http://schemas.microsoft.com/office/drawing/2014/main" id="{36A3F4B0-D3EF-0D96-679E-BDAACF46E802}"/>
              </a:ext>
            </a:extLst>
          </p:cNvPr>
          <p:cNvSpPr txBox="1"/>
          <p:nvPr/>
        </p:nvSpPr>
        <p:spPr>
          <a:xfrm>
            <a:off x="6257478" y="2670575"/>
            <a:ext cx="3856240" cy="1026000"/>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lvl="1" algn="r">
              <a:lnSpc>
                <a:spcPct val="90000"/>
              </a:lnSpc>
              <a:spcBef>
                <a:spcPct val="0"/>
              </a:spcBef>
              <a:spcAft>
                <a:spcPct val="15000"/>
              </a:spcAft>
              <a:buClr>
                <a:srgbClr val="372462"/>
              </a:buClr>
              <a:defRPr/>
            </a:pPr>
            <a:r>
              <a:rPr lang="en-GB" sz="1400" b="1" dirty="0" err="1">
                <a:solidFill>
                  <a:srgbClr val="070809"/>
                </a:solidFill>
              </a:rPr>
              <a:t>PyTorch</a:t>
            </a:r>
            <a:r>
              <a:rPr lang="en-GB" sz="1400" b="1" dirty="0">
                <a:solidFill>
                  <a:srgbClr val="070809"/>
                </a:solidFill>
              </a:rPr>
              <a:t> profiler, </a:t>
            </a:r>
            <a:r>
              <a:rPr lang="en-GB" sz="1400" b="1" dirty="0" err="1">
                <a:solidFill>
                  <a:srgbClr val="070809"/>
                </a:solidFill>
              </a:rPr>
              <a:t>nsight</a:t>
            </a:r>
            <a:r>
              <a:rPr lang="en-GB" sz="1400" b="1" dirty="0">
                <a:solidFill>
                  <a:srgbClr val="070809"/>
                </a:solidFill>
              </a:rPr>
              <a:t> systems</a:t>
            </a: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11" name="Vorm 8">
            <a:extLst>
              <a:ext uri="{FF2B5EF4-FFF2-40B4-BE49-F238E27FC236}">
                <a16:creationId xmlns:a16="http://schemas.microsoft.com/office/drawing/2014/main" id="{995C4980-E012-A8C9-0B65-D30F2667B7F4}"/>
              </a:ext>
            </a:extLst>
          </p:cNvPr>
          <p:cNvSpPr txBox="1"/>
          <p:nvPr/>
        </p:nvSpPr>
        <p:spPr>
          <a:xfrm>
            <a:off x="6386255" y="3725517"/>
            <a:ext cx="3727464" cy="1026000"/>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0" indent="0" algn="r" defTabSz="914400" rtl="0" eaLnBrk="1" fontAlgn="auto" latinLnBrk="0" hangingPunct="1">
              <a:lnSpc>
                <a:spcPct val="90000"/>
              </a:lnSpc>
              <a:spcBef>
                <a:spcPct val="0"/>
              </a:spcBef>
              <a:spcAft>
                <a:spcPct val="15000"/>
              </a:spcAft>
              <a:buClr>
                <a:srgbClr val="372462"/>
              </a:buClr>
              <a:buSzTx/>
              <a:buFontTx/>
              <a:buNone/>
              <a:tabLst/>
              <a:defRPr/>
            </a:pPr>
            <a:r>
              <a:rPr kumimoji="0" lang="en-GB" sz="1400" b="1" i="0" u="none" strike="noStrike" kern="1200" cap="none" spc="0" normalizeH="0" baseline="0" noProof="0" dirty="0" err="1">
                <a:ln>
                  <a:noFill/>
                </a:ln>
                <a:solidFill>
                  <a:srgbClr val="070809"/>
                </a:solidFill>
                <a:effectLst/>
                <a:uLnTx/>
                <a:uFillTx/>
                <a:latin typeface="Aptos"/>
                <a:ea typeface="+mn-ea"/>
                <a:cs typeface="+mn-cs"/>
              </a:rPr>
              <a:t>Wandb</a:t>
            </a:r>
            <a:r>
              <a:rPr kumimoji="0" lang="en-GB" sz="1400" b="1" i="0" u="none" strike="noStrike" kern="1200" cap="none" spc="0" normalizeH="0" baseline="0" noProof="0" dirty="0">
                <a:ln>
                  <a:noFill/>
                </a:ln>
                <a:solidFill>
                  <a:srgbClr val="070809"/>
                </a:solidFill>
                <a:effectLst/>
                <a:uLnTx/>
                <a:uFillTx/>
                <a:latin typeface="Aptos"/>
                <a:ea typeface="+mn-ea"/>
                <a:cs typeface="+mn-cs"/>
              </a:rPr>
              <a:t>, </a:t>
            </a:r>
            <a:r>
              <a:rPr kumimoji="0" lang="en-GB" sz="1400" b="1" i="0" u="none" strike="noStrike" kern="1200" cap="none" spc="0" normalizeH="0" baseline="0" noProof="0" dirty="0" err="1">
                <a:ln>
                  <a:noFill/>
                </a:ln>
                <a:solidFill>
                  <a:srgbClr val="070809"/>
                </a:solidFill>
                <a:effectLst/>
                <a:uLnTx/>
                <a:uFillTx/>
                <a:latin typeface="Aptos"/>
                <a:ea typeface="+mn-ea"/>
                <a:cs typeface="+mn-cs"/>
              </a:rPr>
              <a:t>Tensorboard</a:t>
            </a:r>
            <a:r>
              <a:rPr kumimoji="0" lang="en-GB" sz="1400" b="1" i="0" u="none" strike="noStrike" kern="1200" cap="none" spc="0" normalizeH="0" baseline="0" noProof="0" dirty="0">
                <a:ln>
                  <a:noFill/>
                </a:ln>
                <a:solidFill>
                  <a:srgbClr val="070809"/>
                </a:solidFill>
                <a:effectLst/>
                <a:uLnTx/>
                <a:uFillTx/>
                <a:latin typeface="Aptos"/>
                <a:ea typeface="+mn-ea"/>
                <a:cs typeface="+mn-cs"/>
              </a:rPr>
              <a:t> perf metric logging</a:t>
            </a:r>
            <a:br>
              <a:rPr kumimoji="0" lang="en-GB" sz="1400" b="1" i="0" u="none" strike="noStrike" kern="1200" cap="none" spc="0" normalizeH="0" baseline="0" noProof="0" dirty="0">
                <a:ln>
                  <a:noFill/>
                </a:ln>
                <a:solidFill>
                  <a:srgbClr val="070809"/>
                </a:solidFill>
                <a:effectLst/>
                <a:uLnTx/>
                <a:uFillTx/>
                <a:latin typeface="Aptos"/>
                <a:ea typeface="+mn-ea"/>
                <a:cs typeface="+mn-cs"/>
              </a:rPr>
            </a:br>
            <a:r>
              <a:rPr kumimoji="0" lang="en-GB" sz="1400" b="1" i="0" u="none" strike="noStrike" kern="1200" cap="none" spc="0" normalizeH="0" baseline="0" noProof="0" dirty="0">
                <a:ln>
                  <a:noFill/>
                </a:ln>
                <a:solidFill>
                  <a:srgbClr val="070809"/>
                </a:solidFill>
                <a:effectLst/>
                <a:uLnTx/>
                <a:uFillTx/>
                <a:latin typeface="Aptos"/>
                <a:ea typeface="+mn-ea"/>
                <a:cs typeface="+mn-cs"/>
              </a:rPr>
              <a:t>(e.g. iterations per second, %watts over time)</a:t>
            </a:r>
          </a:p>
        </p:txBody>
      </p:sp>
      <p:sp>
        <p:nvSpPr>
          <p:cNvPr id="12" name="Vorm 10">
            <a:extLst>
              <a:ext uri="{FF2B5EF4-FFF2-40B4-BE49-F238E27FC236}">
                <a16:creationId xmlns:a16="http://schemas.microsoft.com/office/drawing/2014/main" id="{A2330634-E15A-976C-4092-EFE5F05D2990}"/>
              </a:ext>
            </a:extLst>
          </p:cNvPr>
          <p:cNvSpPr txBox="1"/>
          <p:nvPr/>
        </p:nvSpPr>
        <p:spPr>
          <a:xfrm>
            <a:off x="7210097" y="4786172"/>
            <a:ext cx="2903621" cy="1026000"/>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lvl="0" algn="r" defTabSz="888644">
              <a:lnSpc>
                <a:spcPct val="90000"/>
              </a:lnSpc>
              <a:spcBef>
                <a:spcPct val="0"/>
              </a:spcBef>
              <a:spcAft>
                <a:spcPct val="35000"/>
              </a:spcAft>
              <a:defRPr/>
            </a:pPr>
            <a:r>
              <a:rPr lang="en-GB" sz="1499" b="1" dirty="0" err="1">
                <a:solidFill>
                  <a:srgbClr val="070809"/>
                </a:solidFill>
              </a:rPr>
              <a:t>Htop</a:t>
            </a:r>
            <a:r>
              <a:rPr lang="en-GB" sz="1499" b="1" dirty="0">
                <a:solidFill>
                  <a:srgbClr val="070809"/>
                </a:solidFill>
              </a:rPr>
              <a:t>, </a:t>
            </a:r>
            <a:r>
              <a:rPr lang="en-GB" sz="1499" b="1" dirty="0" err="1">
                <a:solidFill>
                  <a:srgbClr val="070809"/>
                </a:solidFill>
              </a:rPr>
              <a:t>nvtop</a:t>
            </a:r>
            <a:r>
              <a:rPr lang="en-GB" sz="1499" b="1" dirty="0">
                <a:solidFill>
                  <a:srgbClr val="070809"/>
                </a:solidFill>
              </a:rPr>
              <a:t>, </a:t>
            </a:r>
            <a:r>
              <a:rPr lang="en-GB" sz="1499" b="1" dirty="0" err="1">
                <a:solidFill>
                  <a:srgbClr val="070809"/>
                </a:solidFill>
              </a:rPr>
              <a:t>nvidia-smi</a:t>
            </a:r>
            <a:r>
              <a:rPr lang="en-GB" sz="1499" b="1" dirty="0">
                <a:solidFill>
                  <a:srgbClr val="070809"/>
                </a:solidFill>
              </a:rPr>
              <a:t>, </a:t>
            </a:r>
            <a:r>
              <a:rPr lang="en-GB" sz="1499" b="1" dirty="0" err="1">
                <a:solidFill>
                  <a:srgbClr val="070809"/>
                </a:solidFill>
              </a:rPr>
              <a:t>dcgmi</a:t>
            </a:r>
            <a:endParaRPr lang="en-GB" sz="1499" b="1" dirty="0">
              <a:solidFill>
                <a:srgbClr val="070809"/>
              </a:solidFill>
            </a:endParaRPr>
          </a:p>
        </p:txBody>
      </p:sp>
      <p:sp>
        <p:nvSpPr>
          <p:cNvPr id="13" name="Trapezium 12">
            <a:extLst>
              <a:ext uri="{FF2B5EF4-FFF2-40B4-BE49-F238E27FC236}">
                <a16:creationId xmlns:a16="http://schemas.microsoft.com/office/drawing/2014/main" id="{B5A13D25-8D17-86B0-6DE8-405DEC198C2B}"/>
              </a:ext>
            </a:extLst>
          </p:cNvPr>
          <p:cNvSpPr/>
          <p:nvPr/>
        </p:nvSpPr>
        <p:spPr>
          <a:xfrm>
            <a:off x="4108197" y="1573011"/>
            <a:ext cx="1337879" cy="1060232"/>
          </a:xfrm>
          <a:prstGeom prst="trapezoid">
            <a:avLst>
              <a:gd name="adj" fmla="val 63094"/>
            </a:avLst>
          </a:prstGeom>
          <a:solidFill>
            <a:schemeClr val="accent1"/>
          </a:solidFill>
          <a:ln>
            <a:noFill/>
          </a:ln>
        </p:spPr>
        <p:style>
          <a:lnRef idx="2">
            <a:schemeClr val="lt1">
              <a:hueOff val="0"/>
              <a:satOff val="0"/>
              <a:lumOff val="0"/>
              <a:alphaOff val="0"/>
            </a:schemeClr>
          </a:lnRef>
          <a:fillRef idx="1">
            <a:schemeClr val="accent1">
              <a:alpha val="90000"/>
              <a:hueOff val="0"/>
              <a:satOff val="0"/>
              <a:lumOff val="0"/>
              <a:alphaOff val="0"/>
            </a:schemeClr>
          </a:fillRef>
          <a:effectRef idx="0">
            <a:schemeClr val="accent1">
              <a:alpha val="9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4" name="Trapezium 13">
            <a:extLst>
              <a:ext uri="{FF2B5EF4-FFF2-40B4-BE49-F238E27FC236}">
                <a16:creationId xmlns:a16="http://schemas.microsoft.com/office/drawing/2014/main" id="{E103301D-12A0-A977-671D-B1F23C6EA6D9}"/>
              </a:ext>
            </a:extLst>
          </p:cNvPr>
          <p:cNvSpPr/>
          <p:nvPr/>
        </p:nvSpPr>
        <p:spPr>
          <a:xfrm>
            <a:off x="3439257" y="2631475"/>
            <a:ext cx="2675759" cy="1060232"/>
          </a:xfrm>
          <a:prstGeom prst="trapezoid">
            <a:avLst>
              <a:gd name="adj" fmla="val 63094"/>
            </a:avLst>
          </a:prstGeom>
          <a:solidFill>
            <a:schemeClr val="accent2"/>
          </a:solidFill>
          <a:ln>
            <a:noFill/>
          </a:ln>
        </p:spPr>
        <p:style>
          <a:lnRef idx="2">
            <a:schemeClr val="lt1">
              <a:hueOff val="0"/>
              <a:satOff val="0"/>
              <a:lumOff val="0"/>
              <a:alphaOff val="0"/>
            </a:schemeClr>
          </a:lnRef>
          <a:fillRef idx="1">
            <a:schemeClr val="accent1">
              <a:alpha val="90000"/>
              <a:hueOff val="0"/>
              <a:satOff val="0"/>
              <a:lumOff val="0"/>
              <a:alphaOff val="-13333"/>
            </a:schemeClr>
          </a:fillRef>
          <a:effectRef idx="0">
            <a:schemeClr val="accent1">
              <a:alpha val="90000"/>
              <a:hueOff val="0"/>
              <a:satOff val="0"/>
              <a:lumOff val="0"/>
              <a:alphaOff val="-13333"/>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5" name="Trapezium 14">
            <a:extLst>
              <a:ext uri="{FF2B5EF4-FFF2-40B4-BE49-F238E27FC236}">
                <a16:creationId xmlns:a16="http://schemas.microsoft.com/office/drawing/2014/main" id="{47EECC8C-70A6-BB27-5A8E-6091427B2DD8}"/>
              </a:ext>
            </a:extLst>
          </p:cNvPr>
          <p:cNvSpPr/>
          <p:nvPr/>
        </p:nvSpPr>
        <p:spPr>
          <a:xfrm>
            <a:off x="2770317" y="3691708"/>
            <a:ext cx="4013637" cy="1060232"/>
          </a:xfrm>
          <a:prstGeom prst="trapezoid">
            <a:avLst>
              <a:gd name="adj" fmla="val 63094"/>
            </a:avLst>
          </a:prstGeom>
          <a:solidFill>
            <a:schemeClr val="accent3"/>
          </a:solidFill>
          <a:ln>
            <a:noFill/>
          </a:ln>
        </p:spPr>
        <p:style>
          <a:lnRef idx="2">
            <a:schemeClr val="lt1">
              <a:hueOff val="0"/>
              <a:satOff val="0"/>
              <a:lumOff val="0"/>
              <a:alphaOff val="0"/>
            </a:schemeClr>
          </a:lnRef>
          <a:fillRef idx="1">
            <a:schemeClr val="accent1">
              <a:alpha val="90000"/>
              <a:hueOff val="0"/>
              <a:satOff val="0"/>
              <a:lumOff val="0"/>
              <a:alphaOff val="-26667"/>
            </a:schemeClr>
          </a:fillRef>
          <a:effectRef idx="0">
            <a:schemeClr val="accent1">
              <a:alpha val="90000"/>
              <a:hueOff val="0"/>
              <a:satOff val="0"/>
              <a:lumOff val="0"/>
              <a:alphaOff val="-26667"/>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6" name="Trapezium 15">
            <a:extLst>
              <a:ext uri="{FF2B5EF4-FFF2-40B4-BE49-F238E27FC236}">
                <a16:creationId xmlns:a16="http://schemas.microsoft.com/office/drawing/2014/main" id="{94113037-6234-A9B8-B644-31C3A10A3589}"/>
              </a:ext>
            </a:extLst>
          </p:cNvPr>
          <p:cNvSpPr/>
          <p:nvPr/>
        </p:nvSpPr>
        <p:spPr>
          <a:xfrm>
            <a:off x="2101378" y="4751940"/>
            <a:ext cx="5351517" cy="1060232"/>
          </a:xfrm>
          <a:prstGeom prst="trapezoid">
            <a:avLst>
              <a:gd name="adj" fmla="val 63094"/>
            </a:avLst>
          </a:prstGeom>
          <a:solidFill>
            <a:schemeClr val="accent4"/>
          </a:solidFill>
          <a:ln>
            <a:noFill/>
          </a:ln>
        </p:spPr>
        <p:style>
          <a:lnRef idx="2">
            <a:schemeClr val="lt1">
              <a:hueOff val="0"/>
              <a:satOff val="0"/>
              <a:lumOff val="0"/>
              <a:alphaOff val="0"/>
            </a:schemeClr>
          </a:lnRef>
          <a:fillRef idx="1">
            <a:schemeClr val="accent1">
              <a:alpha val="90000"/>
              <a:hueOff val="0"/>
              <a:satOff val="0"/>
              <a:lumOff val="0"/>
              <a:alphaOff val="-40000"/>
            </a:schemeClr>
          </a:fillRef>
          <a:effectRef idx="0">
            <a:schemeClr val="accent1">
              <a:alpha val="90000"/>
              <a:hueOff val="0"/>
              <a:satOff val="0"/>
              <a:lumOff val="0"/>
              <a:alphaOff val="-4000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7" name="Trapezium 8">
            <a:extLst>
              <a:ext uri="{FF2B5EF4-FFF2-40B4-BE49-F238E27FC236}">
                <a16:creationId xmlns:a16="http://schemas.microsoft.com/office/drawing/2014/main" id="{B5CB78C1-6172-2EF2-1A09-5D14016D0152}"/>
              </a:ext>
            </a:extLst>
          </p:cNvPr>
          <p:cNvSpPr txBox="1"/>
          <p:nvPr/>
        </p:nvSpPr>
        <p:spPr>
          <a:xfrm>
            <a:off x="427101" y="4721636"/>
            <a:ext cx="1800686"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kumimoji="0" lang="en-GB" sz="1499" b="1" i="0" u="none" strike="noStrike" kern="1200" cap="none" spc="0" normalizeH="0" baseline="0" noProof="0" dirty="0">
                <a:ln>
                  <a:noFill/>
                </a:ln>
                <a:solidFill>
                  <a:srgbClr val="070809"/>
                </a:solidFill>
                <a:effectLst/>
                <a:uLnTx/>
                <a:uFillTx/>
                <a:latin typeface="Aptos"/>
                <a:ea typeface="+mn-ea"/>
                <a:cs typeface="+mn-cs"/>
              </a:rPr>
              <a:t>Runtime monitoring</a:t>
            </a:r>
          </a:p>
        </p:txBody>
      </p:sp>
    </p:spTree>
    <p:extLst>
      <p:ext uri="{BB962C8B-B14F-4D97-AF65-F5344CB8AC3E}">
        <p14:creationId xmlns:p14="http://schemas.microsoft.com/office/powerpoint/2010/main" val="1124127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43DB-7BCB-E88B-D7ED-379EB20885F9}"/>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BA1C017F-9208-9005-6A7B-01970FC18AD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spc="-1" dirty="0" err="1">
                <a:solidFill>
                  <a:srgbClr val="000000"/>
                </a:solidFill>
                <a:latin typeface="Calibri"/>
              </a:rPr>
              <a:t>n</a:t>
            </a:r>
            <a:r>
              <a:rPr lang="en-GB" sz="3200" b="1" spc="-1" dirty="0" err="1">
                <a:solidFill>
                  <a:srgbClr val="000000"/>
                </a:solidFill>
                <a:latin typeface="Calibri"/>
              </a:rPr>
              <a:t>vidia-smi</a:t>
            </a:r>
            <a:endParaRPr lang="nl-NL" dirty="0"/>
          </a:p>
        </p:txBody>
      </p:sp>
      <p:sp>
        <p:nvSpPr>
          <p:cNvPr id="939" name="PlaceHolder 2">
            <a:extLst>
              <a:ext uri="{FF2B5EF4-FFF2-40B4-BE49-F238E27FC236}">
                <a16:creationId xmlns:a16="http://schemas.microsoft.com/office/drawing/2014/main" id="{4031700A-B425-9911-E38A-EA587B5D70C0}"/>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853E81A7-5314-8F9C-3F53-588C2E103393}"/>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80</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DF920C5-3EE2-A61D-AD7E-A828FCEE7CDC}"/>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88480D28-DEAF-3336-7BB6-3BE958FDD939}"/>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6D219D25-30F8-8E6A-29D8-DBDA7747D97D}"/>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EDCC7B7C-77DD-D862-7291-527DC386FC93}"/>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E6E0370A-CA54-D5AB-0CD7-2809ADE13868}"/>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a:extLst>
              <a:ext uri="{FF2B5EF4-FFF2-40B4-BE49-F238E27FC236}">
                <a16:creationId xmlns:a16="http://schemas.microsoft.com/office/drawing/2014/main" id="{C6349FBF-44B5-4429-FCC2-5C7653CC996F}"/>
              </a:ext>
            </a:extLst>
          </p:cNvPr>
          <p:cNvPicPr>
            <a:picLocks noChangeAspect="1"/>
          </p:cNvPicPr>
          <p:nvPr/>
        </p:nvPicPr>
        <p:blipFill>
          <a:blip r:embed="rId3"/>
          <a:stretch>
            <a:fillRect/>
          </a:stretch>
        </p:blipFill>
        <p:spPr>
          <a:xfrm>
            <a:off x="2694480" y="0"/>
            <a:ext cx="8638082" cy="6858000"/>
          </a:xfrm>
          <a:prstGeom prst="rect">
            <a:avLst/>
          </a:prstGeom>
        </p:spPr>
      </p:pic>
    </p:spTree>
    <p:extLst>
      <p:ext uri="{BB962C8B-B14F-4D97-AF65-F5344CB8AC3E}">
        <p14:creationId xmlns:p14="http://schemas.microsoft.com/office/powerpoint/2010/main" val="2853517719"/>
      </p:ext>
    </p:extLst>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7A531-0A43-A2A2-49D3-6A8B711DD33D}"/>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07BD4C69-4B38-E827-B718-F3E6ED387F9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spc="-1" dirty="0" err="1">
                <a:solidFill>
                  <a:srgbClr val="000000"/>
                </a:solidFill>
                <a:latin typeface="Calibri"/>
              </a:rPr>
              <a:t>n</a:t>
            </a:r>
            <a:r>
              <a:rPr lang="en-GB" sz="3200" b="1" spc="-1" dirty="0" err="1">
                <a:solidFill>
                  <a:srgbClr val="000000"/>
                </a:solidFill>
                <a:latin typeface="Calibri"/>
              </a:rPr>
              <a:t>vidia-smi</a:t>
            </a:r>
            <a:endParaRPr lang="nl-NL" dirty="0"/>
          </a:p>
        </p:txBody>
      </p:sp>
      <p:sp>
        <p:nvSpPr>
          <p:cNvPr id="939" name="PlaceHolder 2">
            <a:extLst>
              <a:ext uri="{FF2B5EF4-FFF2-40B4-BE49-F238E27FC236}">
                <a16:creationId xmlns:a16="http://schemas.microsoft.com/office/drawing/2014/main" id="{B5039949-63BF-FB9E-5C94-048CBE3386FE}"/>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9C2772D0-1823-94A8-C579-25DE122969AD}"/>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81</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C8A65508-BF7F-8169-FD22-6CA9C7996CA8}"/>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11A2AF73-A736-8670-EB4C-3E7C22BE447B}"/>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26BA5A5C-9956-C70D-5969-63CD0120BC1D}"/>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72528AE8-4F0B-431C-06E2-C73103DE8B67}"/>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0CF34769-1CFC-3521-51BE-0A7D8AAAC387}"/>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5" name="Picture 4">
            <a:extLst>
              <a:ext uri="{FF2B5EF4-FFF2-40B4-BE49-F238E27FC236}">
                <a16:creationId xmlns:a16="http://schemas.microsoft.com/office/drawing/2014/main" id="{11860364-6E6E-1111-B9F5-6CD3B2996BEE}"/>
              </a:ext>
            </a:extLst>
          </p:cNvPr>
          <p:cNvPicPr>
            <a:picLocks noChangeAspect="1"/>
          </p:cNvPicPr>
          <p:nvPr/>
        </p:nvPicPr>
        <p:blipFill>
          <a:blip r:embed="rId3"/>
          <a:stretch>
            <a:fillRect/>
          </a:stretch>
        </p:blipFill>
        <p:spPr>
          <a:xfrm>
            <a:off x="0" y="803344"/>
            <a:ext cx="12192000" cy="6054656"/>
          </a:xfrm>
          <a:prstGeom prst="rect">
            <a:avLst/>
          </a:prstGeom>
        </p:spPr>
      </p:pic>
    </p:spTree>
    <p:extLst>
      <p:ext uri="{BB962C8B-B14F-4D97-AF65-F5344CB8AC3E}">
        <p14:creationId xmlns:p14="http://schemas.microsoft.com/office/powerpoint/2010/main" val="3614710719"/>
      </p:ext>
    </p:extLst>
  </p:cSld>
  <p:clrMapOvr>
    <a:masterClrMapping/>
  </p:clrMapOvr>
  <p:transition spd="slow">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92F0-84AA-0861-79C3-A3412477C3E0}"/>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A20E9EE4-A092-6AC3-1837-8825D1C57F32}"/>
              </a:ext>
            </a:extLst>
          </p:cNvPr>
          <p:cNvSpPr>
            <a:spLocks noGrp="1"/>
          </p:cNvSpPr>
          <p:nvPr>
            <p:ph type="title"/>
          </p:nvPr>
        </p:nvSpPr>
        <p:spPr>
          <a:xfrm>
            <a:off x="39060" y="-7794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nvtop</a:t>
            </a:r>
            <a:endParaRPr lang="nl-NL" dirty="0"/>
          </a:p>
        </p:txBody>
      </p:sp>
      <p:sp>
        <p:nvSpPr>
          <p:cNvPr id="939" name="PlaceHolder 2">
            <a:extLst>
              <a:ext uri="{FF2B5EF4-FFF2-40B4-BE49-F238E27FC236}">
                <a16:creationId xmlns:a16="http://schemas.microsoft.com/office/drawing/2014/main" id="{DA880F9D-C954-E0AB-2DBB-2F2FDBF7D888}"/>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3CBA9BB0-C061-D1B3-056E-473616E38B1C}"/>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82</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A754A3D7-A141-4CF6-2776-9202680D4288}"/>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464261CA-2CEE-1085-5E12-070953873628}"/>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1F345902-D5E1-E375-4DF3-3509C16A28C5}"/>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C132BA60-FCB6-E544-8C97-73F69A067535}"/>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762EC892-BF42-13AE-3AB1-BBCD8BF46902}"/>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4" name="Rectangle 3">
            <a:extLst>
              <a:ext uri="{FF2B5EF4-FFF2-40B4-BE49-F238E27FC236}">
                <a16:creationId xmlns:a16="http://schemas.microsoft.com/office/drawing/2014/main" id="{0B4CA060-689B-C55E-5383-E0D6516BDFCF}"/>
              </a:ext>
            </a:extLst>
          </p:cNvPr>
          <p:cNvSpPr/>
          <p:nvPr/>
        </p:nvSpPr>
        <p:spPr>
          <a:xfrm>
            <a:off x="386862" y="5700027"/>
            <a:ext cx="520698" cy="4454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NL" sz="1600" dirty="0" err="1"/>
          </a:p>
        </p:txBody>
      </p:sp>
      <p:sp>
        <p:nvSpPr>
          <p:cNvPr id="2" name="Rectangle 1">
            <a:extLst>
              <a:ext uri="{FF2B5EF4-FFF2-40B4-BE49-F238E27FC236}">
                <a16:creationId xmlns:a16="http://schemas.microsoft.com/office/drawing/2014/main" id="{CE577B85-913B-BB40-78C1-05810F6ADEE5}"/>
              </a:ext>
            </a:extLst>
          </p:cNvPr>
          <p:cNvSpPr/>
          <p:nvPr/>
        </p:nvSpPr>
        <p:spPr>
          <a:xfrm>
            <a:off x="3982452" y="5700028"/>
            <a:ext cx="8209187" cy="3868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NL" sz="1600" dirty="0" err="1"/>
          </a:p>
        </p:txBody>
      </p:sp>
      <p:pic>
        <p:nvPicPr>
          <p:cNvPr id="8" name="Picture 7">
            <a:extLst>
              <a:ext uri="{FF2B5EF4-FFF2-40B4-BE49-F238E27FC236}">
                <a16:creationId xmlns:a16="http://schemas.microsoft.com/office/drawing/2014/main" id="{6A5CF323-5F48-293C-F3E7-6A8BDEA1BC7A}"/>
              </a:ext>
            </a:extLst>
          </p:cNvPr>
          <p:cNvPicPr>
            <a:picLocks noChangeAspect="1"/>
          </p:cNvPicPr>
          <p:nvPr/>
        </p:nvPicPr>
        <p:blipFill>
          <a:blip r:embed="rId3"/>
          <a:stretch>
            <a:fillRect/>
          </a:stretch>
        </p:blipFill>
        <p:spPr>
          <a:xfrm>
            <a:off x="0" y="358116"/>
            <a:ext cx="12192000" cy="6541008"/>
          </a:xfrm>
          <a:prstGeom prst="rect">
            <a:avLst/>
          </a:prstGeom>
        </p:spPr>
      </p:pic>
    </p:spTree>
    <p:extLst>
      <p:ext uri="{BB962C8B-B14F-4D97-AF65-F5344CB8AC3E}">
        <p14:creationId xmlns:p14="http://schemas.microsoft.com/office/powerpoint/2010/main" val="2812463533"/>
      </p:ext>
    </p:extLst>
  </p:cSld>
  <p:clrMapOvr>
    <a:masterClrMapping/>
  </p:clrMapOvr>
  <p:transition spd="slow">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C17DA-82C3-C609-AFA9-58579D087543}"/>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69357F11-D76D-EAB3-A185-40F71F58B010}"/>
              </a:ext>
            </a:extLst>
          </p:cNvPr>
          <p:cNvSpPr>
            <a:spLocks noGrp="1"/>
          </p:cNvSpPr>
          <p:nvPr>
            <p:ph type="title"/>
          </p:nvPr>
        </p:nvSpPr>
        <p:spPr>
          <a:xfrm>
            <a:off x="20598" y="-27537"/>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htop</a:t>
            </a:r>
            <a:endParaRPr lang="nl-NL" dirty="0"/>
          </a:p>
        </p:txBody>
      </p:sp>
      <p:sp>
        <p:nvSpPr>
          <p:cNvPr id="939" name="PlaceHolder 2">
            <a:extLst>
              <a:ext uri="{FF2B5EF4-FFF2-40B4-BE49-F238E27FC236}">
                <a16:creationId xmlns:a16="http://schemas.microsoft.com/office/drawing/2014/main" id="{93EFACA7-50FF-81BF-45E4-B5B3FD773E02}"/>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1FB601BB-BC4E-095A-76FE-50AE399B3747}"/>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83</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7FAB625-E116-E547-3DEB-A231ED3760A1}"/>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9BC245BA-DC0B-EB1A-A5D2-754AC3893BE1}"/>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34873925-9CBF-2ED0-36A2-BEA827E0A244}"/>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02B0B7A9-C458-BF49-C16F-7E04FFB906ED}"/>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65C63A39-9322-3E4E-3175-72936FB4A15C}"/>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5" name="Picture 4">
            <a:extLst>
              <a:ext uri="{FF2B5EF4-FFF2-40B4-BE49-F238E27FC236}">
                <a16:creationId xmlns:a16="http://schemas.microsoft.com/office/drawing/2014/main" id="{F152FFDD-AF67-9D76-D872-05E112141FD9}"/>
              </a:ext>
            </a:extLst>
          </p:cNvPr>
          <p:cNvPicPr>
            <a:picLocks noChangeAspect="1"/>
          </p:cNvPicPr>
          <p:nvPr/>
        </p:nvPicPr>
        <p:blipFill>
          <a:blip r:embed="rId3"/>
          <a:stretch>
            <a:fillRect/>
          </a:stretch>
        </p:blipFill>
        <p:spPr>
          <a:xfrm>
            <a:off x="0" y="428220"/>
            <a:ext cx="12192000" cy="6400800"/>
          </a:xfrm>
          <a:prstGeom prst="rect">
            <a:avLst/>
          </a:prstGeom>
        </p:spPr>
      </p:pic>
    </p:spTree>
    <p:extLst>
      <p:ext uri="{BB962C8B-B14F-4D97-AF65-F5344CB8AC3E}">
        <p14:creationId xmlns:p14="http://schemas.microsoft.com/office/powerpoint/2010/main" val="4057751536"/>
      </p:ext>
    </p:extLst>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8EE46-E0B7-EF67-042C-081D3B84CBCB}"/>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9457188E-65C3-6B0F-5BAF-56C7D074C25B}"/>
              </a:ext>
            </a:extLst>
          </p:cNvPr>
          <p:cNvSpPr>
            <a:spLocks noGrp="1"/>
          </p:cNvSpPr>
          <p:nvPr>
            <p:ph type="title"/>
          </p:nvPr>
        </p:nvSpPr>
        <p:spPr>
          <a:xfrm>
            <a:off x="0" y="-3492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dcgmi</a:t>
            </a:r>
            <a:endParaRPr lang="nl-NL" dirty="0"/>
          </a:p>
        </p:txBody>
      </p:sp>
      <p:sp>
        <p:nvSpPr>
          <p:cNvPr id="939" name="PlaceHolder 2">
            <a:extLst>
              <a:ext uri="{FF2B5EF4-FFF2-40B4-BE49-F238E27FC236}">
                <a16:creationId xmlns:a16="http://schemas.microsoft.com/office/drawing/2014/main" id="{D0F0F8C7-387C-54D7-BBFE-EECA1BB2D60D}"/>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19931A83-017C-89CE-1E2F-FC6FE0B1D89D}"/>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84</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3AEE1F76-38E8-3EEA-2157-A5B145861170}"/>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E1F26BA5-7740-54F5-1929-7088ABD8A3A4}"/>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54999432-FF5F-B958-C34B-25C38293D3D6}"/>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801CB3D0-4F9B-1201-A27C-FF121D780C2A}"/>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8A9B29DC-4437-D523-9EBA-275AEE31B32E}"/>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a:extLst>
              <a:ext uri="{FF2B5EF4-FFF2-40B4-BE49-F238E27FC236}">
                <a16:creationId xmlns:a16="http://schemas.microsoft.com/office/drawing/2014/main" id="{0C1A76D8-D3B3-90FC-9E46-0C23825E4916}"/>
              </a:ext>
            </a:extLst>
          </p:cNvPr>
          <p:cNvPicPr>
            <a:picLocks noChangeAspect="1"/>
          </p:cNvPicPr>
          <p:nvPr/>
        </p:nvPicPr>
        <p:blipFill>
          <a:blip r:embed="rId3"/>
          <a:stretch>
            <a:fillRect/>
          </a:stretch>
        </p:blipFill>
        <p:spPr>
          <a:xfrm>
            <a:off x="0" y="565560"/>
            <a:ext cx="12192000" cy="6292440"/>
          </a:xfrm>
          <a:prstGeom prst="rect">
            <a:avLst/>
          </a:prstGeom>
        </p:spPr>
      </p:pic>
    </p:spTree>
    <p:extLst>
      <p:ext uri="{BB962C8B-B14F-4D97-AF65-F5344CB8AC3E}">
        <p14:creationId xmlns:p14="http://schemas.microsoft.com/office/powerpoint/2010/main" val="665803627"/>
      </p:ext>
    </p:extLst>
  </p:cSld>
  <p:clrMapOvr>
    <a:masterClrMapping/>
  </p:clrMapOvr>
  <p:transition spd="slow">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A9755-C525-B476-AF2C-234C3261E7F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8EA1CC2-615C-58D7-359E-CFF44BCCA739}"/>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ABD336CE-22BB-6E84-DDA0-03223E10734D}"/>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4C9CC45D-5D7D-D10F-C652-0A938967F284}"/>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Profiling…will be later</a:t>
            </a:r>
          </a:p>
        </p:txBody>
      </p:sp>
      <p:sp>
        <p:nvSpPr>
          <p:cNvPr id="11" name="Tijdelijke aanduiding voor tekst 12">
            <a:extLst>
              <a:ext uri="{FF2B5EF4-FFF2-40B4-BE49-F238E27FC236}">
                <a16:creationId xmlns:a16="http://schemas.microsoft.com/office/drawing/2014/main" id="{568ACCAC-EF50-D980-A840-7B6084280A9D}"/>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3FC85B9B-A4F2-63DF-4BDE-C15E8DB8FC07}"/>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5078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Continuing with the S’</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128860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Second S: Software</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err="1">
                <a:solidFill>
                  <a:srgbClr val="000000"/>
                </a:solidFill>
                <a:latin typeface="Calibri"/>
              </a:rPr>
              <a:t>PyTorch</a:t>
            </a:r>
            <a:r>
              <a:rPr lang="en-GB" sz="2000" spc="-1" dirty="0">
                <a:solidFill>
                  <a:srgbClr val="000000"/>
                </a:solidFill>
                <a:latin typeface="Calibri"/>
              </a:rPr>
              <a:t>/TensorFlow vs </a:t>
            </a:r>
            <a:r>
              <a:rPr lang="en-GB" sz="2000" spc="-1" dirty="0" err="1">
                <a:solidFill>
                  <a:srgbClr val="000000"/>
                </a:solidFill>
                <a:latin typeface="Calibri"/>
              </a:rPr>
              <a:t>Numpy</a:t>
            </a:r>
            <a:endParaRPr lang="en-GB" sz="2000" spc="-1" dirty="0">
              <a:solidFill>
                <a:srgbClr val="000000"/>
              </a:solidFill>
              <a:latin typeface="Calibri"/>
            </a:endParaRPr>
          </a:p>
          <a:p>
            <a:pPr marL="727075" lvl="1" indent="-269875">
              <a:lnSpc>
                <a:spcPct val="100000"/>
              </a:lnSpc>
              <a:buClr>
                <a:srgbClr val="EA7600"/>
              </a:buClr>
              <a:buFont typeface="Calibri"/>
              <a:buChar char="•"/>
            </a:pPr>
            <a:r>
              <a:rPr lang="en-GB" sz="1600" spc="-1" dirty="0" err="1">
                <a:solidFill>
                  <a:srgbClr val="000000"/>
                </a:solidFill>
                <a:latin typeface="Calibri"/>
              </a:rPr>
              <a:t>PyTorch</a:t>
            </a:r>
            <a:r>
              <a:rPr lang="en-GB" sz="1600" spc="-1" dirty="0">
                <a:solidFill>
                  <a:srgbClr val="000000"/>
                </a:solidFill>
                <a:latin typeface="Calibri"/>
              </a:rPr>
              <a:t> and TensorFlow have GPU support, </a:t>
            </a:r>
            <a:r>
              <a:rPr lang="en-GB" sz="1600" spc="-1" dirty="0" err="1">
                <a:solidFill>
                  <a:srgbClr val="000000"/>
                </a:solidFill>
                <a:latin typeface="Calibri"/>
              </a:rPr>
              <a:t>Numpy</a:t>
            </a:r>
            <a:r>
              <a:rPr lang="en-GB" sz="1600" spc="-1" dirty="0">
                <a:solidFill>
                  <a:srgbClr val="000000"/>
                </a:solidFill>
                <a:latin typeface="Calibri"/>
              </a:rPr>
              <a:t> does not</a:t>
            </a:r>
          </a:p>
          <a:p>
            <a:pPr marL="269875" indent="-342900">
              <a:lnSpc>
                <a:spcPct val="100000"/>
              </a:lnSpc>
              <a:buClr>
                <a:srgbClr val="EA7600"/>
              </a:buClr>
              <a:buFont typeface="Calibri"/>
              <a:buChar char="•"/>
            </a:pPr>
            <a:r>
              <a:rPr lang="en-GB" sz="2000" spc="-1" dirty="0">
                <a:solidFill>
                  <a:srgbClr val="000000"/>
                </a:solidFill>
                <a:latin typeface="Calibri"/>
              </a:rPr>
              <a:t>Support for CUDA (Nvidia), </a:t>
            </a:r>
            <a:r>
              <a:rPr lang="en-GB" sz="2000" spc="-1" dirty="0" err="1">
                <a:solidFill>
                  <a:srgbClr val="000000"/>
                </a:solidFill>
                <a:latin typeface="Calibri"/>
              </a:rPr>
              <a:t>ROCm</a:t>
            </a:r>
            <a:r>
              <a:rPr lang="en-GB" sz="2000" spc="-1" dirty="0">
                <a:solidFill>
                  <a:srgbClr val="000000"/>
                </a:solidFill>
                <a:latin typeface="Calibri"/>
              </a:rPr>
              <a:t> (AMD),  </a:t>
            </a:r>
            <a:br>
              <a:rPr lang="en-GB" sz="2000" spc="-1" dirty="0">
                <a:solidFill>
                  <a:srgbClr val="000000"/>
                </a:solidFill>
                <a:latin typeface="Calibri"/>
              </a:rPr>
            </a:br>
            <a:r>
              <a:rPr lang="en-GB" sz="2000" spc="-1" dirty="0">
                <a:solidFill>
                  <a:srgbClr val="000000"/>
                </a:solidFill>
                <a:latin typeface="Calibri"/>
              </a:rPr>
              <a:t>&lt;insert exotic hardware here&gt;?</a:t>
            </a:r>
          </a:p>
          <a:p>
            <a:pPr marL="727075" lvl="1" indent="-342900">
              <a:lnSpc>
                <a:spcPct val="100000"/>
              </a:lnSpc>
              <a:buClr>
                <a:srgbClr val="EA7600"/>
              </a:buClr>
              <a:buFont typeface="Calibri"/>
              <a:buChar char="•"/>
            </a:pPr>
            <a:r>
              <a:rPr lang="en-GB" sz="1600" spc="-1" dirty="0">
                <a:solidFill>
                  <a:srgbClr val="000000"/>
                </a:solidFill>
                <a:latin typeface="Calibri"/>
              </a:rPr>
              <a:t>E.g.: Intel </a:t>
            </a:r>
            <a:r>
              <a:rPr lang="en-GB" sz="1600" spc="-1" dirty="0" err="1">
                <a:solidFill>
                  <a:srgbClr val="000000"/>
                </a:solidFill>
                <a:latin typeface="Calibri"/>
              </a:rPr>
              <a:t>SapphireRapids</a:t>
            </a:r>
            <a:endParaRPr lang="en-GB" sz="1600" spc="-1" dirty="0">
              <a:solidFill>
                <a:srgbClr val="000000"/>
              </a:solidFill>
              <a:latin typeface="Calibri"/>
              <a:cs typeface="Arial"/>
            </a:endParaRPr>
          </a:p>
          <a:p>
            <a:pPr marL="727075" lvl="1" indent="-342900">
              <a:lnSpc>
                <a:spcPct val="100000"/>
              </a:lnSpc>
              <a:buClr>
                <a:srgbClr val="EA7600"/>
              </a:buClr>
              <a:buFont typeface="Calibri"/>
              <a:buChar char="•"/>
            </a:pPr>
            <a:r>
              <a:rPr lang="en-GB" sz="2000" spc="-1" dirty="0">
                <a:latin typeface="Calibri"/>
                <a:ea typeface="+mn-lt"/>
                <a:cs typeface="+mn-lt"/>
              </a:rPr>
              <a:t>IPEX</a:t>
            </a:r>
            <a:r>
              <a:rPr lang="en-GB" sz="2000" spc="-1" dirty="0">
                <a:solidFill>
                  <a:srgbClr val="000000"/>
                </a:solidFill>
                <a:latin typeface="Calibri"/>
              </a:rPr>
              <a:t>: </a:t>
            </a:r>
            <a:r>
              <a:rPr lang="en-GB" sz="2000" spc="-1" dirty="0">
                <a:ea typeface="+mn-lt"/>
                <a:cs typeface="+mn-lt"/>
                <a:hlinkClick r:id="rId3"/>
              </a:rPr>
              <a:t>https://github.com/intel/intel-extension-for-pytorch</a:t>
            </a:r>
            <a:endParaRPr lang="en-GB" sz="1600" spc="-1" dirty="0">
              <a:latin typeface="Calibri"/>
              <a:ea typeface="+mn-lt"/>
              <a:cs typeface="+mn-lt"/>
            </a:endParaRPr>
          </a:p>
          <a:p>
            <a:pPr marL="727075" lvl="1" indent="-342900">
              <a:lnSpc>
                <a:spcPct val="100000"/>
              </a:lnSpc>
              <a:buClr>
                <a:srgbClr val="EA7600"/>
              </a:buClr>
              <a:buFont typeface="Calibri"/>
              <a:buChar char="•"/>
            </a:pPr>
            <a:r>
              <a:rPr lang="en-GB" sz="2000" spc="-1" dirty="0">
                <a:ea typeface="+mn-lt"/>
                <a:cs typeface="+mn-lt"/>
              </a:rPr>
              <a:t>LUMI </a:t>
            </a:r>
            <a:r>
              <a:rPr lang="en-GB" sz="2000" spc="-1" dirty="0">
                <a:ea typeface="+mn-lt"/>
                <a:cs typeface="+mn-lt"/>
                <a:hlinkClick r:id="rId4"/>
              </a:rPr>
              <a:t>https://www.lumi-supercomputer.eu/</a:t>
            </a:r>
          </a:p>
          <a:p>
            <a:pPr marL="727075" lvl="1" indent="-342900">
              <a:lnSpc>
                <a:spcPct val="100000"/>
              </a:lnSpc>
              <a:buClr>
                <a:srgbClr val="EA7600"/>
              </a:buClr>
              <a:buFont typeface="Calibri"/>
              <a:buChar char="•"/>
            </a:pPr>
            <a:r>
              <a:rPr lang="en-GB" sz="2000" spc="-1" dirty="0">
                <a:latin typeface="Calibri"/>
                <a:ea typeface="+mn-lt"/>
                <a:cs typeface="+mn-lt"/>
              </a:rPr>
              <a:t>GDRDMA / SHARP / </a:t>
            </a:r>
            <a:r>
              <a:rPr lang="en-GB" sz="2000" spc="-1" dirty="0" err="1">
                <a:latin typeface="Calibri"/>
                <a:ea typeface="+mn-lt"/>
                <a:cs typeface="+mn-lt"/>
              </a:rPr>
              <a:t>cuDNN</a:t>
            </a:r>
            <a:r>
              <a:rPr lang="en-GB" sz="2000" spc="-1" dirty="0">
                <a:latin typeface="Calibri"/>
                <a:ea typeface="+mn-lt"/>
                <a:cs typeface="+mn-lt"/>
              </a:rPr>
              <a:t> / etc / etc / etc</a:t>
            </a:r>
            <a:br>
              <a:rPr lang="en-GB" sz="2000" spc="-1" dirty="0">
                <a:latin typeface="Calibri"/>
                <a:ea typeface="+mn-lt"/>
                <a:cs typeface="+mn-lt"/>
              </a:rPr>
            </a:br>
            <a:r>
              <a:rPr lang="en-GB" sz="2000" spc="-1" dirty="0">
                <a:latin typeface="Calibri"/>
                <a:ea typeface="+mn-lt"/>
                <a:cs typeface="+mn-lt"/>
              </a:rPr>
              <a:t>Not withstanding all the sys level dependencies</a:t>
            </a:r>
            <a:endParaRPr lang="en-GB" sz="2000" spc="-1" dirty="0">
              <a:ea typeface="+mn-lt"/>
              <a:cs typeface="+mn-lt"/>
              <a:hlinkClick r:id="rId4"/>
            </a:endParaRPr>
          </a:p>
          <a:p>
            <a:pPr marL="269875">
              <a:lnSpc>
                <a:spcPct val="100000"/>
              </a:lnSpc>
              <a:buClr>
                <a:srgbClr val="EA7600"/>
              </a:buClr>
              <a:buFont typeface="Calibri"/>
              <a:buChar char="•"/>
            </a:pPr>
            <a:r>
              <a:rPr lang="en-GB" sz="2000" spc="-1" dirty="0">
                <a:latin typeface="Calibri"/>
                <a:ea typeface="+mn-lt"/>
                <a:cs typeface="+mn-lt"/>
              </a:rPr>
              <a:t>Support for lower precision</a:t>
            </a:r>
          </a:p>
          <a:p>
            <a:pPr marL="727075" lvl="1">
              <a:lnSpc>
                <a:spcPct val="100000"/>
              </a:lnSpc>
              <a:buClr>
                <a:srgbClr val="EA7600"/>
              </a:buClr>
              <a:buFont typeface="Calibri"/>
              <a:buChar char="•"/>
            </a:pPr>
            <a:r>
              <a:rPr lang="en-GB" sz="1600" spc="-1" dirty="0">
                <a:latin typeface="Calibri"/>
                <a:ea typeface="+mn-lt"/>
                <a:cs typeface="+mn-lt"/>
              </a:rPr>
              <a:t>BFloat16, Float16? FP8? FP4?</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87</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a:extLst>
              <a:ext uri="{FF2B5EF4-FFF2-40B4-BE49-F238E27FC236}">
                <a16:creationId xmlns:a16="http://schemas.microsoft.com/office/drawing/2014/main" id="{7E8E0B80-3616-250F-EA71-C6F91AA67F4A}"/>
              </a:ext>
            </a:extLst>
          </p:cNvPr>
          <p:cNvPicPr>
            <a:picLocks noChangeAspect="1"/>
          </p:cNvPicPr>
          <p:nvPr/>
        </p:nvPicPr>
        <p:blipFill>
          <a:blip r:embed="rId5"/>
          <a:stretch>
            <a:fillRect/>
          </a:stretch>
        </p:blipFill>
        <p:spPr>
          <a:xfrm>
            <a:off x="7483883" y="3709440"/>
            <a:ext cx="4583114" cy="3030609"/>
          </a:xfrm>
          <a:prstGeom prst="rect">
            <a:avLst/>
          </a:prstGeom>
        </p:spPr>
      </p:pic>
      <p:pic>
        <p:nvPicPr>
          <p:cNvPr id="5" name="Picture 4">
            <a:extLst>
              <a:ext uri="{FF2B5EF4-FFF2-40B4-BE49-F238E27FC236}">
                <a16:creationId xmlns:a16="http://schemas.microsoft.com/office/drawing/2014/main" id="{A2F2664F-0E54-9084-39F5-C1C64343C848}"/>
              </a:ext>
            </a:extLst>
          </p:cNvPr>
          <p:cNvPicPr>
            <a:picLocks noChangeAspect="1"/>
          </p:cNvPicPr>
          <p:nvPr/>
        </p:nvPicPr>
        <p:blipFill>
          <a:blip r:embed="rId6"/>
          <a:stretch>
            <a:fillRect/>
          </a:stretch>
        </p:blipFill>
        <p:spPr>
          <a:xfrm>
            <a:off x="7347181" y="601154"/>
            <a:ext cx="4856518" cy="2827846"/>
          </a:xfrm>
          <a:prstGeom prst="rect">
            <a:avLst/>
          </a:prstGeom>
        </p:spPr>
      </p:pic>
    </p:spTree>
    <p:extLst>
      <p:ext uri="{BB962C8B-B14F-4D97-AF65-F5344CB8AC3E}">
        <p14:creationId xmlns:p14="http://schemas.microsoft.com/office/powerpoint/2010/main" val="3754355075"/>
      </p:ext>
    </p:extLst>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Third S: Stack</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Calibri"/>
              </a:rPr>
              <a:t>Is my software compiled for my hardware</a:t>
            </a:r>
          </a:p>
          <a:p>
            <a:pPr marL="727075" lvl="1" indent="-269875">
              <a:lnSpc>
                <a:spcPct val="100000"/>
              </a:lnSpc>
              <a:buClr>
                <a:srgbClr val="EA7600"/>
              </a:buClr>
              <a:buFont typeface="Calibri"/>
              <a:buChar char="•"/>
            </a:pPr>
            <a:r>
              <a:rPr lang="en-GB" sz="1600" spc="-1" dirty="0">
                <a:solidFill>
                  <a:srgbClr val="000000"/>
                </a:solidFill>
                <a:latin typeface="Calibri"/>
              </a:rPr>
              <a:t>Pip install … ?</a:t>
            </a:r>
          </a:p>
          <a:p>
            <a:pPr marL="727075" lvl="1" indent="-269875">
              <a:lnSpc>
                <a:spcPct val="100000"/>
              </a:lnSpc>
              <a:buClr>
                <a:srgbClr val="EA7600"/>
              </a:buClr>
              <a:buFont typeface="Calibri"/>
              <a:buChar char="•"/>
            </a:pPr>
            <a:r>
              <a:rPr lang="en-GB" sz="1600" spc="-1" dirty="0">
                <a:solidFill>
                  <a:srgbClr val="000000"/>
                </a:solidFill>
                <a:latin typeface="Calibri"/>
              </a:rPr>
              <a:t>Module load </a:t>
            </a:r>
            <a:r>
              <a:rPr lang="en-GB" sz="1600" spc="-1" dirty="0" err="1">
                <a:ea typeface="+mn-lt"/>
                <a:cs typeface="+mn-lt"/>
              </a:rPr>
              <a:t>PyTorch</a:t>
            </a:r>
            <a:r>
              <a:rPr lang="en-GB" sz="1600" spc="-1" dirty="0">
                <a:ea typeface="+mn-lt"/>
                <a:cs typeface="+mn-lt"/>
              </a:rPr>
              <a:t>/2.1.2-foss-2023a-CUDA-12.1.1</a:t>
            </a:r>
          </a:p>
          <a:p>
            <a:pPr marL="727075" lvl="1" indent="-269875">
              <a:lnSpc>
                <a:spcPct val="100000"/>
              </a:lnSpc>
              <a:buClr>
                <a:srgbClr val="EA7600"/>
              </a:buClr>
              <a:buFont typeface="Calibri"/>
              <a:buChar char="•"/>
            </a:pPr>
            <a:r>
              <a:rPr lang="en-GB" sz="1600" spc="-1" dirty="0">
                <a:latin typeface="Calibri"/>
                <a:ea typeface="+mn-lt"/>
                <a:cs typeface="+mn-lt"/>
              </a:rPr>
              <a:t>Use containers!</a:t>
            </a:r>
          </a:p>
          <a:p>
            <a:pPr marL="908050" lvl="2" indent="-269875">
              <a:lnSpc>
                <a:spcPct val="100000"/>
              </a:lnSpc>
              <a:buClr>
                <a:srgbClr val="EA7600"/>
              </a:buClr>
              <a:buFont typeface="Calibri"/>
              <a:buChar char="•"/>
            </a:pPr>
            <a:r>
              <a:rPr lang="en-GB" sz="1600" spc="-1" dirty="0">
                <a:latin typeface="Calibri"/>
                <a:ea typeface="+mn-lt"/>
                <a:cs typeface="+mn-lt"/>
                <a:hlinkClick r:id="rId3">
                  <a:extLst>
                    <a:ext uri="{A12FA001-AC4F-418D-AE19-62706E023703}">
                      <ahyp:hlinkClr xmlns:ahyp="http://schemas.microsoft.com/office/drawing/2018/hyperlinkcolor" val="tx"/>
                    </a:ext>
                  </a:extLst>
                </a:hlinkClick>
              </a:rPr>
              <a:t>https://catalog.ngc.nvidia.com/orgs/nvidia/containers/pytorch</a:t>
            </a:r>
            <a:r>
              <a:rPr lang="en-GB" sz="1600" spc="-1" dirty="0">
                <a:latin typeface="Calibri"/>
                <a:ea typeface="+mn-lt"/>
                <a:cs typeface="+mn-lt"/>
              </a:rPr>
              <a:t> &lt;- </a:t>
            </a:r>
            <a:r>
              <a:rPr lang="en-GB" sz="1600" spc="-1" dirty="0" err="1">
                <a:latin typeface="Calibri"/>
                <a:ea typeface="+mn-lt"/>
                <a:cs typeface="+mn-lt"/>
              </a:rPr>
              <a:t>nvidia</a:t>
            </a:r>
            <a:endParaRPr lang="en-GB" sz="1600" spc="-1" dirty="0">
              <a:latin typeface="Calibri"/>
              <a:ea typeface="+mn-lt"/>
              <a:cs typeface="+mn-lt"/>
            </a:endParaRPr>
          </a:p>
          <a:p>
            <a:pPr marL="908050" lvl="2" indent="-269875">
              <a:lnSpc>
                <a:spcPct val="100000"/>
              </a:lnSpc>
              <a:buClr>
                <a:srgbClr val="EA7600"/>
              </a:buClr>
              <a:buFont typeface="Calibri"/>
              <a:buChar char="•"/>
            </a:pPr>
            <a:r>
              <a:rPr lang="en-GB" sz="1600" spc="-1" dirty="0">
                <a:latin typeface="Calibri"/>
                <a:ea typeface="+mn-lt"/>
                <a:cs typeface="+mn-lt"/>
                <a:hlinkClick r:id="rId4">
                  <a:extLst>
                    <a:ext uri="{A12FA001-AC4F-418D-AE19-62706E023703}">
                      <ahyp:hlinkClr xmlns:ahyp="http://schemas.microsoft.com/office/drawing/2018/hyperlinkcolor" val="tx"/>
                    </a:ext>
                  </a:extLst>
                </a:hlinkClick>
              </a:rPr>
              <a:t>https://hub.docker.com/r/rocm/pytorch</a:t>
            </a:r>
            <a:r>
              <a:rPr lang="en-GB" sz="1600" spc="-1" dirty="0">
                <a:latin typeface="Calibri"/>
                <a:ea typeface="+mn-lt"/>
                <a:cs typeface="+mn-lt"/>
              </a:rPr>
              <a:t> &lt;-</a:t>
            </a:r>
            <a:r>
              <a:rPr lang="en-GB" sz="1600" spc="-1" dirty="0" err="1">
                <a:latin typeface="Calibri"/>
                <a:ea typeface="+mn-lt"/>
                <a:cs typeface="+mn-lt"/>
              </a:rPr>
              <a:t>amd</a:t>
            </a:r>
            <a:endParaRPr lang="en-GB" sz="1600" spc="-1" dirty="0">
              <a:latin typeface="Calibri"/>
              <a:ea typeface="+mn-lt"/>
              <a:cs typeface="+mn-lt"/>
            </a:endParaRPr>
          </a:p>
          <a:p>
            <a:pPr marL="269875" indent="-342900">
              <a:lnSpc>
                <a:spcPct val="100000"/>
              </a:lnSpc>
              <a:buClr>
                <a:srgbClr val="EA7600"/>
              </a:buClr>
              <a:buFont typeface="Calibri"/>
              <a:buChar char="•"/>
            </a:pPr>
            <a:r>
              <a:rPr lang="en-GB" sz="2000" spc="-1" dirty="0">
                <a:solidFill>
                  <a:srgbClr val="000000"/>
                </a:solidFill>
                <a:latin typeface="Calibri"/>
              </a:rPr>
              <a:t>Again: Consider the hardware/platform that you’re using</a:t>
            </a:r>
          </a:p>
          <a:p>
            <a:pPr marL="727075" lvl="1" indent="-342900">
              <a:lnSpc>
                <a:spcPct val="100000"/>
              </a:lnSpc>
              <a:buClr>
                <a:srgbClr val="EA7600"/>
              </a:buClr>
              <a:buFont typeface="Calibri"/>
              <a:buChar char="•"/>
            </a:pPr>
            <a:r>
              <a:rPr lang="en-GB" sz="1600" spc="-1" dirty="0">
                <a:solidFill>
                  <a:srgbClr val="000000"/>
                </a:solidFill>
                <a:latin typeface="Calibri"/>
              </a:rPr>
              <a:t>GPU: Nvidia/CUDA? AMD/</a:t>
            </a:r>
            <a:r>
              <a:rPr lang="en-GB" sz="1600" spc="-1" dirty="0" err="1">
                <a:solidFill>
                  <a:srgbClr val="000000"/>
                </a:solidFill>
                <a:latin typeface="Calibri"/>
              </a:rPr>
              <a:t>ROCm</a:t>
            </a:r>
            <a:r>
              <a:rPr lang="en-GB" sz="1600" spc="-1" dirty="0">
                <a:solidFill>
                  <a:srgbClr val="000000"/>
                </a:solidFill>
                <a:latin typeface="Calibri"/>
              </a:rPr>
              <a:t>? </a:t>
            </a:r>
          </a:p>
          <a:p>
            <a:pPr marL="727075" lvl="1" indent="-342900">
              <a:lnSpc>
                <a:spcPct val="100000"/>
              </a:lnSpc>
              <a:buClr>
                <a:srgbClr val="EA7600"/>
              </a:buClr>
              <a:buFont typeface="Calibri"/>
              <a:buChar char="•"/>
            </a:pPr>
            <a:r>
              <a:rPr lang="en-GB" sz="1600" spc="-1" dirty="0">
                <a:solidFill>
                  <a:srgbClr val="000000"/>
                </a:solidFill>
                <a:latin typeface="Calibri"/>
              </a:rPr>
              <a:t>CPUs: AVX512?</a:t>
            </a:r>
          </a:p>
          <a:p>
            <a:pPr marL="727075" lvl="1" indent="-342900">
              <a:lnSpc>
                <a:spcPct val="100000"/>
              </a:lnSpc>
              <a:buClr>
                <a:srgbClr val="EA7600"/>
              </a:buClr>
              <a:buFont typeface="Calibri"/>
              <a:buChar char="•"/>
            </a:pPr>
            <a:r>
              <a:rPr lang="en-GB" sz="1600" spc="-1" dirty="0" err="1">
                <a:solidFill>
                  <a:srgbClr val="000000"/>
                </a:solidFill>
                <a:latin typeface="Calibri"/>
              </a:rPr>
              <a:t>Cerebras</a:t>
            </a:r>
            <a:r>
              <a:rPr lang="en-GB" sz="1600" spc="-1" dirty="0">
                <a:solidFill>
                  <a:srgbClr val="000000"/>
                </a:solidFill>
                <a:latin typeface="Calibri"/>
              </a:rPr>
              <a:t> / Gaudi3 / etc. / etc.</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88</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Picture 1">
            <a:extLst>
              <a:ext uri="{FF2B5EF4-FFF2-40B4-BE49-F238E27FC236}">
                <a16:creationId xmlns:a16="http://schemas.microsoft.com/office/drawing/2014/main" id="{9E25C250-33E1-FD51-4588-F371C3CC002E}"/>
              </a:ext>
            </a:extLst>
          </p:cNvPr>
          <p:cNvPicPr>
            <a:picLocks noChangeAspect="1"/>
          </p:cNvPicPr>
          <p:nvPr/>
        </p:nvPicPr>
        <p:blipFill>
          <a:blip r:embed="rId5"/>
          <a:stretch>
            <a:fillRect/>
          </a:stretch>
        </p:blipFill>
        <p:spPr>
          <a:xfrm>
            <a:off x="7483883" y="3709440"/>
            <a:ext cx="4583114" cy="3030609"/>
          </a:xfrm>
          <a:prstGeom prst="rect">
            <a:avLst/>
          </a:prstGeom>
        </p:spPr>
      </p:pic>
      <p:pic>
        <p:nvPicPr>
          <p:cNvPr id="3" name="Picture 2">
            <a:extLst>
              <a:ext uri="{FF2B5EF4-FFF2-40B4-BE49-F238E27FC236}">
                <a16:creationId xmlns:a16="http://schemas.microsoft.com/office/drawing/2014/main" id="{9F7E4A50-40B0-2903-60D1-07F66B9C6980}"/>
              </a:ext>
            </a:extLst>
          </p:cNvPr>
          <p:cNvPicPr>
            <a:picLocks noChangeAspect="1"/>
          </p:cNvPicPr>
          <p:nvPr/>
        </p:nvPicPr>
        <p:blipFill>
          <a:blip r:embed="rId6"/>
          <a:stretch>
            <a:fillRect/>
          </a:stretch>
        </p:blipFill>
        <p:spPr>
          <a:xfrm>
            <a:off x="7347181" y="601154"/>
            <a:ext cx="4856518" cy="2827846"/>
          </a:xfrm>
          <a:prstGeom prst="rect">
            <a:avLst/>
          </a:prstGeom>
        </p:spPr>
      </p:pic>
    </p:spTree>
    <p:extLst>
      <p:ext uri="{BB962C8B-B14F-4D97-AF65-F5344CB8AC3E}">
        <p14:creationId xmlns:p14="http://schemas.microsoft.com/office/powerpoint/2010/main" val="1025912297"/>
      </p:ext>
    </p:extLst>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rPr>
              <a:t>System + Software + Stack</a:t>
            </a:r>
            <a:br>
              <a:rPr lang="en-GB" sz="3200" b="1" spc="-1" dirty="0">
                <a:solidFill>
                  <a:srgbClr val="000000"/>
                </a:solidFill>
                <a:latin typeface="Calibri"/>
              </a:rPr>
            </a:br>
            <a:r>
              <a:rPr lang="en-GB" sz="3200" b="1" spc="-1" dirty="0">
                <a:solidFill>
                  <a:srgbClr val="000000"/>
                </a:solidFill>
                <a:latin typeface="Calibri"/>
              </a:rPr>
              <a:t>Wait ... so what happens in torch?</a:t>
            </a:r>
            <a:endParaRPr lang="en-GB" sz="3200" b="1" strike="noStrike" spc="-1" dirty="0">
              <a:solidFill>
                <a:srgbClr val="000000"/>
              </a:solidFill>
              <a:latin typeface="Calibri"/>
            </a:endParaRPr>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Calibri"/>
              </a:rPr>
              <a:t>You call torch </a:t>
            </a:r>
          </a:p>
          <a:p>
            <a:pPr marL="727075" lvl="1" indent="-269875">
              <a:lnSpc>
                <a:spcPct val="100000"/>
              </a:lnSpc>
              <a:buClr>
                <a:srgbClr val="EA7600"/>
              </a:buClr>
              <a:buFont typeface="Calibri"/>
              <a:buChar char="•"/>
            </a:pPr>
            <a:r>
              <a:rPr lang="en-GB" sz="1200" spc="-1" dirty="0">
                <a:solidFill>
                  <a:srgbClr val="000000"/>
                </a:solidFill>
                <a:latin typeface="Calibri"/>
              </a:rPr>
              <a:t>E.g. </a:t>
            </a:r>
            <a:r>
              <a:rPr lang="en-GB" sz="1200" spc="-1" dirty="0" err="1">
                <a:solidFill>
                  <a:srgbClr val="000000"/>
                </a:solidFill>
                <a:latin typeface="Calibri"/>
              </a:rPr>
              <a:t>scatter_add</a:t>
            </a:r>
            <a:r>
              <a:rPr lang="en-GB" sz="1200" spc="-1" dirty="0">
                <a:solidFill>
                  <a:srgbClr val="000000"/>
                </a:solidFill>
                <a:latin typeface="Calibri"/>
              </a:rPr>
              <a:t>_ -&gt; Message passing in Graph-NNs</a:t>
            </a:r>
          </a:p>
          <a:p>
            <a:pPr marL="727075" lvl="1" indent="-269875">
              <a:lnSpc>
                <a:spcPct val="100000"/>
              </a:lnSpc>
              <a:buClr>
                <a:srgbClr val="EA7600"/>
              </a:buClr>
              <a:buFont typeface="Calibri"/>
              <a:buChar char="•"/>
            </a:pPr>
            <a:r>
              <a:rPr lang="en-GB" sz="1600" spc="-1" dirty="0">
                <a:solidFill>
                  <a:srgbClr val="000000"/>
                </a:solidFill>
                <a:latin typeface="Calibri"/>
              </a:rPr>
              <a:t>(Manual) Dispatching</a:t>
            </a:r>
          </a:p>
          <a:p>
            <a:pPr marL="269875" indent="-269875">
              <a:lnSpc>
                <a:spcPct val="100000"/>
              </a:lnSpc>
              <a:buClr>
                <a:srgbClr val="EA7600"/>
              </a:buClr>
              <a:buFont typeface="Calibri"/>
              <a:buChar char="•"/>
            </a:pPr>
            <a:r>
              <a:rPr lang="en-GB" sz="2000" spc="-1" dirty="0">
                <a:solidFill>
                  <a:srgbClr val="000000"/>
                </a:solidFill>
                <a:latin typeface="Calibri"/>
              </a:rPr>
              <a:t>Torch (python) determines the most appropriate function to call</a:t>
            </a:r>
          </a:p>
          <a:p>
            <a:pPr marL="727075" lvl="1" indent="-269875">
              <a:lnSpc>
                <a:spcPct val="100000"/>
              </a:lnSpc>
              <a:buClr>
                <a:srgbClr val="EA7600"/>
              </a:buClr>
              <a:buFont typeface="Calibri"/>
              <a:buChar char="•"/>
            </a:pPr>
            <a:r>
              <a:rPr lang="en-GB" sz="1600" spc="-1" dirty="0">
                <a:solidFill>
                  <a:srgbClr val="000000"/>
                </a:solidFill>
                <a:latin typeface="Calibri"/>
                <a:cs typeface="Calibri"/>
              </a:rPr>
              <a:t>Dispatching</a:t>
            </a:r>
            <a:r>
              <a:rPr lang="en-GB" sz="1600" spc="-1" dirty="0">
                <a:solidFill>
                  <a:srgbClr val="000000"/>
                </a:solidFill>
                <a:latin typeface="Calibri"/>
              </a:rPr>
              <a:t> </a:t>
            </a:r>
            <a:endParaRPr lang="en-GB" sz="1600" spc="-1" dirty="0">
              <a:solidFill>
                <a:srgbClr val="000000"/>
              </a:solidFill>
              <a:latin typeface="Calibri"/>
              <a:cs typeface="Calibri"/>
            </a:endParaRPr>
          </a:p>
          <a:p>
            <a:pPr marL="269875" indent="-269875">
              <a:lnSpc>
                <a:spcPct val="100000"/>
              </a:lnSpc>
              <a:buClr>
                <a:srgbClr val="EA7600"/>
              </a:buClr>
              <a:buFont typeface="Calibri"/>
              <a:buChar char="•"/>
            </a:pPr>
            <a:r>
              <a:rPr lang="en-GB" sz="2000" spc="-1" dirty="0">
                <a:solidFill>
                  <a:srgbClr val="000000"/>
                </a:solidFill>
                <a:latin typeface="Calibri"/>
              </a:rPr>
              <a:t>Torch (C++/CU) calls the CPU/GPU kernel</a:t>
            </a:r>
          </a:p>
          <a:p>
            <a:pPr marL="727075" lvl="1" indent="-269875">
              <a:lnSpc>
                <a:spcPct val="100000"/>
              </a:lnSpc>
              <a:buClr>
                <a:srgbClr val="EA7600"/>
              </a:buClr>
              <a:buFont typeface="Calibri"/>
              <a:buChar char="•"/>
            </a:pPr>
            <a:r>
              <a:rPr lang="en-GB" sz="1600" spc="-1" dirty="0">
                <a:solidFill>
                  <a:srgbClr val="000000"/>
                </a:solidFill>
                <a:latin typeface="Calibri"/>
                <a:cs typeface="Calibri"/>
              </a:rPr>
              <a:t>Dispatching </a:t>
            </a:r>
          </a:p>
          <a:p>
            <a:pPr marL="269875" indent="-269875">
              <a:lnSpc>
                <a:spcPct val="100000"/>
              </a:lnSpc>
              <a:buClr>
                <a:srgbClr val="EA7600"/>
              </a:buClr>
              <a:buFont typeface="Calibri"/>
              <a:buChar char="•"/>
            </a:pPr>
            <a:r>
              <a:rPr lang="en-GB" sz="2400" spc="-1" dirty="0">
                <a:solidFill>
                  <a:srgbClr val="000000"/>
                </a:solidFill>
                <a:latin typeface="Calibri"/>
              </a:rPr>
              <a:t>Low-level C++/CU library performs actual calculation</a:t>
            </a:r>
          </a:p>
          <a:p>
            <a:pPr marL="727075" lvl="1" indent="-269875">
              <a:lnSpc>
                <a:spcPct val="100000"/>
              </a:lnSpc>
              <a:buClr>
                <a:srgbClr val="EA7600"/>
              </a:buClr>
              <a:buFont typeface="Calibri"/>
              <a:buChar char="•"/>
            </a:pPr>
            <a:r>
              <a:rPr lang="en-GB" sz="1600" spc="-1" dirty="0">
                <a:solidFill>
                  <a:srgbClr val="000000"/>
                </a:solidFill>
                <a:latin typeface="Calibri"/>
                <a:cs typeface="Calibri"/>
              </a:rPr>
              <a:t>Dispatching</a:t>
            </a:r>
          </a:p>
          <a:p>
            <a:pPr marL="269875">
              <a:lnSpc>
                <a:spcPct val="100000"/>
              </a:lnSpc>
              <a:buClr>
                <a:srgbClr val="EA7600"/>
              </a:buClr>
              <a:buFont typeface="Calibri"/>
              <a:buChar char="•"/>
            </a:pPr>
            <a:r>
              <a:rPr lang="en-GB" sz="2000" spc="-1" dirty="0" err="1">
                <a:ea typeface="+mn-lt"/>
                <a:cs typeface="+mn-lt"/>
              </a:rPr>
              <a:t>PyTorch</a:t>
            </a:r>
            <a:r>
              <a:rPr lang="en-GB" sz="2000" spc="-1" dirty="0">
                <a:ea typeface="+mn-lt"/>
                <a:cs typeface="+mn-lt"/>
              </a:rPr>
              <a:t> Dispatcher: </a:t>
            </a:r>
          </a:p>
          <a:p>
            <a:pPr marL="41275" indent="0">
              <a:lnSpc>
                <a:spcPct val="100000"/>
              </a:lnSpc>
              <a:buClr>
                <a:srgbClr val="EA7600"/>
              </a:buClr>
              <a:buNone/>
            </a:pPr>
            <a:r>
              <a:rPr lang="en-GB" sz="2000" spc="-1" dirty="0">
                <a:ea typeface="+mn-lt"/>
                <a:cs typeface="+mn-lt"/>
                <a:hlinkClick r:id="rId3"/>
              </a:rPr>
              <a:t>http://blog.ezyang.com/2020/09/lets-talk-about-the-pytorch-dispatcher/</a:t>
            </a:r>
            <a:endParaRPr lang="en-GB" sz="2000" spc="-1" dirty="0">
              <a:ea typeface="+mn-lt"/>
              <a:cs typeface="+mn-lt"/>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89</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descr="A drawing of a hand with a few icons&#10;&#10;AI-generated content may be incorrect.">
            <a:extLst>
              <a:ext uri="{FF2B5EF4-FFF2-40B4-BE49-F238E27FC236}">
                <a16:creationId xmlns:a16="http://schemas.microsoft.com/office/drawing/2014/main" id="{7D7DA8A8-B97A-9647-3A82-B7729B747B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77193" y="0"/>
            <a:ext cx="4114807" cy="3086105"/>
          </a:xfrm>
          <a:prstGeom prst="rect">
            <a:avLst/>
          </a:prstGeom>
        </p:spPr>
      </p:pic>
    </p:spTree>
    <p:extLst>
      <p:ext uri="{BB962C8B-B14F-4D97-AF65-F5344CB8AC3E}">
        <p14:creationId xmlns:p14="http://schemas.microsoft.com/office/powerpoint/2010/main" val="3205582245"/>
      </p:ext>
    </p:extLst>
  </p:cSld>
  <p:clrMapOvr>
    <a:masterClrMapping/>
  </p:clrMapOvr>
  <p:transition spd="slow">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In practice: </a:t>
            </a:r>
            <a:r>
              <a:rPr lang="en-GB" sz="3200" b="1" spc="-1" err="1">
                <a:solidFill>
                  <a:srgbClr val="000000"/>
                </a:solidFill>
                <a:latin typeface="Calibri"/>
              </a:rPr>
              <a:t>PyTorch</a:t>
            </a:r>
            <a:r>
              <a:rPr lang="en-GB" sz="3200" b="1" spc="-1">
                <a:solidFill>
                  <a:srgbClr val="000000"/>
                </a:solidFill>
                <a:latin typeface="Calibri"/>
              </a:rPr>
              <a:t> + </a:t>
            </a:r>
            <a:r>
              <a:rPr lang="en-GB" sz="3200" b="1" spc="-1" err="1">
                <a:solidFill>
                  <a:srgbClr val="000000"/>
                </a:solidFill>
                <a:latin typeface="Calibri"/>
              </a:rPr>
              <a:t>Snellius</a:t>
            </a:r>
            <a:endParaRPr lang="en-US" sz="3200" b="0" strike="noStrike" spc="-1" err="1">
              <a:solidFill>
                <a:srgbClr val="000000"/>
              </a:solidFill>
              <a:latin typeface="Arial"/>
            </a:endParaRPr>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Calibri"/>
              </a:rPr>
              <a:t>We only have NVIDIA GPUs</a:t>
            </a:r>
          </a:p>
          <a:p>
            <a:pPr marL="727075" lvl="1" indent="-269875">
              <a:lnSpc>
                <a:spcPct val="100000"/>
              </a:lnSpc>
              <a:buClr>
                <a:srgbClr val="EA7600"/>
              </a:buClr>
              <a:buFont typeface="Calibri"/>
              <a:buChar char="•"/>
            </a:pPr>
            <a:r>
              <a:rPr lang="en-GB" sz="1600" spc="-1" dirty="0">
                <a:solidFill>
                  <a:srgbClr val="000000"/>
                </a:solidFill>
                <a:latin typeface="Calibri"/>
              </a:rPr>
              <a:t>72x4=288 NVIDIA A100</a:t>
            </a:r>
          </a:p>
          <a:p>
            <a:pPr marL="727075" lvl="1" indent="-269875">
              <a:lnSpc>
                <a:spcPct val="100000"/>
              </a:lnSpc>
              <a:buClr>
                <a:srgbClr val="EA7600"/>
              </a:buClr>
              <a:buFont typeface="Calibri"/>
              <a:buChar char="•"/>
            </a:pPr>
            <a:r>
              <a:rPr lang="en-GB" sz="1600" spc="-1" dirty="0">
                <a:solidFill>
                  <a:srgbClr val="000000"/>
                </a:solidFill>
                <a:latin typeface="Calibri"/>
              </a:rPr>
              <a:t>88x4=352 NVIDIA H100</a:t>
            </a:r>
          </a:p>
          <a:p>
            <a:pPr marL="269875">
              <a:lnSpc>
                <a:spcPct val="100000"/>
              </a:lnSpc>
              <a:buClr>
                <a:srgbClr val="EA7600"/>
              </a:buClr>
              <a:buFont typeface="Calibri"/>
              <a:buChar char="•"/>
            </a:pPr>
            <a:r>
              <a:rPr lang="en-GB" sz="2000" spc="-1" dirty="0">
                <a:solidFill>
                  <a:srgbClr val="000000"/>
                </a:solidFill>
                <a:latin typeface="Arial"/>
                <a:cs typeface="Arial"/>
              </a:rPr>
              <a:t>Makes optimization a bit easier for you</a:t>
            </a:r>
            <a:endParaRPr lang="en-GB" sz="2000" b="0" strike="noStrike" spc="-1" dirty="0">
              <a:solidFill>
                <a:srgbClr val="000000"/>
              </a:solidFill>
              <a:latin typeface="Arial"/>
              <a:cs typeface="Arial"/>
            </a:endParaRPr>
          </a:p>
          <a:p>
            <a:pPr marL="269875">
              <a:lnSpc>
                <a:spcPct val="100000"/>
              </a:lnSpc>
              <a:buClr>
                <a:srgbClr val="EA7600"/>
              </a:buClr>
              <a:buFont typeface="Calibri"/>
              <a:buChar char="•"/>
            </a:pPr>
            <a:r>
              <a:rPr lang="en-GB" sz="2000" spc="-1" dirty="0">
                <a:solidFill>
                  <a:srgbClr val="000000"/>
                </a:solidFill>
                <a:latin typeface="Arial"/>
                <a:cs typeface="Arial"/>
              </a:rPr>
              <a:t>You only need to spend a year sifting through documentation</a:t>
            </a:r>
          </a:p>
          <a:p>
            <a:pPr marL="727075" lvl="1">
              <a:lnSpc>
                <a:spcPct val="100000"/>
              </a:lnSpc>
              <a:buClr>
                <a:srgbClr val="EA7600"/>
              </a:buClr>
              <a:buFont typeface="Calibri"/>
              <a:buChar char="•"/>
            </a:pPr>
            <a:r>
              <a:rPr lang="en-GB" sz="1600" spc="-1" dirty="0">
                <a:ea typeface="+mn-lt"/>
                <a:cs typeface="+mn-lt"/>
                <a:hlinkClick r:id="rId3"/>
              </a:rPr>
              <a:t>https://servicedesk.surf.nl/wiki/display/WIKI/Deep+Learning+on+A100+GPUs</a:t>
            </a:r>
            <a:endParaRPr lang="en-GB" sz="2000" spc="-1" dirty="0">
              <a:solidFill>
                <a:srgbClr val="000000"/>
              </a:solidFill>
              <a:latin typeface="Arial"/>
              <a:cs typeface="Arial"/>
            </a:endParaRPr>
          </a:p>
          <a:p>
            <a:pPr marL="727075" lvl="1">
              <a:lnSpc>
                <a:spcPct val="100000"/>
              </a:lnSpc>
              <a:buClr>
                <a:srgbClr val="EA7600"/>
              </a:buClr>
              <a:buFont typeface="Calibri"/>
              <a:buChar char="•"/>
            </a:pPr>
            <a:r>
              <a:rPr lang="en-GB" sz="1600" spc="-1" dirty="0">
                <a:solidFill>
                  <a:srgbClr val="000000"/>
                </a:solidFill>
                <a:latin typeface="Arial"/>
                <a:cs typeface="Arial"/>
              </a:rPr>
              <a:t>Or ask us... :)</a:t>
            </a:r>
          </a:p>
          <a:p>
            <a:pPr marL="727075" lvl="1">
              <a:lnSpc>
                <a:spcPct val="100000"/>
              </a:lnSpc>
              <a:buClr>
                <a:srgbClr val="EA7600"/>
              </a:buClr>
              <a:buFont typeface="Calibri"/>
              <a:buChar char="•"/>
            </a:pPr>
            <a:r>
              <a:rPr lang="en-GB" sz="1600" spc="-1" dirty="0">
                <a:solidFill>
                  <a:srgbClr val="000000"/>
                </a:solidFill>
                <a:latin typeface="Arial"/>
                <a:cs typeface="Arial"/>
              </a:rPr>
              <a:t>Every EINF/NWO small grants has a default of 4 consultancy hours</a:t>
            </a:r>
          </a:p>
          <a:p>
            <a:pPr marL="269875">
              <a:lnSpc>
                <a:spcPct val="100000"/>
              </a:lnSpc>
              <a:buClr>
                <a:srgbClr val="EA7600"/>
              </a:buClr>
              <a:buFont typeface="Calibri"/>
              <a:buChar char="•"/>
            </a:pPr>
            <a:endParaRPr lang="en-GB" sz="2000" spc="-1" dirty="0">
              <a:solidFill>
                <a:srgbClr val="000000"/>
              </a:solidFill>
              <a:latin typeface="Arial"/>
              <a:cs typeface="Arial"/>
            </a:endParaRPr>
          </a:p>
          <a:p>
            <a:pPr marL="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Calibri"/>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90</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Tree>
    <p:extLst>
      <p:ext uri="{BB962C8B-B14F-4D97-AF65-F5344CB8AC3E}">
        <p14:creationId xmlns:p14="http://schemas.microsoft.com/office/powerpoint/2010/main" val="4056994034"/>
      </p:ext>
    </p:extLst>
  </p:cSld>
  <p:clrMapOvr>
    <a:masterClrMapping/>
  </p:clrMapOvr>
  <p:transition spd="slow">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err="1">
                <a:solidFill>
                  <a:srgbClr val="000000"/>
                </a:solidFill>
                <a:latin typeface="Calibri"/>
              </a:rPr>
              <a:t>Rapidfire</a:t>
            </a:r>
            <a:r>
              <a:rPr lang="en-GB" sz="3200" b="1" spc="-1">
                <a:solidFill>
                  <a:srgbClr val="000000"/>
                </a:solidFill>
                <a:latin typeface="Calibri"/>
              </a:rPr>
              <a:t>: implementation details</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ea typeface="+mn-lt"/>
                <a:cs typeface="+mn-lt"/>
              </a:rPr>
              <a:t>How fast do you want to go?</a:t>
            </a:r>
          </a:p>
          <a:p>
            <a:pPr marL="269875" indent="-269875">
              <a:lnSpc>
                <a:spcPct val="100000"/>
              </a:lnSpc>
              <a:buClr>
                <a:srgbClr val="EA7600"/>
              </a:buClr>
              <a:buFont typeface="Calibri"/>
              <a:buChar char="•"/>
            </a:pPr>
            <a:r>
              <a:rPr lang="en-GB" sz="2000" spc="-1" dirty="0">
                <a:solidFill>
                  <a:srgbClr val="000000"/>
                </a:solidFill>
                <a:latin typeface="Arial"/>
                <a:cs typeface="Arial"/>
              </a:rPr>
              <a:t>What is your goal?</a:t>
            </a:r>
          </a:p>
          <a:p>
            <a:pPr marL="727075" lvl="1">
              <a:lnSpc>
                <a:spcPct val="100000"/>
              </a:lnSpc>
              <a:buClr>
                <a:srgbClr val="EA7600"/>
              </a:buClr>
              <a:buFont typeface="Calibri"/>
              <a:buChar char="•"/>
            </a:pPr>
            <a:r>
              <a:rPr lang="en-GB" sz="1600" spc="-1" dirty="0">
                <a:solidFill>
                  <a:srgbClr val="000000"/>
                </a:solidFill>
                <a:latin typeface="Arial"/>
                <a:cs typeface="Arial"/>
              </a:rPr>
              <a:t>Largest model possible?</a:t>
            </a:r>
          </a:p>
          <a:p>
            <a:pPr marL="727075" lvl="1">
              <a:lnSpc>
                <a:spcPct val="100000"/>
              </a:lnSpc>
              <a:buClr>
                <a:srgbClr val="EA7600"/>
              </a:buClr>
              <a:buFont typeface="Calibri"/>
              <a:buChar char="•"/>
            </a:pPr>
            <a:r>
              <a:rPr lang="en-GB" sz="1600" spc="-1" dirty="0">
                <a:solidFill>
                  <a:srgbClr val="000000"/>
                </a:solidFill>
                <a:latin typeface="Arial"/>
                <a:cs typeface="Arial"/>
              </a:rPr>
              <a:t>Best validation performance?</a:t>
            </a:r>
          </a:p>
          <a:p>
            <a:pPr marL="727075" lvl="1">
              <a:lnSpc>
                <a:spcPct val="100000"/>
              </a:lnSpc>
              <a:buClr>
                <a:srgbClr val="EA7600"/>
              </a:buClr>
              <a:buFont typeface="Calibri"/>
              <a:buChar char="•"/>
            </a:pPr>
            <a:r>
              <a:rPr lang="en-GB" sz="1600" spc="-1" dirty="0">
                <a:solidFill>
                  <a:srgbClr val="000000"/>
                </a:solidFill>
                <a:latin typeface="Arial"/>
                <a:cs typeface="Arial"/>
              </a:rPr>
              <a:t>Submit a paper to ISC ‘25?</a:t>
            </a: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91</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tekst, vectorafbeeldingen, sushi&#10;&#10;Automatisch gegenereerde beschrijving">
            <a:extLst>
              <a:ext uri="{FF2B5EF4-FFF2-40B4-BE49-F238E27FC236}">
                <a16:creationId xmlns:a16="http://schemas.microsoft.com/office/drawing/2014/main" id="{0B92D053-0B0B-96EC-E1CC-2CB2E09B5E06}"/>
              </a:ext>
            </a:extLst>
          </p:cNvPr>
          <p:cNvPicPr>
            <a:picLocks noChangeAspect="1"/>
          </p:cNvPicPr>
          <p:nvPr/>
        </p:nvPicPr>
        <p:blipFill>
          <a:blip r:embed="rId3"/>
          <a:stretch>
            <a:fillRect/>
          </a:stretch>
        </p:blipFill>
        <p:spPr>
          <a:xfrm>
            <a:off x="9011997" y="345146"/>
            <a:ext cx="2743200" cy="2743200"/>
          </a:xfrm>
          <a:prstGeom prst="rect">
            <a:avLst/>
          </a:prstGeom>
        </p:spPr>
      </p:pic>
      <p:pic>
        <p:nvPicPr>
          <p:cNvPr id="3" name="Afbeelding 3">
            <a:extLst>
              <a:ext uri="{FF2B5EF4-FFF2-40B4-BE49-F238E27FC236}">
                <a16:creationId xmlns:a16="http://schemas.microsoft.com/office/drawing/2014/main" id="{CF36BB38-B2F5-E81C-4088-8D17B08244F6}"/>
              </a:ext>
            </a:extLst>
          </p:cNvPr>
          <p:cNvPicPr>
            <a:picLocks noChangeAspect="1"/>
          </p:cNvPicPr>
          <p:nvPr/>
        </p:nvPicPr>
        <p:blipFill>
          <a:blip r:embed="rId4"/>
          <a:stretch>
            <a:fillRect/>
          </a:stretch>
        </p:blipFill>
        <p:spPr>
          <a:xfrm>
            <a:off x="475920" y="3794331"/>
            <a:ext cx="7997825" cy="2581629"/>
          </a:xfrm>
          <a:prstGeom prst="rect">
            <a:avLst/>
          </a:prstGeom>
        </p:spPr>
      </p:pic>
    </p:spTree>
    <p:extLst>
      <p:ext uri="{BB962C8B-B14F-4D97-AF65-F5344CB8AC3E}">
        <p14:creationId xmlns:p14="http://schemas.microsoft.com/office/powerpoint/2010/main" val="3627053909"/>
      </p:ext>
    </p:extLst>
  </p:cSld>
  <p:clrMapOvr>
    <a:masterClrMapping/>
  </p:clrMapOvr>
  <p:transition spd="slow">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Rapidfire</a:t>
            </a:r>
            <a:r>
              <a:rPr lang="en-GB" sz="3200" b="1" spc="-1" dirty="0">
                <a:solidFill>
                  <a:srgbClr val="000000"/>
                </a:solidFill>
                <a:latin typeface="Calibri"/>
              </a:rPr>
              <a:t>: implementation details</a:t>
            </a:r>
            <a:endParaRPr lang="nl-NL" dirty="0"/>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ea typeface="+mn-lt"/>
                <a:cs typeface="+mn-lt"/>
              </a:rPr>
              <a:t>Some useful resources:</a:t>
            </a:r>
          </a:p>
          <a:p>
            <a:pPr marL="727075" lvl="1" indent="-269875">
              <a:lnSpc>
                <a:spcPct val="100000"/>
              </a:lnSpc>
              <a:buClr>
                <a:srgbClr val="EA7600"/>
              </a:buClr>
              <a:buFont typeface="Calibri"/>
              <a:buChar char="•"/>
            </a:pPr>
            <a:r>
              <a:rPr lang="en-GB" sz="1600" spc="-1" dirty="0">
                <a:ea typeface="+mn-lt"/>
                <a:cs typeface="+mn-lt"/>
                <a:hlinkClick r:id="rId3"/>
              </a:rPr>
              <a:t>https://pytorch.org/docs/stable/notes/cuda.html</a:t>
            </a:r>
            <a:endParaRPr lang="en-GB" sz="1600" spc="-1" dirty="0">
              <a:latin typeface="Calibri"/>
              <a:ea typeface="+mn-lt"/>
              <a:cs typeface="+mn-lt"/>
            </a:endParaRPr>
          </a:p>
          <a:p>
            <a:pPr marL="727075" lvl="1" indent="-269875">
              <a:lnSpc>
                <a:spcPct val="100000"/>
              </a:lnSpc>
              <a:buClr>
                <a:srgbClr val="EA7600"/>
              </a:buClr>
              <a:buFont typeface="Calibri,Sans-Serif"/>
              <a:buChar char="•"/>
            </a:pPr>
            <a:r>
              <a:rPr lang="en-GB" sz="1600" spc="-1" dirty="0">
                <a:cs typeface="Arial"/>
                <a:hlinkClick r:id="rId4"/>
              </a:rPr>
              <a:t>https</a:t>
            </a:r>
            <a:r>
              <a:rPr lang="en-GB" sz="1600" spc="-1" dirty="0">
                <a:solidFill>
                  <a:srgbClr val="0077C8"/>
                </a:solidFill>
                <a:cs typeface="Arial"/>
                <a:hlinkClick r:id="rId4"/>
              </a:rPr>
              <a:t>://docs.nvidia.com/deeplearning/performance/dl-performance-memory-limited/index.html</a:t>
            </a:r>
            <a:endParaRPr lang="en-GB" sz="1600" spc="-1" dirty="0">
              <a:solidFill>
                <a:srgbClr val="0077C8"/>
              </a:solidFill>
              <a:cs typeface="Arial"/>
            </a:endParaRPr>
          </a:p>
          <a:p>
            <a:pPr marL="727075" lvl="1" indent="-269875">
              <a:lnSpc>
                <a:spcPct val="100000"/>
              </a:lnSpc>
              <a:buClr>
                <a:srgbClr val="EA7600"/>
              </a:buClr>
              <a:buFont typeface="Calibri,Sans-Serif"/>
              <a:buChar char="•"/>
            </a:pPr>
            <a:r>
              <a:rPr lang="en-GB" sz="1600" spc="-1" dirty="0">
                <a:solidFill>
                  <a:srgbClr val="0077C8"/>
                </a:solidFill>
                <a:cs typeface="Arial"/>
                <a:hlinkClick r:id="rId5"/>
              </a:rPr>
              <a:t>https://docs.nvidia.com/deeplearning/performance/index.html</a:t>
            </a:r>
            <a:endParaRPr lang="en-US" sz="1600" spc="-1" dirty="0">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Duncan: </a:t>
            </a:r>
            <a:r>
              <a:rPr lang="en-GB" sz="2000" i="1" spc="-1" dirty="0">
                <a:solidFill>
                  <a:srgbClr val="000000"/>
                </a:solidFill>
                <a:latin typeface="Arial"/>
                <a:cs typeface="Arial"/>
              </a:rPr>
              <a:t>"You can take any piece of code, spend 6 months optimizing it, and then write a paper about it"</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92</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tekst, vectorafbeeldingen, sushi&#10;&#10;Automatisch gegenereerde beschrijving">
            <a:extLst>
              <a:ext uri="{FF2B5EF4-FFF2-40B4-BE49-F238E27FC236}">
                <a16:creationId xmlns:a16="http://schemas.microsoft.com/office/drawing/2014/main" id="{0B92D053-0B0B-96EC-E1CC-2CB2E09B5E06}"/>
              </a:ext>
            </a:extLst>
          </p:cNvPr>
          <p:cNvPicPr>
            <a:picLocks noChangeAspect="1"/>
          </p:cNvPicPr>
          <p:nvPr/>
        </p:nvPicPr>
        <p:blipFill>
          <a:blip r:embed="rId6"/>
          <a:stretch>
            <a:fillRect/>
          </a:stretch>
        </p:blipFill>
        <p:spPr>
          <a:xfrm>
            <a:off x="9011997" y="345146"/>
            <a:ext cx="2743200" cy="2743200"/>
          </a:xfrm>
          <a:prstGeom prst="rect">
            <a:avLst/>
          </a:prstGeom>
        </p:spPr>
      </p:pic>
    </p:spTree>
    <p:extLst>
      <p:ext uri="{BB962C8B-B14F-4D97-AF65-F5344CB8AC3E}">
        <p14:creationId xmlns:p14="http://schemas.microsoft.com/office/powerpoint/2010/main" val="574688460"/>
      </p:ext>
    </p:extLst>
  </p:cSld>
  <p:clrMapOvr>
    <a:masterClrMapping/>
  </p:clrMapOvr>
  <p:transition spd="slow">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0: "oh my god": </a:t>
            </a:r>
            <a:r>
              <a:rPr lang="en-GB" sz="3200" b="1" spc="-1" dirty="0" err="1">
                <a:solidFill>
                  <a:srgbClr val="000000"/>
                </a:solidFill>
                <a:latin typeface="Calibri"/>
                <a:cs typeface="Arial"/>
              </a:rPr>
              <a:t>torch.amp</a:t>
            </a:r>
            <a:endParaRPr lang="nl-NL" sz="2000" dirty="0">
              <a:latin typeface="Arial"/>
              <a:cs typeface="Arial"/>
            </a:endParaRPr>
          </a:p>
        </p:txBody>
      </p:sp>
      <p:sp>
        <p:nvSpPr>
          <p:cNvPr id="939" name="PlaceHolder 2"/>
          <p:cNvSpPr>
            <a:spLocks noGrp="1"/>
          </p:cNvSpPr>
          <p:nvPr>
            <p:ph/>
          </p:nvPr>
        </p:nvSpPr>
        <p:spPr>
          <a:xfrm>
            <a:off x="514508" y="573352"/>
            <a:ext cx="9507316" cy="5283488"/>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If </a:t>
            </a:r>
            <a:r>
              <a:rPr lang="en-GB" sz="2000" spc="-1" dirty="0" err="1">
                <a:solidFill>
                  <a:srgbClr val="000000"/>
                </a:solidFill>
                <a:latin typeface="Arial"/>
                <a:cs typeface="Arial"/>
              </a:rPr>
              <a:t>pytorch</a:t>
            </a:r>
            <a:r>
              <a:rPr lang="en-GB" sz="2000" spc="-1" dirty="0">
                <a:solidFill>
                  <a:srgbClr val="000000"/>
                </a:solidFill>
                <a:latin typeface="Arial"/>
                <a:cs typeface="Arial"/>
              </a:rPr>
              <a:t> mixed precision isn’t working, probably you are doing something wrong</a:t>
            </a:r>
          </a:p>
          <a:p>
            <a:pPr marL="269875" indent="-269875">
              <a:lnSpc>
                <a:spcPct val="100000"/>
              </a:lnSpc>
              <a:buClr>
                <a:srgbClr val="EA7600"/>
              </a:buClr>
              <a:buFont typeface="Calibri"/>
              <a:buChar char="•"/>
            </a:pPr>
            <a:r>
              <a:rPr lang="en-GB" sz="2000" spc="-1" dirty="0">
                <a:solidFill>
                  <a:srgbClr val="000000"/>
                </a:solidFill>
                <a:latin typeface="Arial"/>
                <a:cs typeface="Arial"/>
              </a:rPr>
              <a:t>Gives you a free 2x+ speed boost</a:t>
            </a:r>
          </a:p>
          <a:p>
            <a:pPr marL="269875" indent="-269875">
              <a:lnSpc>
                <a:spcPct val="100000"/>
              </a:lnSpc>
              <a:buClr>
                <a:srgbClr val="EA7600"/>
              </a:buClr>
              <a:buFont typeface="Calibri"/>
              <a:buChar char="•"/>
            </a:pPr>
            <a:r>
              <a:rPr lang="en-GB" sz="2000" spc="-1" dirty="0">
                <a:solidFill>
                  <a:srgbClr val="000000"/>
                </a:solidFill>
                <a:latin typeface="Arial"/>
                <a:cs typeface="Arial"/>
              </a:rPr>
              <a:t>FP16 is probably better, BF16 is easier</a:t>
            </a:r>
          </a:p>
          <a:p>
            <a:pPr marL="269875" indent="-269875">
              <a:lnSpc>
                <a:spcPct val="100000"/>
              </a:lnSpc>
              <a:buClr>
                <a:srgbClr val="EA7600"/>
              </a:buClr>
              <a:buFont typeface="Calibri"/>
              <a:buChar char="•"/>
            </a:pPr>
            <a:r>
              <a:rPr lang="en-GB" sz="2000" spc="-1" dirty="0">
                <a:solidFill>
                  <a:srgbClr val="000000"/>
                </a:solidFill>
                <a:latin typeface="Arial"/>
                <a:cs typeface="Arial"/>
              </a:rPr>
              <a:t>FP8 is coming</a:t>
            </a: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93</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3" name="Picture 2">
            <a:extLst>
              <a:ext uri="{FF2B5EF4-FFF2-40B4-BE49-F238E27FC236}">
                <a16:creationId xmlns:a16="http://schemas.microsoft.com/office/drawing/2014/main" id="{B6E475C9-CED3-5189-4B99-5512539D3B0B}"/>
              </a:ext>
            </a:extLst>
          </p:cNvPr>
          <p:cNvPicPr>
            <a:picLocks noChangeAspect="1"/>
          </p:cNvPicPr>
          <p:nvPr/>
        </p:nvPicPr>
        <p:blipFill>
          <a:blip r:embed="rId3"/>
          <a:stretch>
            <a:fillRect/>
          </a:stretch>
        </p:blipFill>
        <p:spPr>
          <a:xfrm>
            <a:off x="6022769" y="3638386"/>
            <a:ext cx="6047553" cy="2646262"/>
          </a:xfrm>
          <a:prstGeom prst="rect">
            <a:avLst/>
          </a:prstGeom>
        </p:spPr>
      </p:pic>
      <p:pic>
        <p:nvPicPr>
          <p:cNvPr id="4" name="Picture 3" descr="A graph of a number of numbers&#10;&#10;AI-generated content may be incorrect.">
            <a:extLst>
              <a:ext uri="{FF2B5EF4-FFF2-40B4-BE49-F238E27FC236}">
                <a16:creationId xmlns:a16="http://schemas.microsoft.com/office/drawing/2014/main" id="{EDEDB78E-6E84-8BFB-4D35-646C303CCA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70930"/>
            <a:ext cx="5935098" cy="3344779"/>
          </a:xfrm>
          <a:prstGeom prst="rect">
            <a:avLst/>
          </a:prstGeom>
        </p:spPr>
      </p:pic>
    </p:spTree>
    <p:extLst>
      <p:ext uri="{BB962C8B-B14F-4D97-AF65-F5344CB8AC3E}">
        <p14:creationId xmlns:p14="http://schemas.microsoft.com/office/powerpoint/2010/main" val="2576422117"/>
      </p:ext>
    </p:extLst>
  </p:cSld>
  <p:clrMapOvr>
    <a:masterClrMapping/>
  </p:clrMapOvr>
  <p:transition spd="slow">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E8EC-A57F-8314-2F92-67E5DA383D08}"/>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4D14ED34-F5F5-F0DD-3B35-FB6D25C8C37C}"/>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0: "oh my god": </a:t>
            </a:r>
            <a:r>
              <a:rPr lang="en-GB" sz="3200" b="1" spc="-1" dirty="0" err="1">
                <a:solidFill>
                  <a:srgbClr val="000000"/>
                </a:solidFill>
                <a:latin typeface="Calibri"/>
                <a:cs typeface="Arial"/>
              </a:rPr>
              <a:t>torch.compile</a:t>
            </a:r>
            <a:endParaRPr lang="nl-NL" sz="2000" dirty="0">
              <a:latin typeface="Arial"/>
              <a:cs typeface="Arial"/>
            </a:endParaRPr>
          </a:p>
        </p:txBody>
      </p:sp>
      <p:sp>
        <p:nvSpPr>
          <p:cNvPr id="939" name="PlaceHolder 2">
            <a:extLst>
              <a:ext uri="{FF2B5EF4-FFF2-40B4-BE49-F238E27FC236}">
                <a16:creationId xmlns:a16="http://schemas.microsoft.com/office/drawing/2014/main" id="{973ABB89-AE67-F418-9537-3E4AD139CA15}"/>
              </a:ext>
            </a:extLst>
          </p:cNvPr>
          <p:cNvSpPr>
            <a:spLocks noGrp="1"/>
          </p:cNvSpPr>
          <p:nvPr>
            <p:ph/>
          </p:nvPr>
        </p:nvSpPr>
        <p:spPr>
          <a:xfrm>
            <a:off x="514508" y="573352"/>
            <a:ext cx="8983012" cy="5283488"/>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269875" indent="-269875">
              <a:lnSpc>
                <a:spcPct val="100000"/>
              </a:lnSpc>
              <a:buClr>
                <a:srgbClr val="EA7600"/>
              </a:buClr>
              <a:buFont typeface="Calibri"/>
              <a:buChar char="•"/>
            </a:pPr>
            <a:r>
              <a:rPr lang="en-GB" sz="2000" spc="-1">
                <a:solidFill>
                  <a:srgbClr val="000000"/>
                </a:solidFill>
                <a:latin typeface="Arial"/>
                <a:cs typeface="Arial"/>
              </a:rPr>
              <a:t>1 CPU core is pinned to 1 GPU (used to be worse)</a:t>
            </a:r>
          </a:p>
          <a:p>
            <a:pPr marL="269875" indent="-269875">
              <a:lnSpc>
                <a:spcPct val="100000"/>
              </a:lnSpc>
              <a:buClr>
                <a:srgbClr val="EA7600"/>
              </a:buClr>
              <a:buFont typeface="Calibri"/>
              <a:buChar char="•"/>
            </a:pPr>
            <a:r>
              <a:rPr lang="en-GB" sz="2000" spc="-1">
                <a:solidFill>
                  <a:srgbClr val="000000"/>
                </a:solidFill>
                <a:latin typeface="Arial"/>
                <a:cs typeface="Arial"/>
              </a:rPr>
              <a:t>CPU cannot keep up with the giant that is the GPU</a:t>
            </a:r>
          </a:p>
          <a:p>
            <a:pPr marL="269875" indent="-269875">
              <a:lnSpc>
                <a:spcPct val="100000"/>
              </a:lnSpc>
              <a:buClr>
                <a:srgbClr val="EA7600"/>
              </a:buClr>
              <a:buFont typeface="Calibri"/>
              <a:buChar char="•"/>
            </a:pPr>
            <a:r>
              <a:rPr lang="en-GB" sz="2000" spc="-1">
                <a:solidFill>
                  <a:srgbClr val="000000"/>
                </a:solidFill>
                <a:latin typeface="Arial"/>
                <a:cs typeface="Arial"/>
              </a:rPr>
              <a:t>Still (somewhat) need to know the magic incantation:</a:t>
            </a:r>
          </a:p>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727075" lvl="1" indent="-269875">
              <a:lnSpc>
                <a:spcPct val="100000"/>
              </a:lnSpc>
              <a:buClr>
                <a:srgbClr val="EA7600"/>
              </a:buClr>
              <a:buFont typeface="Calibri"/>
              <a:buChar char="•"/>
            </a:pPr>
            <a:endParaRPr lang="en-GB" sz="16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a:extLst>
              <a:ext uri="{FF2B5EF4-FFF2-40B4-BE49-F238E27FC236}">
                <a16:creationId xmlns:a16="http://schemas.microsoft.com/office/drawing/2014/main" id="{12DABA9B-CCB1-D431-DD42-9D6B6224B82F}"/>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94</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B6632C83-094C-5C04-69E5-08FE6859F0C4}"/>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a:extLst>
              <a:ext uri="{FF2B5EF4-FFF2-40B4-BE49-F238E27FC236}">
                <a16:creationId xmlns:a16="http://schemas.microsoft.com/office/drawing/2014/main" id="{F5339C71-9DCB-B6A3-A5C6-15EA7C748C99}"/>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a:extLst>
              <a:ext uri="{FF2B5EF4-FFF2-40B4-BE49-F238E27FC236}">
                <a16:creationId xmlns:a16="http://schemas.microsoft.com/office/drawing/2014/main" id="{2BA35D25-606C-9ACF-E671-9CCFA6967C8E}"/>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a:extLst>
              <a:ext uri="{FF2B5EF4-FFF2-40B4-BE49-F238E27FC236}">
                <a16:creationId xmlns:a16="http://schemas.microsoft.com/office/drawing/2014/main" id="{D1DFEF66-4086-C994-2471-78C722A169D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a:extLst>
              <a:ext uri="{FF2B5EF4-FFF2-40B4-BE49-F238E27FC236}">
                <a16:creationId xmlns:a16="http://schemas.microsoft.com/office/drawing/2014/main" id="{29A4CB3A-3545-AA2A-0CBE-2D2EF42CA45D}"/>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2" name="Afbeelding 1" descr="Shadow of the Colossus review – a game of majesty and melancholy steps back  into the light | Games | The Guardian">
            <a:extLst>
              <a:ext uri="{FF2B5EF4-FFF2-40B4-BE49-F238E27FC236}">
                <a16:creationId xmlns:a16="http://schemas.microsoft.com/office/drawing/2014/main" id="{36BE5178-ADF3-6E3D-53CF-6D11E0C7427C}"/>
              </a:ext>
            </a:extLst>
          </p:cNvPr>
          <p:cNvPicPr>
            <a:picLocks noChangeAspect="1"/>
          </p:cNvPicPr>
          <p:nvPr/>
        </p:nvPicPr>
        <p:blipFill>
          <a:blip r:embed="rId3"/>
          <a:stretch>
            <a:fillRect/>
          </a:stretch>
        </p:blipFill>
        <p:spPr>
          <a:xfrm>
            <a:off x="7733951" y="88977"/>
            <a:ext cx="4083901" cy="3046606"/>
          </a:xfrm>
          <a:prstGeom prst="rect">
            <a:avLst/>
          </a:prstGeom>
        </p:spPr>
      </p:pic>
      <p:pic>
        <p:nvPicPr>
          <p:cNvPr id="6" name="Afbeelding 5" descr="factory">
            <a:extLst>
              <a:ext uri="{FF2B5EF4-FFF2-40B4-BE49-F238E27FC236}">
                <a16:creationId xmlns:a16="http://schemas.microsoft.com/office/drawing/2014/main" id="{BC1395AE-170C-7310-D60A-ED2FE1F3C13D}"/>
              </a:ext>
            </a:extLst>
          </p:cNvPr>
          <p:cNvPicPr>
            <a:picLocks noChangeAspect="1"/>
          </p:cNvPicPr>
          <p:nvPr/>
        </p:nvPicPr>
        <p:blipFill>
          <a:blip r:embed="rId4"/>
          <a:stretch>
            <a:fillRect/>
          </a:stretch>
        </p:blipFill>
        <p:spPr>
          <a:xfrm>
            <a:off x="3646449" y="3130431"/>
            <a:ext cx="4081345" cy="3626550"/>
          </a:xfrm>
          <a:prstGeom prst="rect">
            <a:avLst/>
          </a:prstGeom>
        </p:spPr>
      </p:pic>
      <p:pic>
        <p:nvPicPr>
          <p:cNvPr id="8" name="Afbeelding 7" descr="factory">
            <a:extLst>
              <a:ext uri="{FF2B5EF4-FFF2-40B4-BE49-F238E27FC236}">
                <a16:creationId xmlns:a16="http://schemas.microsoft.com/office/drawing/2014/main" id="{65D54FB2-1E98-C888-60EF-F4D97C9F77C9}"/>
              </a:ext>
            </a:extLst>
          </p:cNvPr>
          <p:cNvPicPr>
            <a:picLocks noChangeAspect="1"/>
          </p:cNvPicPr>
          <p:nvPr/>
        </p:nvPicPr>
        <p:blipFill>
          <a:blip r:embed="rId5"/>
          <a:stretch>
            <a:fillRect/>
          </a:stretch>
        </p:blipFill>
        <p:spPr>
          <a:xfrm>
            <a:off x="7735229" y="3127237"/>
            <a:ext cx="4016297" cy="3651525"/>
          </a:xfrm>
          <a:prstGeom prst="rect">
            <a:avLst/>
          </a:prstGeom>
        </p:spPr>
      </p:pic>
      <p:pic>
        <p:nvPicPr>
          <p:cNvPr id="9" name="Afbeelding 8" descr="chart">
            <a:extLst>
              <a:ext uri="{FF2B5EF4-FFF2-40B4-BE49-F238E27FC236}">
                <a16:creationId xmlns:a16="http://schemas.microsoft.com/office/drawing/2014/main" id="{886599FB-9B3F-B5AE-E63C-60C4CDC3DFC1}"/>
              </a:ext>
            </a:extLst>
          </p:cNvPr>
          <p:cNvPicPr>
            <a:picLocks noChangeAspect="1"/>
          </p:cNvPicPr>
          <p:nvPr/>
        </p:nvPicPr>
        <p:blipFill>
          <a:blip r:embed="rId6"/>
          <a:stretch>
            <a:fillRect/>
          </a:stretch>
        </p:blipFill>
        <p:spPr>
          <a:xfrm>
            <a:off x="3717" y="2981848"/>
            <a:ext cx="4248613" cy="3793620"/>
          </a:xfrm>
          <a:prstGeom prst="rect">
            <a:avLst/>
          </a:prstGeom>
        </p:spPr>
      </p:pic>
      <p:pic>
        <p:nvPicPr>
          <p:cNvPr id="10" name="Afbeelding 9" descr="Afbeelding met tekst, Lettertype, schermopname, lijn&#10;&#10;Automatisch gegenereerde beschrijving">
            <a:extLst>
              <a:ext uri="{FF2B5EF4-FFF2-40B4-BE49-F238E27FC236}">
                <a16:creationId xmlns:a16="http://schemas.microsoft.com/office/drawing/2014/main" id="{E264643D-5720-A308-98A1-FB5AF5BF09A0}"/>
              </a:ext>
            </a:extLst>
          </p:cNvPr>
          <p:cNvPicPr>
            <a:picLocks noChangeAspect="1"/>
          </p:cNvPicPr>
          <p:nvPr/>
        </p:nvPicPr>
        <p:blipFill>
          <a:blip r:embed="rId7"/>
          <a:stretch>
            <a:fillRect/>
          </a:stretch>
        </p:blipFill>
        <p:spPr>
          <a:xfrm>
            <a:off x="519693" y="2349075"/>
            <a:ext cx="8439150" cy="542925"/>
          </a:xfrm>
          <a:prstGeom prst="rect">
            <a:avLst/>
          </a:prstGeom>
        </p:spPr>
      </p:pic>
    </p:spTree>
    <p:extLst>
      <p:ext uri="{BB962C8B-B14F-4D97-AF65-F5344CB8AC3E}">
        <p14:creationId xmlns:p14="http://schemas.microsoft.com/office/powerpoint/2010/main" val="903503034"/>
      </p:ext>
    </p:extLst>
  </p:cSld>
  <p:clrMapOvr>
    <a:masterClrMapping/>
  </p:clrMapOvr>
  <p:transition spd="slow">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727075" lvl="1" indent="-269875">
              <a:lnSpc>
                <a:spcPct val="100000"/>
              </a:lnSpc>
              <a:buClr>
                <a:srgbClr val="EA7600"/>
              </a:buClr>
              <a:buFont typeface="Calibri"/>
              <a:buChar char="•"/>
            </a:pPr>
            <a:endParaRPr lang="en-GB" sz="16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95</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5" descr="Afbeelding met tafel&#10;&#10;Automatisch gegenereerde beschrijving">
            <a:extLst>
              <a:ext uri="{FF2B5EF4-FFF2-40B4-BE49-F238E27FC236}">
                <a16:creationId xmlns:a16="http://schemas.microsoft.com/office/drawing/2014/main" id="{6ED36146-42C7-C63F-037E-DE94E5DCC118}"/>
              </a:ext>
            </a:extLst>
          </p:cNvPr>
          <p:cNvPicPr>
            <a:picLocks noChangeAspect="1"/>
          </p:cNvPicPr>
          <p:nvPr/>
        </p:nvPicPr>
        <p:blipFill>
          <a:blip r:embed="rId3"/>
          <a:stretch>
            <a:fillRect/>
          </a:stretch>
        </p:blipFill>
        <p:spPr>
          <a:xfrm>
            <a:off x="98426" y="2340428"/>
            <a:ext cx="12093574" cy="4550664"/>
          </a:xfrm>
          <a:prstGeom prst="rect">
            <a:avLst/>
          </a:prstGeom>
        </p:spPr>
      </p:pic>
      <p:sp>
        <p:nvSpPr>
          <p:cNvPr id="6" name="PlaceHolder 2">
            <a:extLst>
              <a:ext uri="{FF2B5EF4-FFF2-40B4-BE49-F238E27FC236}">
                <a16:creationId xmlns:a16="http://schemas.microsoft.com/office/drawing/2014/main" id="{51F16950-2F07-C126-F203-E7E430A52827}"/>
              </a:ext>
            </a:extLst>
          </p:cNvPr>
          <p:cNvSpPr txBox="1">
            <a:spLocks/>
          </p:cNvSpPr>
          <p:nvPr/>
        </p:nvSpPr>
        <p:spPr>
          <a:xfrm>
            <a:off x="676200" y="1552800"/>
            <a:ext cx="8973720" cy="4456440"/>
          </a:xfrm>
          <a:prstGeom prst="rect">
            <a:avLst/>
          </a:prstGeom>
          <a:noFill/>
          <a:ln w="0">
            <a:noFill/>
          </a:ln>
        </p:spPr>
        <p:txBody>
          <a:bodyPr lIns="0" tIns="0" rIns="0" bIns="0" anchor="t">
            <a:noAutofit/>
          </a:bodyPr>
          <a:lst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a:lstStyle>
          <a:p>
            <a:pPr marL="269875" indent="-269875">
              <a:lnSpc>
                <a:spcPct val="100000"/>
              </a:lnSpc>
              <a:buClr>
                <a:srgbClr val="EA7600"/>
              </a:buClr>
              <a:buFont typeface="Calibri"/>
              <a:buChar char="•"/>
            </a:pPr>
            <a:r>
              <a:rPr lang="en-GB" sz="2000" spc="-1" dirty="0">
                <a:solidFill>
                  <a:srgbClr val="000000"/>
                </a:solidFill>
                <a:latin typeface="Arial"/>
                <a:cs typeface="Arial"/>
              </a:rPr>
              <a:t>Make sure every single layer/input/operation is done on multiples of 2, and probably preferable multiples of 8</a:t>
            </a:r>
          </a:p>
        </p:txBody>
      </p:sp>
    </p:spTree>
    <p:extLst>
      <p:ext uri="{BB962C8B-B14F-4D97-AF65-F5344CB8AC3E}">
        <p14:creationId xmlns:p14="http://schemas.microsoft.com/office/powerpoint/2010/main" val="1834884858"/>
      </p:ext>
    </p:extLst>
  </p:cSld>
  <p:clrMapOvr>
    <a:masterClrMapping/>
  </p:clrMapOvr>
  <p:transition spd="slow">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55CFE-EC98-50F3-AD05-C81CAB9E65F3}"/>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39349BF3-83D5-FB0E-327A-FA573765C5B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F45D0ECE-8521-D428-7DF2-73AA40096793}"/>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727075" lvl="1" indent="-269875">
              <a:lnSpc>
                <a:spcPct val="100000"/>
              </a:lnSpc>
              <a:buClr>
                <a:srgbClr val="EA7600"/>
              </a:buClr>
              <a:buFont typeface="Calibri"/>
              <a:buChar char="•"/>
            </a:pPr>
            <a:endParaRPr lang="en-GB" sz="16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a:extLst>
              <a:ext uri="{FF2B5EF4-FFF2-40B4-BE49-F238E27FC236}">
                <a16:creationId xmlns:a16="http://schemas.microsoft.com/office/drawing/2014/main" id="{33F34B05-DDFE-F6EE-129A-A11EF115FA43}"/>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96</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3AFEA02-7AF7-67B4-5B3B-DC6A092F12EA}"/>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9DCD77B1-410A-8866-50A7-F6FD57C37221}"/>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F6082525-B2F0-F179-BAE3-7F043041EB5B}"/>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9593888D-30B7-961D-4035-DD69B16FF9AE}"/>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AF103791-F395-859F-757D-4746D65B63B0}"/>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6" name="PlaceHolder 2">
            <a:extLst>
              <a:ext uri="{FF2B5EF4-FFF2-40B4-BE49-F238E27FC236}">
                <a16:creationId xmlns:a16="http://schemas.microsoft.com/office/drawing/2014/main" id="{061BFF25-EE3C-B424-FFF3-FADCAF5E6478}"/>
              </a:ext>
            </a:extLst>
          </p:cNvPr>
          <p:cNvSpPr txBox="1">
            <a:spLocks/>
          </p:cNvSpPr>
          <p:nvPr/>
        </p:nvSpPr>
        <p:spPr>
          <a:xfrm>
            <a:off x="676200" y="1552800"/>
            <a:ext cx="8973720" cy="4456440"/>
          </a:xfrm>
          <a:prstGeom prst="rect">
            <a:avLst/>
          </a:prstGeom>
          <a:noFill/>
          <a:ln w="0">
            <a:noFill/>
          </a:ln>
        </p:spPr>
        <p:txBody>
          <a:bodyPr lIns="0" tIns="0" rIns="0" bIns="0" anchor="t">
            <a:noAutofit/>
          </a:bodyPr>
          <a:lst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a:lstStyle>
          <a:p>
            <a:pPr marL="269875" indent="-269875">
              <a:lnSpc>
                <a:spcPct val="100000"/>
              </a:lnSpc>
              <a:buClr>
                <a:srgbClr val="EA7600"/>
              </a:buClr>
              <a:buFont typeface="Calibri"/>
              <a:buChar char="•"/>
            </a:pPr>
            <a:r>
              <a:rPr lang="en-GB" sz="2000" spc="-1" dirty="0">
                <a:solidFill>
                  <a:srgbClr val="000000"/>
                </a:solidFill>
                <a:latin typeface="Arial"/>
                <a:cs typeface="Arial"/>
              </a:rPr>
              <a:t>Make sure every single layer/input/operation is done on multiples of 2, and probably preferable multiples of 8</a:t>
            </a:r>
          </a:p>
        </p:txBody>
      </p:sp>
      <p:pic>
        <p:nvPicPr>
          <p:cNvPr id="8" name="Graphic 7">
            <a:extLst>
              <a:ext uri="{FF2B5EF4-FFF2-40B4-BE49-F238E27FC236}">
                <a16:creationId xmlns:a16="http://schemas.microsoft.com/office/drawing/2014/main" id="{D32323A4-127B-39D4-98FE-E3EFCECA58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336478"/>
            <a:ext cx="12270090" cy="3778472"/>
          </a:xfrm>
          <a:prstGeom prst="rect">
            <a:avLst/>
          </a:prstGeom>
        </p:spPr>
      </p:pic>
    </p:spTree>
    <p:extLst>
      <p:ext uri="{BB962C8B-B14F-4D97-AF65-F5344CB8AC3E}">
        <p14:creationId xmlns:p14="http://schemas.microsoft.com/office/powerpoint/2010/main" val="295156466"/>
      </p:ext>
    </p:extLst>
  </p:cSld>
  <p:clrMapOvr>
    <a:masterClrMapping/>
  </p:clrMapOvr>
  <p:transition spd="slow">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3E404-6D2C-1D60-1408-92A39E01C6C6}"/>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E0031383-D852-7545-9692-C1C508F2C14F}"/>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8A739DF4-58B9-57C9-E708-FEBEEF8574D3}"/>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Avoid CPU-GPU sync</a:t>
            </a:r>
          </a:p>
          <a:p>
            <a:pPr marL="0" indent="0">
              <a:lnSpc>
                <a:spcPct val="100000"/>
              </a:lnSpc>
              <a:buClr>
                <a:srgbClr val="EA7600"/>
              </a:buClr>
              <a:buNone/>
            </a:pPr>
            <a:r>
              <a:rPr lang="en-GB" sz="1600" spc="-1" dirty="0">
                <a:solidFill>
                  <a:srgbClr val="000000"/>
                </a:solidFill>
                <a:latin typeface="Arial"/>
                <a:cs typeface="Arial"/>
              </a:rPr>
              <a:t>Create tensors directly on the device</a:t>
            </a:r>
          </a:p>
          <a:p>
            <a:pPr marL="0" indent="0">
              <a:lnSpc>
                <a:spcPct val="100000"/>
              </a:lnSpc>
              <a:buClr>
                <a:srgbClr val="EA7600"/>
              </a:buClr>
              <a:buNone/>
            </a:pPr>
            <a:br>
              <a:rPr lang="en-GB" sz="1200" spc="-1" dirty="0">
                <a:solidFill>
                  <a:srgbClr val="000000"/>
                </a:solidFill>
                <a:latin typeface="Arial"/>
                <a:cs typeface="Arial"/>
              </a:rPr>
            </a:br>
            <a:endParaRPr lang="en-GB" sz="12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C1092067-89A1-0876-000E-FB1FE369E9F9}"/>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97</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BF1FD4F1-E1A5-4243-62DB-A1FC6F3516D5}"/>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EEE1D38C-0D75-83A5-6958-2BBB9D345094}"/>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FE813371-2B12-85FC-F76C-5653839D61E5}"/>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C8C90004-E7EE-46FA-88D6-1C9D47EA943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44487F0D-80CA-B4B7-69F1-0CC43A416D55}"/>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5">
            <a:extLst>
              <a:ext uri="{FF2B5EF4-FFF2-40B4-BE49-F238E27FC236}">
                <a16:creationId xmlns:a16="http://schemas.microsoft.com/office/drawing/2014/main" id="{2C016500-D03F-0FAD-317F-933A968A580D}"/>
              </a:ext>
            </a:extLst>
          </p:cNvPr>
          <p:cNvPicPr>
            <a:picLocks noChangeAspect="1"/>
          </p:cNvPicPr>
          <p:nvPr/>
        </p:nvPicPr>
        <p:blipFill>
          <a:blip r:embed="rId3"/>
          <a:srcRect t="50066"/>
          <a:stretch/>
        </p:blipFill>
        <p:spPr>
          <a:xfrm>
            <a:off x="330426" y="5278945"/>
            <a:ext cx="8236941" cy="1456231"/>
          </a:xfrm>
          <a:prstGeom prst="rect">
            <a:avLst/>
          </a:prstGeom>
        </p:spPr>
      </p:pic>
      <p:sp>
        <p:nvSpPr>
          <p:cNvPr id="7" name="TextBox 6">
            <a:extLst>
              <a:ext uri="{FF2B5EF4-FFF2-40B4-BE49-F238E27FC236}">
                <a16:creationId xmlns:a16="http://schemas.microsoft.com/office/drawing/2014/main" id="{2438F1A5-AF4A-D438-5FBA-24858DAAA101}"/>
              </a:ext>
            </a:extLst>
          </p:cNvPr>
          <p:cNvSpPr txBox="1"/>
          <p:nvPr/>
        </p:nvSpPr>
        <p:spPr>
          <a:xfrm>
            <a:off x="6534670" y="2782474"/>
            <a:ext cx="824089" cy="369332"/>
          </a:xfrm>
          <a:prstGeom prst="rect">
            <a:avLst/>
          </a:prstGeom>
          <a:noFill/>
        </p:spPr>
        <p:txBody>
          <a:bodyPr wrap="square">
            <a:spAutoFit/>
          </a:bodyPr>
          <a:lstStyle/>
          <a:p>
            <a:r>
              <a:rPr lang="en-NL" dirty="0"/>
              <a:t>✅ </a:t>
            </a:r>
          </a:p>
        </p:txBody>
      </p:sp>
      <p:pic>
        <p:nvPicPr>
          <p:cNvPr id="3" name="Picture 2" descr="Bad idea / Good idea Meme Generator - Imgflip">
            <a:extLst>
              <a:ext uri="{FF2B5EF4-FFF2-40B4-BE49-F238E27FC236}">
                <a16:creationId xmlns:a16="http://schemas.microsoft.com/office/drawing/2014/main" id="{AD1D36D8-1DC4-D760-DD69-505BBE258F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19" b="2017"/>
          <a:stretch/>
        </p:blipFill>
        <p:spPr bwMode="auto">
          <a:xfrm>
            <a:off x="4721995" y="952034"/>
            <a:ext cx="6396726" cy="49272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close up of a word&#10;&#10;AI-generated content may be incorrect.">
            <a:extLst>
              <a:ext uri="{FF2B5EF4-FFF2-40B4-BE49-F238E27FC236}">
                <a16:creationId xmlns:a16="http://schemas.microsoft.com/office/drawing/2014/main" id="{7E1DC08D-C0CC-BBAD-6E81-6092D839C2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5288" y="1977701"/>
            <a:ext cx="2838632" cy="785902"/>
          </a:xfrm>
          <a:prstGeom prst="rect">
            <a:avLst/>
          </a:prstGeom>
        </p:spPr>
      </p:pic>
      <p:pic>
        <p:nvPicPr>
          <p:cNvPr id="9" name="Picture 8" descr="A computer code with text&#10;&#10;AI-generated content may be incorrect.">
            <a:extLst>
              <a:ext uri="{FF2B5EF4-FFF2-40B4-BE49-F238E27FC236}">
                <a16:creationId xmlns:a16="http://schemas.microsoft.com/office/drawing/2014/main" id="{EAABF550-4A33-BDFC-4D38-6DC677962D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57399" y="4189176"/>
            <a:ext cx="3667947" cy="1326934"/>
          </a:xfrm>
          <a:prstGeom prst="rect">
            <a:avLst/>
          </a:prstGeom>
        </p:spPr>
      </p:pic>
    </p:spTree>
    <p:extLst>
      <p:ext uri="{BB962C8B-B14F-4D97-AF65-F5344CB8AC3E}">
        <p14:creationId xmlns:p14="http://schemas.microsoft.com/office/powerpoint/2010/main" val="4036647468"/>
      </p:ext>
    </p:extLst>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27BF4-AC7E-D76A-B2C3-A3497E5B5B29}"/>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B8440FBE-9F59-47A0-96AA-FFCBE708B1B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001AD3E8-A9ED-AE26-A525-E901E9397EF9}"/>
              </a:ext>
            </a:extLst>
          </p:cNvPr>
          <p:cNvSpPr>
            <a:spLocks noGrp="1"/>
          </p:cNvSpPr>
          <p:nvPr>
            <p:ph/>
          </p:nvPr>
        </p:nvSpPr>
        <p:spPr>
          <a:xfrm>
            <a:off x="492556" y="1143604"/>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dirty="0">
              <a:solidFill>
                <a:srgbClr val="000000"/>
              </a:solidFill>
              <a:latin typeface="Arial" panose="020B0604020202020204" pitchFamily="34" charset="0"/>
              <a:cs typeface="Arial" panose="020B0604020202020204" pitchFamily="34" charset="0"/>
            </a:endParaRPr>
          </a:p>
          <a:p>
            <a:pPr marL="269875" indent="-269875">
              <a:lnSpc>
                <a:spcPct val="100000"/>
              </a:lnSpc>
              <a:buClr>
                <a:srgbClr val="EA7600"/>
              </a:buClr>
              <a:buFont typeface="Calibri"/>
              <a:buChar char="•"/>
            </a:pPr>
            <a:r>
              <a:rPr lang="en-GB" sz="2000" dirty="0">
                <a:latin typeface="Arial" panose="020B0604020202020204" pitchFamily="34" charset="0"/>
                <a:cs typeface="Arial" panose="020B0604020202020204" pitchFamily="34" charset="0"/>
              </a:rPr>
              <a:t>Avoid doing these inside a training loop if possible:</a:t>
            </a:r>
            <a:br>
              <a:rPr lang="en-GB" sz="2000" spc="-1" dirty="0">
                <a:solidFill>
                  <a:srgbClr val="000000"/>
                </a:solidFill>
                <a:latin typeface="Arial" panose="020B0604020202020204" pitchFamily="34" charset="0"/>
                <a:cs typeface="Arial" panose="020B0604020202020204" pitchFamily="34" charset="0"/>
              </a:rPr>
            </a:br>
            <a:endParaRPr lang="en-GB" sz="2000" spc="-1" dirty="0">
              <a:solidFill>
                <a:srgbClr val="000000"/>
              </a:solidFill>
              <a:latin typeface="Arial" panose="020B0604020202020204" pitchFamily="34" charset="0"/>
              <a:cs typeface="Arial" panose="020B0604020202020204" pitchFamily="34" charset="0"/>
            </a:endParaRPr>
          </a:p>
          <a:p>
            <a:pPr marL="727075" lvl="1" indent="-269875">
              <a:lnSpc>
                <a:spcPct val="100000"/>
              </a:lnSpc>
              <a:buClr>
                <a:srgbClr val="EA7600"/>
              </a:buClr>
              <a:buFont typeface="Calibri"/>
              <a:buChar char="•"/>
            </a:pPr>
            <a:endParaRPr lang="en-GB" sz="2000" spc="-1" dirty="0">
              <a:solidFill>
                <a:srgbClr val="000000"/>
              </a:solidFill>
              <a:latin typeface="Arial" panose="020B0604020202020204" pitchFamily="34" charset="0"/>
              <a:cs typeface="Arial" panose="020B0604020202020204" pitchFamily="34" charset="0"/>
            </a:endParaRPr>
          </a:p>
          <a:p>
            <a:pPr marL="269875" indent="-269875">
              <a:lnSpc>
                <a:spcPct val="100000"/>
              </a:lnSpc>
              <a:buClr>
                <a:srgbClr val="EA7600"/>
              </a:buClr>
              <a:buFont typeface="Calibri"/>
              <a:buChar char="•"/>
            </a:pPr>
            <a:endParaRPr lang="en-GB" sz="2000" spc="-1" dirty="0">
              <a:solidFill>
                <a:srgbClr val="000000"/>
              </a:solidFill>
              <a:latin typeface="Arial" panose="020B0604020202020204" pitchFamily="34" charset="0"/>
              <a:cs typeface="Arial" panose="020B0604020202020204" pitchFamily="34" charset="0"/>
            </a:endParaRPr>
          </a:p>
        </p:txBody>
      </p:sp>
      <p:sp>
        <p:nvSpPr>
          <p:cNvPr id="940" name="PlaceHolder 3">
            <a:extLst>
              <a:ext uri="{FF2B5EF4-FFF2-40B4-BE49-F238E27FC236}">
                <a16:creationId xmlns:a16="http://schemas.microsoft.com/office/drawing/2014/main" id="{F0F06E18-B143-B140-2DE2-21C69E7D7FD6}"/>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98</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FF2A9145-947B-A5A1-6587-31A8A43C1090}"/>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C4F3A042-9B02-4E5C-CFB1-A62828A289B1}"/>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9BB8F131-225A-3CE8-5C6D-BF9CCB92F543}"/>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31FABE60-D209-2885-1B01-1FF31248256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2F536526-60EF-2247-F21F-8954EA4EA66E}"/>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6" name="Afbeelding 7" descr="Afbeelding met tekst&#10;&#10;Automatisch gegenereerde beschrijving">
            <a:extLst>
              <a:ext uri="{FF2B5EF4-FFF2-40B4-BE49-F238E27FC236}">
                <a16:creationId xmlns:a16="http://schemas.microsoft.com/office/drawing/2014/main" id="{3665F321-F656-9ACA-A354-CC4F1982B89B}"/>
              </a:ext>
            </a:extLst>
          </p:cNvPr>
          <p:cNvPicPr>
            <a:picLocks noChangeAspect="1"/>
          </p:cNvPicPr>
          <p:nvPr/>
        </p:nvPicPr>
        <p:blipFill>
          <a:blip r:embed="rId3"/>
          <a:stretch>
            <a:fillRect/>
          </a:stretch>
        </p:blipFill>
        <p:spPr>
          <a:xfrm>
            <a:off x="1506840" y="2349875"/>
            <a:ext cx="9957647" cy="3629930"/>
          </a:xfrm>
          <a:prstGeom prst="rect">
            <a:avLst/>
          </a:prstGeom>
        </p:spPr>
      </p:pic>
      <p:sp>
        <p:nvSpPr>
          <p:cNvPr id="8" name="TextBox 7">
            <a:extLst>
              <a:ext uri="{FF2B5EF4-FFF2-40B4-BE49-F238E27FC236}">
                <a16:creationId xmlns:a16="http://schemas.microsoft.com/office/drawing/2014/main" id="{67E42DC7-D802-CBF9-F94F-55A7E22DDA79}"/>
              </a:ext>
            </a:extLst>
          </p:cNvPr>
          <p:cNvSpPr txBox="1"/>
          <p:nvPr/>
        </p:nvSpPr>
        <p:spPr>
          <a:xfrm>
            <a:off x="5959040" y="5958023"/>
            <a:ext cx="6108788"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This forces </a:t>
            </a:r>
            <a:r>
              <a:rPr lang="en-GB" sz="1400" dirty="0" err="1"/>
              <a:t>PyTorch</a:t>
            </a:r>
            <a:r>
              <a:rPr lang="en-GB" sz="1400" dirty="0"/>
              <a:t> to copy data from GPU to CPU, slowing performance.</a:t>
            </a:r>
            <a:endParaRPr lang="en-NL" sz="1400" dirty="0"/>
          </a:p>
        </p:txBody>
      </p:sp>
      <p:cxnSp>
        <p:nvCxnSpPr>
          <p:cNvPr id="9" name="Straight Arrow Connector 8">
            <a:extLst>
              <a:ext uri="{FF2B5EF4-FFF2-40B4-BE49-F238E27FC236}">
                <a16:creationId xmlns:a16="http://schemas.microsoft.com/office/drawing/2014/main" id="{3E2C645D-FE97-9FB5-EE2D-BF1CED8780DD}"/>
              </a:ext>
            </a:extLst>
          </p:cNvPr>
          <p:cNvCxnSpPr>
            <a:cxnSpLocks/>
          </p:cNvCxnSpPr>
          <p:nvPr/>
        </p:nvCxnSpPr>
        <p:spPr>
          <a:xfrm flipH="1" flipV="1">
            <a:off x="5582667" y="5681618"/>
            <a:ext cx="376373" cy="386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1786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4EB0F-4762-D3D4-E6FA-B45118A6AD06}"/>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CEB8A7D4-4C82-9CAD-FACC-631318CA2995}"/>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F22EC75F-C9B9-CBD9-BC69-92B031D6790F}"/>
              </a:ext>
            </a:extLst>
          </p:cNvPr>
          <p:cNvSpPr>
            <a:spLocks noGrp="1"/>
          </p:cNvSpPr>
          <p:nvPr>
            <p:ph/>
          </p:nvPr>
        </p:nvSpPr>
        <p:spPr>
          <a:xfrm>
            <a:off x="516240" y="1077715"/>
            <a:ext cx="8973720" cy="4456440"/>
          </a:xfrm>
          <a:prstGeom prst="rect">
            <a:avLst/>
          </a:prstGeom>
          <a:noFill/>
          <a:ln w="0">
            <a:noFill/>
          </a:ln>
        </p:spPr>
        <p:txBody>
          <a:bodyPr lIns="0" tIns="0" rIns="0" bIns="0" anchor="t">
            <a:noAutofit/>
          </a:bodyPr>
          <a:lstStyle/>
          <a:p>
            <a:pPr marL="0" indent="0">
              <a:lnSpc>
                <a:spcPct val="100000"/>
              </a:lnSpc>
              <a:buClr>
                <a:srgbClr val="EA7600"/>
              </a:buClr>
              <a:buNone/>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Don't aggregate tensors which still require grad, e.g.:</a:t>
            </a:r>
            <a:br>
              <a:rPr lang="en-GB" sz="2000" spc="-1" dirty="0">
                <a:solidFill>
                  <a:srgbClr val="000000"/>
                </a:solidFill>
                <a:latin typeface="Arial"/>
                <a:cs typeface="Arial"/>
              </a:rPr>
            </a:br>
            <a:r>
              <a:rPr lang="en-GB" sz="2000" spc="-1" dirty="0" err="1">
                <a:solidFill>
                  <a:srgbClr val="000000"/>
                </a:solidFill>
                <a:latin typeface="Arial"/>
                <a:cs typeface="Arial"/>
              </a:rPr>
              <a:t>losses.append</a:t>
            </a:r>
            <a:r>
              <a:rPr lang="en-GB" sz="2000" spc="-1" dirty="0">
                <a:solidFill>
                  <a:srgbClr val="000000"/>
                </a:solidFill>
                <a:latin typeface="Arial"/>
                <a:cs typeface="Arial"/>
              </a:rPr>
              <a:t>(loss) (:o)</a:t>
            </a:r>
          </a:p>
          <a:p>
            <a:pPr marL="727075" lvl="1" indent="-269875">
              <a:lnSpc>
                <a:spcPct val="100000"/>
              </a:lnSpc>
              <a:buClr>
                <a:srgbClr val="EA7600"/>
              </a:buClr>
              <a:buFont typeface="Calibri"/>
              <a:buChar char="•"/>
            </a:pPr>
            <a:r>
              <a:rPr lang="en-GB" sz="1600" spc="-1" dirty="0">
                <a:solidFill>
                  <a:srgbClr val="000000"/>
                </a:solidFill>
                <a:latin typeface="Arial"/>
                <a:cs typeface="Arial"/>
              </a:rPr>
              <a:t>instead, detach (</a:t>
            </a:r>
            <a:r>
              <a:rPr lang="en-GB" sz="1600" spc="-1" dirty="0" err="1">
                <a:solidFill>
                  <a:srgbClr val="000000"/>
                </a:solidFill>
                <a:latin typeface="Arial"/>
                <a:cs typeface="Arial"/>
              </a:rPr>
              <a:t>loss.detach</a:t>
            </a:r>
            <a:r>
              <a:rPr lang="en-GB" sz="1600" spc="-1" dirty="0">
                <a:solidFill>
                  <a:srgbClr val="000000"/>
                </a:solidFill>
                <a:latin typeface="Arial"/>
                <a:cs typeface="Arial"/>
              </a:rPr>
              <a:t>())</a:t>
            </a:r>
            <a:br>
              <a:rPr lang="en-GB" sz="1200" spc="-1" dirty="0">
                <a:solidFill>
                  <a:srgbClr val="000000"/>
                </a:solidFill>
                <a:latin typeface="Arial"/>
                <a:cs typeface="Arial"/>
              </a:rPr>
            </a:br>
            <a:endParaRPr lang="en-GB" sz="12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9E64FFD8-7A8F-4AAC-8AE5-0206F164F11B}"/>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99</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0B41BAD-F64C-92FF-309A-39821E7538A3}"/>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1E57614D-54A8-6512-7DF2-75151651F4EA}"/>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3C844159-507E-42F0-ED94-E93DFBC15A72}"/>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DB0DF2F7-D8C3-EE37-D0FA-460AC922C50F}"/>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D879B570-FCC3-7A5D-7EDD-E482F9F651A9}"/>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11" name="Picture 10" descr="A screenshot of a computer&#10;&#10;AI-generated content may be incorrect.">
            <a:extLst>
              <a:ext uri="{FF2B5EF4-FFF2-40B4-BE49-F238E27FC236}">
                <a16:creationId xmlns:a16="http://schemas.microsoft.com/office/drawing/2014/main" id="{884F66AB-924C-886D-F532-91B3737CF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302" y="2961885"/>
            <a:ext cx="10396448" cy="2818400"/>
          </a:xfrm>
          <a:prstGeom prst="rect">
            <a:avLst/>
          </a:prstGeom>
        </p:spPr>
      </p:pic>
      <p:sp>
        <p:nvSpPr>
          <p:cNvPr id="12" name="TextBox 11">
            <a:extLst>
              <a:ext uri="{FF2B5EF4-FFF2-40B4-BE49-F238E27FC236}">
                <a16:creationId xmlns:a16="http://schemas.microsoft.com/office/drawing/2014/main" id="{C35FECB6-E925-759A-CD2E-2ACF173BA65B}"/>
              </a:ext>
            </a:extLst>
          </p:cNvPr>
          <p:cNvSpPr txBox="1"/>
          <p:nvPr/>
        </p:nvSpPr>
        <p:spPr>
          <a:xfrm>
            <a:off x="5841040" y="2357201"/>
            <a:ext cx="5905582"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Each loss in </a:t>
            </a:r>
            <a:r>
              <a:rPr lang="en-GB" sz="1400" dirty="0" err="1"/>
              <a:t>losses.append</a:t>
            </a:r>
            <a:r>
              <a:rPr lang="en-GB" sz="1400" dirty="0"/>
              <a:t>(loss) stores the entire computation graph. </a:t>
            </a:r>
            <a:r>
              <a:rPr lang="en-GB" sz="1400" dirty="0" err="1"/>
              <a:t>PyTorch</a:t>
            </a:r>
            <a:r>
              <a:rPr lang="en-GB" sz="1400" dirty="0"/>
              <a:t> stores extra gradients unnecessarily!</a:t>
            </a:r>
            <a:endParaRPr lang="en-NL" sz="1400" dirty="0"/>
          </a:p>
        </p:txBody>
      </p:sp>
      <p:cxnSp>
        <p:nvCxnSpPr>
          <p:cNvPr id="13" name="Straight Arrow Connector 12">
            <a:extLst>
              <a:ext uri="{FF2B5EF4-FFF2-40B4-BE49-F238E27FC236}">
                <a16:creationId xmlns:a16="http://schemas.microsoft.com/office/drawing/2014/main" id="{6C40444A-307D-D510-BC5D-E4480127966D}"/>
              </a:ext>
            </a:extLst>
          </p:cNvPr>
          <p:cNvCxnSpPr>
            <a:cxnSpLocks/>
          </p:cNvCxnSpPr>
          <p:nvPr/>
        </p:nvCxnSpPr>
        <p:spPr>
          <a:xfrm flipH="1">
            <a:off x="3736623" y="2779732"/>
            <a:ext cx="2104417" cy="1871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570640C-1920-2812-A703-B4573D3103AE}"/>
              </a:ext>
            </a:extLst>
          </p:cNvPr>
          <p:cNvSpPr txBox="1"/>
          <p:nvPr/>
        </p:nvSpPr>
        <p:spPr>
          <a:xfrm>
            <a:off x="5226504" y="5962438"/>
            <a:ext cx="5003796"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detach() creates a new tensor with the same values but removes the gradient tracking.</a:t>
            </a:r>
            <a:endParaRPr lang="en-NL" sz="1400" dirty="0"/>
          </a:p>
        </p:txBody>
      </p:sp>
      <p:cxnSp>
        <p:nvCxnSpPr>
          <p:cNvPr id="3" name="Straight Arrow Connector 2">
            <a:extLst>
              <a:ext uri="{FF2B5EF4-FFF2-40B4-BE49-F238E27FC236}">
                <a16:creationId xmlns:a16="http://schemas.microsoft.com/office/drawing/2014/main" id="{6E105AB7-1210-5AB6-9B19-31E24F9DBB49}"/>
              </a:ext>
            </a:extLst>
          </p:cNvPr>
          <p:cNvCxnSpPr>
            <a:cxnSpLocks/>
          </p:cNvCxnSpPr>
          <p:nvPr/>
        </p:nvCxnSpPr>
        <p:spPr>
          <a:xfrm flipH="1" flipV="1">
            <a:off x="4357512" y="5557064"/>
            <a:ext cx="868992" cy="561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373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p:cNvSpPr>
            <a:spLocks noGrp="1"/>
          </p:cNvSpPr>
          <p:nvPr>
            <p:ph/>
          </p:nvPr>
        </p:nvSpPr>
        <p:spPr>
          <a:xfrm>
            <a:off x="516240" y="968581"/>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Arial"/>
                <a:cs typeface="Arial"/>
              </a:rPr>
              <a:t>torch.backends.cuda.matmul.allow_tf32 = True</a:t>
            </a:r>
            <a:endParaRPr lang="nl-NL" dirty="0"/>
          </a:p>
          <a:p>
            <a:pPr marL="727075" lvl="1">
              <a:lnSpc>
                <a:spcPct val="100000"/>
              </a:lnSpc>
              <a:buClr>
                <a:srgbClr val="EA7600"/>
              </a:buClr>
              <a:buFont typeface="Calibri"/>
              <a:buChar char="•"/>
            </a:pPr>
            <a:r>
              <a:rPr lang="en-GB" sz="1600" spc="-1" dirty="0">
                <a:solidFill>
                  <a:srgbClr val="000000"/>
                </a:solidFill>
                <a:latin typeface="Arial"/>
                <a:cs typeface="Arial"/>
              </a:rPr>
              <a:t>The default in </a:t>
            </a:r>
            <a:r>
              <a:rPr lang="en-GB" sz="1600" spc="-1" dirty="0" err="1">
                <a:solidFill>
                  <a:srgbClr val="000000"/>
                </a:solidFill>
                <a:latin typeface="Arial"/>
                <a:cs typeface="Arial"/>
              </a:rPr>
              <a:t>PyTorch</a:t>
            </a:r>
            <a:r>
              <a:rPr lang="en-GB" sz="1600" spc="-1" dirty="0">
                <a:solidFill>
                  <a:srgbClr val="000000"/>
                </a:solidFill>
                <a:latin typeface="Arial"/>
                <a:cs typeface="Arial"/>
              </a:rPr>
              <a:t> (silently)</a:t>
            </a:r>
          </a:p>
          <a:p>
            <a:pPr marL="269875">
              <a:lnSpc>
                <a:spcPct val="100000"/>
              </a:lnSpc>
              <a:buClr>
                <a:srgbClr val="EA7600"/>
              </a:buClr>
              <a:buFont typeface="Calibri"/>
              <a:buChar char="•"/>
            </a:pPr>
            <a:r>
              <a:rPr lang="en-GB" sz="2000" spc="-1" dirty="0">
                <a:solidFill>
                  <a:srgbClr val="000000"/>
                </a:solidFill>
                <a:latin typeface="Arial"/>
                <a:cs typeface="Arial"/>
              </a:rPr>
              <a:t>torch.set_float32_matmul_precision('high')</a:t>
            </a:r>
          </a:p>
          <a:p>
            <a:pPr marL="269875" indent="-269875">
              <a:lnSpc>
                <a:spcPct val="100000"/>
              </a:lnSpc>
              <a:buClr>
                <a:srgbClr val="EA7600"/>
              </a:buClr>
              <a:buFont typeface="Calibri"/>
              <a:buChar char="•"/>
            </a:pPr>
            <a:r>
              <a:rPr lang="en-GB" sz="2000" spc="-1" dirty="0" err="1">
                <a:solidFill>
                  <a:srgbClr val="000000"/>
                </a:solidFill>
                <a:latin typeface="Arial"/>
                <a:cs typeface="Arial"/>
              </a:rPr>
              <a:t>torch.backends.cudnn.benchmark</a:t>
            </a:r>
            <a:r>
              <a:rPr lang="en-GB" sz="2000" spc="-1" dirty="0">
                <a:solidFill>
                  <a:srgbClr val="000000"/>
                </a:solidFill>
                <a:latin typeface="Arial"/>
                <a:cs typeface="Arial"/>
              </a:rPr>
              <a:t> = True</a:t>
            </a:r>
          </a:p>
          <a:p>
            <a:pPr marL="727075" lvl="1" indent="-269875">
              <a:lnSpc>
                <a:spcPct val="100000"/>
              </a:lnSpc>
              <a:buClr>
                <a:srgbClr val="EA7600"/>
              </a:buClr>
              <a:buFont typeface="Calibri"/>
              <a:buChar char="•"/>
            </a:pPr>
            <a:r>
              <a:rPr lang="en-GB" sz="1600" spc="-1" dirty="0">
                <a:solidFill>
                  <a:srgbClr val="000000"/>
                </a:solidFill>
                <a:latin typeface="Arial"/>
                <a:cs typeface="Arial"/>
              </a:rPr>
              <a:t>Empirically benchmarks to find fastest method</a:t>
            </a:r>
          </a:p>
          <a:p>
            <a:pPr marL="269875" indent="-269875">
              <a:lnSpc>
                <a:spcPct val="100000"/>
              </a:lnSpc>
              <a:buClr>
                <a:srgbClr val="EA7600"/>
              </a:buClr>
              <a:buFont typeface="Calibri"/>
              <a:buChar char="•"/>
            </a:pPr>
            <a:r>
              <a:rPr lang="en-GB" sz="2000" spc="-1" dirty="0">
                <a:solidFill>
                  <a:srgbClr val="000000"/>
                </a:solidFill>
                <a:latin typeface="Arial"/>
                <a:cs typeface="Arial"/>
              </a:rPr>
              <a:t>Align bytes: multiples of 2, 8, 1024</a:t>
            </a:r>
          </a:p>
          <a:p>
            <a:pPr marL="727075" lvl="1">
              <a:lnSpc>
                <a:spcPct val="100000"/>
              </a:lnSpc>
              <a:buClr>
                <a:srgbClr val="EA7600"/>
              </a:buClr>
              <a:buFont typeface="Calibri"/>
              <a:buChar char="•"/>
            </a:pPr>
            <a:r>
              <a:rPr lang="en-GB" sz="1600" spc="-1" dirty="0">
                <a:solidFill>
                  <a:srgbClr val="000000"/>
                </a:solidFill>
                <a:latin typeface="Arial"/>
                <a:cs typeface="Arial"/>
              </a:rPr>
              <a:t>DNN libraries want nicely aligned memory</a:t>
            </a:r>
          </a:p>
          <a:p>
            <a:pPr marL="269875" indent="-269875">
              <a:lnSpc>
                <a:spcPct val="100000"/>
              </a:lnSpc>
              <a:buClr>
                <a:srgbClr val="EA7600"/>
              </a:buClr>
              <a:buFont typeface="Calibri"/>
              <a:buChar char="•"/>
            </a:pPr>
            <a:r>
              <a:rPr lang="en-GB" sz="2000" spc="-1" dirty="0" err="1">
                <a:solidFill>
                  <a:srgbClr val="000000"/>
                </a:solidFill>
                <a:latin typeface="Arial"/>
                <a:cs typeface="Arial"/>
              </a:rPr>
              <a:t>torch.channels_last</a:t>
            </a:r>
            <a:r>
              <a:rPr lang="en-GB" sz="2000" spc="-1" dirty="0">
                <a:solidFill>
                  <a:srgbClr val="000000"/>
                </a:solidFill>
                <a:latin typeface="Arial"/>
                <a:cs typeface="Arial"/>
              </a:rPr>
              <a:t> </a:t>
            </a:r>
          </a:p>
          <a:p>
            <a:pPr marL="727075" lvl="1" indent="-269875">
              <a:lnSpc>
                <a:spcPct val="100000"/>
              </a:lnSpc>
              <a:buClr>
                <a:srgbClr val="EA7600"/>
              </a:buClr>
              <a:buFont typeface="Calibri"/>
              <a:buChar char="•"/>
            </a:pPr>
            <a:r>
              <a:rPr lang="en-GB" sz="1600" spc="-1" dirty="0">
                <a:solidFill>
                  <a:srgbClr val="000000"/>
                </a:solidFill>
                <a:latin typeface="Arial"/>
                <a:cs typeface="Arial"/>
              </a:rPr>
              <a:t>Helps with memory alignment and reduces cache misses</a:t>
            </a:r>
          </a:p>
          <a:p>
            <a:pPr marL="269875" indent="-269875">
              <a:lnSpc>
                <a:spcPct val="100000"/>
              </a:lnSpc>
              <a:buClr>
                <a:srgbClr val="EA7600"/>
              </a:buClr>
              <a:buFont typeface="Calibri"/>
              <a:buChar char="•"/>
            </a:pPr>
            <a:r>
              <a:rPr lang="en-GB" sz="2000" spc="-1" dirty="0">
                <a:solidFill>
                  <a:srgbClr val="000000"/>
                </a:solidFill>
                <a:latin typeface="Arial"/>
                <a:cs typeface="Arial"/>
              </a:rPr>
              <a:t>Compile: </a:t>
            </a:r>
            <a:r>
              <a:rPr lang="en-GB" sz="2000" spc="-1" dirty="0" err="1">
                <a:solidFill>
                  <a:srgbClr val="000000"/>
                </a:solidFill>
                <a:latin typeface="Arial"/>
                <a:cs typeface="Arial"/>
              </a:rPr>
              <a:t>PyTorch</a:t>
            </a:r>
            <a:r>
              <a:rPr lang="en-GB" sz="2000" spc="-1" dirty="0">
                <a:solidFill>
                  <a:srgbClr val="000000"/>
                </a:solidFill>
                <a:latin typeface="Arial"/>
                <a:cs typeface="Arial"/>
              </a:rPr>
              <a:t> 2.0</a:t>
            </a:r>
          </a:p>
          <a:p>
            <a:pPr marL="727075" lvl="1" indent="-269875">
              <a:lnSpc>
                <a:spcPct val="100000"/>
              </a:lnSpc>
              <a:buClr>
                <a:srgbClr val="EA7600"/>
              </a:buClr>
              <a:buFont typeface="Calibri"/>
              <a:buChar char="•"/>
            </a:pPr>
            <a:r>
              <a:rPr lang="en-GB" sz="1600" spc="-1" dirty="0">
                <a:solidFill>
                  <a:srgbClr val="000000"/>
                </a:solidFill>
                <a:latin typeface="Arial"/>
                <a:cs typeface="Arial"/>
              </a:rPr>
              <a:t>Big speedup, but sensitive to implementation</a:t>
            </a: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100</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6" name="Picture 5">
            <a:extLst>
              <a:ext uri="{FF2B5EF4-FFF2-40B4-BE49-F238E27FC236}">
                <a16:creationId xmlns:a16="http://schemas.microsoft.com/office/drawing/2014/main" id="{651BF109-1D74-7BC9-A96F-E3A56F33C44A}"/>
              </a:ext>
            </a:extLst>
          </p:cNvPr>
          <p:cNvPicPr>
            <a:picLocks noChangeAspect="1"/>
          </p:cNvPicPr>
          <p:nvPr/>
        </p:nvPicPr>
        <p:blipFill>
          <a:blip r:embed="rId3"/>
          <a:stretch>
            <a:fillRect/>
          </a:stretch>
        </p:blipFill>
        <p:spPr>
          <a:xfrm>
            <a:off x="358370" y="5174106"/>
            <a:ext cx="4597400" cy="1066800"/>
          </a:xfrm>
          <a:prstGeom prst="rect">
            <a:avLst/>
          </a:prstGeom>
        </p:spPr>
      </p:pic>
      <p:pic>
        <p:nvPicPr>
          <p:cNvPr id="8" name="Picture 7">
            <a:extLst>
              <a:ext uri="{FF2B5EF4-FFF2-40B4-BE49-F238E27FC236}">
                <a16:creationId xmlns:a16="http://schemas.microsoft.com/office/drawing/2014/main" id="{72497DAF-6847-9965-9E0A-FB7D7E05C686}"/>
              </a:ext>
            </a:extLst>
          </p:cNvPr>
          <p:cNvPicPr>
            <a:picLocks noChangeAspect="1"/>
          </p:cNvPicPr>
          <p:nvPr/>
        </p:nvPicPr>
        <p:blipFill>
          <a:blip r:embed="rId4"/>
          <a:stretch>
            <a:fillRect/>
          </a:stretch>
        </p:blipFill>
        <p:spPr>
          <a:xfrm>
            <a:off x="5000240" y="5174106"/>
            <a:ext cx="4775200" cy="1079500"/>
          </a:xfrm>
          <a:prstGeom prst="rect">
            <a:avLst/>
          </a:prstGeom>
        </p:spPr>
      </p:pic>
      <p:pic>
        <p:nvPicPr>
          <p:cNvPr id="10" name="Picture 9">
            <a:extLst>
              <a:ext uri="{FF2B5EF4-FFF2-40B4-BE49-F238E27FC236}">
                <a16:creationId xmlns:a16="http://schemas.microsoft.com/office/drawing/2014/main" id="{264EAEBA-6F9A-2C80-E4BE-5F8FA06FDA6F}"/>
              </a:ext>
            </a:extLst>
          </p:cNvPr>
          <p:cNvPicPr>
            <a:picLocks noChangeAspect="1"/>
          </p:cNvPicPr>
          <p:nvPr/>
        </p:nvPicPr>
        <p:blipFill>
          <a:blip r:embed="rId5"/>
          <a:stretch>
            <a:fillRect/>
          </a:stretch>
        </p:blipFill>
        <p:spPr>
          <a:xfrm>
            <a:off x="1193760" y="6270886"/>
            <a:ext cx="7772400" cy="512090"/>
          </a:xfrm>
          <a:prstGeom prst="rect">
            <a:avLst/>
          </a:prstGeom>
        </p:spPr>
      </p:pic>
      <p:sp>
        <p:nvSpPr>
          <p:cNvPr id="4" name="TextBox 3">
            <a:extLst>
              <a:ext uri="{FF2B5EF4-FFF2-40B4-BE49-F238E27FC236}">
                <a16:creationId xmlns:a16="http://schemas.microsoft.com/office/drawing/2014/main" id="{E207CE38-F6FC-BACE-E58B-D86C540F3B67}"/>
              </a:ext>
            </a:extLst>
          </p:cNvPr>
          <p:cNvSpPr txBox="1"/>
          <p:nvPr/>
        </p:nvSpPr>
        <p:spPr>
          <a:xfrm>
            <a:off x="7138700" y="872640"/>
            <a:ext cx="4471419" cy="400110"/>
          </a:xfrm>
          <a:prstGeom prst="rect">
            <a:avLst/>
          </a:prstGeom>
          <a:solidFill>
            <a:schemeClr val="bg1"/>
          </a:solidFill>
          <a:ln>
            <a:solidFill>
              <a:schemeClr val="tx1"/>
            </a:solidFill>
          </a:ln>
        </p:spPr>
        <p:txBody>
          <a:bodyPr wrap="square" lIns="182880" tIns="91440" rIns="182880" bIns="91440" rtlCol="0">
            <a:spAutoFit/>
          </a:bodyPr>
          <a:lstStyle/>
          <a:p>
            <a:r>
              <a:rPr lang="en-GB" sz="1400" dirty="0">
                <a:solidFill>
                  <a:srgbClr val="172B4D"/>
                </a:solidFill>
                <a:latin typeface="Arial" panose="020B0604020202020204" pitchFamily="34" charset="0"/>
                <a:cs typeface="Arial" panose="020B0604020202020204" pitchFamily="34" charset="0"/>
              </a:rPr>
              <a:t>There is little reason </a:t>
            </a:r>
            <a:r>
              <a:rPr lang="en-GB" sz="1400" i="1" dirty="0">
                <a:solidFill>
                  <a:srgbClr val="172B4D"/>
                </a:solidFill>
                <a:latin typeface="Arial" panose="020B0604020202020204" pitchFamily="34" charset="0"/>
                <a:cs typeface="Arial" panose="020B0604020202020204" pitchFamily="34" charset="0"/>
              </a:rPr>
              <a:t>not</a:t>
            </a:r>
            <a:r>
              <a:rPr lang="en-GB" sz="1400" dirty="0">
                <a:solidFill>
                  <a:srgbClr val="172B4D"/>
                </a:solidFill>
                <a:latin typeface="Arial" panose="020B0604020202020204" pitchFamily="34" charset="0"/>
                <a:cs typeface="Arial" panose="020B0604020202020204" pitchFamily="34" charset="0"/>
              </a:rPr>
              <a:t> to use TensorFloat32 </a:t>
            </a:r>
            <a:r>
              <a:rPr lang="en-GB" sz="1400" dirty="0">
                <a:solidFill>
                  <a:srgbClr val="172B4D"/>
                </a:solidFill>
                <a:latin typeface="Arial" panose="020B0604020202020204" pitchFamily="34" charset="0"/>
                <a:cs typeface="Arial" panose="020B0604020202020204" pitchFamily="34" charset="0"/>
                <a:sym typeface="Wingdings" pitchFamily="2" charset="2"/>
              </a:rPr>
              <a:t></a:t>
            </a:r>
            <a:endParaRPr lang="en-NL" sz="1400" dirty="0">
              <a:latin typeface="Arial" panose="020B0604020202020204" pitchFamily="34" charset="0"/>
              <a:cs typeface="Arial" panose="020B0604020202020204" pitchFamily="34" charset="0"/>
            </a:endParaRPr>
          </a:p>
        </p:txBody>
      </p:sp>
      <p:cxnSp>
        <p:nvCxnSpPr>
          <p:cNvPr id="5" name="Straight Arrow Connector 4">
            <a:extLst>
              <a:ext uri="{FF2B5EF4-FFF2-40B4-BE49-F238E27FC236}">
                <a16:creationId xmlns:a16="http://schemas.microsoft.com/office/drawing/2014/main" id="{681D5802-F904-12C9-3B5B-E7FD8958958B}"/>
              </a:ext>
            </a:extLst>
          </p:cNvPr>
          <p:cNvCxnSpPr>
            <a:cxnSpLocks/>
            <a:stCxn id="4" idx="1"/>
          </p:cNvCxnSpPr>
          <p:nvPr/>
        </p:nvCxnSpPr>
        <p:spPr>
          <a:xfrm flipH="1">
            <a:off x="6096000" y="1072695"/>
            <a:ext cx="1042700" cy="54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EC3AC53-F74A-B814-27FE-C87489A7D069}"/>
              </a:ext>
            </a:extLst>
          </p:cNvPr>
          <p:cNvSpPr txBox="1"/>
          <p:nvPr/>
        </p:nvSpPr>
        <p:spPr>
          <a:xfrm>
            <a:off x="6722650" y="1576942"/>
            <a:ext cx="4953110"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Helps maintain accuracy in cases where TF32 might introduce minor errors</a:t>
            </a:r>
            <a:endParaRPr lang="en-NL" sz="1400" dirty="0"/>
          </a:p>
        </p:txBody>
      </p:sp>
      <p:cxnSp>
        <p:nvCxnSpPr>
          <p:cNvPr id="12" name="Straight Arrow Connector 11">
            <a:extLst>
              <a:ext uri="{FF2B5EF4-FFF2-40B4-BE49-F238E27FC236}">
                <a16:creationId xmlns:a16="http://schemas.microsoft.com/office/drawing/2014/main" id="{03AC30D4-29D1-FC65-B112-423CAD7272E7}"/>
              </a:ext>
            </a:extLst>
          </p:cNvPr>
          <p:cNvCxnSpPr>
            <a:cxnSpLocks/>
            <a:stCxn id="11" idx="1"/>
          </p:cNvCxnSpPr>
          <p:nvPr/>
        </p:nvCxnSpPr>
        <p:spPr>
          <a:xfrm flipH="1" flipV="1">
            <a:off x="5679949" y="1831910"/>
            <a:ext cx="1042701" cy="52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6C147F-3C92-1672-0D5C-8A774CD567A1}"/>
              </a:ext>
            </a:extLst>
          </p:cNvPr>
          <p:cNvSpPr txBox="1"/>
          <p:nvPr/>
        </p:nvSpPr>
        <p:spPr>
          <a:xfrm>
            <a:off x="7488595" y="3460538"/>
            <a:ext cx="4573690"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Stores images in NHWC format instead of NCHW (optimizes GPU cache usage)</a:t>
            </a:r>
            <a:endParaRPr lang="en-NL" sz="1400" dirty="0"/>
          </a:p>
        </p:txBody>
      </p:sp>
      <p:cxnSp>
        <p:nvCxnSpPr>
          <p:cNvPr id="18" name="Straight Arrow Connector 17">
            <a:extLst>
              <a:ext uri="{FF2B5EF4-FFF2-40B4-BE49-F238E27FC236}">
                <a16:creationId xmlns:a16="http://schemas.microsoft.com/office/drawing/2014/main" id="{4228055A-EAFC-E574-AA7B-E6305B9128C3}"/>
              </a:ext>
            </a:extLst>
          </p:cNvPr>
          <p:cNvCxnSpPr>
            <a:cxnSpLocks/>
          </p:cNvCxnSpPr>
          <p:nvPr/>
        </p:nvCxnSpPr>
        <p:spPr>
          <a:xfrm flipH="1">
            <a:off x="3285067" y="3772407"/>
            <a:ext cx="4218358" cy="38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2334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rPr>
              <a:t>Level 2: Danger zone</a:t>
            </a:r>
            <a:endParaRPr lang="nl-NL" dirty="0"/>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ea typeface="+mn-lt"/>
                <a:cs typeface="+mn-lt"/>
              </a:rPr>
              <a:t>torch.backends.cuda.matmul.allow_fp16_reduced_precision_reduction = True</a:t>
            </a:r>
            <a:endParaRPr lang="en-GB" sz="2000" spc="-1" dirty="0">
              <a:solidFill>
                <a:srgbClr val="000000"/>
              </a:solidFill>
              <a:latin typeface="Arial"/>
              <a:cs typeface="Arial"/>
            </a:endParaRPr>
          </a:p>
          <a:p>
            <a:pPr marL="269875">
              <a:lnSpc>
                <a:spcPct val="100000"/>
              </a:lnSpc>
              <a:buClr>
                <a:srgbClr val="EA7600"/>
              </a:buClr>
              <a:buFont typeface="Calibri,Sans-Serif"/>
              <a:buChar char="•"/>
            </a:pPr>
            <a:r>
              <a:rPr lang="en-GB" sz="2000" spc="-1" dirty="0">
                <a:solidFill>
                  <a:srgbClr val="000000"/>
                </a:solidFill>
                <a:latin typeface="Arial"/>
                <a:cs typeface="Arial"/>
              </a:rPr>
              <a:t>Lol:</a:t>
            </a:r>
          </a:p>
          <a:p>
            <a:pPr marL="269875">
              <a:lnSpc>
                <a:spcPct val="100000"/>
              </a:lnSpc>
              <a:buClr>
                <a:srgbClr val="EA7600"/>
              </a:buClr>
              <a:buFont typeface="Calibri,Sans-Serif"/>
              <a:buChar char="•"/>
            </a:pPr>
            <a:r>
              <a:rPr lang="en-GB" sz="2000" spc="-1" dirty="0">
                <a:ea typeface="+mn-lt"/>
                <a:cs typeface="+mn-lt"/>
              </a:rPr>
              <a:t>torch.backends.cuda.matmul.allow_bf16_reduced_precision_reduction = True</a:t>
            </a:r>
            <a:endParaRPr lang="en-GB" sz="2000" spc="-1" dirty="0">
              <a:solidFill>
                <a:srgbClr val="000000"/>
              </a:solidFill>
              <a:latin typeface="Arial"/>
              <a:cs typeface="Arial"/>
            </a:endParaRPr>
          </a:p>
          <a:p>
            <a:pPr marL="269875">
              <a:lnSpc>
                <a:spcPct val="100000"/>
              </a:lnSpc>
              <a:buClr>
                <a:srgbClr val="EA7600"/>
              </a:buClr>
              <a:buFont typeface="Calibri,Sans-Serif"/>
              <a:buChar char="•"/>
            </a:pPr>
            <a:endParaRPr lang="en-GB" sz="2000" spc="-1" dirty="0">
              <a:solidFill>
                <a:srgbClr val="000000"/>
              </a:solidFill>
              <a:latin typeface="Arial"/>
              <a:cs typeface="Arial"/>
            </a:endParaRPr>
          </a:p>
          <a:p>
            <a:pPr marL="269875">
              <a:lnSpc>
                <a:spcPct val="100000"/>
              </a:lnSpc>
              <a:buClr>
                <a:srgbClr val="EA7600"/>
              </a:buClr>
              <a:buFont typeface="Calibri,Sans-Serif"/>
              <a:buChar char="•"/>
            </a:pPr>
            <a:r>
              <a:rPr lang="en-GB" sz="2000" spc="-1" dirty="0">
                <a:solidFill>
                  <a:srgbClr val="000000"/>
                </a:solidFill>
                <a:latin typeface="Arial"/>
                <a:cs typeface="Arial"/>
              </a:rPr>
              <a:t>Torch.set_float32_matmul_precision('medium')</a:t>
            </a:r>
            <a:endParaRPr lang="en-US"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Cast model and data to (B)Float16 before the forward pass</a:t>
            </a:r>
          </a:p>
          <a:p>
            <a:pPr marL="727075" lvl="1" indent="-269875">
              <a:lnSpc>
                <a:spcPct val="100000"/>
              </a:lnSpc>
              <a:buClr>
                <a:srgbClr val="EA7600"/>
              </a:buClr>
              <a:buFont typeface="Calibri"/>
              <a:buChar char="•"/>
            </a:pPr>
            <a:r>
              <a:rPr lang="en-GB" sz="1600" spc="-1" dirty="0">
                <a:solidFill>
                  <a:srgbClr val="000000"/>
                </a:solidFill>
                <a:latin typeface="Arial"/>
                <a:cs typeface="Arial"/>
              </a:rPr>
              <a:t>We're not supposed to...but:</a:t>
            </a: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101</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tekst&#10;&#10;Automatisch gegenereerde beschrijving">
            <a:extLst>
              <a:ext uri="{FF2B5EF4-FFF2-40B4-BE49-F238E27FC236}">
                <a16:creationId xmlns:a16="http://schemas.microsoft.com/office/drawing/2014/main" id="{763B3421-2C79-FBA0-BDB3-57F0833F0919}"/>
              </a:ext>
            </a:extLst>
          </p:cNvPr>
          <p:cNvPicPr>
            <a:picLocks noChangeAspect="1"/>
          </p:cNvPicPr>
          <p:nvPr/>
        </p:nvPicPr>
        <p:blipFill>
          <a:blip r:embed="rId3"/>
          <a:stretch>
            <a:fillRect/>
          </a:stretch>
        </p:blipFill>
        <p:spPr>
          <a:xfrm>
            <a:off x="1342353" y="1753948"/>
            <a:ext cx="7996159" cy="572938"/>
          </a:xfrm>
          <a:prstGeom prst="rect">
            <a:avLst/>
          </a:prstGeom>
        </p:spPr>
      </p:pic>
      <p:pic>
        <p:nvPicPr>
          <p:cNvPr id="7" name="Afbeelding 7" descr="Afbeelding met tekst&#10;&#10;Automatisch gegenereerde beschrijving">
            <a:extLst>
              <a:ext uri="{FF2B5EF4-FFF2-40B4-BE49-F238E27FC236}">
                <a16:creationId xmlns:a16="http://schemas.microsoft.com/office/drawing/2014/main" id="{E158E068-2DF5-27FF-640F-13B0CDA1FE39}"/>
              </a:ext>
            </a:extLst>
          </p:cNvPr>
          <p:cNvPicPr>
            <a:picLocks noChangeAspect="1"/>
          </p:cNvPicPr>
          <p:nvPr/>
        </p:nvPicPr>
        <p:blipFill>
          <a:blip r:embed="rId4"/>
          <a:stretch>
            <a:fillRect/>
          </a:stretch>
        </p:blipFill>
        <p:spPr>
          <a:xfrm>
            <a:off x="2640455" y="4419158"/>
            <a:ext cx="1478492" cy="1965442"/>
          </a:xfrm>
          <a:prstGeom prst="rect">
            <a:avLst/>
          </a:prstGeom>
        </p:spPr>
      </p:pic>
      <p:sp>
        <p:nvSpPr>
          <p:cNvPr id="5" name="TextBox 4">
            <a:extLst>
              <a:ext uri="{FF2B5EF4-FFF2-40B4-BE49-F238E27FC236}">
                <a16:creationId xmlns:a16="http://schemas.microsoft.com/office/drawing/2014/main" id="{68DCE398-D0F1-470F-102E-9ECF169A517A}"/>
              </a:ext>
            </a:extLst>
          </p:cNvPr>
          <p:cNvSpPr txBox="1"/>
          <p:nvPr/>
        </p:nvSpPr>
        <p:spPr>
          <a:xfrm>
            <a:off x="5959039" y="219409"/>
            <a:ext cx="6108788"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Lower precision (FP16 or BF16) for matrix reductions instead of higher precision (FP32, advised). Can cause numerical instability!</a:t>
            </a:r>
            <a:endParaRPr lang="en-NL" sz="1400" dirty="0"/>
          </a:p>
        </p:txBody>
      </p:sp>
      <p:cxnSp>
        <p:nvCxnSpPr>
          <p:cNvPr id="6" name="Straight Arrow Connector 5">
            <a:extLst>
              <a:ext uri="{FF2B5EF4-FFF2-40B4-BE49-F238E27FC236}">
                <a16:creationId xmlns:a16="http://schemas.microsoft.com/office/drawing/2014/main" id="{FDE6B202-43CB-8B21-B8D5-2F886CF5CDE2}"/>
              </a:ext>
            </a:extLst>
          </p:cNvPr>
          <p:cNvCxnSpPr>
            <a:cxnSpLocks/>
          </p:cNvCxnSpPr>
          <p:nvPr/>
        </p:nvCxnSpPr>
        <p:spPr>
          <a:xfrm flipH="1">
            <a:off x="9561689" y="827153"/>
            <a:ext cx="876708" cy="58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B3E4A6E-5B33-B6FA-0FA9-F0F4C826281A}"/>
              </a:ext>
            </a:extLst>
          </p:cNvPr>
          <p:cNvCxnSpPr>
            <a:cxnSpLocks/>
          </p:cNvCxnSpPr>
          <p:nvPr/>
        </p:nvCxnSpPr>
        <p:spPr>
          <a:xfrm flipH="1">
            <a:off x="9537209" y="852519"/>
            <a:ext cx="901188" cy="1329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CD84707-DAE4-7FED-FC14-80907AAC9923}"/>
              </a:ext>
            </a:extLst>
          </p:cNvPr>
          <p:cNvSpPr txBox="1"/>
          <p:nvPr/>
        </p:nvSpPr>
        <p:spPr>
          <a:xfrm>
            <a:off x="6046652" y="2741726"/>
            <a:ext cx="6108788" cy="400110"/>
          </a:xfrm>
          <a:prstGeom prst="rect">
            <a:avLst/>
          </a:prstGeom>
          <a:solidFill>
            <a:schemeClr val="bg1"/>
          </a:solidFill>
          <a:ln>
            <a:solidFill>
              <a:schemeClr val="tx1"/>
            </a:solidFill>
          </a:ln>
        </p:spPr>
        <p:txBody>
          <a:bodyPr wrap="square" lIns="182880" tIns="91440" rIns="182880" bIns="91440" rtlCol="0">
            <a:spAutoFit/>
          </a:bodyPr>
          <a:lstStyle/>
          <a:p>
            <a:r>
              <a:rPr lang="en-GB" sz="1400" dirty="0"/>
              <a:t>trades some accuracy for faster compute. Can affect model convergence</a:t>
            </a:r>
            <a:endParaRPr lang="en-NL" sz="1400" dirty="0"/>
          </a:p>
        </p:txBody>
      </p:sp>
      <p:cxnSp>
        <p:nvCxnSpPr>
          <p:cNvPr id="16" name="Straight Arrow Connector 15">
            <a:extLst>
              <a:ext uri="{FF2B5EF4-FFF2-40B4-BE49-F238E27FC236}">
                <a16:creationId xmlns:a16="http://schemas.microsoft.com/office/drawing/2014/main" id="{E739EF1B-0CB4-8359-003F-754C9DB9BC53}"/>
              </a:ext>
            </a:extLst>
          </p:cNvPr>
          <p:cNvCxnSpPr>
            <a:cxnSpLocks/>
            <a:stCxn id="15" idx="1"/>
          </p:cNvCxnSpPr>
          <p:nvPr/>
        </p:nvCxnSpPr>
        <p:spPr>
          <a:xfrm flipH="1">
            <a:off x="5678311" y="2941781"/>
            <a:ext cx="368341" cy="200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648EA7E-5615-BF4A-2835-B66B24EC57FE}"/>
              </a:ext>
            </a:extLst>
          </p:cNvPr>
          <p:cNvSpPr txBox="1"/>
          <p:nvPr/>
        </p:nvSpPr>
        <p:spPr>
          <a:xfrm>
            <a:off x="6522374" y="4999996"/>
            <a:ext cx="5510849"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Forces all computations to use lower precision, instead of letting </a:t>
            </a:r>
            <a:r>
              <a:rPr lang="en-GB" sz="1400" dirty="0" err="1"/>
              <a:t>autocast</a:t>
            </a:r>
            <a:r>
              <a:rPr lang="en-GB" sz="1400" dirty="0"/>
              <a:t>() to choose </a:t>
            </a:r>
            <a:endParaRPr lang="en-NL" sz="1400" dirty="0"/>
          </a:p>
        </p:txBody>
      </p:sp>
      <p:cxnSp>
        <p:nvCxnSpPr>
          <p:cNvPr id="23" name="Straight Arrow Connector 22">
            <a:extLst>
              <a:ext uri="{FF2B5EF4-FFF2-40B4-BE49-F238E27FC236}">
                <a16:creationId xmlns:a16="http://schemas.microsoft.com/office/drawing/2014/main" id="{2E41E917-D780-01AB-E3ED-30437B114D6C}"/>
              </a:ext>
            </a:extLst>
          </p:cNvPr>
          <p:cNvCxnSpPr>
            <a:cxnSpLocks/>
          </p:cNvCxnSpPr>
          <p:nvPr/>
        </p:nvCxnSpPr>
        <p:spPr>
          <a:xfrm flipH="1" flipV="1">
            <a:off x="5678311" y="3910829"/>
            <a:ext cx="1207911" cy="1089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4204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22"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latin typeface="Calibri"/>
              </a:rPr>
              <a:t>Or: Change your model</a:t>
            </a:r>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727075" lvl="1" indent="-269875">
              <a:lnSpc>
                <a:spcPct val="100000"/>
              </a:lnSpc>
              <a:buClr>
                <a:srgbClr val="EA7600"/>
              </a:buClr>
              <a:buFont typeface="Calibri"/>
              <a:buChar char="•"/>
            </a:pPr>
            <a:r>
              <a:rPr lang="en-GB" sz="1600" spc="-1">
                <a:solidFill>
                  <a:srgbClr val="000000"/>
                </a:solidFill>
                <a:latin typeface="Arial"/>
                <a:cs typeface="Arial"/>
              </a:rPr>
              <a:t>Worst case scenario:</a:t>
            </a:r>
          </a:p>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102</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7" name="Afbeelding 7" descr="Afbeelding met tekst&#10;&#10;Automatisch gegenereerde beschrijving">
            <a:extLst>
              <a:ext uri="{FF2B5EF4-FFF2-40B4-BE49-F238E27FC236}">
                <a16:creationId xmlns:a16="http://schemas.microsoft.com/office/drawing/2014/main" id="{E158E068-2DF5-27FF-640F-13B0CDA1FE39}"/>
              </a:ext>
            </a:extLst>
          </p:cNvPr>
          <p:cNvPicPr>
            <a:picLocks noChangeAspect="1"/>
          </p:cNvPicPr>
          <p:nvPr/>
        </p:nvPicPr>
        <p:blipFill>
          <a:blip r:embed="rId3"/>
          <a:stretch>
            <a:fillRect/>
          </a:stretch>
        </p:blipFill>
        <p:spPr>
          <a:xfrm>
            <a:off x="9963150" y="234950"/>
            <a:ext cx="1330325" cy="1768475"/>
          </a:xfrm>
          <a:prstGeom prst="rect">
            <a:avLst/>
          </a:prstGeom>
        </p:spPr>
      </p:pic>
      <p:pic>
        <p:nvPicPr>
          <p:cNvPr id="3" name="Afbeelding 3">
            <a:extLst>
              <a:ext uri="{FF2B5EF4-FFF2-40B4-BE49-F238E27FC236}">
                <a16:creationId xmlns:a16="http://schemas.microsoft.com/office/drawing/2014/main" id="{60664DDD-B0AA-0BAC-77E4-652D5830DF32}"/>
              </a:ext>
            </a:extLst>
          </p:cNvPr>
          <p:cNvPicPr>
            <a:picLocks noChangeAspect="1"/>
          </p:cNvPicPr>
          <p:nvPr/>
        </p:nvPicPr>
        <p:blipFill>
          <a:blip r:embed="rId4"/>
          <a:stretch>
            <a:fillRect/>
          </a:stretch>
        </p:blipFill>
        <p:spPr>
          <a:xfrm>
            <a:off x="1587" y="2022455"/>
            <a:ext cx="12165013" cy="1701838"/>
          </a:xfrm>
          <a:prstGeom prst="rect">
            <a:avLst/>
          </a:prstGeom>
        </p:spPr>
      </p:pic>
      <p:pic>
        <p:nvPicPr>
          <p:cNvPr id="4" name="Afbeelding 4">
            <a:extLst>
              <a:ext uri="{FF2B5EF4-FFF2-40B4-BE49-F238E27FC236}">
                <a16:creationId xmlns:a16="http://schemas.microsoft.com/office/drawing/2014/main" id="{21FFE97D-BE6E-9AAC-991D-03EC0468880B}"/>
              </a:ext>
            </a:extLst>
          </p:cNvPr>
          <p:cNvPicPr>
            <a:picLocks noChangeAspect="1"/>
          </p:cNvPicPr>
          <p:nvPr/>
        </p:nvPicPr>
        <p:blipFill>
          <a:blip r:embed="rId5"/>
          <a:stretch>
            <a:fillRect/>
          </a:stretch>
        </p:blipFill>
        <p:spPr>
          <a:xfrm>
            <a:off x="2986088" y="3161692"/>
            <a:ext cx="8902699" cy="3487365"/>
          </a:xfrm>
          <a:prstGeom prst="rect">
            <a:avLst/>
          </a:prstGeom>
        </p:spPr>
      </p:pic>
    </p:spTree>
    <p:extLst>
      <p:ext uri="{BB962C8B-B14F-4D97-AF65-F5344CB8AC3E}">
        <p14:creationId xmlns:p14="http://schemas.microsoft.com/office/powerpoint/2010/main" val="3145568654"/>
      </p:ext>
    </p:extLst>
  </p:cSld>
  <p:clrMapOvr>
    <a:masterClrMapping/>
  </p:clrMapOvr>
  <p:transition spd="slow">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5716F-DE4D-7677-D20C-465CA7ABC1EE}"/>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81F951FC-A7FF-FB15-2895-9180D45DDF3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latin typeface="Calibri"/>
              </a:rPr>
              <a:t>Or: Change your model</a:t>
            </a:r>
          </a:p>
        </p:txBody>
      </p:sp>
      <p:sp>
        <p:nvSpPr>
          <p:cNvPr id="939" name="PlaceHolder 2">
            <a:extLst>
              <a:ext uri="{FF2B5EF4-FFF2-40B4-BE49-F238E27FC236}">
                <a16:creationId xmlns:a16="http://schemas.microsoft.com/office/drawing/2014/main" id="{84C2000A-EF03-1431-79EF-07ECDD3575AD}"/>
              </a:ext>
            </a:extLst>
          </p:cNvPr>
          <p:cNvSpPr>
            <a:spLocks noGrp="1"/>
          </p:cNvSpPr>
          <p:nvPr>
            <p:ph/>
          </p:nvPr>
        </p:nvSpPr>
        <p:spPr>
          <a:xfrm>
            <a:off x="512437" y="970926"/>
            <a:ext cx="11130323"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1100" spc="-1" dirty="0">
                <a:solidFill>
                  <a:srgbClr val="000000"/>
                </a:solidFill>
                <a:latin typeface="Arial"/>
                <a:cs typeface="Arial"/>
              </a:rPr>
              <a:t>Change model architecture to improve performance characteristics, e.g.:</a:t>
            </a:r>
          </a:p>
          <a:p>
            <a:pPr marL="727075" lvl="1" indent="-269875">
              <a:lnSpc>
                <a:spcPct val="100000"/>
              </a:lnSpc>
              <a:buClr>
                <a:srgbClr val="EA7600"/>
              </a:buClr>
              <a:buFont typeface="Calibri"/>
              <a:buChar char="•"/>
            </a:pPr>
            <a:r>
              <a:rPr lang="en-GB" sz="1100" spc="-1" dirty="0">
                <a:solidFill>
                  <a:srgbClr val="000000"/>
                </a:solidFill>
                <a:latin typeface="Arial"/>
                <a:cs typeface="Arial"/>
              </a:rPr>
              <a:t>Use </a:t>
            </a:r>
            <a:r>
              <a:rPr lang="en-GB" sz="1100" spc="-1" dirty="0" err="1">
                <a:solidFill>
                  <a:srgbClr val="000000"/>
                </a:solidFill>
                <a:latin typeface="Arial"/>
                <a:cs typeface="Arial"/>
              </a:rPr>
              <a:t>LoRA</a:t>
            </a:r>
            <a:r>
              <a:rPr lang="en-GB" sz="1100" spc="-1" dirty="0">
                <a:solidFill>
                  <a:srgbClr val="000000"/>
                </a:solidFill>
                <a:latin typeface="Arial"/>
                <a:cs typeface="Arial"/>
              </a:rPr>
              <a:t> for fine-tuning</a:t>
            </a:r>
          </a:p>
          <a:p>
            <a:pPr marL="727075" lvl="1" indent="-269875">
              <a:lnSpc>
                <a:spcPct val="100000"/>
              </a:lnSpc>
              <a:buClr>
                <a:srgbClr val="EA7600"/>
              </a:buClr>
              <a:buFont typeface="Calibri"/>
              <a:buChar char="•"/>
            </a:pPr>
            <a:r>
              <a:rPr lang="en-GB" sz="1100" spc="-1" dirty="0">
                <a:solidFill>
                  <a:srgbClr val="000000"/>
                </a:solidFill>
                <a:latin typeface="Arial"/>
                <a:cs typeface="Arial"/>
              </a:rPr>
              <a:t>Use pre-trained model aka zero shot (@train VAE for latent space creation or use pre-trained model)</a:t>
            </a:r>
          </a:p>
          <a:p>
            <a:pPr marL="1184275" lvl="2" indent="-269875">
              <a:lnSpc>
                <a:spcPct val="100000"/>
              </a:lnSpc>
              <a:buClr>
                <a:srgbClr val="EA7600"/>
              </a:buClr>
              <a:buFont typeface="Calibri"/>
              <a:buChar char="•"/>
            </a:pPr>
            <a:r>
              <a:rPr lang="en-GB" sz="1100" spc="-1" dirty="0">
                <a:solidFill>
                  <a:srgbClr val="000000"/>
                </a:solidFill>
                <a:latin typeface="Arial"/>
                <a:cs typeface="Arial"/>
              </a:rPr>
              <a:t>E.g. Llama, DINOv2</a:t>
            </a:r>
          </a:p>
          <a:p>
            <a:pPr marL="727075" lvl="1" indent="-269875">
              <a:lnSpc>
                <a:spcPct val="100000"/>
              </a:lnSpc>
              <a:buClr>
                <a:srgbClr val="EA7600"/>
              </a:buClr>
              <a:buFont typeface="Calibri"/>
              <a:buChar char="•"/>
            </a:pPr>
            <a:r>
              <a:rPr lang="en-GB" sz="1100" spc="-1" dirty="0">
                <a:solidFill>
                  <a:srgbClr val="000000"/>
                </a:solidFill>
                <a:latin typeface="Arial"/>
                <a:cs typeface="Arial"/>
              </a:rPr>
              <a:t>Incorporate </a:t>
            </a:r>
            <a:r>
              <a:rPr lang="en-GB" sz="1100" spc="-1" dirty="0" err="1">
                <a:solidFill>
                  <a:srgbClr val="000000"/>
                </a:solidFill>
                <a:latin typeface="Arial"/>
                <a:cs typeface="Arial"/>
              </a:rPr>
              <a:t>dataloading</a:t>
            </a:r>
            <a:r>
              <a:rPr lang="en-GB" sz="1100" spc="-1" dirty="0">
                <a:solidFill>
                  <a:srgbClr val="000000"/>
                </a:solidFill>
                <a:latin typeface="Arial"/>
                <a:cs typeface="Arial"/>
              </a:rPr>
              <a:t> operations into the model instead of CPU pipeline</a:t>
            </a:r>
          </a:p>
          <a:p>
            <a:pPr marL="727075" lvl="1" indent="-269875">
              <a:lnSpc>
                <a:spcPct val="100000"/>
              </a:lnSpc>
              <a:buClr>
                <a:srgbClr val="EA7600"/>
              </a:buClr>
              <a:buFont typeface="Calibri"/>
              <a:buChar char="•"/>
            </a:pPr>
            <a:r>
              <a:rPr lang="en-GB" sz="1100" spc="-1" dirty="0" err="1">
                <a:solidFill>
                  <a:srgbClr val="000000"/>
                </a:solidFill>
                <a:latin typeface="Arial"/>
                <a:cs typeface="Arial"/>
              </a:rPr>
              <a:t>ViT</a:t>
            </a:r>
            <a:r>
              <a:rPr lang="en-GB" sz="1100" spc="-1" dirty="0">
                <a:solidFill>
                  <a:srgbClr val="000000"/>
                </a:solidFill>
                <a:latin typeface="Arial"/>
                <a:cs typeface="Arial"/>
              </a:rPr>
              <a:t> vs CNN vs GNN</a:t>
            </a:r>
          </a:p>
          <a:p>
            <a:pPr marL="727075" lvl="1" indent="-269875">
              <a:lnSpc>
                <a:spcPct val="100000"/>
              </a:lnSpc>
              <a:buClr>
                <a:srgbClr val="EA7600"/>
              </a:buClr>
              <a:buFont typeface="Calibri"/>
              <a:buChar char="•"/>
            </a:pPr>
            <a:r>
              <a:rPr lang="en-GB" sz="1100" spc="-1" dirty="0">
                <a:solidFill>
                  <a:srgbClr val="000000"/>
                </a:solidFill>
                <a:latin typeface="Arial"/>
                <a:cs typeface="Arial"/>
              </a:rPr>
              <a:t>Change non-linearities</a:t>
            </a:r>
          </a:p>
          <a:p>
            <a:pPr marL="727075" lvl="1" indent="-269875">
              <a:lnSpc>
                <a:spcPct val="100000"/>
              </a:lnSpc>
              <a:buClr>
                <a:srgbClr val="EA7600"/>
              </a:buClr>
              <a:buFont typeface="Calibri"/>
              <a:buChar char="•"/>
            </a:pPr>
            <a:r>
              <a:rPr lang="en-GB" sz="1100" spc="-1" dirty="0">
                <a:solidFill>
                  <a:srgbClr val="000000"/>
                </a:solidFill>
                <a:latin typeface="Arial"/>
                <a:cs typeface="Arial"/>
              </a:rPr>
              <a:t>Multiples of 2,8,1024</a:t>
            </a:r>
          </a:p>
          <a:p>
            <a:pPr marL="1184275" lvl="2" indent="-269875">
              <a:lnSpc>
                <a:spcPct val="100000"/>
              </a:lnSpc>
              <a:buClr>
                <a:srgbClr val="EA7600"/>
              </a:buClr>
              <a:buFont typeface="Calibri"/>
              <a:buChar char="•"/>
            </a:pPr>
            <a:r>
              <a:rPr lang="en-GB" sz="1100" spc="-1" dirty="0">
                <a:solidFill>
                  <a:srgbClr val="000000"/>
                </a:solidFill>
                <a:latin typeface="Arial"/>
                <a:cs typeface="Arial"/>
              </a:rPr>
              <a:t>Channels</a:t>
            </a:r>
          </a:p>
          <a:p>
            <a:pPr marL="1184275" lvl="2" indent="-269875">
              <a:lnSpc>
                <a:spcPct val="100000"/>
              </a:lnSpc>
              <a:buClr>
                <a:srgbClr val="EA7600"/>
              </a:buClr>
              <a:buFont typeface="Calibri"/>
              <a:buChar char="•"/>
            </a:pPr>
            <a:r>
              <a:rPr lang="en-GB" sz="1100" spc="-1" dirty="0">
                <a:solidFill>
                  <a:srgbClr val="000000"/>
                </a:solidFill>
                <a:latin typeface="Arial"/>
                <a:cs typeface="Arial"/>
              </a:rPr>
              <a:t>Hidden size</a:t>
            </a:r>
          </a:p>
          <a:p>
            <a:pPr marL="1184275" lvl="2" indent="-269875">
              <a:lnSpc>
                <a:spcPct val="100000"/>
              </a:lnSpc>
              <a:buClr>
                <a:srgbClr val="EA7600"/>
              </a:buClr>
              <a:buFont typeface="Calibri"/>
              <a:buChar char="•"/>
            </a:pPr>
            <a:r>
              <a:rPr lang="en-GB" sz="1100" spc="-1" dirty="0">
                <a:solidFill>
                  <a:srgbClr val="000000"/>
                </a:solidFill>
                <a:latin typeface="Arial"/>
                <a:cs typeface="Arial"/>
              </a:rPr>
              <a:t>Vocab size</a:t>
            </a:r>
          </a:p>
          <a:p>
            <a:pPr marL="1184275" lvl="2" indent="-269875">
              <a:lnSpc>
                <a:spcPct val="100000"/>
              </a:lnSpc>
              <a:buClr>
                <a:srgbClr val="EA7600"/>
              </a:buClr>
              <a:buFont typeface="Calibri"/>
              <a:buChar char="•"/>
            </a:pPr>
            <a:r>
              <a:rPr lang="en-GB" sz="1100" spc="-1" dirty="0">
                <a:solidFill>
                  <a:srgbClr val="000000"/>
                </a:solidFill>
                <a:latin typeface="Arial"/>
                <a:cs typeface="Arial"/>
              </a:rPr>
              <a:t>Batch size</a:t>
            </a:r>
          </a:p>
          <a:p>
            <a:pPr marL="1184275" lvl="2" indent="-269875">
              <a:lnSpc>
                <a:spcPct val="100000"/>
              </a:lnSpc>
              <a:buClr>
                <a:srgbClr val="EA7600"/>
              </a:buClr>
              <a:buFont typeface="Calibri"/>
              <a:buChar char="•"/>
            </a:pPr>
            <a:r>
              <a:rPr lang="en-GB" sz="1100" spc="-1" dirty="0">
                <a:solidFill>
                  <a:srgbClr val="000000"/>
                </a:solidFill>
                <a:latin typeface="Arial"/>
                <a:cs typeface="Arial"/>
              </a:rPr>
              <a:t>Input resolution/sequence length</a:t>
            </a:r>
          </a:p>
          <a:p>
            <a:pPr marL="1184275" lvl="2" indent="-269875">
              <a:lnSpc>
                <a:spcPct val="100000"/>
              </a:lnSpc>
              <a:buClr>
                <a:srgbClr val="EA7600"/>
              </a:buClr>
              <a:buFont typeface="Calibri"/>
              <a:buChar char="•"/>
            </a:pPr>
            <a:r>
              <a:rPr lang="en-GB" sz="1100" spc="-1" dirty="0">
                <a:solidFill>
                  <a:srgbClr val="000000"/>
                </a:solidFill>
                <a:latin typeface="Arial"/>
                <a:cs typeface="Arial"/>
              </a:rPr>
              <a:t>Everything</a:t>
            </a:r>
          </a:p>
          <a:p>
            <a:pPr marL="727075" lvl="1" indent="-269875">
              <a:lnSpc>
                <a:spcPct val="100000"/>
              </a:lnSpc>
              <a:buClr>
                <a:srgbClr val="EA7600"/>
              </a:buClr>
              <a:buFont typeface="Calibri"/>
              <a:buChar char="•"/>
            </a:pPr>
            <a:r>
              <a:rPr lang="en-GB" sz="1100" spc="-1" dirty="0">
                <a:solidFill>
                  <a:srgbClr val="000000"/>
                </a:solidFill>
                <a:latin typeface="Arial"/>
                <a:cs typeface="Arial"/>
              </a:rPr>
              <a:t>For transformers: </a:t>
            </a:r>
          </a:p>
          <a:p>
            <a:pPr marL="1184275" lvl="2" indent="-269875">
              <a:lnSpc>
                <a:spcPct val="100000"/>
              </a:lnSpc>
              <a:buClr>
                <a:srgbClr val="EA7600"/>
              </a:buClr>
              <a:buFont typeface="Calibri"/>
              <a:buChar char="•"/>
            </a:pPr>
            <a:r>
              <a:rPr lang="en-GB" sz="1100" spc="-1" dirty="0">
                <a:solidFill>
                  <a:srgbClr val="000000"/>
                </a:solidFill>
                <a:latin typeface="Arial"/>
                <a:cs typeface="Arial"/>
              </a:rPr>
              <a:t>Patching</a:t>
            </a:r>
          </a:p>
          <a:p>
            <a:pPr marL="1184275" lvl="2" indent="-269875">
              <a:lnSpc>
                <a:spcPct val="100000"/>
              </a:lnSpc>
              <a:buClr>
                <a:srgbClr val="EA7600"/>
              </a:buClr>
              <a:buFont typeface="Calibri"/>
              <a:buChar char="•"/>
            </a:pPr>
            <a:r>
              <a:rPr lang="en-GB" sz="1100" spc="-1" dirty="0">
                <a:solidFill>
                  <a:srgbClr val="000000"/>
                </a:solidFill>
                <a:latin typeface="Arial"/>
                <a:cs typeface="Arial"/>
              </a:rPr>
              <a:t>Masked attention</a:t>
            </a:r>
          </a:p>
          <a:p>
            <a:pPr marL="727075" lvl="1" indent="-269875">
              <a:lnSpc>
                <a:spcPct val="100000"/>
              </a:lnSpc>
              <a:buClr>
                <a:srgbClr val="EA7600"/>
              </a:buClr>
              <a:buFont typeface="Calibri"/>
              <a:buChar char="•"/>
            </a:pPr>
            <a:endParaRPr lang="en-GB" sz="1100" spc="-1" dirty="0">
              <a:solidFill>
                <a:srgbClr val="000000"/>
              </a:solidFill>
              <a:latin typeface="Arial"/>
              <a:cs typeface="Arial"/>
            </a:endParaRPr>
          </a:p>
          <a:p>
            <a:pPr marL="457200" lvl="1" indent="0">
              <a:lnSpc>
                <a:spcPct val="100000"/>
              </a:lnSpc>
              <a:buClr>
                <a:srgbClr val="EA7600"/>
              </a:buClr>
              <a:buNone/>
            </a:pPr>
            <a:endParaRPr lang="en-GB" sz="1100" spc="-1" dirty="0">
              <a:solidFill>
                <a:srgbClr val="000000"/>
              </a:solidFill>
              <a:latin typeface="Arial"/>
              <a:cs typeface="Arial"/>
            </a:endParaRPr>
          </a:p>
          <a:p>
            <a:pPr marL="727075" lvl="1" indent="-269875">
              <a:lnSpc>
                <a:spcPct val="100000"/>
              </a:lnSpc>
              <a:buClr>
                <a:srgbClr val="EA7600"/>
              </a:buClr>
              <a:buFont typeface="Calibri"/>
              <a:buChar char="•"/>
            </a:pPr>
            <a:endParaRPr lang="en-GB" sz="11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8E859C55-D5DC-31E1-DF64-276D364B3E96}"/>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103</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B5DA00F-6A37-690A-60FA-98FC580117EE}"/>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8FCA34F8-8417-FCC7-0F15-DA2B967A25B3}"/>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E0D72F69-ABA9-3D35-A13A-379C4FB8ACD3}"/>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439A953F-FDBC-C3EC-92B3-EEA96823A1B5}"/>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E48D71EA-AE8D-C84A-860C-746B4584BC57}"/>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7" name="Afbeelding 7" descr="Afbeelding met tekst&#10;&#10;Automatisch gegenereerde beschrijving">
            <a:extLst>
              <a:ext uri="{FF2B5EF4-FFF2-40B4-BE49-F238E27FC236}">
                <a16:creationId xmlns:a16="http://schemas.microsoft.com/office/drawing/2014/main" id="{45BD415B-0503-1652-91B9-0C2285BEB5DD}"/>
              </a:ext>
            </a:extLst>
          </p:cNvPr>
          <p:cNvPicPr>
            <a:picLocks noChangeAspect="1"/>
          </p:cNvPicPr>
          <p:nvPr/>
        </p:nvPicPr>
        <p:blipFill>
          <a:blip r:embed="rId3"/>
          <a:stretch>
            <a:fillRect/>
          </a:stretch>
        </p:blipFill>
        <p:spPr>
          <a:xfrm>
            <a:off x="9963150" y="234950"/>
            <a:ext cx="1330325" cy="1768475"/>
          </a:xfrm>
          <a:prstGeom prst="rect">
            <a:avLst/>
          </a:prstGeom>
        </p:spPr>
      </p:pic>
      <p:pic>
        <p:nvPicPr>
          <p:cNvPr id="5" name="Picture 4" descr="A table of numbers and letters&#10;&#10;AI-generated content may be incorrect.">
            <a:extLst>
              <a:ext uri="{FF2B5EF4-FFF2-40B4-BE49-F238E27FC236}">
                <a16:creationId xmlns:a16="http://schemas.microsoft.com/office/drawing/2014/main" id="{5194710C-8C79-4873-01DD-EDDF106D65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9271" y="2518200"/>
            <a:ext cx="8298249" cy="4339800"/>
          </a:xfrm>
          <a:prstGeom prst="rect">
            <a:avLst/>
          </a:prstGeom>
        </p:spPr>
      </p:pic>
    </p:spTree>
    <p:extLst>
      <p:ext uri="{BB962C8B-B14F-4D97-AF65-F5344CB8AC3E}">
        <p14:creationId xmlns:p14="http://schemas.microsoft.com/office/powerpoint/2010/main" val="3260614548"/>
      </p:ext>
    </p:extLst>
  </p:cSld>
  <p:clrMapOvr>
    <a:masterClrMapping/>
  </p:clrMapOvr>
  <p:transition spd="slow">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Always</a:t>
            </a:r>
            <a:endParaRPr lang="nl-NL"/>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727075" lvl="1" indent="-269875">
              <a:lnSpc>
                <a:spcPct val="100000"/>
              </a:lnSpc>
              <a:buClr>
                <a:srgbClr val="EA7600"/>
              </a:buClr>
              <a:buFont typeface="Calibri"/>
              <a:buChar char="•"/>
            </a:pPr>
            <a:r>
              <a:rPr lang="en-GB" sz="1600" spc="-1">
                <a:solidFill>
                  <a:srgbClr val="000000"/>
                </a:solidFill>
                <a:latin typeface="Arial"/>
                <a:cs typeface="Arial"/>
              </a:rPr>
              <a:t>Have a baseline</a:t>
            </a:r>
            <a:endParaRPr lang="nl-NL"/>
          </a:p>
          <a:p>
            <a:pPr marL="727075" lvl="1" indent="-269875">
              <a:lnSpc>
                <a:spcPct val="100000"/>
              </a:lnSpc>
              <a:buClr>
                <a:srgbClr val="EA7600"/>
              </a:buClr>
              <a:buFont typeface="Calibri"/>
              <a:buChar char="•"/>
            </a:pPr>
            <a:r>
              <a:rPr lang="en-GB" sz="1600" spc="-1">
                <a:solidFill>
                  <a:srgbClr val="000000"/>
                </a:solidFill>
                <a:latin typeface="Arial"/>
                <a:cs typeface="Arial"/>
              </a:rPr>
              <a:t>Check convergence statistics</a:t>
            </a:r>
          </a:p>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104</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7" name="Afbeelding 7" descr="Afbeelding met tekst&#10;&#10;Automatisch gegenereerde beschrijving">
            <a:extLst>
              <a:ext uri="{FF2B5EF4-FFF2-40B4-BE49-F238E27FC236}">
                <a16:creationId xmlns:a16="http://schemas.microsoft.com/office/drawing/2014/main" id="{E158E068-2DF5-27FF-640F-13B0CDA1FE39}"/>
              </a:ext>
            </a:extLst>
          </p:cNvPr>
          <p:cNvPicPr>
            <a:picLocks noChangeAspect="1"/>
          </p:cNvPicPr>
          <p:nvPr/>
        </p:nvPicPr>
        <p:blipFill>
          <a:blip r:embed="rId3"/>
          <a:stretch>
            <a:fillRect/>
          </a:stretch>
        </p:blipFill>
        <p:spPr>
          <a:xfrm>
            <a:off x="9963150" y="234950"/>
            <a:ext cx="1330325" cy="1768475"/>
          </a:xfrm>
          <a:prstGeom prst="rect">
            <a:avLst/>
          </a:prstGeom>
        </p:spPr>
      </p:pic>
      <p:pic>
        <p:nvPicPr>
          <p:cNvPr id="2" name="Afbeelding 2" descr="Afbeelding met grafiek&#10;&#10;Automatisch gegenereerde beschrijving">
            <a:extLst>
              <a:ext uri="{FF2B5EF4-FFF2-40B4-BE49-F238E27FC236}">
                <a16:creationId xmlns:a16="http://schemas.microsoft.com/office/drawing/2014/main" id="{9313A08F-5E86-B1D2-6626-505D0D8B45D5}"/>
              </a:ext>
            </a:extLst>
          </p:cNvPr>
          <p:cNvPicPr>
            <a:picLocks noChangeAspect="1"/>
          </p:cNvPicPr>
          <p:nvPr/>
        </p:nvPicPr>
        <p:blipFill>
          <a:blip r:embed="rId4"/>
          <a:stretch>
            <a:fillRect/>
          </a:stretch>
        </p:blipFill>
        <p:spPr>
          <a:xfrm>
            <a:off x="708025" y="2495662"/>
            <a:ext cx="5783263" cy="3541491"/>
          </a:xfrm>
          <a:prstGeom prst="rect">
            <a:avLst/>
          </a:prstGeom>
        </p:spPr>
      </p:pic>
    </p:spTree>
    <p:extLst>
      <p:ext uri="{BB962C8B-B14F-4D97-AF65-F5344CB8AC3E}">
        <p14:creationId xmlns:p14="http://schemas.microsoft.com/office/powerpoint/2010/main" val="2530074145"/>
      </p:ext>
    </p:extLst>
  </p:cSld>
  <p:clrMapOvr>
    <a:masterClrMapping/>
  </p:clrMapOvr>
  <p:transition spd="slow">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Profile</a:t>
            </a:r>
            <a:endParaRPr lang="nl-NL"/>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457200" lvl="1" indent="0">
              <a:lnSpc>
                <a:spcPct val="100000"/>
              </a:lnSpc>
              <a:buClr>
                <a:srgbClr val="EA7600"/>
              </a:buClr>
              <a:buNone/>
            </a:pPr>
            <a:r>
              <a:rPr lang="en-GB" sz="1600" spc="-1" dirty="0">
                <a:solidFill>
                  <a:srgbClr val="000000"/>
                </a:solidFill>
                <a:latin typeface="Arial"/>
                <a:cs typeface="Arial"/>
              </a:rPr>
              <a:t>Get a grip on your model’s performance</a:t>
            </a:r>
          </a:p>
          <a:p>
            <a:pPr marL="727075" lvl="1" indent="-269875">
              <a:lnSpc>
                <a:spcPct val="100000"/>
              </a:lnSpc>
              <a:buClr>
                <a:srgbClr val="EA7600"/>
              </a:buClr>
              <a:buFont typeface="Calibri"/>
              <a:buChar char="•"/>
            </a:pPr>
            <a:r>
              <a:rPr lang="en-GB" sz="1600" spc="-1" dirty="0">
                <a:solidFill>
                  <a:srgbClr val="000000"/>
                </a:solidFill>
                <a:latin typeface="Arial"/>
                <a:cs typeface="Arial"/>
              </a:rPr>
              <a:t>Profile</a:t>
            </a:r>
            <a:endParaRPr lang="nl-NL" dirty="0"/>
          </a:p>
          <a:p>
            <a:pPr marL="727075" lvl="1" indent="-269875">
              <a:lnSpc>
                <a:spcPct val="100000"/>
              </a:lnSpc>
              <a:buClr>
                <a:srgbClr val="EA7600"/>
              </a:buClr>
              <a:buFont typeface="Calibri"/>
              <a:buChar char="•"/>
            </a:pPr>
            <a:r>
              <a:rPr lang="en-GB" sz="1600" spc="-1" dirty="0">
                <a:solidFill>
                  <a:srgbClr val="000000"/>
                </a:solidFill>
                <a:latin typeface="Arial"/>
                <a:cs typeface="Arial"/>
              </a:rPr>
              <a:t>Profile</a:t>
            </a:r>
          </a:p>
          <a:p>
            <a:pPr marL="727075" lvl="1" indent="-269875">
              <a:lnSpc>
                <a:spcPct val="100000"/>
              </a:lnSpc>
              <a:buClr>
                <a:srgbClr val="EA7600"/>
              </a:buClr>
              <a:buFont typeface="Calibri"/>
              <a:buChar char="•"/>
            </a:pPr>
            <a:r>
              <a:rPr lang="en-GB" sz="1600" spc="-1">
                <a:solidFill>
                  <a:srgbClr val="000000"/>
                </a:solidFill>
                <a:latin typeface="Arial"/>
                <a:cs typeface="Arial"/>
              </a:rPr>
              <a:t>Profile</a:t>
            </a: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105</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wiel&#10;&#10;Automatisch gegenereerde beschrijving">
            <a:extLst>
              <a:ext uri="{FF2B5EF4-FFF2-40B4-BE49-F238E27FC236}">
                <a16:creationId xmlns:a16="http://schemas.microsoft.com/office/drawing/2014/main" id="{990048BE-1D46-0CDB-88C9-F4FB31A52585}"/>
              </a:ext>
            </a:extLst>
          </p:cNvPr>
          <p:cNvPicPr>
            <a:picLocks noChangeAspect="1"/>
          </p:cNvPicPr>
          <p:nvPr/>
        </p:nvPicPr>
        <p:blipFill>
          <a:blip r:embed="rId3"/>
          <a:stretch>
            <a:fillRect/>
          </a:stretch>
        </p:blipFill>
        <p:spPr>
          <a:xfrm>
            <a:off x="6978650" y="5357721"/>
            <a:ext cx="2743200" cy="1428934"/>
          </a:xfrm>
          <a:prstGeom prst="rect">
            <a:avLst/>
          </a:prstGeom>
        </p:spPr>
      </p:pic>
    </p:spTree>
    <p:extLst>
      <p:ext uri="{BB962C8B-B14F-4D97-AF65-F5344CB8AC3E}">
        <p14:creationId xmlns:p14="http://schemas.microsoft.com/office/powerpoint/2010/main" val="1503912013"/>
      </p:ext>
    </p:extLst>
  </p:cSld>
  <p:clrMapOvr>
    <a:masterClrMapping/>
  </p:clrMapOvr>
  <p:transition spd="slow">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47204-C478-6CF8-2D9A-B71AABBA99FD}"/>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6AE8607C-C392-2EB5-F656-CF9E9D839284}"/>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87B89263-AC10-5925-0218-94FA3565CA9D}"/>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7638A75-00E2-DD1F-828E-DCFA25184CFC}"/>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GB" sz="6600" b="1" dirty="0">
                <a:solidFill>
                  <a:srgbClr val="FFFFFF"/>
                </a:solidFill>
                <a:latin typeface="Aptos"/>
              </a:rPr>
              <a:t>On that note: Profiling!</a:t>
            </a:r>
            <a:endParaRPr kumimoji="0" lang="en-GB" sz="6600" b="1" i="0" u="none" strike="noStrike" kern="1200" cap="none" spc="0" normalizeH="0" baseline="0" noProof="0" dirty="0">
              <a:ln>
                <a:noFill/>
              </a:ln>
              <a:solidFill>
                <a:srgbClr val="FFFFFF"/>
              </a:solidFill>
              <a:effectLst/>
              <a:uLnTx/>
              <a:uFillTx/>
              <a:latin typeface="Aptos"/>
              <a:ea typeface="+mn-ea"/>
              <a:cs typeface="+mn-cs"/>
            </a:endParaRPr>
          </a:p>
        </p:txBody>
      </p:sp>
      <p:sp>
        <p:nvSpPr>
          <p:cNvPr id="11" name="Tijdelijke aanduiding voor tekst 12">
            <a:extLst>
              <a:ext uri="{FF2B5EF4-FFF2-40B4-BE49-F238E27FC236}">
                <a16:creationId xmlns:a16="http://schemas.microsoft.com/office/drawing/2014/main" id="{99B5521B-C6BE-43F5-A73D-903E587569FB}"/>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9EB54BF-32F8-E858-55B8-4C60104C8734}"/>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18779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2F21-6207-5954-4BD6-68C930E7C85D}"/>
            </a:ext>
          </a:extLst>
        </p:cNvPr>
        <p:cNvGrpSpPr/>
        <p:nvPr/>
      </p:nvGrpSpPr>
      <p:grpSpPr>
        <a:xfrm>
          <a:off x="0" y="0"/>
          <a:ext cx="0" cy="0"/>
          <a:chOff x="0" y="0"/>
          <a:chExt cx="0" cy="0"/>
        </a:xfrm>
      </p:grpSpPr>
      <p:pic>
        <p:nvPicPr>
          <p:cNvPr id="2" name="Afbeelding 2" descr="Afbeelding met wiel&#10;&#10;Automatisch gegenereerde beschrijving">
            <a:extLst>
              <a:ext uri="{FF2B5EF4-FFF2-40B4-BE49-F238E27FC236}">
                <a16:creationId xmlns:a16="http://schemas.microsoft.com/office/drawing/2014/main" id="{628423C9-D829-5811-848A-5D96B93CA82B}"/>
              </a:ext>
            </a:extLst>
          </p:cNvPr>
          <p:cNvPicPr>
            <a:picLocks noChangeAspect="1"/>
          </p:cNvPicPr>
          <p:nvPr/>
        </p:nvPicPr>
        <p:blipFill>
          <a:blip r:embed="rId3"/>
          <a:stretch>
            <a:fillRect/>
          </a:stretch>
        </p:blipFill>
        <p:spPr>
          <a:xfrm>
            <a:off x="6984666" y="5333657"/>
            <a:ext cx="2743200" cy="1428934"/>
          </a:xfrm>
          <a:prstGeom prst="rect">
            <a:avLst/>
          </a:prstGeom>
        </p:spPr>
      </p:pic>
      <p:sp>
        <p:nvSpPr>
          <p:cNvPr id="938" name="PlaceHolder 1">
            <a:extLst>
              <a:ext uri="{FF2B5EF4-FFF2-40B4-BE49-F238E27FC236}">
                <a16:creationId xmlns:a16="http://schemas.microsoft.com/office/drawing/2014/main" id="{CC5DA91E-2155-30E4-4895-380836D4636C}"/>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Profile</a:t>
            </a:r>
            <a:endParaRPr lang="nl-NL"/>
          </a:p>
        </p:txBody>
      </p:sp>
      <p:sp>
        <p:nvSpPr>
          <p:cNvPr id="939" name="PlaceHolder 2">
            <a:extLst>
              <a:ext uri="{FF2B5EF4-FFF2-40B4-BE49-F238E27FC236}">
                <a16:creationId xmlns:a16="http://schemas.microsoft.com/office/drawing/2014/main" id="{EE6DF855-2CD5-8A1A-8BFE-6A76E1A9A38C}"/>
              </a:ext>
            </a:extLst>
          </p:cNvPr>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800100" lvl="1" indent="-342900">
              <a:lnSpc>
                <a:spcPct val="100000"/>
              </a:lnSpc>
              <a:buClr>
                <a:srgbClr val="EA7600"/>
              </a:buClr>
            </a:pPr>
            <a:r>
              <a:rPr lang="en-GB" sz="2000" spc="-1" dirty="0">
                <a:solidFill>
                  <a:srgbClr val="000000"/>
                </a:solidFill>
                <a:latin typeface="Arial"/>
                <a:cs typeface="Arial"/>
              </a:rPr>
              <a:t>Notebook available at </a:t>
            </a:r>
            <a:r>
              <a:rPr lang="en-GB" sz="2000" spc="-1" dirty="0">
                <a:solidFill>
                  <a:srgbClr val="000000"/>
                </a:solidFill>
                <a:latin typeface="Arial"/>
                <a:cs typeface="Arial"/>
                <a:hlinkClick r:id="rId4"/>
              </a:rPr>
              <a:t>https://github.com/SURF-ML/HPML-course-materials/blob/august2025/Day2/notebooks/PyTorch_profiling.ipynb</a:t>
            </a:r>
            <a:endParaRPr lang="en-GB" sz="2000" spc="-1" dirty="0">
              <a:solidFill>
                <a:srgbClr val="000000"/>
              </a:solidFill>
              <a:latin typeface="Arial"/>
              <a:cs typeface="Arial"/>
            </a:endParaRPr>
          </a:p>
          <a:p>
            <a:pPr marL="800100" lvl="1" indent="-342900">
              <a:lnSpc>
                <a:spcPct val="100000"/>
              </a:lnSpc>
              <a:buClr>
                <a:srgbClr val="EA7600"/>
              </a:buClr>
            </a:pPr>
            <a:r>
              <a:rPr lang="en-GB" sz="2000" spc="-1" dirty="0">
                <a:solidFill>
                  <a:srgbClr val="000000"/>
                </a:solidFill>
                <a:latin typeface="Arial"/>
                <a:cs typeface="Arial"/>
              </a:rPr>
              <a:t>Reference traces are in https://github.com/SURF-ML/HPML-course-materials/tree/august2025/Day2/notebooks/logs</a:t>
            </a:r>
          </a:p>
          <a:p>
            <a:pPr marL="800100" lvl="1" indent="-342900">
              <a:lnSpc>
                <a:spcPct val="100000"/>
              </a:lnSpc>
              <a:buClr>
                <a:srgbClr val="EA7600"/>
              </a:buClr>
            </a:pPr>
            <a:r>
              <a:rPr lang="en-GB" sz="2000" spc="-1" dirty="0">
                <a:solidFill>
                  <a:srgbClr val="000000"/>
                </a:solidFill>
                <a:latin typeface="Arial"/>
                <a:cs typeface="Arial"/>
              </a:rPr>
              <a:t>```</a:t>
            </a:r>
            <a:br>
              <a:rPr lang="en-GB" sz="2000" spc="-1" dirty="0">
                <a:solidFill>
                  <a:srgbClr val="000000"/>
                </a:solidFill>
                <a:latin typeface="Arial"/>
                <a:cs typeface="Arial"/>
              </a:rPr>
            </a:br>
            <a:r>
              <a:rPr lang="en-GB" sz="2000" spc="-1" dirty="0">
                <a:solidFill>
                  <a:srgbClr val="000000"/>
                </a:solidFill>
                <a:latin typeface="Arial"/>
                <a:cs typeface="Arial"/>
              </a:rPr>
              <a:t>python3 -m </a:t>
            </a:r>
            <a:r>
              <a:rPr lang="en-GB" sz="2000" spc="-1" dirty="0" err="1">
                <a:solidFill>
                  <a:srgbClr val="000000"/>
                </a:solidFill>
                <a:latin typeface="Arial"/>
                <a:cs typeface="Arial"/>
              </a:rPr>
              <a:t>venv</a:t>
            </a:r>
            <a:r>
              <a:rPr lang="en-GB" sz="2000" spc="-1" dirty="0">
                <a:solidFill>
                  <a:srgbClr val="000000"/>
                </a:solidFill>
                <a:latin typeface="Arial"/>
                <a:cs typeface="Arial"/>
              </a:rPr>
              <a:t> </a:t>
            </a:r>
            <a:r>
              <a:rPr lang="en-GB" sz="2000" spc="-1" dirty="0" err="1">
                <a:solidFill>
                  <a:srgbClr val="000000"/>
                </a:solidFill>
                <a:latin typeface="Arial"/>
                <a:cs typeface="Arial"/>
              </a:rPr>
              <a:t>venv</a:t>
            </a:r>
            <a:br>
              <a:rPr lang="en-GB" sz="2000" spc="-1" dirty="0">
                <a:solidFill>
                  <a:srgbClr val="000000"/>
                </a:solidFill>
                <a:latin typeface="Arial"/>
                <a:cs typeface="Arial"/>
              </a:rPr>
            </a:br>
            <a:r>
              <a:rPr lang="en-GB" sz="2000" spc="-1" dirty="0">
                <a:solidFill>
                  <a:srgbClr val="000000"/>
                </a:solidFill>
                <a:latin typeface="Arial"/>
                <a:cs typeface="Arial"/>
              </a:rPr>
              <a:t>source </a:t>
            </a:r>
            <a:r>
              <a:rPr lang="en-GB" sz="2000" spc="-1" dirty="0" err="1">
                <a:solidFill>
                  <a:srgbClr val="000000"/>
                </a:solidFill>
                <a:latin typeface="Arial"/>
                <a:cs typeface="Arial"/>
              </a:rPr>
              <a:t>venv</a:t>
            </a:r>
            <a:r>
              <a:rPr lang="en-GB" sz="2000" spc="-1" dirty="0">
                <a:solidFill>
                  <a:srgbClr val="000000"/>
                </a:solidFill>
                <a:latin typeface="Arial"/>
                <a:cs typeface="Arial"/>
              </a:rPr>
              <a:t>/bin/activate</a:t>
            </a:r>
            <a:br>
              <a:rPr lang="en-GB" sz="2000" spc="-1" dirty="0">
                <a:solidFill>
                  <a:srgbClr val="000000"/>
                </a:solidFill>
                <a:latin typeface="Arial"/>
                <a:cs typeface="Arial"/>
              </a:rPr>
            </a:br>
            <a:r>
              <a:rPr lang="en-GB" sz="2000" spc="-1" dirty="0">
                <a:solidFill>
                  <a:srgbClr val="000000"/>
                </a:solidFill>
                <a:latin typeface="Arial"/>
                <a:cs typeface="Arial"/>
              </a:rPr>
              <a:t>pip install </a:t>
            </a:r>
            <a:r>
              <a:rPr lang="en-GB" sz="2000" spc="-1" dirty="0" err="1">
                <a:solidFill>
                  <a:srgbClr val="000000"/>
                </a:solidFill>
                <a:latin typeface="Arial"/>
                <a:cs typeface="Arial"/>
              </a:rPr>
              <a:t>git+https</a:t>
            </a:r>
            <a:r>
              <a:rPr lang="en-GB" sz="2000" spc="-1" dirty="0">
                <a:solidFill>
                  <a:srgbClr val="000000"/>
                </a:solidFill>
                <a:latin typeface="Arial"/>
                <a:cs typeface="Arial"/>
              </a:rPr>
              <a:t>://github.com/</a:t>
            </a:r>
            <a:r>
              <a:rPr lang="en-GB" sz="2000" spc="-1" dirty="0" err="1">
                <a:solidFill>
                  <a:srgbClr val="000000"/>
                </a:solidFill>
                <a:latin typeface="Arial"/>
                <a:cs typeface="Arial"/>
              </a:rPr>
              <a:t>pytorch</a:t>
            </a:r>
            <a:r>
              <a:rPr lang="en-GB" sz="2000" spc="-1" dirty="0">
                <a:solidFill>
                  <a:srgbClr val="000000"/>
                </a:solidFill>
                <a:latin typeface="Arial"/>
                <a:cs typeface="Arial"/>
              </a:rPr>
              <a:t>/</a:t>
            </a:r>
            <a:r>
              <a:rPr lang="en-GB" sz="2000" spc="-1" dirty="0" err="1">
                <a:solidFill>
                  <a:srgbClr val="000000"/>
                </a:solidFill>
                <a:latin typeface="Arial"/>
                <a:cs typeface="Arial"/>
              </a:rPr>
              <a:t>kineto.git#subdirectory</a:t>
            </a:r>
            <a:r>
              <a:rPr lang="en-GB" sz="2000" spc="-1" dirty="0">
                <a:solidFill>
                  <a:srgbClr val="000000"/>
                </a:solidFill>
                <a:latin typeface="Arial"/>
                <a:cs typeface="Arial"/>
              </a:rPr>
              <a:t>=</a:t>
            </a:r>
            <a:r>
              <a:rPr lang="en-GB" sz="2000" spc="-1" dirty="0" err="1">
                <a:solidFill>
                  <a:srgbClr val="000000"/>
                </a:solidFill>
                <a:latin typeface="Arial"/>
                <a:cs typeface="Arial"/>
              </a:rPr>
              <a:t>tb_plugin</a:t>
            </a:r>
            <a:br>
              <a:rPr lang="en-GB" sz="2000" spc="-1" dirty="0">
                <a:solidFill>
                  <a:srgbClr val="000000"/>
                </a:solidFill>
                <a:latin typeface="Arial"/>
                <a:cs typeface="Arial"/>
              </a:rPr>
            </a:br>
            <a:r>
              <a:rPr lang="en-GB" sz="2000" spc="-1" dirty="0">
                <a:solidFill>
                  <a:srgbClr val="000000"/>
                </a:solidFill>
                <a:latin typeface="Arial"/>
                <a:cs typeface="Arial"/>
              </a:rPr>
              <a:t>git clone --depth=1 </a:t>
            </a:r>
            <a:r>
              <a:rPr lang="en-GB" sz="2000" spc="-1" dirty="0">
                <a:latin typeface="Arial"/>
                <a:cs typeface="Arial"/>
                <a:hlinkClick r:id="rId5">
                  <a:extLst>
                    <a:ext uri="{A12FA001-AC4F-418D-AE19-62706E023703}">
                      <ahyp:hlinkClr xmlns:ahyp="http://schemas.microsoft.com/office/drawing/2018/hyperlinkcolor" val="tx"/>
                    </a:ext>
                  </a:extLst>
                </a:hlinkClick>
              </a:rPr>
              <a:t>https://github.com/SURF-ML/HPML-course-materials.git</a:t>
            </a:r>
            <a:br>
              <a:rPr lang="en-GB" sz="2000" spc="-1" dirty="0">
                <a:latin typeface="Arial"/>
                <a:cs typeface="Arial"/>
              </a:rPr>
            </a:br>
            <a:r>
              <a:rPr lang="en-GB" sz="2000" spc="-1" dirty="0" err="1">
                <a:latin typeface="Arial"/>
                <a:cs typeface="Arial"/>
              </a:rPr>
              <a:t>tensorboard</a:t>
            </a:r>
            <a:r>
              <a:rPr lang="en-GB" sz="2000" spc="-1" dirty="0">
                <a:latin typeface="Arial"/>
                <a:cs typeface="Arial"/>
              </a:rPr>
              <a:t> --</a:t>
            </a:r>
            <a:r>
              <a:rPr lang="en-GB" sz="2000" spc="-1" dirty="0" err="1">
                <a:latin typeface="Arial"/>
                <a:cs typeface="Arial"/>
              </a:rPr>
              <a:t>logdir</a:t>
            </a:r>
            <a:r>
              <a:rPr lang="en-GB" sz="2000" spc="-1" dirty="0">
                <a:latin typeface="Arial"/>
                <a:cs typeface="Arial"/>
              </a:rPr>
              <a:t> HPML-course-materials/Day2/notebooks/logs/</a:t>
            </a:r>
            <a:br>
              <a:rPr lang="en-GB" sz="2000" spc="-1" dirty="0">
                <a:latin typeface="Arial"/>
                <a:cs typeface="Arial"/>
              </a:rPr>
            </a:br>
            <a:r>
              <a:rPr lang="en-GB" sz="2000" spc="-1" dirty="0">
                <a:latin typeface="Arial"/>
                <a:cs typeface="Arial"/>
              </a:rPr>
              <a:t>```</a:t>
            </a:r>
            <a:br>
              <a:rPr lang="en-GB" sz="2000" spc="-1" dirty="0">
                <a:latin typeface="Arial"/>
                <a:cs typeface="Arial"/>
              </a:rPr>
            </a:br>
            <a:endParaRPr lang="en-GB" sz="2000" spc="-1" dirty="0">
              <a:latin typeface="Arial"/>
              <a:cs typeface="Arial"/>
            </a:endParaRPr>
          </a:p>
          <a:p>
            <a:pPr marL="800100" lvl="1" indent="-342900">
              <a:lnSpc>
                <a:spcPct val="100000"/>
              </a:lnSpc>
              <a:buClr>
                <a:srgbClr val="EA7600"/>
              </a:buCl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E00228E6-A0AF-35E9-0876-FA464E1D493B}"/>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107</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0D5459BD-C153-2099-50D9-DD597B8F0F4C}"/>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EFC92CA4-371B-53AE-5232-3AF391AE283A}"/>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6515E3BE-3D45-607E-A1A7-B7F1E20E7E0B}"/>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48CC3998-876B-B75C-FD5C-CCA0A8CD02F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416A1926-09F3-5763-7943-4D287A3B0C3E}"/>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Tree>
    <p:extLst>
      <p:ext uri="{BB962C8B-B14F-4D97-AF65-F5344CB8AC3E}">
        <p14:creationId xmlns:p14="http://schemas.microsoft.com/office/powerpoint/2010/main" val="4128602466"/>
      </p:ext>
    </p:extLst>
  </p:cSld>
  <p:clrMapOvr>
    <a:masterClrMapping/>
  </p:clrMapOvr>
  <p:transition spd="slow">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7F73-157D-F6F4-FD97-44454E295D3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14114854-148E-5248-5CEC-83F0A8124D0C}"/>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F8E013A9-1483-1597-7DB2-D21F3DD964AE}"/>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448B6F55-4340-ED9E-D31B-3FF4881688B6}"/>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GB" sz="6600" b="1" dirty="0">
                <a:solidFill>
                  <a:srgbClr val="FFFFFF"/>
                </a:solidFill>
                <a:latin typeface="Aptos"/>
              </a:rPr>
              <a:t>Bonus</a:t>
            </a:r>
            <a:r>
              <a:rPr kumimoji="0" lang="en-GB" sz="6600" b="1" i="0" u="none" strike="noStrike" kern="1200" cap="none" spc="0" normalizeH="0" baseline="0" noProof="0" dirty="0">
                <a:ln>
                  <a:noFill/>
                </a:ln>
                <a:solidFill>
                  <a:srgbClr val="FFFFFF"/>
                </a:solidFill>
                <a:effectLst/>
                <a:uLnTx/>
                <a:uFillTx/>
                <a:latin typeface="Aptos"/>
                <a:ea typeface="+mn-ea"/>
                <a:cs typeface="+mn-cs"/>
              </a:rPr>
              <a:t>: AI Factory</a:t>
            </a:r>
          </a:p>
        </p:txBody>
      </p:sp>
      <p:sp>
        <p:nvSpPr>
          <p:cNvPr id="11" name="Tijdelijke aanduiding voor tekst 12">
            <a:extLst>
              <a:ext uri="{FF2B5EF4-FFF2-40B4-BE49-F238E27FC236}">
                <a16:creationId xmlns:a16="http://schemas.microsoft.com/office/drawing/2014/main" id="{51BF86EC-3F79-B3FE-1738-457168371CD7}"/>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9992ACDE-D167-1DEC-1A50-B6C464C7B17A}"/>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19657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A15784-66AE-E08A-230C-E32422869205}"/>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BE978396-4D5F-3B62-1F02-E69153D06419}"/>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65F9DF40-9A7D-EC33-232A-17D6B1ABB0DD}"/>
              </a:ext>
            </a:extLst>
          </p:cNvPr>
          <p:cNvSpPr>
            <a:spLocks noGrp="1"/>
          </p:cNvSpPr>
          <p:nvPr>
            <p:ph type="title"/>
          </p:nvPr>
        </p:nvSpPr>
        <p:spPr/>
        <p:txBody>
          <a:bodyPr/>
          <a:lstStyle/>
          <a:p>
            <a:r>
              <a:rPr lang="en-US" dirty="0"/>
              <a:t>AI factories recap</a:t>
            </a:r>
            <a:endParaRPr lang="en-NL" dirty="0"/>
          </a:p>
        </p:txBody>
      </p:sp>
      <p:sp>
        <p:nvSpPr>
          <p:cNvPr id="5" name="Content Placeholder 4">
            <a:extLst>
              <a:ext uri="{FF2B5EF4-FFF2-40B4-BE49-F238E27FC236}">
                <a16:creationId xmlns:a16="http://schemas.microsoft.com/office/drawing/2014/main" id="{780E3EA3-57EE-A024-6A65-767C2FF2EF5F}"/>
              </a:ext>
            </a:extLst>
          </p:cNvPr>
          <p:cNvSpPr>
            <a:spLocks noGrp="1"/>
          </p:cNvSpPr>
          <p:nvPr>
            <p:ph idx="19"/>
          </p:nvPr>
        </p:nvSpPr>
        <p:spPr/>
        <p:txBody>
          <a:bodyPr/>
          <a:lstStyle/>
          <a:p>
            <a:r>
              <a:rPr lang="en-US" dirty="0"/>
              <a:t>Initiative by the EU to close the AI-gap</a:t>
            </a:r>
            <a:br>
              <a:rPr lang="en-US" dirty="0"/>
            </a:br>
            <a:r>
              <a:rPr lang="en-US" dirty="0"/>
              <a:t>to our ‘friends’ to the west </a:t>
            </a:r>
            <a:br>
              <a:rPr lang="en-US" dirty="0"/>
            </a:br>
            <a:r>
              <a:rPr lang="en-US" dirty="0"/>
              <a:t>and to our ‘friends’ to the east</a:t>
            </a:r>
          </a:p>
          <a:p>
            <a:r>
              <a:rPr lang="en-US" dirty="0"/>
              <a:t>Bootstrapping AI development</a:t>
            </a:r>
            <a:br>
              <a:rPr lang="en-US" dirty="0"/>
            </a:br>
            <a:r>
              <a:rPr lang="en-US" dirty="0"/>
              <a:t>and AI uptake in Europe</a:t>
            </a:r>
          </a:p>
          <a:p>
            <a:r>
              <a:rPr lang="en-US" dirty="0"/>
              <a:t>Budget ‘fluid’; up to EC discretion</a:t>
            </a:r>
            <a:br>
              <a:rPr lang="en-US" dirty="0"/>
            </a:br>
            <a:r>
              <a:rPr lang="en-US" dirty="0"/>
              <a:t>So far ~€1.5 billion granted</a:t>
            </a:r>
            <a:br>
              <a:rPr lang="en-US" dirty="0"/>
            </a:br>
            <a:r>
              <a:rPr lang="en-US" dirty="0"/>
              <a:t>Up to €200 million matched per site</a:t>
            </a:r>
          </a:p>
          <a:p>
            <a:r>
              <a:rPr lang="en-US" dirty="0"/>
              <a:t>AI Gigafactories also announced:</a:t>
            </a:r>
            <a:br>
              <a:rPr lang="en-US" dirty="0"/>
            </a:br>
            <a:r>
              <a:rPr lang="en-US" dirty="0"/>
              <a:t>~€20 billion available</a:t>
            </a:r>
          </a:p>
          <a:p>
            <a:r>
              <a:rPr lang="en-US" dirty="0"/>
              <a:t>‘Create AI aligned with EU values’</a:t>
            </a:r>
          </a:p>
          <a:p>
            <a:r>
              <a:rPr lang="en-US" dirty="0"/>
              <a:t>We want to build an AI factory,</a:t>
            </a:r>
            <a:br>
              <a:rPr lang="en-US" dirty="0"/>
            </a:br>
            <a:r>
              <a:rPr lang="en-US" dirty="0"/>
              <a:t>ready end of 2026 in The Netherlands</a:t>
            </a:r>
            <a:endParaRPr lang="en-NL" dirty="0"/>
          </a:p>
        </p:txBody>
      </p:sp>
      <p:pic>
        <p:nvPicPr>
          <p:cNvPr id="6" name="Content Placeholder 6">
            <a:extLst>
              <a:ext uri="{FF2B5EF4-FFF2-40B4-BE49-F238E27FC236}">
                <a16:creationId xmlns:a16="http://schemas.microsoft.com/office/drawing/2014/main" id="{C7EC0915-F252-48DB-6B17-5514B8621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979" y="4978"/>
            <a:ext cx="6853022" cy="6853022"/>
          </a:xfrm>
          <a:prstGeom prst="rect">
            <a:avLst/>
          </a:prstGeom>
        </p:spPr>
      </p:pic>
    </p:spTree>
    <p:extLst>
      <p:ext uri="{BB962C8B-B14F-4D97-AF65-F5344CB8AC3E}">
        <p14:creationId xmlns:p14="http://schemas.microsoft.com/office/powerpoint/2010/main" val="2891110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6CC92-B06B-662C-8625-4976EAC549F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D9E99-82CF-4D08-CFA1-571C99625C0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9A1D4D59-738B-343D-EA44-A9E82EFE1D3C}"/>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C7EDC8BA-3229-9704-86FD-CEAECB1F46D8}"/>
              </a:ext>
            </a:extLst>
          </p:cNvPr>
          <p:cNvSpPr>
            <a:spLocks noGrp="1"/>
          </p:cNvSpPr>
          <p:nvPr>
            <p:ph type="title"/>
          </p:nvPr>
        </p:nvSpPr>
        <p:spPr/>
        <p:txBody>
          <a:bodyPr/>
          <a:lstStyle/>
          <a:p>
            <a:r>
              <a:rPr lang="en-US" dirty="0"/>
              <a:t>AI factories recap</a:t>
            </a:r>
            <a:endParaRPr lang="en-NL" dirty="0"/>
          </a:p>
        </p:txBody>
      </p:sp>
      <p:sp>
        <p:nvSpPr>
          <p:cNvPr id="5" name="Content Placeholder 4">
            <a:extLst>
              <a:ext uri="{FF2B5EF4-FFF2-40B4-BE49-F238E27FC236}">
                <a16:creationId xmlns:a16="http://schemas.microsoft.com/office/drawing/2014/main" id="{A46570D3-BD65-1443-0CEB-492374873AA7}"/>
              </a:ext>
            </a:extLst>
          </p:cNvPr>
          <p:cNvSpPr>
            <a:spLocks noGrp="1"/>
          </p:cNvSpPr>
          <p:nvPr>
            <p:ph idx="19"/>
          </p:nvPr>
        </p:nvSpPr>
        <p:spPr>
          <a:xfrm>
            <a:off x="865162" y="1592262"/>
            <a:ext cx="4371302" cy="4060393"/>
          </a:xfrm>
        </p:spPr>
        <p:txBody>
          <a:bodyPr/>
          <a:lstStyle/>
          <a:p>
            <a:r>
              <a:rPr lang="en-US" dirty="0"/>
              <a:t>We want to build an AI factory,</a:t>
            </a:r>
            <a:br>
              <a:rPr lang="en-US" dirty="0"/>
            </a:br>
            <a:r>
              <a:rPr lang="en-US" dirty="0"/>
              <a:t>ready end of 2026 in The Netherlands</a:t>
            </a:r>
          </a:p>
          <a:p>
            <a:r>
              <a:rPr lang="en-US" dirty="0"/>
              <a:t>Seems Lithuania and the Netherlands are </a:t>
            </a:r>
            <a:br>
              <a:rPr lang="en-US" dirty="0"/>
            </a:br>
            <a:r>
              <a:rPr lang="en-US" dirty="0"/>
              <a:t>competing in the same round </a:t>
            </a:r>
            <a:r>
              <a:rPr lang="en-US" dirty="0">
                <a:sym typeface="Wingdings" panose="05000000000000000000" pitchFamily="2" charset="2"/>
              </a:rPr>
              <a:t></a:t>
            </a:r>
            <a:br>
              <a:rPr lang="en-US" dirty="0">
                <a:sym typeface="Wingdings" panose="05000000000000000000" pitchFamily="2" charset="2"/>
              </a:rPr>
            </a:br>
            <a:br>
              <a:rPr lang="en-US" dirty="0">
                <a:sym typeface="Wingdings" panose="05000000000000000000" pitchFamily="2" charset="2"/>
              </a:rPr>
            </a:br>
            <a:r>
              <a:rPr lang="en-US" dirty="0">
                <a:sym typeface="Wingdings" panose="05000000000000000000" pitchFamily="2" charset="2"/>
              </a:rPr>
              <a:t>https://www.madeinvilnius.lt/en/business/Vilnius-market/The-ambition-is-to-have-one-of-the-most-powerful-di-centers-in-Europe-in-Lithuania./</a:t>
            </a:r>
            <a:endParaRPr lang="en-NL" dirty="0"/>
          </a:p>
        </p:txBody>
      </p:sp>
      <p:pic>
        <p:nvPicPr>
          <p:cNvPr id="6" name="Content Placeholder 6">
            <a:extLst>
              <a:ext uri="{FF2B5EF4-FFF2-40B4-BE49-F238E27FC236}">
                <a16:creationId xmlns:a16="http://schemas.microsoft.com/office/drawing/2014/main" id="{8F33EB53-D254-6634-3164-11C3A572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979" y="4978"/>
            <a:ext cx="6853022" cy="6853022"/>
          </a:xfrm>
          <a:prstGeom prst="rect">
            <a:avLst/>
          </a:prstGeom>
        </p:spPr>
      </p:pic>
    </p:spTree>
    <p:extLst>
      <p:ext uri="{BB962C8B-B14F-4D97-AF65-F5344CB8AC3E}">
        <p14:creationId xmlns:p14="http://schemas.microsoft.com/office/powerpoint/2010/main" val="1872608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71A76-19F8-0B67-ED10-3DC01103B2D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265AE2-1158-BEB3-E89D-76BD8648815E}"/>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9E8224A6-38B4-989B-547E-2834B7692BC5}"/>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6ED91D02-FA07-4C8A-845B-9599A1928359}"/>
              </a:ext>
            </a:extLst>
          </p:cNvPr>
          <p:cNvSpPr>
            <a:spLocks noGrp="1"/>
          </p:cNvSpPr>
          <p:nvPr>
            <p:ph type="title"/>
          </p:nvPr>
        </p:nvSpPr>
        <p:spPr/>
        <p:txBody>
          <a:bodyPr/>
          <a:lstStyle/>
          <a:p>
            <a:r>
              <a:rPr lang="en-US" dirty="0"/>
              <a:t>AI factories setup</a:t>
            </a:r>
            <a:endParaRPr lang="en-NL" dirty="0"/>
          </a:p>
        </p:txBody>
      </p:sp>
      <p:sp>
        <p:nvSpPr>
          <p:cNvPr id="5" name="Content Placeholder 4">
            <a:extLst>
              <a:ext uri="{FF2B5EF4-FFF2-40B4-BE49-F238E27FC236}">
                <a16:creationId xmlns:a16="http://schemas.microsoft.com/office/drawing/2014/main" id="{749FB30B-C7D8-7CAF-6B47-B5DE9E4A2585}"/>
              </a:ext>
            </a:extLst>
          </p:cNvPr>
          <p:cNvSpPr>
            <a:spLocks noGrp="1"/>
          </p:cNvSpPr>
          <p:nvPr>
            <p:ph idx="19"/>
          </p:nvPr>
        </p:nvSpPr>
        <p:spPr/>
        <p:txBody>
          <a:bodyPr/>
          <a:lstStyle/>
          <a:p>
            <a:r>
              <a:rPr lang="en-US" dirty="0"/>
              <a:t>Technically:</a:t>
            </a:r>
          </a:p>
          <a:p>
            <a:pPr lvl="1"/>
            <a:r>
              <a:rPr lang="en-US" dirty="0"/>
              <a:t>“AI factory” -&gt; expertise center</a:t>
            </a:r>
          </a:p>
          <a:p>
            <a:pPr lvl="1"/>
            <a:r>
              <a:rPr lang="en-US" dirty="0"/>
              <a:t>“AI facility” -&gt; supercomputer</a:t>
            </a:r>
          </a:p>
          <a:p>
            <a:r>
              <a:rPr lang="en-US" dirty="0"/>
              <a:t>“AI factory” sometimes means both</a:t>
            </a:r>
          </a:p>
          <a:p>
            <a:endParaRPr lang="en-US" dirty="0"/>
          </a:p>
          <a:p>
            <a:r>
              <a:rPr lang="en-US" dirty="0"/>
              <a:t>Dutch AIF:</a:t>
            </a:r>
          </a:p>
          <a:p>
            <a:pPr lvl="1"/>
            <a:r>
              <a:rPr lang="en-US" dirty="0"/>
              <a:t>200M euro total budget</a:t>
            </a:r>
          </a:p>
          <a:p>
            <a:pPr lvl="1"/>
            <a:r>
              <a:rPr lang="en-US" dirty="0"/>
              <a:t>1/3</a:t>
            </a:r>
            <a:r>
              <a:rPr lang="en-US" baseline="30000" dirty="0"/>
              <a:t>rd</a:t>
            </a:r>
            <a:r>
              <a:rPr lang="en-US" dirty="0"/>
              <a:t> of the budget towards facility</a:t>
            </a:r>
          </a:p>
          <a:p>
            <a:pPr lvl="1"/>
            <a:r>
              <a:rPr lang="en-US" dirty="0"/>
              <a:t>Operational Q4 2026</a:t>
            </a:r>
          </a:p>
          <a:p>
            <a:endParaRPr lang="en-US" dirty="0"/>
          </a:p>
          <a:p>
            <a:endParaRPr lang="en-NL" dirty="0"/>
          </a:p>
        </p:txBody>
      </p:sp>
      <p:pic>
        <p:nvPicPr>
          <p:cNvPr id="8" name="Picture 7" descr="A building with many logos&#10;&#10;AI-generated content may be incorrect.">
            <a:extLst>
              <a:ext uri="{FF2B5EF4-FFF2-40B4-BE49-F238E27FC236}">
                <a16:creationId xmlns:a16="http://schemas.microsoft.com/office/drawing/2014/main" id="{C1C5D940-C636-87E4-FF24-3A33CACEA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2057" y="0"/>
            <a:ext cx="5529943" cy="3686629"/>
          </a:xfrm>
          <a:prstGeom prst="rect">
            <a:avLst/>
          </a:prstGeom>
        </p:spPr>
      </p:pic>
      <p:pic>
        <p:nvPicPr>
          <p:cNvPr id="10" name="Picture 9">
            <a:extLst>
              <a:ext uri="{FF2B5EF4-FFF2-40B4-BE49-F238E27FC236}">
                <a16:creationId xmlns:a16="http://schemas.microsoft.com/office/drawing/2014/main" id="{3383EE98-9DD0-8B6D-5F42-8B1F417B8D13}"/>
              </a:ext>
            </a:extLst>
          </p:cNvPr>
          <p:cNvPicPr>
            <a:picLocks noChangeAspect="1"/>
          </p:cNvPicPr>
          <p:nvPr/>
        </p:nvPicPr>
        <p:blipFill>
          <a:blip r:embed="rId3"/>
          <a:stretch>
            <a:fillRect/>
          </a:stretch>
        </p:blipFill>
        <p:spPr>
          <a:xfrm>
            <a:off x="6662057" y="3755580"/>
            <a:ext cx="5529943" cy="3102419"/>
          </a:xfrm>
          <a:prstGeom prst="rect">
            <a:avLst/>
          </a:prstGeom>
        </p:spPr>
      </p:pic>
    </p:spTree>
    <p:extLst>
      <p:ext uri="{BB962C8B-B14F-4D97-AF65-F5344CB8AC3E}">
        <p14:creationId xmlns:p14="http://schemas.microsoft.com/office/powerpoint/2010/main" val="3217048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F39B-1A2F-0C7C-9F3D-709E2EDB345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029AA30-7C2A-97EE-0582-916BCB598799}"/>
              </a:ext>
            </a:extLst>
          </p:cNvPr>
          <p:cNvSpPr>
            <a:spLocks noGrp="1"/>
          </p:cNvSpPr>
          <p:nvPr>
            <p:ph type="body" sz="quarter" idx="14"/>
          </p:nvPr>
        </p:nvSpPr>
        <p:spPr>
          <a:xfrm>
            <a:off x="188219" y="6239960"/>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CC8DBB6F-8D44-7793-1F78-0663456443E3}"/>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17788F2F-3E03-8879-5C06-F8BBDA6FCD86}"/>
              </a:ext>
            </a:extLst>
          </p:cNvPr>
          <p:cNvSpPr>
            <a:spLocks noGrp="1"/>
          </p:cNvSpPr>
          <p:nvPr>
            <p:ph type="title"/>
          </p:nvPr>
        </p:nvSpPr>
        <p:spPr/>
        <p:txBody>
          <a:bodyPr/>
          <a:lstStyle/>
          <a:p>
            <a:r>
              <a:rPr lang="en-GB" noProof="0" dirty="0"/>
              <a:t>Do we even need an AI factory?</a:t>
            </a:r>
            <a:endParaRPr lang="nl-NL" dirty="0"/>
          </a:p>
        </p:txBody>
      </p:sp>
      <p:sp>
        <p:nvSpPr>
          <p:cNvPr id="5" name="Tijdelijke aanduiding voor inhoud 4">
            <a:extLst>
              <a:ext uri="{FF2B5EF4-FFF2-40B4-BE49-F238E27FC236}">
                <a16:creationId xmlns:a16="http://schemas.microsoft.com/office/drawing/2014/main" id="{A60A9997-4EF8-894C-023B-1D104D56A795}"/>
              </a:ext>
            </a:extLst>
          </p:cNvPr>
          <p:cNvSpPr>
            <a:spLocks noGrp="1"/>
          </p:cNvSpPr>
          <p:nvPr>
            <p:ph idx="19"/>
          </p:nvPr>
        </p:nvSpPr>
        <p:spPr>
          <a:xfrm>
            <a:off x="865162" y="1406397"/>
            <a:ext cx="11014354" cy="4729290"/>
          </a:xfrm>
        </p:spPr>
        <p:txBody>
          <a:bodyPr/>
          <a:lstStyle/>
          <a:p>
            <a:pPr marL="628650" lvl="7" indent="-285750">
              <a:buFont typeface="Arial" panose="020B0604020202020204" pitchFamily="34" charset="0"/>
              <a:buChar char="•"/>
            </a:pPr>
            <a:r>
              <a:rPr lang="nl-NL" sz="2800" dirty="0"/>
              <a:t>You tell me </a:t>
            </a:r>
            <a:r>
              <a:rPr lang="nl-NL" sz="2800" dirty="0">
                <a:sym typeface="Wingdings" panose="05000000000000000000" pitchFamily="2" charset="2"/>
              </a:rPr>
              <a:t></a:t>
            </a:r>
          </a:p>
          <a:p>
            <a:pPr marL="628650" lvl="7" indent="-285750">
              <a:buFont typeface="Arial" panose="020B0604020202020204" pitchFamily="34" charset="0"/>
              <a:buChar char="•"/>
            </a:pPr>
            <a:r>
              <a:rPr lang="nl-NL" sz="2800" dirty="0">
                <a:sym typeface="Wingdings" panose="05000000000000000000" pitchFamily="2" charset="2"/>
              </a:rPr>
              <a:t>Current (national) hardware is not sufficient for current &amp; next-gen workloads</a:t>
            </a:r>
          </a:p>
          <a:p>
            <a:pPr marL="628650" lvl="7" indent="-285750">
              <a:buFont typeface="Arial" panose="020B0604020202020204" pitchFamily="34" charset="0"/>
              <a:buChar char="•"/>
            </a:pPr>
            <a:endParaRPr lang="nl-NL" sz="2800" dirty="0">
              <a:sym typeface="Wingdings" panose="05000000000000000000" pitchFamily="2" charset="2"/>
            </a:endParaRPr>
          </a:p>
          <a:p>
            <a:pPr lvl="6" indent="0">
              <a:buNone/>
            </a:pPr>
            <a:r>
              <a:rPr lang="nl-NL" sz="2800" dirty="0">
                <a:sym typeface="Wingdings" panose="05000000000000000000" pitchFamily="2" charset="2"/>
              </a:rPr>
              <a:t>National perspective: </a:t>
            </a:r>
          </a:p>
          <a:p>
            <a:pPr marL="800100" lvl="6" indent="-457200">
              <a:buFont typeface="Arial" panose="020B0604020202020204" pitchFamily="34" charset="0"/>
              <a:buChar char="•"/>
            </a:pPr>
            <a:r>
              <a:rPr lang="nl-NL" sz="2800" dirty="0">
                <a:sym typeface="Wingdings" panose="05000000000000000000" pitchFamily="2" charset="2"/>
              </a:rPr>
              <a:t>Data sovereignty &amp; country borders are important (UMC’s)</a:t>
            </a:r>
          </a:p>
          <a:p>
            <a:pPr marL="800100" lvl="6" indent="-457200">
              <a:buFont typeface="Arial" panose="020B0604020202020204" pitchFamily="34" charset="0"/>
              <a:buChar char="•"/>
            </a:pPr>
            <a:r>
              <a:rPr lang="nl-NL" sz="2800" dirty="0">
                <a:sym typeface="Wingdings" panose="05000000000000000000" pitchFamily="2" charset="2"/>
              </a:rPr>
              <a:t>Foster national ecosystem</a:t>
            </a:r>
          </a:p>
          <a:p>
            <a:pPr marL="800100" lvl="6" indent="-457200">
              <a:buFont typeface="Arial" panose="020B0604020202020204" pitchFamily="34" charset="0"/>
              <a:buChar char="•"/>
            </a:pPr>
            <a:endParaRPr lang="nl-NL" sz="2800" dirty="0">
              <a:sym typeface="Wingdings" panose="05000000000000000000" pitchFamily="2" charset="2"/>
            </a:endParaRPr>
          </a:p>
          <a:p>
            <a:pPr lvl="7" indent="0">
              <a:buNone/>
            </a:pPr>
            <a:endParaRPr lang="nl-NL" sz="2800" dirty="0">
              <a:sym typeface="Wingdings" panose="05000000000000000000" pitchFamily="2" charset="2"/>
            </a:endParaRPr>
          </a:p>
          <a:p>
            <a:pPr marL="628650" lvl="7" indent="-285750">
              <a:buFont typeface="Arial" panose="020B0604020202020204" pitchFamily="34" charset="0"/>
              <a:buChar char="•"/>
            </a:pPr>
            <a:endParaRPr lang="nl-NL" sz="2800" dirty="0">
              <a:sym typeface="Wingdings" panose="05000000000000000000" pitchFamily="2" charset="2"/>
            </a:endParaRPr>
          </a:p>
          <a:p>
            <a:pPr lvl="7" indent="0">
              <a:buNone/>
            </a:pPr>
            <a:endParaRPr lang="nl-NL" sz="2800" dirty="0">
              <a:sym typeface="Wingdings" panose="05000000000000000000" pitchFamily="2" charset="2"/>
            </a:endParaRPr>
          </a:p>
          <a:p>
            <a:pPr marL="628650" lvl="7" indent="-285750">
              <a:buFont typeface="Arial" panose="020B0604020202020204" pitchFamily="34" charset="0"/>
              <a:buChar char="•"/>
            </a:pPr>
            <a:endParaRPr lang="nl-NL" dirty="0"/>
          </a:p>
        </p:txBody>
      </p:sp>
    </p:spTree>
    <p:extLst>
      <p:ext uri="{BB962C8B-B14F-4D97-AF65-F5344CB8AC3E}">
        <p14:creationId xmlns:p14="http://schemas.microsoft.com/office/powerpoint/2010/main" val="3320478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6192-3B69-96F6-5068-27F7743424A2}"/>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F4FEA30-D067-C202-4B13-882C66EC00FF}"/>
              </a:ext>
            </a:extLst>
          </p:cNvPr>
          <p:cNvSpPr>
            <a:spLocks noGrp="1"/>
          </p:cNvSpPr>
          <p:nvPr>
            <p:ph type="body" sz="quarter" idx="14"/>
          </p:nvPr>
        </p:nvSpPr>
        <p:spPr>
          <a:xfrm>
            <a:off x="188219" y="6239960"/>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22D0E92B-78E9-B3DC-500A-C9DABD0F5576}"/>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0A7EBFB1-CBD8-0764-FC9A-370F452C52CE}"/>
              </a:ext>
            </a:extLst>
          </p:cNvPr>
          <p:cNvSpPr>
            <a:spLocks noGrp="1"/>
          </p:cNvSpPr>
          <p:nvPr>
            <p:ph type="title"/>
          </p:nvPr>
        </p:nvSpPr>
        <p:spPr/>
        <p:txBody>
          <a:bodyPr/>
          <a:lstStyle/>
          <a:p>
            <a:r>
              <a:rPr lang="en-GB" noProof="0" dirty="0"/>
              <a:t>Do we even need an AI factory?</a:t>
            </a:r>
            <a:endParaRPr lang="nl-NL" dirty="0"/>
          </a:p>
        </p:txBody>
      </p:sp>
      <p:sp>
        <p:nvSpPr>
          <p:cNvPr id="5" name="Tijdelijke aanduiding voor inhoud 4">
            <a:extLst>
              <a:ext uri="{FF2B5EF4-FFF2-40B4-BE49-F238E27FC236}">
                <a16:creationId xmlns:a16="http://schemas.microsoft.com/office/drawing/2014/main" id="{F1509266-7763-487C-40C6-0868254E24EC}"/>
              </a:ext>
            </a:extLst>
          </p:cNvPr>
          <p:cNvSpPr>
            <a:spLocks noGrp="1"/>
          </p:cNvSpPr>
          <p:nvPr>
            <p:ph idx="19"/>
          </p:nvPr>
        </p:nvSpPr>
        <p:spPr>
          <a:xfrm>
            <a:off x="865162" y="1406397"/>
            <a:ext cx="11014354" cy="4729290"/>
          </a:xfrm>
        </p:spPr>
        <p:txBody>
          <a:bodyPr/>
          <a:lstStyle/>
          <a:p>
            <a:pPr marL="285750" lvl="3" indent="-285750">
              <a:buFont typeface="Arial" panose="020B0604020202020204" pitchFamily="34" charset="0"/>
              <a:buChar char="•"/>
            </a:pPr>
            <a:r>
              <a:rPr lang="nl-NL" dirty="0"/>
              <a:t>Our perspective:</a:t>
            </a:r>
          </a:p>
          <a:p>
            <a:pPr marL="628650" lvl="6" indent="-285750">
              <a:buFont typeface="Arial" panose="020B0604020202020204" pitchFamily="34" charset="0"/>
              <a:buChar char="•"/>
            </a:pPr>
            <a:r>
              <a:rPr lang="nl-NL" dirty="0"/>
              <a:t>On average, the HPML teams gets 3-4 tickets per day regarding AI</a:t>
            </a:r>
          </a:p>
          <a:p>
            <a:pPr marL="628650" lvl="7" indent="-285750">
              <a:buFont typeface="Arial" panose="020B0604020202020204" pitchFamily="34" charset="0"/>
              <a:buChar char="•"/>
            </a:pPr>
            <a:r>
              <a:rPr lang="nl-NL" dirty="0"/>
              <a:t>Application support and compute resource requests, on average taking 1-4hrs (one person fulltime) </a:t>
            </a:r>
          </a:p>
          <a:p>
            <a:pPr marL="628650" lvl="6" indent="-285750">
              <a:buFont typeface="Arial" panose="020B0604020202020204" pitchFamily="34" charset="0"/>
              <a:buChar char="•"/>
            </a:pPr>
            <a:r>
              <a:rPr lang="nl-NL" dirty="0"/>
              <a:t>AI says we practically get infinite tickets a day at the end of 2026</a:t>
            </a:r>
            <a:br>
              <a:rPr lang="nl-NL" dirty="0"/>
            </a:br>
            <a:r>
              <a:rPr lang="nl-NL" dirty="0"/>
              <a:t>(Actually ~15, extrapolated, 5 people fulltime)</a:t>
            </a:r>
          </a:p>
          <a:p>
            <a:pPr marL="628650" lvl="6" indent="-285750">
              <a:buFont typeface="Arial" panose="020B0604020202020204" pitchFamily="34" charset="0"/>
              <a:buChar char="•"/>
            </a:pPr>
            <a:r>
              <a:rPr lang="nl-NL" dirty="0"/>
              <a:t>Not withstanding larger application support</a:t>
            </a:r>
          </a:p>
          <a:p>
            <a:pPr marL="285750" lvl="3" indent="-285750">
              <a:buFont typeface="Arial" panose="020B0604020202020204" pitchFamily="34" charset="0"/>
              <a:buChar char="•"/>
            </a:pPr>
            <a:r>
              <a:rPr lang="nl-NL" dirty="0"/>
              <a:t>Industry perspective:</a:t>
            </a:r>
          </a:p>
          <a:p>
            <a:pPr marL="628650" lvl="6" indent="-285750">
              <a:buFont typeface="Arial" panose="020B0604020202020204" pitchFamily="34" charset="0"/>
              <a:buChar char="•"/>
            </a:pPr>
            <a:r>
              <a:rPr lang="nl-NL" dirty="0"/>
              <a:t>AI has firmly taken over the HPC world</a:t>
            </a:r>
          </a:p>
          <a:p>
            <a:pPr marL="628650" lvl="6" indent="-285750">
              <a:buFont typeface="Arial" panose="020B0604020202020204" pitchFamily="34" charset="0"/>
              <a:buChar char="•"/>
            </a:pPr>
            <a:r>
              <a:rPr lang="nl-NL" dirty="0"/>
              <a:t>“AI is the new HPC” -&gt;</a:t>
            </a:r>
            <a:br>
              <a:rPr lang="nl-NL" dirty="0"/>
            </a:br>
            <a:r>
              <a:rPr lang="nl-NL" dirty="0"/>
              <a:t>AMD: “in 2025 ~30M datacenter GPUs datacenter </a:t>
            </a:r>
            <a:br>
              <a:rPr lang="nl-NL" dirty="0"/>
            </a:br>
            <a:r>
              <a:rPr lang="nl-NL" dirty="0"/>
              <a:t>were sold, of which ~500k for HPC applications”</a:t>
            </a:r>
          </a:p>
          <a:p>
            <a:pPr marL="285750" lvl="3" indent="-285750">
              <a:buFont typeface="Arial" panose="020B0604020202020204" pitchFamily="34" charset="0"/>
              <a:buChar char="•"/>
            </a:pPr>
            <a:r>
              <a:rPr lang="nl-NL" dirty="0"/>
              <a:t>Public perspective:</a:t>
            </a:r>
          </a:p>
          <a:p>
            <a:pPr marL="628650" lvl="7" indent="-285750">
              <a:buFont typeface="Arial" panose="020B0604020202020204" pitchFamily="34" charset="0"/>
              <a:buChar char="•"/>
            </a:pPr>
            <a:r>
              <a:rPr lang="nl-NL" dirty="0"/>
              <a:t>Data and compute sovereignity</a:t>
            </a:r>
            <a:br>
              <a:rPr lang="nl-NL" dirty="0"/>
            </a:br>
            <a:r>
              <a:rPr lang="nl-NL" dirty="0"/>
              <a:t>is of paramount importance</a:t>
            </a:r>
          </a:p>
          <a:p>
            <a:pPr marL="628650" lvl="7" indent="-285750">
              <a:buFont typeface="Arial" panose="020B0604020202020204" pitchFamily="34" charset="0"/>
              <a:buChar char="•"/>
            </a:pPr>
            <a:r>
              <a:rPr lang="nl-NL" dirty="0"/>
              <a:t>AI factories and Gigafactories</a:t>
            </a:r>
          </a:p>
          <a:p>
            <a:pPr marL="628650" lvl="7" indent="-285750">
              <a:buFontTx/>
              <a:buChar char="-"/>
            </a:pPr>
            <a:endParaRPr lang="nl-NL" dirty="0"/>
          </a:p>
          <a:p>
            <a:pPr marL="285750" lvl="3" indent="-285750">
              <a:buFontTx/>
              <a:buChar char="-"/>
            </a:pPr>
            <a:endParaRPr lang="nl-NL" dirty="0"/>
          </a:p>
          <a:p>
            <a:pPr marL="285750" lvl="3" indent="-285750">
              <a:buFontTx/>
              <a:buChar char="-"/>
            </a:pPr>
            <a:endParaRPr lang="nl-NL" dirty="0"/>
          </a:p>
        </p:txBody>
      </p:sp>
      <p:pic>
        <p:nvPicPr>
          <p:cNvPr id="9" name="Picture 8">
            <a:extLst>
              <a:ext uri="{FF2B5EF4-FFF2-40B4-BE49-F238E27FC236}">
                <a16:creationId xmlns:a16="http://schemas.microsoft.com/office/drawing/2014/main" id="{7B450038-78B2-9D6A-B7B8-AB8DF92FD391}"/>
              </a:ext>
            </a:extLst>
          </p:cNvPr>
          <p:cNvPicPr>
            <a:picLocks noChangeAspect="1"/>
          </p:cNvPicPr>
          <p:nvPr/>
        </p:nvPicPr>
        <p:blipFill>
          <a:blip r:embed="rId2"/>
          <a:stretch>
            <a:fillRect/>
          </a:stretch>
        </p:blipFill>
        <p:spPr>
          <a:xfrm>
            <a:off x="6973171" y="2945081"/>
            <a:ext cx="5234852" cy="3912919"/>
          </a:xfrm>
          <a:prstGeom prst="rect">
            <a:avLst/>
          </a:prstGeom>
        </p:spPr>
      </p:pic>
      <p:pic>
        <p:nvPicPr>
          <p:cNvPr id="7" name="Picture 6">
            <a:extLst>
              <a:ext uri="{FF2B5EF4-FFF2-40B4-BE49-F238E27FC236}">
                <a16:creationId xmlns:a16="http://schemas.microsoft.com/office/drawing/2014/main" id="{10F37EE9-071D-F505-1335-CE279124D11D}"/>
              </a:ext>
            </a:extLst>
          </p:cNvPr>
          <p:cNvPicPr>
            <a:picLocks noChangeAspect="1"/>
          </p:cNvPicPr>
          <p:nvPr/>
        </p:nvPicPr>
        <p:blipFill>
          <a:blip r:embed="rId3"/>
          <a:stretch>
            <a:fillRect/>
          </a:stretch>
        </p:blipFill>
        <p:spPr>
          <a:xfrm>
            <a:off x="4931664" y="5539387"/>
            <a:ext cx="1326632" cy="1326632"/>
          </a:xfrm>
          <a:prstGeom prst="rect">
            <a:avLst/>
          </a:prstGeom>
        </p:spPr>
      </p:pic>
    </p:spTree>
    <p:extLst>
      <p:ext uri="{BB962C8B-B14F-4D97-AF65-F5344CB8AC3E}">
        <p14:creationId xmlns:p14="http://schemas.microsoft.com/office/powerpoint/2010/main" val="2088478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4396F1B-EB90-366A-59DE-06E78FF6781B}"/>
              </a:ext>
            </a:extLst>
          </p:cNvPr>
          <p:cNvPicPr>
            <a:picLocks noChangeAspect="1"/>
          </p:cNvPicPr>
          <p:nvPr/>
        </p:nvPicPr>
        <p:blipFill>
          <a:blip r:embed="rId2"/>
          <a:stretch>
            <a:fillRect/>
          </a:stretch>
        </p:blipFill>
        <p:spPr>
          <a:xfrm>
            <a:off x="3979058" y="3306727"/>
            <a:ext cx="7762535" cy="3537116"/>
          </a:xfrm>
          <a:prstGeom prst="rect">
            <a:avLst/>
          </a:prstGeom>
        </p:spPr>
      </p:pic>
      <p:sp>
        <p:nvSpPr>
          <p:cNvPr id="2" name="Text Placeholder 1">
            <a:extLst>
              <a:ext uri="{FF2B5EF4-FFF2-40B4-BE49-F238E27FC236}">
                <a16:creationId xmlns:a16="http://schemas.microsoft.com/office/drawing/2014/main" id="{4E0FFB61-6571-3806-9C8F-37A39A46D09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439704C2-3FD2-C1DF-C62E-E96912AD05F7}"/>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D99EC12C-CEC1-EDCD-A97B-9948CFACA46D}"/>
              </a:ext>
            </a:extLst>
          </p:cNvPr>
          <p:cNvSpPr>
            <a:spLocks noGrp="1"/>
          </p:cNvSpPr>
          <p:nvPr>
            <p:ph type="title"/>
          </p:nvPr>
        </p:nvSpPr>
        <p:spPr/>
        <p:txBody>
          <a:bodyPr/>
          <a:lstStyle/>
          <a:p>
            <a:r>
              <a:rPr lang="en-US" dirty="0"/>
              <a:t>Who to design the AI factory for?</a:t>
            </a:r>
            <a:endParaRPr lang="en-NL" dirty="0"/>
          </a:p>
        </p:txBody>
      </p:sp>
      <p:sp>
        <p:nvSpPr>
          <p:cNvPr id="5" name="Content Placeholder 4">
            <a:extLst>
              <a:ext uri="{FF2B5EF4-FFF2-40B4-BE49-F238E27FC236}">
                <a16:creationId xmlns:a16="http://schemas.microsoft.com/office/drawing/2014/main" id="{F7E8643A-205E-C224-89D5-5710B2E35310}"/>
              </a:ext>
            </a:extLst>
          </p:cNvPr>
          <p:cNvSpPr>
            <a:spLocks noGrp="1"/>
          </p:cNvSpPr>
          <p:nvPr>
            <p:ph idx="19"/>
          </p:nvPr>
        </p:nvSpPr>
        <p:spPr/>
        <p:txBody>
          <a:bodyPr/>
          <a:lstStyle/>
          <a:p>
            <a:r>
              <a:rPr lang="en-US" dirty="0"/>
              <a:t>50/50 split between EuroHPC JU and The Netherlands</a:t>
            </a:r>
          </a:p>
          <a:p>
            <a:pPr lvl="1"/>
            <a:r>
              <a:rPr lang="en-US" dirty="0"/>
              <a:t>EuroHPC jobs almost per definition are large applications</a:t>
            </a:r>
          </a:p>
          <a:p>
            <a:r>
              <a:rPr lang="en-US" dirty="0"/>
              <a:t>Dutch Research?</a:t>
            </a:r>
          </a:p>
          <a:p>
            <a:pPr lvl="1"/>
            <a:r>
              <a:rPr lang="en-US" dirty="0"/>
              <a:t>Primarily ‘just’ need many GPUs, less emphasis on large jobs</a:t>
            </a:r>
          </a:p>
          <a:p>
            <a:r>
              <a:rPr lang="en-US" dirty="0"/>
              <a:t>SME?</a:t>
            </a:r>
          </a:p>
          <a:p>
            <a:pPr lvl="1"/>
            <a:r>
              <a:rPr lang="en-US" dirty="0"/>
              <a:t>Data security very important</a:t>
            </a:r>
          </a:p>
          <a:p>
            <a:pPr lvl="1"/>
            <a:r>
              <a:rPr lang="en-US" dirty="0"/>
              <a:t>More inference / always online type jobs</a:t>
            </a:r>
          </a:p>
          <a:p>
            <a:r>
              <a:rPr lang="en-US" dirty="0"/>
              <a:t>Public?</a:t>
            </a:r>
          </a:p>
          <a:p>
            <a:pPr lvl="1"/>
            <a:r>
              <a:rPr lang="en-US" dirty="0"/>
              <a:t>Again, data security</a:t>
            </a:r>
          </a:p>
          <a:p>
            <a:pPr lvl="1"/>
            <a:r>
              <a:rPr lang="en-US" dirty="0"/>
              <a:t>Small jobs?</a:t>
            </a:r>
            <a:endParaRPr lang="en-NL" dirty="0"/>
          </a:p>
        </p:txBody>
      </p:sp>
    </p:spTree>
    <p:extLst>
      <p:ext uri="{BB962C8B-B14F-4D97-AF65-F5344CB8AC3E}">
        <p14:creationId xmlns:p14="http://schemas.microsoft.com/office/powerpoint/2010/main" val="2137005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FFABF2-621F-0CBB-2A20-DBCA6FAA7C0E}"/>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79930FF1-1F4E-7DC4-8C52-77146FCECE75}"/>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77163422-0821-C5B5-AC58-747A06EF7AB7}"/>
              </a:ext>
            </a:extLst>
          </p:cNvPr>
          <p:cNvSpPr>
            <a:spLocks noGrp="1"/>
          </p:cNvSpPr>
          <p:nvPr>
            <p:ph type="title"/>
          </p:nvPr>
        </p:nvSpPr>
        <p:spPr/>
        <p:txBody>
          <a:bodyPr/>
          <a:lstStyle/>
          <a:p>
            <a:r>
              <a:rPr lang="en-US" dirty="0"/>
              <a:t>Who to design the AI factory for?</a:t>
            </a:r>
            <a:endParaRPr lang="en-NL" dirty="0"/>
          </a:p>
        </p:txBody>
      </p:sp>
      <p:sp>
        <p:nvSpPr>
          <p:cNvPr id="5" name="Content Placeholder 4">
            <a:extLst>
              <a:ext uri="{FF2B5EF4-FFF2-40B4-BE49-F238E27FC236}">
                <a16:creationId xmlns:a16="http://schemas.microsoft.com/office/drawing/2014/main" id="{15498084-8AD6-0D55-5E3E-FD6E642FECB3}"/>
              </a:ext>
            </a:extLst>
          </p:cNvPr>
          <p:cNvSpPr>
            <a:spLocks noGrp="1"/>
          </p:cNvSpPr>
          <p:nvPr>
            <p:ph idx="19"/>
          </p:nvPr>
        </p:nvSpPr>
        <p:spPr/>
        <p:txBody>
          <a:bodyPr/>
          <a:lstStyle/>
          <a:p>
            <a:r>
              <a:rPr lang="en-US" dirty="0"/>
              <a:t>Again, what to optimize for?</a:t>
            </a:r>
          </a:p>
          <a:p>
            <a:r>
              <a:rPr lang="en-US" dirty="0"/>
              <a:t>Do we want/need 10 vans or 1 Ferrari?</a:t>
            </a:r>
          </a:p>
          <a:p>
            <a:r>
              <a:rPr lang="en-US" dirty="0"/>
              <a:t>Critical scale for certain training runs (‘small’ Large-LMs)</a:t>
            </a:r>
          </a:p>
          <a:p>
            <a:pPr lvl="1"/>
            <a:r>
              <a:rPr lang="en-US" dirty="0"/>
              <a:t>Probably in the order of ~2k GPUs IFF tightly coupled</a:t>
            </a:r>
            <a:br>
              <a:rPr lang="en-US" dirty="0"/>
            </a:br>
            <a:r>
              <a:rPr lang="en-US" dirty="0"/>
              <a:t>(</a:t>
            </a:r>
            <a:r>
              <a:rPr lang="en-US" dirty="0">
                <a:hlinkClick r:id="rId2"/>
              </a:rPr>
              <a:t>https://arxiv.org/pdf/2412.19437</a:t>
            </a:r>
            <a:r>
              <a:rPr lang="en-US" b="1" dirty="0"/>
              <a:t>)</a:t>
            </a:r>
            <a:endParaRPr lang="en-US" dirty="0"/>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E0707100-8141-52C6-D681-5CCD735FBA6D}"/>
              </a:ext>
            </a:extLst>
          </p:cNvPr>
          <p:cNvPicPr>
            <a:picLocks noChangeAspect="1"/>
          </p:cNvPicPr>
          <p:nvPr/>
        </p:nvPicPr>
        <p:blipFill>
          <a:blip r:embed="rId3"/>
          <a:stretch>
            <a:fillRect/>
          </a:stretch>
        </p:blipFill>
        <p:spPr>
          <a:xfrm>
            <a:off x="7217777" y="0"/>
            <a:ext cx="5250848" cy="6858000"/>
          </a:xfrm>
          <a:prstGeom prst="rect">
            <a:avLst/>
          </a:prstGeom>
        </p:spPr>
      </p:pic>
      <p:sp>
        <p:nvSpPr>
          <p:cNvPr id="6" name="TextBox 5">
            <a:extLst>
              <a:ext uri="{FF2B5EF4-FFF2-40B4-BE49-F238E27FC236}">
                <a16:creationId xmlns:a16="http://schemas.microsoft.com/office/drawing/2014/main" id="{40332CE3-E002-A8D8-B861-A84A0C1A39BE}"/>
              </a:ext>
            </a:extLst>
          </p:cNvPr>
          <p:cNvSpPr txBox="1"/>
          <p:nvPr/>
        </p:nvSpPr>
        <p:spPr>
          <a:xfrm>
            <a:off x="9459045" y="6664669"/>
            <a:ext cx="2512679" cy="914400"/>
          </a:xfrm>
          <a:prstGeom prst="rect">
            <a:avLst/>
          </a:prstGeom>
          <a:noFill/>
        </p:spPr>
        <p:txBody>
          <a:bodyPr wrap="none" lIns="0" tIns="0" rIns="0" bIns="0" rtlCol="0">
            <a:noAutofit/>
          </a:bodyPr>
          <a:lstStyle/>
          <a:p>
            <a:pPr marL="0" indent="0">
              <a:buNone/>
            </a:pPr>
            <a:r>
              <a:rPr lang="en-US" sz="1000" dirty="0"/>
              <a:t>Source: https://arxiv.org/html/2410.21680v1</a:t>
            </a:r>
            <a:endParaRPr lang="en-NL" sz="1000" dirty="0"/>
          </a:p>
        </p:txBody>
      </p:sp>
      <p:pic>
        <p:nvPicPr>
          <p:cNvPr id="9" name="Picture 8">
            <a:extLst>
              <a:ext uri="{FF2B5EF4-FFF2-40B4-BE49-F238E27FC236}">
                <a16:creationId xmlns:a16="http://schemas.microsoft.com/office/drawing/2014/main" id="{D02C3CED-0D18-9DED-9549-39E865EAED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4533" y="5090672"/>
            <a:ext cx="3032632" cy="1705856"/>
          </a:xfrm>
          <a:prstGeom prst="rect">
            <a:avLst/>
          </a:prstGeom>
        </p:spPr>
      </p:pic>
    </p:spTree>
    <p:extLst>
      <p:ext uri="{BB962C8B-B14F-4D97-AF65-F5344CB8AC3E}">
        <p14:creationId xmlns:p14="http://schemas.microsoft.com/office/powerpoint/2010/main" val="3780074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46442E-C565-6C61-50E4-E3BE148AA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9981" y="2181735"/>
            <a:ext cx="6062019" cy="4684287"/>
          </a:xfrm>
          <a:prstGeom prst="rect">
            <a:avLst/>
          </a:prstGeom>
        </p:spPr>
      </p:pic>
      <p:sp>
        <p:nvSpPr>
          <p:cNvPr id="2" name="Text Placeholder 1">
            <a:extLst>
              <a:ext uri="{FF2B5EF4-FFF2-40B4-BE49-F238E27FC236}">
                <a16:creationId xmlns:a16="http://schemas.microsoft.com/office/drawing/2014/main" id="{00B61628-0EDA-AB7C-AC86-4855B415EC68}"/>
              </a:ext>
            </a:extLst>
          </p:cNvPr>
          <p:cNvSpPr>
            <a:spLocks noGrp="1"/>
          </p:cNvSpPr>
          <p:nvPr>
            <p:ph type="body" sz="quarter" idx="14"/>
          </p:nvPr>
        </p:nvSpPr>
        <p:spPr/>
        <p:txBody>
          <a:bodyPr/>
          <a:lstStyle/>
          <a:p>
            <a:endParaRPr lang="en-NL" dirty="0"/>
          </a:p>
        </p:txBody>
      </p:sp>
      <p:sp>
        <p:nvSpPr>
          <p:cNvPr id="3" name="Text Placeholder 2">
            <a:extLst>
              <a:ext uri="{FF2B5EF4-FFF2-40B4-BE49-F238E27FC236}">
                <a16:creationId xmlns:a16="http://schemas.microsoft.com/office/drawing/2014/main" id="{28F6D647-D0EB-468C-DA97-F1F5F3552DD7}"/>
              </a:ext>
            </a:extLst>
          </p:cNvPr>
          <p:cNvSpPr>
            <a:spLocks noGrp="1"/>
          </p:cNvSpPr>
          <p:nvPr>
            <p:ph type="body" sz="quarter" idx="18"/>
          </p:nvPr>
        </p:nvSpPr>
        <p:spPr/>
        <p:txBody>
          <a:bodyPr/>
          <a:lstStyle/>
          <a:p>
            <a:endParaRPr lang="en-NL" dirty="0"/>
          </a:p>
        </p:txBody>
      </p:sp>
      <p:sp>
        <p:nvSpPr>
          <p:cNvPr id="4" name="Title 3">
            <a:extLst>
              <a:ext uri="{FF2B5EF4-FFF2-40B4-BE49-F238E27FC236}">
                <a16:creationId xmlns:a16="http://schemas.microsoft.com/office/drawing/2014/main" id="{3A154E84-32F4-BCA5-4F4E-E27E042DBF51}"/>
              </a:ext>
            </a:extLst>
          </p:cNvPr>
          <p:cNvSpPr>
            <a:spLocks noGrp="1"/>
          </p:cNvSpPr>
          <p:nvPr>
            <p:ph type="title"/>
          </p:nvPr>
        </p:nvSpPr>
        <p:spPr/>
        <p:txBody>
          <a:bodyPr/>
          <a:lstStyle/>
          <a:p>
            <a:r>
              <a:rPr lang="en-US" dirty="0"/>
              <a:t>Critical innovations for AI</a:t>
            </a:r>
            <a:endParaRPr lang="en-NL" dirty="0"/>
          </a:p>
        </p:txBody>
      </p:sp>
      <p:sp>
        <p:nvSpPr>
          <p:cNvPr id="5" name="Content Placeholder 4">
            <a:extLst>
              <a:ext uri="{FF2B5EF4-FFF2-40B4-BE49-F238E27FC236}">
                <a16:creationId xmlns:a16="http://schemas.microsoft.com/office/drawing/2014/main" id="{D99FB700-1EDC-4614-B12E-40E05E12DFAC}"/>
              </a:ext>
            </a:extLst>
          </p:cNvPr>
          <p:cNvSpPr>
            <a:spLocks noGrp="1"/>
          </p:cNvSpPr>
          <p:nvPr>
            <p:ph idx="19"/>
          </p:nvPr>
        </p:nvSpPr>
        <p:spPr>
          <a:xfrm>
            <a:off x="865162" y="1149379"/>
            <a:ext cx="7428606" cy="4429497"/>
          </a:xfrm>
        </p:spPr>
        <p:txBody>
          <a:bodyPr/>
          <a:lstStyle/>
          <a:p>
            <a:endParaRPr lang="en-US" dirty="0"/>
          </a:p>
          <a:p>
            <a:r>
              <a:rPr lang="en-US" dirty="0" err="1"/>
              <a:t>Matmuls</a:t>
            </a:r>
            <a:r>
              <a:rPr lang="en-US" dirty="0"/>
              <a:t> are unreasonably efficient</a:t>
            </a:r>
          </a:p>
          <a:p>
            <a:r>
              <a:rPr lang="en-US" dirty="0"/>
              <a:t>Reduced precision (FP64 is dead)</a:t>
            </a:r>
          </a:p>
          <a:p>
            <a:pPr lvl="1"/>
            <a:r>
              <a:rPr lang="en-US" sz="1400" dirty="0"/>
              <a:t>double whammy of increased FLOPS</a:t>
            </a:r>
            <a:br>
              <a:rPr lang="en-US" sz="1400" dirty="0"/>
            </a:br>
            <a:r>
              <a:rPr lang="en-US" sz="1400" dirty="0"/>
              <a:t>and reduced memory footprint</a:t>
            </a:r>
            <a:br>
              <a:rPr lang="en-US" sz="1400" dirty="0"/>
            </a:br>
            <a:r>
              <a:rPr lang="en-US" sz="1400" dirty="0"/>
              <a:t>(many workloads are </a:t>
            </a:r>
            <a:r>
              <a:rPr lang="en-US" sz="1400" dirty="0" err="1"/>
              <a:t>membw</a:t>
            </a:r>
            <a:r>
              <a:rPr lang="en-US" sz="1400" dirty="0"/>
              <a:t> bound)</a:t>
            </a:r>
          </a:p>
          <a:p>
            <a:r>
              <a:rPr lang="en-US" dirty="0"/>
              <a:t>High-bandwidth domains:</a:t>
            </a:r>
          </a:p>
          <a:p>
            <a:pPr lvl="1"/>
            <a:r>
              <a:rPr lang="en-US" sz="1400" dirty="0"/>
              <a:t>order-of-magnitude faster interconnect than current interconnect</a:t>
            </a:r>
          </a:p>
          <a:p>
            <a:pPr lvl="1"/>
            <a:r>
              <a:rPr lang="en-US" sz="1400" dirty="0"/>
              <a:t>Enables model sharding (FSDP, Tensor-Parallel, </a:t>
            </a:r>
            <a:r>
              <a:rPr lang="en-US" sz="1400" dirty="0" err="1"/>
              <a:t>MoE</a:t>
            </a:r>
            <a:r>
              <a:rPr lang="en-US" sz="1400" dirty="0"/>
              <a:t>)</a:t>
            </a:r>
            <a:br>
              <a:rPr lang="en-US" sz="1400" dirty="0"/>
            </a:br>
            <a:r>
              <a:rPr lang="en-US" sz="1400" dirty="0"/>
              <a:t>Bigger models are simply better (given enough data)</a:t>
            </a:r>
          </a:p>
          <a:p>
            <a:pPr lvl="1"/>
            <a:r>
              <a:rPr lang="en-US" sz="1400" dirty="0"/>
              <a:t>Pods</a:t>
            </a:r>
            <a:endParaRPr lang="en-NL" sz="1400" dirty="0"/>
          </a:p>
        </p:txBody>
      </p:sp>
      <p:pic>
        <p:nvPicPr>
          <p:cNvPr id="10" name="Picture 9">
            <a:extLst>
              <a:ext uri="{FF2B5EF4-FFF2-40B4-BE49-F238E27FC236}">
                <a16:creationId xmlns:a16="http://schemas.microsoft.com/office/drawing/2014/main" id="{C9228B99-DF29-6028-82A5-F1572B4B4813}"/>
              </a:ext>
            </a:extLst>
          </p:cNvPr>
          <p:cNvPicPr>
            <a:picLocks noChangeAspect="1"/>
          </p:cNvPicPr>
          <p:nvPr/>
        </p:nvPicPr>
        <p:blipFill>
          <a:blip r:embed="rId3"/>
          <a:stretch>
            <a:fillRect/>
          </a:stretch>
        </p:blipFill>
        <p:spPr>
          <a:xfrm>
            <a:off x="7132328" y="99665"/>
            <a:ext cx="4636361" cy="2358918"/>
          </a:xfrm>
          <a:prstGeom prst="rect">
            <a:avLst/>
          </a:prstGeom>
        </p:spPr>
      </p:pic>
    </p:spTree>
    <p:extLst>
      <p:ext uri="{BB962C8B-B14F-4D97-AF65-F5344CB8AC3E}">
        <p14:creationId xmlns:p14="http://schemas.microsoft.com/office/powerpoint/2010/main" val="3550771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E7CF59-7ADC-A566-F8EA-CD27A9C95F6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3E849BC2-BA79-2061-5308-787E89AD7B7F}"/>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866FB7C0-E7C8-3ACB-BE33-CD2107E261F6}"/>
              </a:ext>
            </a:extLst>
          </p:cNvPr>
          <p:cNvSpPr>
            <a:spLocks noGrp="1"/>
          </p:cNvSpPr>
          <p:nvPr>
            <p:ph type="title"/>
          </p:nvPr>
        </p:nvSpPr>
        <p:spPr/>
        <p:txBody>
          <a:bodyPr/>
          <a:lstStyle/>
          <a:p>
            <a:r>
              <a:rPr lang="en-US" dirty="0"/>
              <a:t>So where does that leave us?</a:t>
            </a:r>
            <a:endParaRPr lang="en-NL" dirty="0"/>
          </a:p>
        </p:txBody>
      </p:sp>
      <p:sp>
        <p:nvSpPr>
          <p:cNvPr id="5" name="Content Placeholder 4">
            <a:extLst>
              <a:ext uri="{FF2B5EF4-FFF2-40B4-BE49-F238E27FC236}">
                <a16:creationId xmlns:a16="http://schemas.microsoft.com/office/drawing/2014/main" id="{9F1828CE-3BBD-C43A-B7A2-8A4333CA58C6}"/>
              </a:ext>
            </a:extLst>
          </p:cNvPr>
          <p:cNvSpPr>
            <a:spLocks noGrp="1"/>
          </p:cNvSpPr>
          <p:nvPr>
            <p:ph idx="19"/>
          </p:nvPr>
        </p:nvSpPr>
        <p:spPr>
          <a:xfrm>
            <a:off x="865162" y="1592262"/>
            <a:ext cx="9270078" cy="4060393"/>
          </a:xfrm>
        </p:spPr>
        <p:txBody>
          <a:bodyPr/>
          <a:lstStyle/>
          <a:p>
            <a:pPr marL="0" indent="0">
              <a:buNone/>
            </a:pPr>
            <a:r>
              <a:rPr lang="en-US" dirty="0"/>
              <a:t>Disclaimer time:</a:t>
            </a:r>
          </a:p>
          <a:p>
            <a:r>
              <a:rPr lang="en-US" dirty="0"/>
              <a:t>None of this is final</a:t>
            </a:r>
          </a:p>
          <a:p>
            <a:r>
              <a:rPr lang="en-US" dirty="0"/>
              <a:t>Good ideas are always appreciated</a:t>
            </a:r>
          </a:p>
          <a:p>
            <a:r>
              <a:rPr lang="en-US" dirty="0"/>
              <a:t>Fully dependent on funding</a:t>
            </a:r>
          </a:p>
          <a:p>
            <a:endParaRPr lang="en-US" dirty="0"/>
          </a:p>
          <a:p>
            <a:pPr marL="0" indent="0">
              <a:buNone/>
            </a:pPr>
            <a:r>
              <a:rPr lang="en-US" dirty="0"/>
              <a:t>HW design TL;DR: (Goes without saying) optimize both for capability and cost-effectiveness</a:t>
            </a:r>
          </a:p>
          <a:p>
            <a:r>
              <a:rPr lang="en-US" dirty="0"/>
              <a:t>Exascale 16-bit TFLOPS</a:t>
            </a:r>
          </a:p>
          <a:p>
            <a:r>
              <a:rPr lang="en-US" dirty="0"/>
              <a:t>Power envelope: 5MW</a:t>
            </a:r>
          </a:p>
          <a:p>
            <a:r>
              <a:rPr lang="en-US" dirty="0"/>
              <a:t>Compute: as many big AI GPUs as possible</a:t>
            </a:r>
          </a:p>
          <a:p>
            <a:r>
              <a:rPr lang="en-US" dirty="0"/>
              <a:t>Storage: tiered</a:t>
            </a:r>
          </a:p>
          <a:p>
            <a:r>
              <a:rPr lang="en-US" dirty="0"/>
              <a:t>Network: optimized</a:t>
            </a:r>
          </a:p>
          <a:p>
            <a:endParaRPr lang="en-US" dirty="0"/>
          </a:p>
          <a:p>
            <a:pPr marL="0" indent="0">
              <a:buNone/>
            </a:pPr>
            <a:endParaRPr lang="en-US" dirty="0"/>
          </a:p>
          <a:p>
            <a:endParaRPr lang="en-NL" dirty="0"/>
          </a:p>
        </p:txBody>
      </p:sp>
    </p:spTree>
    <p:extLst>
      <p:ext uri="{BB962C8B-B14F-4D97-AF65-F5344CB8AC3E}">
        <p14:creationId xmlns:p14="http://schemas.microsoft.com/office/powerpoint/2010/main" val="3850946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BD97E6-255B-54BB-BAD4-37B111400448}"/>
              </a:ext>
            </a:extLst>
          </p:cNvPr>
          <p:cNvSpPr>
            <a:spLocks noGrp="1"/>
          </p:cNvSpPr>
          <p:nvPr>
            <p:ph type="body" sz="quarter" idx="14"/>
          </p:nvPr>
        </p:nvSpPr>
        <p:spPr>
          <a:xfrm>
            <a:off x="153072" y="6298280"/>
            <a:ext cx="932400" cy="475200"/>
          </a:xfrm>
        </p:spPr>
        <p:txBody>
          <a:bodyPr/>
          <a:lstStyle/>
          <a:p>
            <a:endParaRPr lang="en-NL"/>
          </a:p>
        </p:txBody>
      </p:sp>
      <p:sp>
        <p:nvSpPr>
          <p:cNvPr id="3" name="Text Placeholder 2">
            <a:extLst>
              <a:ext uri="{FF2B5EF4-FFF2-40B4-BE49-F238E27FC236}">
                <a16:creationId xmlns:a16="http://schemas.microsoft.com/office/drawing/2014/main" id="{D7810F41-EACB-F47B-EE9D-742BD26A8C9A}"/>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4D8FF3B9-4FB0-F874-3BD2-123DF35F667C}"/>
              </a:ext>
            </a:extLst>
          </p:cNvPr>
          <p:cNvSpPr>
            <a:spLocks noGrp="1"/>
          </p:cNvSpPr>
          <p:nvPr>
            <p:ph type="title"/>
          </p:nvPr>
        </p:nvSpPr>
        <p:spPr/>
        <p:txBody>
          <a:bodyPr/>
          <a:lstStyle/>
          <a:p>
            <a:r>
              <a:rPr lang="en-US" dirty="0"/>
              <a:t>Compute</a:t>
            </a:r>
            <a:endParaRPr lang="en-NL" dirty="0"/>
          </a:p>
        </p:txBody>
      </p:sp>
      <p:sp>
        <p:nvSpPr>
          <p:cNvPr id="5" name="Content Placeholder 4">
            <a:extLst>
              <a:ext uri="{FF2B5EF4-FFF2-40B4-BE49-F238E27FC236}">
                <a16:creationId xmlns:a16="http://schemas.microsoft.com/office/drawing/2014/main" id="{68B3D147-AF18-1130-68FD-D52B633DB06F}"/>
              </a:ext>
            </a:extLst>
          </p:cNvPr>
          <p:cNvSpPr>
            <a:spLocks noGrp="1"/>
          </p:cNvSpPr>
          <p:nvPr>
            <p:ph idx="19"/>
          </p:nvPr>
        </p:nvSpPr>
        <p:spPr/>
        <p:txBody>
          <a:bodyPr/>
          <a:lstStyle/>
          <a:p>
            <a:r>
              <a:rPr lang="en-US" dirty="0"/>
              <a:t>Performance  partition: 1k GPUs</a:t>
            </a:r>
          </a:p>
          <a:p>
            <a:pPr lvl="1"/>
            <a:r>
              <a:rPr lang="en-US" dirty="0"/>
              <a:t>Big GPUs, Big interconnect</a:t>
            </a:r>
            <a:br>
              <a:rPr lang="en-US" dirty="0"/>
            </a:br>
            <a:r>
              <a:rPr lang="en-US" dirty="0"/>
              <a:t>PFLOPS per GPU, 200GB+ HBM VRAM</a:t>
            </a:r>
          </a:p>
          <a:p>
            <a:pPr lvl="1"/>
            <a:r>
              <a:rPr lang="en-US" dirty="0"/>
              <a:t>Focus on training or big-model inference</a:t>
            </a:r>
          </a:p>
          <a:p>
            <a:pPr lvl="1"/>
            <a:r>
              <a:rPr lang="en-US" dirty="0"/>
              <a:t>120-240kW+ per rack</a:t>
            </a:r>
          </a:p>
          <a:p>
            <a:r>
              <a:rPr lang="en-US" strike="sngStrike" dirty="0"/>
              <a:t>Efficient partition</a:t>
            </a:r>
          </a:p>
          <a:p>
            <a:pPr lvl="1"/>
            <a:r>
              <a:rPr lang="en-US" strike="sngStrike" dirty="0"/>
              <a:t>Cost effective GPUs</a:t>
            </a:r>
          </a:p>
          <a:p>
            <a:pPr lvl="1"/>
            <a:r>
              <a:rPr lang="en-US" strike="sngStrike" dirty="0"/>
              <a:t>No interconnect</a:t>
            </a:r>
          </a:p>
          <a:p>
            <a:pPr lvl="1"/>
            <a:r>
              <a:rPr lang="en-US" strike="sngStrike" dirty="0"/>
              <a:t>Online inference</a:t>
            </a:r>
          </a:p>
          <a:p>
            <a:r>
              <a:rPr lang="en-US" dirty="0"/>
              <a:t>CPU partition</a:t>
            </a:r>
          </a:p>
          <a:p>
            <a:pPr lvl="1"/>
            <a:r>
              <a:rPr lang="en-US" dirty="0"/>
              <a:t>Pre/Post processing and CPU-based ML</a:t>
            </a:r>
          </a:p>
          <a:p>
            <a:r>
              <a:rPr lang="en-US" dirty="0"/>
              <a:t>Specialized partition</a:t>
            </a:r>
          </a:p>
          <a:p>
            <a:pPr lvl="1"/>
            <a:r>
              <a:rPr lang="en-US" dirty="0"/>
              <a:t>Exotic hardware for specific use cases</a:t>
            </a:r>
          </a:p>
          <a:p>
            <a:endParaRPr lang="en-NL" dirty="0"/>
          </a:p>
        </p:txBody>
      </p:sp>
      <p:pic>
        <p:nvPicPr>
          <p:cNvPr id="7" name="Picture 6">
            <a:extLst>
              <a:ext uri="{FF2B5EF4-FFF2-40B4-BE49-F238E27FC236}">
                <a16:creationId xmlns:a16="http://schemas.microsoft.com/office/drawing/2014/main" id="{38E01853-D8FA-78FA-B3C2-E0C77C855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7164" y="207468"/>
            <a:ext cx="6434836" cy="3066083"/>
          </a:xfrm>
          <a:prstGeom prst="rect">
            <a:avLst/>
          </a:prstGeom>
        </p:spPr>
      </p:pic>
      <p:pic>
        <p:nvPicPr>
          <p:cNvPr id="8" name="Picture 7">
            <a:extLst>
              <a:ext uri="{FF2B5EF4-FFF2-40B4-BE49-F238E27FC236}">
                <a16:creationId xmlns:a16="http://schemas.microsoft.com/office/drawing/2014/main" id="{32198CA0-117F-2C38-F5C8-6085A5329F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3207" y="3334702"/>
            <a:ext cx="4905981" cy="3561308"/>
          </a:xfrm>
          <a:prstGeom prst="rect">
            <a:avLst/>
          </a:prstGeom>
        </p:spPr>
      </p:pic>
    </p:spTree>
    <p:extLst>
      <p:ext uri="{BB962C8B-B14F-4D97-AF65-F5344CB8AC3E}">
        <p14:creationId xmlns:p14="http://schemas.microsoft.com/office/powerpoint/2010/main" val="2847122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3A2476-CA17-B1E1-5FF2-C46624527916}"/>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CA04B1C1-B977-6C81-711D-0DC738DACCAB}"/>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09A76CD7-34BA-98C6-8535-7D436B07CA3C}"/>
              </a:ext>
            </a:extLst>
          </p:cNvPr>
          <p:cNvSpPr>
            <a:spLocks noGrp="1"/>
          </p:cNvSpPr>
          <p:nvPr>
            <p:ph type="title"/>
          </p:nvPr>
        </p:nvSpPr>
        <p:spPr/>
        <p:txBody>
          <a:bodyPr/>
          <a:lstStyle/>
          <a:p>
            <a:r>
              <a:rPr lang="en-US" dirty="0"/>
              <a:t>Storage</a:t>
            </a:r>
            <a:endParaRPr lang="en-NL" dirty="0"/>
          </a:p>
        </p:txBody>
      </p:sp>
      <p:sp>
        <p:nvSpPr>
          <p:cNvPr id="5" name="Content Placeholder 4">
            <a:extLst>
              <a:ext uri="{FF2B5EF4-FFF2-40B4-BE49-F238E27FC236}">
                <a16:creationId xmlns:a16="http://schemas.microsoft.com/office/drawing/2014/main" id="{A333BD30-75CA-A70E-64EB-D507793B1E3A}"/>
              </a:ext>
            </a:extLst>
          </p:cNvPr>
          <p:cNvSpPr>
            <a:spLocks noGrp="1"/>
          </p:cNvSpPr>
          <p:nvPr>
            <p:ph idx="19"/>
          </p:nvPr>
        </p:nvSpPr>
        <p:spPr>
          <a:xfrm>
            <a:off x="865162" y="1592262"/>
            <a:ext cx="8559254" cy="4060393"/>
          </a:xfrm>
        </p:spPr>
        <p:txBody>
          <a:bodyPr/>
          <a:lstStyle/>
          <a:p>
            <a:r>
              <a:rPr lang="en-US" dirty="0"/>
              <a:t>Tiered:</a:t>
            </a:r>
          </a:p>
          <a:p>
            <a:pPr lvl="1"/>
            <a:r>
              <a:rPr lang="en-US" dirty="0"/>
              <a:t>‘Hot’ storage: all-NVMe SSD scratch</a:t>
            </a:r>
          </a:p>
          <a:p>
            <a:pPr lvl="2"/>
            <a:r>
              <a:rPr lang="en-US" dirty="0"/>
              <a:t>ML workloads are very often continuous-load high-</a:t>
            </a:r>
            <a:r>
              <a:rPr lang="en-US" dirty="0" err="1"/>
              <a:t>IOps</a:t>
            </a:r>
            <a:endParaRPr lang="en-US" dirty="0"/>
          </a:p>
          <a:p>
            <a:pPr lvl="2"/>
            <a:r>
              <a:rPr lang="en-US" dirty="0"/>
              <a:t>No node-local storage! (?)</a:t>
            </a:r>
          </a:p>
          <a:p>
            <a:pPr lvl="1"/>
            <a:r>
              <a:rPr lang="en-US" dirty="0"/>
              <a:t>‘Warm’ storage: performant spinning disk parallel fs</a:t>
            </a:r>
          </a:p>
          <a:p>
            <a:pPr lvl="2"/>
            <a:r>
              <a:rPr lang="en-US" dirty="0"/>
              <a:t>Backbone of the system</a:t>
            </a:r>
          </a:p>
          <a:p>
            <a:pPr lvl="1"/>
            <a:r>
              <a:rPr lang="en-US" dirty="0"/>
              <a:t>‘Lukewarm’ storage: object store</a:t>
            </a:r>
          </a:p>
          <a:p>
            <a:pPr lvl="2"/>
            <a:r>
              <a:rPr lang="en-US" dirty="0"/>
              <a:t>Data ingress, and integration with cloud and other EU systems</a:t>
            </a:r>
          </a:p>
          <a:p>
            <a:pPr lvl="1"/>
            <a:r>
              <a:rPr lang="en-US" dirty="0"/>
              <a:t>‘Cold’ storage: tape</a:t>
            </a:r>
          </a:p>
          <a:p>
            <a:pPr lvl="2"/>
            <a:r>
              <a:rPr lang="en-US" dirty="0"/>
              <a:t>Not generally available to users, but used as cost-effective backend for data storage and archival purposes</a:t>
            </a:r>
          </a:p>
          <a:p>
            <a:pPr lvl="2"/>
            <a:endParaRPr lang="en-US" dirty="0"/>
          </a:p>
          <a:p>
            <a:pPr marL="361950" lvl="2" indent="0">
              <a:buNone/>
            </a:pPr>
            <a:endParaRPr lang="en-US" dirty="0"/>
          </a:p>
          <a:p>
            <a:pPr lvl="1"/>
            <a:endParaRPr lang="en-NL" dirty="0"/>
          </a:p>
        </p:txBody>
      </p:sp>
    </p:spTree>
    <p:extLst>
      <p:ext uri="{BB962C8B-B14F-4D97-AF65-F5344CB8AC3E}">
        <p14:creationId xmlns:p14="http://schemas.microsoft.com/office/powerpoint/2010/main" val="3349078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5358E9-97EA-EA80-1F80-BBFCD0D6142D}"/>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6B7940B7-D27A-05DF-D2E2-26E6CDC53E8C}"/>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A73A3163-E72D-29B3-87F6-BD180035C610}"/>
              </a:ext>
            </a:extLst>
          </p:cNvPr>
          <p:cNvSpPr>
            <a:spLocks noGrp="1"/>
          </p:cNvSpPr>
          <p:nvPr>
            <p:ph type="title"/>
          </p:nvPr>
        </p:nvSpPr>
        <p:spPr/>
        <p:txBody>
          <a:bodyPr/>
          <a:lstStyle/>
          <a:p>
            <a:r>
              <a:rPr lang="en-US" dirty="0"/>
              <a:t>Interconnect</a:t>
            </a:r>
            <a:endParaRPr lang="en-NL" dirty="0"/>
          </a:p>
        </p:txBody>
      </p:sp>
      <p:sp>
        <p:nvSpPr>
          <p:cNvPr id="5" name="Content Placeholder 4">
            <a:extLst>
              <a:ext uri="{FF2B5EF4-FFF2-40B4-BE49-F238E27FC236}">
                <a16:creationId xmlns:a16="http://schemas.microsoft.com/office/drawing/2014/main" id="{22017442-654A-8244-24F4-288C4C823135}"/>
              </a:ext>
            </a:extLst>
          </p:cNvPr>
          <p:cNvSpPr>
            <a:spLocks noGrp="1"/>
          </p:cNvSpPr>
          <p:nvPr>
            <p:ph idx="19"/>
          </p:nvPr>
        </p:nvSpPr>
        <p:spPr/>
        <p:txBody>
          <a:bodyPr/>
          <a:lstStyle/>
          <a:p>
            <a:r>
              <a:rPr lang="en-US" dirty="0"/>
              <a:t>Probably 4-8 GPU’s per node all-to-all</a:t>
            </a:r>
          </a:p>
          <a:p>
            <a:pPr lvl="1"/>
            <a:r>
              <a:rPr lang="en-US" dirty="0"/>
              <a:t>Memory is large enough to not need Pods</a:t>
            </a:r>
          </a:p>
          <a:p>
            <a:r>
              <a:rPr lang="en-US" dirty="0"/>
              <a:t>Big ‘scale-out’ network is probably not necessary</a:t>
            </a:r>
          </a:p>
          <a:p>
            <a:pPr lvl="1"/>
            <a:r>
              <a:rPr lang="en-US" dirty="0"/>
              <a:t>We are too small for that</a:t>
            </a:r>
          </a:p>
          <a:p>
            <a:pPr lvl="1"/>
            <a:r>
              <a:rPr lang="en-US" dirty="0"/>
              <a:t>E.g.: two supplementary</a:t>
            </a:r>
            <a:br>
              <a:rPr lang="en-US" dirty="0"/>
            </a:br>
            <a:r>
              <a:rPr lang="en-US" dirty="0"/>
              <a:t>800Gbps NICs per node</a:t>
            </a:r>
            <a:br>
              <a:rPr lang="en-US" dirty="0"/>
            </a:br>
            <a:r>
              <a:rPr lang="en-US" dirty="0"/>
              <a:t>for </a:t>
            </a:r>
            <a:r>
              <a:rPr lang="en-US" dirty="0" err="1"/>
              <a:t>dataloading</a:t>
            </a:r>
            <a:r>
              <a:rPr lang="en-US" dirty="0"/>
              <a:t> or scale-out</a:t>
            </a:r>
          </a:p>
        </p:txBody>
      </p:sp>
      <p:pic>
        <p:nvPicPr>
          <p:cNvPr id="13" name="Picture 12">
            <a:extLst>
              <a:ext uri="{FF2B5EF4-FFF2-40B4-BE49-F238E27FC236}">
                <a16:creationId xmlns:a16="http://schemas.microsoft.com/office/drawing/2014/main" id="{771273D6-1A80-1208-0FFD-3C91ED7483BA}"/>
              </a:ext>
            </a:extLst>
          </p:cNvPr>
          <p:cNvPicPr>
            <a:picLocks noChangeAspect="1"/>
          </p:cNvPicPr>
          <p:nvPr/>
        </p:nvPicPr>
        <p:blipFill>
          <a:blip r:embed="rId2"/>
          <a:stretch>
            <a:fillRect/>
          </a:stretch>
        </p:blipFill>
        <p:spPr>
          <a:xfrm>
            <a:off x="6018521" y="0"/>
            <a:ext cx="6173480" cy="3429000"/>
          </a:xfrm>
          <a:prstGeom prst="rect">
            <a:avLst/>
          </a:prstGeom>
        </p:spPr>
      </p:pic>
      <p:pic>
        <p:nvPicPr>
          <p:cNvPr id="15" name="Picture 14">
            <a:extLst>
              <a:ext uri="{FF2B5EF4-FFF2-40B4-BE49-F238E27FC236}">
                <a16:creationId xmlns:a16="http://schemas.microsoft.com/office/drawing/2014/main" id="{EAB1B097-79CA-C264-6AF4-3AF2F47C74C2}"/>
              </a:ext>
            </a:extLst>
          </p:cNvPr>
          <p:cNvPicPr>
            <a:picLocks noChangeAspect="1"/>
          </p:cNvPicPr>
          <p:nvPr/>
        </p:nvPicPr>
        <p:blipFill>
          <a:blip r:embed="rId3"/>
          <a:stretch>
            <a:fillRect/>
          </a:stretch>
        </p:blipFill>
        <p:spPr>
          <a:xfrm>
            <a:off x="2820589" y="3664780"/>
            <a:ext cx="9371411" cy="3086576"/>
          </a:xfrm>
          <a:prstGeom prst="rect">
            <a:avLst/>
          </a:prstGeom>
        </p:spPr>
      </p:pic>
    </p:spTree>
    <p:extLst>
      <p:ext uri="{BB962C8B-B14F-4D97-AF65-F5344CB8AC3E}">
        <p14:creationId xmlns:p14="http://schemas.microsoft.com/office/powerpoint/2010/main" val="1721256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19D218-9E6A-F969-E0DD-E27B1D3EDDC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742A6AE-6DFF-7482-EB69-16B8CB433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6861" y="-67056"/>
            <a:ext cx="7261040" cy="6992112"/>
          </a:xfrm>
          <a:prstGeom prst="rect">
            <a:avLst/>
          </a:prstGeom>
        </p:spPr>
      </p:pic>
      <p:sp>
        <p:nvSpPr>
          <p:cNvPr id="2" name="Text Placeholder 1">
            <a:extLst>
              <a:ext uri="{FF2B5EF4-FFF2-40B4-BE49-F238E27FC236}">
                <a16:creationId xmlns:a16="http://schemas.microsoft.com/office/drawing/2014/main" id="{A06F62ED-D2B9-C48F-384D-B48C7BDBE994}"/>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8C8EA8B2-760B-9111-1E6C-C3DDFF0A69F1}"/>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57207291-3C85-20AF-3E0B-17A458E9E1A8}"/>
              </a:ext>
            </a:extLst>
          </p:cNvPr>
          <p:cNvSpPr>
            <a:spLocks noGrp="1"/>
          </p:cNvSpPr>
          <p:nvPr>
            <p:ph type="title"/>
          </p:nvPr>
        </p:nvSpPr>
        <p:spPr/>
        <p:txBody>
          <a:bodyPr/>
          <a:lstStyle/>
          <a:p>
            <a:r>
              <a:rPr lang="en-US" dirty="0"/>
              <a:t>Interconnect</a:t>
            </a:r>
            <a:endParaRPr lang="en-NL" dirty="0"/>
          </a:p>
        </p:txBody>
      </p:sp>
      <p:sp>
        <p:nvSpPr>
          <p:cNvPr id="5" name="Content Placeholder 4">
            <a:extLst>
              <a:ext uri="{FF2B5EF4-FFF2-40B4-BE49-F238E27FC236}">
                <a16:creationId xmlns:a16="http://schemas.microsoft.com/office/drawing/2014/main" id="{D4C15E1C-F8EB-4CDC-A018-1FDCBB760631}"/>
              </a:ext>
            </a:extLst>
          </p:cNvPr>
          <p:cNvSpPr>
            <a:spLocks noGrp="1"/>
          </p:cNvSpPr>
          <p:nvPr>
            <p:ph idx="19"/>
          </p:nvPr>
        </p:nvSpPr>
        <p:spPr/>
        <p:txBody>
          <a:bodyPr/>
          <a:lstStyle/>
          <a:p>
            <a:r>
              <a:rPr lang="en-US" dirty="0"/>
              <a:t>All-copper ‘scale-up’ </a:t>
            </a:r>
          </a:p>
          <a:p>
            <a:pPr lvl="1"/>
            <a:r>
              <a:rPr lang="en-US" dirty="0"/>
              <a:t>8Tbps+ </a:t>
            </a:r>
            <a:r>
              <a:rPr lang="en-US" b="1" dirty="0"/>
              <a:t>per GPU</a:t>
            </a:r>
            <a:r>
              <a:rPr lang="en-US" dirty="0"/>
              <a:t> BW, connected directly to the GPU</a:t>
            </a:r>
          </a:p>
          <a:p>
            <a:pPr lvl="1"/>
            <a:r>
              <a:rPr lang="en-US" dirty="0"/>
              <a:t>For reference: Snellius GPU nodes = 2x200Gpbs divided over 4 GPUs</a:t>
            </a:r>
          </a:p>
          <a:p>
            <a:pPr lvl="1"/>
            <a:r>
              <a:rPr lang="en-US" dirty="0"/>
              <a:t>Single layer of switches connect up-to 256 GPUs</a:t>
            </a:r>
          </a:p>
          <a:p>
            <a:r>
              <a:rPr lang="en-US" dirty="0"/>
              <a:t>Big ‘scale-out’ network is probably not necessary</a:t>
            </a:r>
          </a:p>
          <a:p>
            <a:pPr lvl="1"/>
            <a:r>
              <a:rPr lang="en-US" dirty="0"/>
              <a:t>We are too small for that</a:t>
            </a:r>
          </a:p>
          <a:p>
            <a:pPr lvl="1"/>
            <a:r>
              <a:rPr lang="en-US" dirty="0"/>
              <a:t>E.g.: single supplementary</a:t>
            </a:r>
            <a:br>
              <a:rPr lang="en-US" dirty="0"/>
            </a:br>
            <a:r>
              <a:rPr lang="en-US" dirty="0"/>
              <a:t>800Gbps NIC per node</a:t>
            </a:r>
            <a:br>
              <a:rPr lang="en-US" dirty="0"/>
            </a:br>
            <a:r>
              <a:rPr lang="en-US" dirty="0"/>
              <a:t>for </a:t>
            </a:r>
            <a:r>
              <a:rPr lang="en-US" dirty="0" err="1"/>
              <a:t>dataloading</a:t>
            </a:r>
            <a:r>
              <a:rPr lang="en-US" dirty="0"/>
              <a:t> or scale-out</a:t>
            </a:r>
          </a:p>
        </p:txBody>
      </p:sp>
      <p:pic>
        <p:nvPicPr>
          <p:cNvPr id="9" name="Picture 8">
            <a:extLst>
              <a:ext uri="{FF2B5EF4-FFF2-40B4-BE49-F238E27FC236}">
                <a16:creationId xmlns:a16="http://schemas.microsoft.com/office/drawing/2014/main" id="{71F2AF47-7460-0F01-39CE-E22EE6C1F0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5521" y="3468014"/>
            <a:ext cx="4669971" cy="3389986"/>
          </a:xfrm>
          <a:prstGeom prst="rect">
            <a:avLst/>
          </a:prstGeom>
        </p:spPr>
      </p:pic>
      <p:pic>
        <p:nvPicPr>
          <p:cNvPr id="11" name="Picture 10">
            <a:extLst>
              <a:ext uri="{FF2B5EF4-FFF2-40B4-BE49-F238E27FC236}">
                <a16:creationId xmlns:a16="http://schemas.microsoft.com/office/drawing/2014/main" id="{CBFF9BFD-2D7E-83CB-C753-ADCE5BE2C7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888958"/>
            <a:ext cx="4135521" cy="1969041"/>
          </a:xfrm>
          <a:prstGeom prst="rect">
            <a:avLst/>
          </a:prstGeom>
        </p:spPr>
      </p:pic>
      <p:pic>
        <p:nvPicPr>
          <p:cNvPr id="13" name="Picture 12">
            <a:extLst>
              <a:ext uri="{FF2B5EF4-FFF2-40B4-BE49-F238E27FC236}">
                <a16:creationId xmlns:a16="http://schemas.microsoft.com/office/drawing/2014/main" id="{AC7BC44A-7566-C8D3-4040-386DBE538B71}"/>
              </a:ext>
            </a:extLst>
          </p:cNvPr>
          <p:cNvPicPr>
            <a:picLocks noChangeAspect="1"/>
          </p:cNvPicPr>
          <p:nvPr/>
        </p:nvPicPr>
        <p:blipFill>
          <a:blip r:embed="rId5"/>
          <a:stretch>
            <a:fillRect/>
          </a:stretch>
        </p:blipFill>
        <p:spPr>
          <a:xfrm>
            <a:off x="5305140" y="-67056"/>
            <a:ext cx="3578919" cy="1987876"/>
          </a:xfrm>
          <a:prstGeom prst="rect">
            <a:avLst/>
          </a:prstGeom>
        </p:spPr>
      </p:pic>
      <p:pic>
        <p:nvPicPr>
          <p:cNvPr id="15" name="Picture 14">
            <a:extLst>
              <a:ext uri="{FF2B5EF4-FFF2-40B4-BE49-F238E27FC236}">
                <a16:creationId xmlns:a16="http://schemas.microsoft.com/office/drawing/2014/main" id="{2A4498A2-1687-C235-E3BE-11B59372FDCB}"/>
              </a:ext>
            </a:extLst>
          </p:cNvPr>
          <p:cNvPicPr>
            <a:picLocks noChangeAspect="1"/>
          </p:cNvPicPr>
          <p:nvPr/>
        </p:nvPicPr>
        <p:blipFill>
          <a:blip r:embed="rId6"/>
          <a:stretch>
            <a:fillRect/>
          </a:stretch>
        </p:blipFill>
        <p:spPr>
          <a:xfrm>
            <a:off x="6096000" y="2604057"/>
            <a:ext cx="2877228" cy="947646"/>
          </a:xfrm>
          <a:prstGeom prst="rect">
            <a:avLst/>
          </a:prstGeom>
        </p:spPr>
      </p:pic>
    </p:spTree>
    <p:extLst>
      <p:ext uri="{BB962C8B-B14F-4D97-AF65-F5344CB8AC3E}">
        <p14:creationId xmlns:p14="http://schemas.microsoft.com/office/powerpoint/2010/main" val="4131673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c44e48b3bafe6335c8658b98a8833334aa899c4"/>
</p:tagLst>
</file>

<file path=ppt/theme/theme1.xml><?xml version="1.0" encoding="utf-8"?>
<a:theme xmlns:a="http://schemas.openxmlformats.org/drawingml/2006/main" name="Template Slidebuilder - SURF">
  <a:themeElements>
    <a:clrScheme name="SURF">
      <a:dk1>
        <a:srgbClr val="000000"/>
      </a:dk1>
      <a:lt1>
        <a:srgbClr val="FFFFFF"/>
      </a:lt1>
      <a:dk2>
        <a:srgbClr val="070809"/>
      </a:dk2>
      <a:lt2>
        <a:srgbClr val="FFFFFF"/>
      </a:lt2>
      <a:accent1>
        <a:srgbClr val="EE7628"/>
      </a:accent1>
      <a:accent2>
        <a:srgbClr val="F6DA44"/>
      </a:accent2>
      <a:accent3>
        <a:srgbClr val="177ABF"/>
      </a:accent3>
      <a:accent4>
        <a:srgbClr val="2CA055"/>
      </a:accent4>
      <a:accent5>
        <a:srgbClr val="7B2882"/>
      </a:accent5>
      <a:accent6>
        <a:srgbClr val="E7303A"/>
      </a:accent6>
      <a:hlink>
        <a:srgbClr val="CCCBCB"/>
      </a:hlink>
      <a:folHlink>
        <a:srgbClr val="211F26"/>
      </a:folHlink>
    </a:clrScheme>
    <a:fontScheme name="SURF">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190F0B-833F-43B9-8FDD-EFC0F7B49B29}">
  <we:reference id="5b784de7-d1ba-46fc-b40c-e70ff4de9d93" version="1.0.0.3" store="\\PPTDC\Shared Folders\Documenten\Ferry\Opdrachtgevers\Slidebuilder" storeType="Filesystem"/>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7785</TotalTime>
  <Words>8128</Words>
  <Application>Microsoft Office PowerPoint</Application>
  <PresentationFormat>Widescreen</PresentationFormat>
  <Paragraphs>1873</Paragraphs>
  <Slides>121</Slides>
  <Notes>65</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121</vt:i4>
      </vt:variant>
    </vt:vector>
  </HeadingPairs>
  <TitlesOfParts>
    <vt:vector size="133" baseType="lpstr">
      <vt:lpstr>Aptos</vt:lpstr>
      <vt:lpstr>Arial</vt:lpstr>
      <vt:lpstr>Calibri</vt:lpstr>
      <vt:lpstr>Calibri,Sans-Serif</vt:lpstr>
      <vt:lpstr>Cambria Math</vt:lpstr>
      <vt:lpstr>Cantarell 1</vt:lpstr>
      <vt:lpstr>Cantarell 2</vt:lpstr>
      <vt:lpstr>Courier New</vt:lpstr>
      <vt:lpstr>Helvetica Neue</vt:lpstr>
      <vt:lpstr>Times New Roman</vt:lpstr>
      <vt:lpstr>Wingdings</vt:lpstr>
      <vt:lpstr>Template Slidebuilder - SURF</vt:lpstr>
      <vt:lpstr>PowerPoint Presentation</vt:lpstr>
      <vt:lpstr>In this presentation</vt:lpstr>
      <vt:lpstr>In this presentation</vt:lpstr>
      <vt:lpstr>Chapter orange</vt:lpstr>
      <vt:lpstr>Who am I</vt:lpstr>
      <vt:lpstr>Snellius</vt:lpstr>
      <vt:lpstr>Access mechanisms</vt:lpstr>
      <vt:lpstr>PowerPoint Presentation</vt:lpstr>
      <vt:lpstr>PowerPoint Presentation</vt:lpstr>
      <vt:lpstr>Chapter orange</vt:lpstr>
      <vt:lpstr>The three S'</vt:lpstr>
      <vt:lpstr>System</vt:lpstr>
      <vt:lpstr>System</vt:lpstr>
      <vt:lpstr>Fundamental bottlenecks</vt:lpstr>
      <vt:lpstr>Fundamental bottlenecks</vt:lpstr>
      <vt:lpstr>Fundamental bottlenecks</vt:lpstr>
      <vt:lpstr>Fundamental bottlenecks</vt:lpstr>
      <vt:lpstr>Fundamental bottlenecks</vt:lpstr>
      <vt:lpstr>Some context</vt:lpstr>
      <vt:lpstr>Chapter orange</vt:lpstr>
      <vt:lpstr>Hardware overview</vt:lpstr>
      <vt:lpstr>Hardware overview</vt:lpstr>
      <vt:lpstr>Hardware overview</vt:lpstr>
      <vt:lpstr>Hardware overview</vt:lpstr>
      <vt:lpstr>Hardware overview</vt:lpstr>
      <vt:lpstr>Hardware overview</vt:lpstr>
      <vt:lpstr>Performance in practice</vt:lpstr>
      <vt:lpstr>Tensor cores</vt:lpstr>
      <vt:lpstr>Lower precision for DL</vt:lpstr>
      <vt:lpstr>Lower precision for DL</vt:lpstr>
      <vt:lpstr>Lower precision for DL</vt:lpstr>
      <vt:lpstr>Lower precision for DL</vt:lpstr>
      <vt:lpstr>Nvidia Hopper (e.g. H100)</vt:lpstr>
      <vt:lpstr>Nvidia Blackwell GPUs (e.g. B300)</vt:lpstr>
      <vt:lpstr>Thinking about the distribution of your data &amp; model becomes even more important</vt:lpstr>
      <vt:lpstr>Thinking about the distribution of your data &amp; model becomes even more important</vt:lpstr>
      <vt:lpstr>Thinking about the distribution of your data &amp; model becomes even more important</vt:lpstr>
      <vt:lpstr>Chapter orange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Practically</vt:lpstr>
      <vt:lpstr>Chapter orange</vt:lpstr>
      <vt:lpstr>Types of parallelization</vt:lpstr>
      <vt:lpstr>Types of parallelization</vt:lpstr>
      <vt:lpstr>Types of parallelization</vt:lpstr>
      <vt:lpstr>Data Parallelism</vt:lpstr>
      <vt:lpstr>Model parallelism</vt:lpstr>
      <vt:lpstr>Model parallelism: Pipeline parallelism</vt:lpstr>
      <vt:lpstr>Model parallelism: Tensor parallelism</vt:lpstr>
      <vt:lpstr>Model parallelism: Sequence parallel</vt:lpstr>
      <vt:lpstr>FSDP Workflow</vt:lpstr>
      <vt:lpstr>Hybrid model/data parallelism</vt:lpstr>
      <vt:lpstr>3D Parallelism</vt:lpstr>
      <vt:lpstr>PowerPoint Presentation</vt:lpstr>
      <vt:lpstr>PowerPoint Presentation</vt:lpstr>
      <vt:lpstr>PowerPoint Presentation</vt:lpstr>
      <vt:lpstr>PowerPoint Presentation</vt:lpstr>
      <vt:lpstr>PowerPoint Presentation</vt:lpstr>
      <vt:lpstr>What type of parallelism is applicable? Ease-of-implementation</vt:lpstr>
      <vt:lpstr>What type of parallelism is applicable? Ease-of-implementation</vt:lpstr>
      <vt:lpstr>What type of parallelism is applicable? Ease-of-implementation</vt:lpstr>
      <vt:lpstr>So….. What type of parallelization? Optimal performance</vt:lpstr>
      <vt:lpstr>Do I need to parallelise?</vt:lpstr>
      <vt:lpstr>Parallelization tools/wrappers</vt:lpstr>
      <vt:lpstr>Fit your distribution method to your system</vt:lpstr>
      <vt:lpstr>So you want to do multi-gpu?</vt:lpstr>
      <vt:lpstr>Chapter orange</vt:lpstr>
      <vt:lpstr>Monitoring pyramid</vt:lpstr>
      <vt:lpstr>nvidia-smi</vt:lpstr>
      <vt:lpstr>nvidia-smi</vt:lpstr>
      <vt:lpstr>nvtop</vt:lpstr>
      <vt:lpstr>htop</vt:lpstr>
      <vt:lpstr>dcgmi</vt:lpstr>
      <vt:lpstr>Chapter orange</vt:lpstr>
      <vt:lpstr>Chapter orange</vt:lpstr>
      <vt:lpstr>Second S: Software</vt:lpstr>
      <vt:lpstr>Third S: Stack</vt:lpstr>
      <vt:lpstr>System + Software + Stack Wait ... so what happens in torch?</vt:lpstr>
      <vt:lpstr>In practice: PyTorch + Snellius</vt:lpstr>
      <vt:lpstr>Rapidfire: implementation details</vt:lpstr>
      <vt:lpstr>Rapidfire: implementation details</vt:lpstr>
      <vt:lpstr>Level 0: "oh my god": torch.amp</vt:lpstr>
      <vt:lpstr>Level 0: "oh my god": torch.compile</vt:lpstr>
      <vt:lpstr>Level 1: Shouldn't impact model convergence:</vt:lpstr>
      <vt:lpstr>Level 1: Shouldn't impact model convergence:</vt:lpstr>
      <vt:lpstr>Level 1: Shouldn't impact model convergence:</vt:lpstr>
      <vt:lpstr>Level 1: Shouldn't impact model convergence:</vt:lpstr>
      <vt:lpstr>Level 1: Shouldn't impact model convergence:</vt:lpstr>
      <vt:lpstr>Level 1: Shouldn't impact model convergence:</vt:lpstr>
      <vt:lpstr>Level 2: Danger zone</vt:lpstr>
      <vt:lpstr>Or: Change your model</vt:lpstr>
      <vt:lpstr>Or: Change your model</vt:lpstr>
      <vt:lpstr>Always</vt:lpstr>
      <vt:lpstr>Profile</vt:lpstr>
      <vt:lpstr>Chapter orange</vt:lpstr>
      <vt:lpstr>Profile</vt:lpstr>
      <vt:lpstr>Chapter orange</vt:lpstr>
      <vt:lpstr>AI factories recap</vt:lpstr>
      <vt:lpstr>AI factories recap</vt:lpstr>
      <vt:lpstr>AI factories setup</vt:lpstr>
      <vt:lpstr>Do we even need an AI factory?</vt:lpstr>
      <vt:lpstr>Do we even need an AI factory?</vt:lpstr>
      <vt:lpstr>Who to design the AI factory for?</vt:lpstr>
      <vt:lpstr>Who to design the AI factory for?</vt:lpstr>
      <vt:lpstr>Critical innovations for AI</vt:lpstr>
      <vt:lpstr>So where does that leave us?</vt:lpstr>
      <vt:lpstr>Compute</vt:lpstr>
      <vt:lpstr>Storage</vt:lpstr>
      <vt:lpstr>Interconnect</vt:lpstr>
      <vt:lpstr>Interconnect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PowerMockup</dc:title>
  <dc:creator>PPT Solutions</dc:creator>
  <cp:lastModifiedBy>Robert Jan Schlimbach</cp:lastModifiedBy>
  <cp:revision>31</cp:revision>
  <dcterms:created xsi:type="dcterms:W3CDTF">2015-03-11T15:56:36Z</dcterms:created>
  <dcterms:modified xsi:type="dcterms:W3CDTF">2025-11-13T14:54:43Z</dcterms:modified>
</cp:coreProperties>
</file>