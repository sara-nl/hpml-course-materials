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notesSlides/notesSlide34.xml" ContentType="application/vnd.openxmlformats-officedocument.presentationml.notesSlide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122"/>
  </p:notesMasterIdLst>
  <p:sldIdLst>
    <p:sldId id="327" r:id="rId2"/>
    <p:sldId id="432" r:id="rId3"/>
    <p:sldId id="2076136829" r:id="rId4"/>
    <p:sldId id="434" r:id="rId5"/>
    <p:sldId id="437" r:id="rId6"/>
    <p:sldId id="331" r:id="rId7"/>
    <p:sldId id="2076136794" r:id="rId8"/>
    <p:sldId id="436" r:id="rId9"/>
    <p:sldId id="278" r:id="rId10"/>
    <p:sldId id="289" r:id="rId11"/>
    <p:sldId id="298" r:id="rId12"/>
    <p:sldId id="314" r:id="rId13"/>
    <p:sldId id="313" r:id="rId14"/>
    <p:sldId id="312" r:id="rId15"/>
    <p:sldId id="311" r:id="rId16"/>
    <p:sldId id="310" r:id="rId17"/>
    <p:sldId id="525" r:id="rId18"/>
    <p:sldId id="320" r:id="rId19"/>
    <p:sldId id="308" r:id="rId20"/>
    <p:sldId id="322" r:id="rId21"/>
    <p:sldId id="323" r:id="rId22"/>
    <p:sldId id="324" r:id="rId23"/>
    <p:sldId id="325" r:id="rId24"/>
    <p:sldId id="326" r:id="rId25"/>
    <p:sldId id="532" r:id="rId26"/>
    <p:sldId id="2076136831" r:id="rId27"/>
    <p:sldId id="303" r:id="rId28"/>
    <p:sldId id="302" r:id="rId29"/>
    <p:sldId id="301" r:id="rId30"/>
    <p:sldId id="300" r:id="rId31"/>
    <p:sldId id="299" r:id="rId32"/>
    <p:sldId id="321" r:id="rId33"/>
    <p:sldId id="531" r:id="rId34"/>
    <p:sldId id="536" r:id="rId35"/>
    <p:sldId id="538" r:id="rId36"/>
    <p:sldId id="537" r:id="rId37"/>
    <p:sldId id="2076136799" r:id="rId38"/>
    <p:sldId id="257" r:id="rId39"/>
    <p:sldId id="258" r:id="rId40"/>
    <p:sldId id="259" r:id="rId41"/>
    <p:sldId id="260" r:id="rId42"/>
    <p:sldId id="261" r:id="rId43"/>
    <p:sldId id="262" r:id="rId44"/>
    <p:sldId id="263" r:id="rId45"/>
    <p:sldId id="264" r:id="rId46"/>
    <p:sldId id="265" r:id="rId47"/>
    <p:sldId id="266" r:id="rId48"/>
    <p:sldId id="267" r:id="rId49"/>
    <p:sldId id="268" r:id="rId50"/>
    <p:sldId id="269" r:id="rId51"/>
    <p:sldId id="2076136823" r:id="rId52"/>
    <p:sldId id="2076136805" r:id="rId53"/>
    <p:sldId id="514" r:id="rId54"/>
    <p:sldId id="515" r:id="rId55"/>
    <p:sldId id="516" r:id="rId56"/>
    <p:sldId id="468" r:id="rId57"/>
    <p:sldId id="469" r:id="rId58"/>
    <p:sldId id="472" r:id="rId59"/>
    <p:sldId id="523" r:id="rId60"/>
    <p:sldId id="2076136807" r:id="rId61"/>
    <p:sldId id="2076136821" r:id="rId62"/>
    <p:sldId id="513" r:id="rId63"/>
    <p:sldId id="2076136808" r:id="rId64"/>
    <p:sldId id="2076136809" r:id="rId65"/>
    <p:sldId id="2076136810" r:id="rId66"/>
    <p:sldId id="2076136811" r:id="rId67"/>
    <p:sldId id="2076136812" r:id="rId68"/>
    <p:sldId id="2076136813" r:id="rId69"/>
    <p:sldId id="519" r:id="rId70"/>
    <p:sldId id="524" r:id="rId71"/>
    <p:sldId id="520" r:id="rId72"/>
    <p:sldId id="2076136814" r:id="rId73"/>
    <p:sldId id="518" r:id="rId74"/>
    <p:sldId id="527" r:id="rId75"/>
    <p:sldId id="2076136806" r:id="rId76"/>
    <p:sldId id="2076136830" r:id="rId77"/>
    <p:sldId id="2076136801" r:id="rId78"/>
    <p:sldId id="369" r:id="rId79"/>
    <p:sldId id="2076136818" r:id="rId80"/>
    <p:sldId id="2076136820" r:id="rId81"/>
    <p:sldId id="2076136815" r:id="rId82"/>
    <p:sldId id="2076136816" r:id="rId83"/>
    <p:sldId id="2076136817" r:id="rId84"/>
    <p:sldId id="2076136825" r:id="rId85"/>
    <p:sldId id="2076136800" r:id="rId86"/>
    <p:sldId id="288" r:id="rId87"/>
    <p:sldId id="287" r:id="rId88"/>
    <p:sldId id="286" r:id="rId89"/>
    <p:sldId id="285" r:id="rId90"/>
    <p:sldId id="317" r:id="rId91"/>
    <p:sldId id="284" r:id="rId92"/>
    <p:sldId id="2076136827" r:id="rId93"/>
    <p:sldId id="2076136828" r:id="rId94"/>
    <p:sldId id="295" r:id="rId95"/>
    <p:sldId id="534" r:id="rId96"/>
    <p:sldId id="529" r:id="rId97"/>
    <p:sldId id="526" r:id="rId98"/>
    <p:sldId id="530" r:id="rId99"/>
    <p:sldId id="291" r:id="rId100"/>
    <p:sldId id="282" r:id="rId101"/>
    <p:sldId id="292" r:id="rId102"/>
    <p:sldId id="533" r:id="rId103"/>
    <p:sldId id="293" r:id="rId104"/>
    <p:sldId id="294" r:id="rId105"/>
    <p:sldId id="2076136822" r:id="rId106"/>
    <p:sldId id="2076136824" r:id="rId107"/>
    <p:sldId id="435" r:id="rId108"/>
    <p:sldId id="431" r:id="rId109"/>
    <p:sldId id="2076136826" r:id="rId110"/>
    <p:sldId id="2076136802" r:id="rId111"/>
    <p:sldId id="2076136796" r:id="rId112"/>
    <p:sldId id="2076136797" r:id="rId113"/>
    <p:sldId id="423" r:id="rId114"/>
    <p:sldId id="422" r:id="rId115"/>
    <p:sldId id="425" r:id="rId116"/>
    <p:sldId id="426" r:id="rId117"/>
    <p:sldId id="427" r:id="rId118"/>
    <p:sldId id="429" r:id="rId119"/>
    <p:sldId id="430" r:id="rId120"/>
    <p:sldId id="2076136798" r:id="rId121"/>
  </p:sldIdLst>
  <p:sldSz cx="12192000" cy="6858000"/>
  <p:notesSz cx="6858000" cy="9144000"/>
  <p:custDataLst>
    <p:tags r:id="rId1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6E202A-49AF-485F-B6F0-4593203464F0}">
          <p14:sldIdLst>
            <p14:sldId id="327"/>
            <p14:sldId id="432"/>
            <p14:sldId id="2076136829"/>
            <p14:sldId id="434"/>
            <p14:sldId id="437"/>
            <p14:sldId id="331"/>
            <p14:sldId id="2076136794"/>
            <p14:sldId id="436"/>
            <p14:sldId id="278"/>
            <p14:sldId id="289"/>
            <p14:sldId id="298"/>
            <p14:sldId id="314"/>
            <p14:sldId id="313"/>
            <p14:sldId id="312"/>
            <p14:sldId id="311"/>
            <p14:sldId id="310"/>
            <p14:sldId id="525"/>
            <p14:sldId id="320"/>
            <p14:sldId id="308"/>
            <p14:sldId id="322"/>
            <p14:sldId id="323"/>
            <p14:sldId id="324"/>
            <p14:sldId id="325"/>
            <p14:sldId id="326"/>
            <p14:sldId id="532"/>
            <p14:sldId id="2076136831"/>
            <p14:sldId id="303"/>
            <p14:sldId id="302"/>
            <p14:sldId id="301"/>
            <p14:sldId id="300"/>
            <p14:sldId id="299"/>
            <p14:sldId id="321"/>
            <p14:sldId id="531"/>
            <p14:sldId id="536"/>
            <p14:sldId id="538"/>
            <p14:sldId id="537"/>
            <p14:sldId id="2076136799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076136823"/>
            <p14:sldId id="2076136805"/>
            <p14:sldId id="514"/>
            <p14:sldId id="515"/>
            <p14:sldId id="516"/>
            <p14:sldId id="468"/>
            <p14:sldId id="469"/>
            <p14:sldId id="472"/>
            <p14:sldId id="523"/>
            <p14:sldId id="2076136807"/>
            <p14:sldId id="2076136821"/>
            <p14:sldId id="513"/>
            <p14:sldId id="2076136808"/>
            <p14:sldId id="2076136809"/>
            <p14:sldId id="2076136810"/>
            <p14:sldId id="2076136811"/>
            <p14:sldId id="2076136812"/>
            <p14:sldId id="2076136813"/>
            <p14:sldId id="519"/>
            <p14:sldId id="524"/>
            <p14:sldId id="520"/>
            <p14:sldId id="2076136814"/>
            <p14:sldId id="518"/>
            <p14:sldId id="527"/>
            <p14:sldId id="2076136806"/>
            <p14:sldId id="2076136830"/>
            <p14:sldId id="2076136801"/>
            <p14:sldId id="369"/>
            <p14:sldId id="2076136818"/>
            <p14:sldId id="2076136820"/>
            <p14:sldId id="2076136815"/>
            <p14:sldId id="2076136816"/>
            <p14:sldId id="2076136817"/>
            <p14:sldId id="2076136825"/>
            <p14:sldId id="2076136800"/>
            <p14:sldId id="288"/>
            <p14:sldId id="287"/>
            <p14:sldId id="286"/>
            <p14:sldId id="285"/>
            <p14:sldId id="317"/>
            <p14:sldId id="284"/>
            <p14:sldId id="2076136827"/>
            <p14:sldId id="2076136828"/>
            <p14:sldId id="295"/>
            <p14:sldId id="534"/>
            <p14:sldId id="529"/>
            <p14:sldId id="526"/>
            <p14:sldId id="530"/>
            <p14:sldId id="291"/>
            <p14:sldId id="282"/>
            <p14:sldId id="292"/>
            <p14:sldId id="533"/>
            <p14:sldId id="293"/>
            <p14:sldId id="294"/>
            <p14:sldId id="2076136822"/>
            <p14:sldId id="2076136824"/>
            <p14:sldId id="435"/>
            <p14:sldId id="431"/>
            <p14:sldId id="2076136826"/>
            <p14:sldId id="2076136802"/>
            <p14:sldId id="2076136796"/>
            <p14:sldId id="2076136797"/>
            <p14:sldId id="423"/>
            <p14:sldId id="422"/>
            <p14:sldId id="425"/>
            <p14:sldId id="426"/>
            <p14:sldId id="427"/>
            <p14:sldId id="429"/>
            <p14:sldId id="430"/>
            <p14:sldId id="20761367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380" userDrawn="1">
          <p15:clr>
            <a:srgbClr val="A4A3A4"/>
          </p15:clr>
        </p15:guide>
        <p15:guide id="4" orient="horz" pos="240" userDrawn="1">
          <p15:clr>
            <a:srgbClr val="A4A3A4"/>
          </p15:clr>
        </p15:guide>
        <p15:guide id="5" orient="horz" pos="40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472A"/>
    <a:srgbClr val="FFFFFF"/>
    <a:srgbClr val="F3F3F3"/>
    <a:srgbClr val="211F26"/>
    <a:srgbClr val="DAD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837FCA-BA3B-47B5-9E21-332D52DE920C}" v="1" dt="2025-11-13T15:27:36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42" autoAdjust="0"/>
    <p:restoredTop sz="94660"/>
  </p:normalViewPr>
  <p:slideViewPr>
    <p:cSldViewPr snapToGrid="0">
      <p:cViewPr>
        <p:scale>
          <a:sx n="125" d="100"/>
          <a:sy n="125" d="100"/>
        </p:scale>
        <p:origin x="2092" y="864"/>
      </p:cViewPr>
      <p:guideLst>
        <p:guide orient="horz" pos="2160"/>
        <p:guide pos="257"/>
        <p:guide pos="7380"/>
        <p:guide orient="horz" pos="240"/>
        <p:guide orient="horz" pos="40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ags" Target="tags/tag1.xml"/><Relationship Id="rId128" Type="http://schemas.microsoft.com/office/2016/11/relationships/changesInfo" Target="changesInfos/changesInfo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129" Type="http://schemas.microsoft.com/office/2015/10/relationships/revisionInfo" Target="revisionInfo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Jan Schlimbach" userId="0c94c441-ce93-4d43-a528-96b08e01ed9e" providerId="ADAL" clId="{CD79E3D5-A23E-45B6-900C-CE8933DA8460}"/>
    <pc:docChg chg="custSel addSld delSld modSld modSection">
      <pc:chgData name="Robert Jan Schlimbach" userId="0c94c441-ce93-4d43-a528-96b08e01ed9e" providerId="ADAL" clId="{CD79E3D5-A23E-45B6-900C-CE8933DA8460}" dt="2025-11-13T15:28:40.252" v="37" actId="20577"/>
      <pc:docMkLst>
        <pc:docMk/>
      </pc:docMkLst>
      <pc:sldChg chg="modSp mod">
        <pc:chgData name="Robert Jan Schlimbach" userId="0c94c441-ce93-4d43-a528-96b08e01ed9e" providerId="ADAL" clId="{CD79E3D5-A23E-45B6-900C-CE8933DA8460}" dt="2025-11-13T15:28:40.252" v="37" actId="20577"/>
        <pc:sldMkLst>
          <pc:docMk/>
          <pc:sldMk cId="1025912297" sldId="287"/>
        </pc:sldMkLst>
        <pc:spChg chg="mod">
          <ac:chgData name="Robert Jan Schlimbach" userId="0c94c441-ce93-4d43-a528-96b08e01ed9e" providerId="ADAL" clId="{CD79E3D5-A23E-45B6-900C-CE8933DA8460}" dt="2025-11-13T15:28:40.252" v="37" actId="20577"/>
          <ac:spMkLst>
            <pc:docMk/>
            <pc:sldMk cId="1025912297" sldId="287"/>
            <ac:spMk id="939" creationId="{00000000-0000-0000-0000-000000000000}"/>
          </ac:spMkLst>
        </pc:spChg>
      </pc:sldChg>
      <pc:sldChg chg="delSp mod">
        <pc:chgData name="Robert Jan Schlimbach" userId="0c94c441-ce93-4d43-a528-96b08e01ed9e" providerId="ADAL" clId="{CD79E3D5-A23E-45B6-900C-CE8933DA8460}" dt="2025-11-13T15:25:37.506" v="0" actId="478"/>
        <pc:sldMkLst>
          <pc:docMk/>
          <pc:sldMk cId="2212955866" sldId="327"/>
        </pc:sldMkLst>
        <pc:picChg chg="del">
          <ac:chgData name="Robert Jan Schlimbach" userId="0c94c441-ce93-4d43-a528-96b08e01ed9e" providerId="ADAL" clId="{CD79E3D5-A23E-45B6-900C-CE8933DA8460}" dt="2025-11-13T15:25:37.506" v="0" actId="478"/>
          <ac:picMkLst>
            <pc:docMk/>
            <pc:sldMk cId="2212955866" sldId="327"/>
            <ac:picMk id="7" creationId="{CB55209D-5D5A-741A-D86D-8D951C022096}"/>
          </ac:picMkLst>
        </pc:picChg>
      </pc:sldChg>
      <pc:sldChg chg="del">
        <pc:chgData name="Robert Jan Schlimbach" userId="0c94c441-ce93-4d43-a528-96b08e01ed9e" providerId="ADAL" clId="{CD79E3D5-A23E-45B6-900C-CE8933DA8460}" dt="2025-11-13T15:25:48.676" v="1" actId="47"/>
        <pc:sldMkLst>
          <pc:docMk/>
          <pc:sldMk cId="0" sldId="2076136791"/>
        </pc:sldMkLst>
      </pc:sldChg>
      <pc:sldChg chg="del">
        <pc:chgData name="Robert Jan Schlimbach" userId="0c94c441-ce93-4d43-a528-96b08e01ed9e" providerId="ADAL" clId="{CD79E3D5-A23E-45B6-900C-CE8933DA8460}" dt="2025-11-13T15:25:51.579" v="2" actId="47"/>
        <pc:sldMkLst>
          <pc:docMk/>
          <pc:sldMk cId="4137850083" sldId="2076136792"/>
        </pc:sldMkLst>
      </pc:sldChg>
      <pc:sldChg chg="modSp mod">
        <pc:chgData name="Robert Jan Schlimbach" userId="0c94c441-ce93-4d43-a528-96b08e01ed9e" providerId="ADAL" clId="{CD79E3D5-A23E-45B6-900C-CE8933DA8460}" dt="2025-11-13T15:26:30.631" v="16" actId="20577"/>
        <pc:sldMkLst>
          <pc:docMk/>
          <pc:sldMk cId="1295815359" sldId="2076136794"/>
        </pc:sldMkLst>
        <pc:spChg chg="mod">
          <ac:chgData name="Robert Jan Schlimbach" userId="0c94c441-ce93-4d43-a528-96b08e01ed9e" providerId="ADAL" clId="{CD79E3D5-A23E-45B6-900C-CE8933DA8460}" dt="2025-11-13T15:26:30.631" v="16" actId="20577"/>
          <ac:spMkLst>
            <pc:docMk/>
            <pc:sldMk cId="1295815359" sldId="2076136794"/>
            <ac:spMk id="939" creationId="{1953AEC7-999F-FC31-BD90-ADD05B3FE9DE}"/>
          </ac:spMkLst>
        </pc:spChg>
      </pc:sldChg>
      <pc:sldChg chg="modSp add mod">
        <pc:chgData name="Robert Jan Schlimbach" userId="0c94c441-ce93-4d43-a528-96b08e01ed9e" providerId="ADAL" clId="{CD79E3D5-A23E-45B6-900C-CE8933DA8460}" dt="2025-11-13T15:27:40.585" v="26" actId="20577"/>
        <pc:sldMkLst>
          <pc:docMk/>
          <pc:sldMk cId="2786179834" sldId="2076136831"/>
        </pc:sldMkLst>
        <pc:spChg chg="mod">
          <ac:chgData name="Robert Jan Schlimbach" userId="0c94c441-ce93-4d43-a528-96b08e01ed9e" providerId="ADAL" clId="{CD79E3D5-A23E-45B6-900C-CE8933DA8460}" dt="2025-11-13T15:27:40.585" v="26" actId="20577"/>
          <ac:spMkLst>
            <pc:docMk/>
            <pc:sldMk cId="2786179834" sldId="2076136831"/>
            <ac:spMk id="10" creationId="{A476C87D-9F68-5230-40AD-99DE247A74F9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14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24575,'3'0'0,"6"0"0,4 0 0,1 4 0,1 1 0,2 0 0,2-1 0,1-1 0,1-1 0,1-2 0,1 1 0,-1-1 0,1 0 0,-1-1 0,0 1 0,0 0 0,1 0 0,-5 0-8191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14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 24575,'85'-20'0,"236"15"0,-174 7 0,-36-2-1365,-93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14.9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24575,'3'0'0,"6"0"0,4 0 0,1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15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 24575,'628'0'0,"-490"-11"0,2 0 0,-50 11-1365,-72 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15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 24575,'78'-1'0,"110"-15"0,-118 9 0,142 6 0,-93 4 0,74-3-1365,-172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15.7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24575,'796'0'-1365,"-777"0"-5461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15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24575,'1017'0'-1365,"-998"0"-5461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16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24575,'1086'0'-1365,"-1059"0"-5461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16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67 24575,'141'0'0,"239"-30"0,-371 29-53,235-33-1259,-224 33-5514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16.7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24575,'67'12'0,"0"-4"0,0-2 0,0-3 0,80-8 0,-11 3 0,639 2 0,-756 1 45,0 1-1,28 6 1,22 3-1544,-50-10-5327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17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24575,'42'9'0,"0"-2"0,80 4 0,90-13 0,-77 0 0,196 2-1365,-312 0-5461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17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24575,'1016'0'-1365,"-997"0"-5461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17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24575,'1272'0'-1365,"-1235"0"-5461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17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 24575,'421'0'0,"-407"-1"-170,0 0-1,0-1 0,0-1 1,0-1-1,-1 0 0,0 0 1,15-7-1,-15 5-6655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18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0.7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1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1 281 24575,'8'-9'0,"-1"0"0,1 0 0,-2-1 0,11-19 0,-10 18 0,81-146 0,-58 119-1365,-20 29-5461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1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1 394 24575,'8'-6'0,"0"0"0,0 0 0,1 1 0,0 0 0,0 1 0,0 0 0,0 0 0,1 1 0,14-4 0,-9 3 0,0-1 0,-1 0 0,19-10 0,25-23 0,89-76 0,-133 103 0,168-122-1365,-157 114-5461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1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1 706 24575,'49'-55'0,"-35"38"0,1 0 0,0 1 0,2 1 0,28-21 0,-23 20 0,0-1 0,27-28 0,-20 17 0,22-13 0,-36 30 0,-1 0 0,0-2 0,19-20 0,-22 21 0,0 1 0,0 1 0,18-13 0,-16 14 0,-1-1 0,0-1 0,17-18 0,-16 14 0,1 2 0,0-1 0,25-16 0,25-24 0,-54 46 32,0-1 0,0 1 0,16-8 0,27-22-1525,-39 23-5333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1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0 552 24575,'67'-31'0,"99"-61"0,-105 55 0,118-52 0,45-15 0,-116 51 0,163-78-1365,-242 116-5461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2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1 288 24575,'4'-1'0,"0"0"0,1 0 0,-1 0 0,0-1 0,0 1 0,-1-1 0,1 0 0,0 0 0,4-4 0,21-9 0,116-44 0,-34 30 0,-29 9 0,-54 10 0,-1-1 0,0-1 0,32-20 0,39-19 0,-62 32-1365,-19 8-5461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2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0 719 24575,'5'0'0,"0"0"0,0 0 0,0-1 0,0 1 0,-1-1 0,1-1 0,0 1 0,0-1 0,-1 1 0,1-1 0,-1-1 0,0 1 0,6-4 0,-2-1 0,-1 0 0,0 0 0,0-1 0,-1 0 0,9-13 0,-11 17 0,-1 0 0,1 0 0,1 0 0,-1 1 0,1-1 0,-1 1 0,1 0 0,0 0 0,0 1 0,8-3 0,30-19 0,1-10 0,55-30 0,37-28 0,54-43 0,-25 11 125,-9 7-1615,-143 106-5336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2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0 477 24575,'23'-21'0,"43"-28"0,-42 32 0,-1-1 0,23-22 0,-32 27 0,2 0 0,-1 1 0,2 0 0,-1 1 0,23-10 0,97-38 0,-98 43 0,-12 7 0,1 1 0,39-7 0,-35 9 0,46-16 0,77-21 0,-72 16 76,-50 18-797,43-19 1,-59 21-6106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2.9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1 587 24575,'161'-133'0,"34"-24"0,-148 122 0,-24 18 0,0 0 0,45-23 0,272-129-1365,-302 150-5461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3.1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0 449 24575,'31'-12'0,"50"-27"0,-60 27 0,1 2 0,1 0 0,-1 1 0,44-11 0,-44 15 0,0-1 0,-1 0 0,0-2 0,0 0 0,29-18 0,-19 10 0,0 1 0,1 2 0,0 1 0,1 1 0,48-9 0,-51 12 0,0-1 0,-1-1 0,48-24 0,-46 19 0,1 1 0,48-13 0,-53 19-133,0-2 0,0 0 0,27-17-1,-35 18-698,0-1-5994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3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0 217 24575,'53'-12'0,"0"-2"0,50-20 0,13-5 0,253-72-1365,-343 105-5461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3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1 214 24575,'8'-1'0,"1"-1"0,0 0 0,-1 0 0,0 0 0,0-1 0,1-1 0,8-4 0,22-9 0,209-47 0,-163 44 0,180-40 0,-175 38-1365,-58 15-5461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3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1 235 24575,'98'-38'0,"-24"7"0,97-25 0,47 12 0,-182 38 0,48-3 0,-17 2 0,-17 1-100,-9 2-322,0-2 1,50-15-1,-70 15-6404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4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0 367 24575,'101'-31'0,"-48"16"0,0-3 0,70-33 0,-99 39 0,0 2 0,0 0 0,1 1 0,0 2 0,1 0 0,29-2 0,138-32 0,-21 3 0,-103 26 0,-35 5 0,0 2 0,50-2 0,-82 7 0,24 1 0,-1-2 0,1 0 0,46-10 0,-9-2 0,-41 9 0,-1 0 0,1-2 0,40-15 0,-41 11-1365,-3 2-5461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4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0 235 24575,'206'-52'0,"-72"21"0,-88 22 0,-1 1 0,76-2 0,-94 8 0,55-8 0,-49 5 0,47 0 0,-46 6 0,-1-2 0,1-1 0,-1-2 0,0-1 0,56-15 0,-50 7-100,-2 2-533,66-30 1,-91 34-6194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4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1 156 24575,'90'-38'0,"-74"30"0,1 0 0,0 1 0,0 0 0,1 2 0,0 0 0,0 1 0,36-4 0,-32 6 0,0 0 0,0-2 0,35-9 0,-35 6 0,0 2 0,0 1 0,33-2 0,41-5 0,-67 6 0,44-1 0,-29 6-1365,-25 0-5461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5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0 134 24575,'15'-2'0,"1"-1"0,-1 0 0,0-1 0,18-7 0,-22 8 0,28-15 0,-32 14 0,-1 1 0,1 0 0,-1 0 0,1 1 0,0-1 0,10-1 0,246-42 0,-214 38 0,-19 3 0,1 0 0,36 1 0,-23 4-1365,-25 1-5461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5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1 123 24575,'16'-2'0,"1"1"0,-1-2 0,1 0 0,29-11 0,-29 8 0,0 2 0,0-1 0,0 2 0,25-2 0,65 5 0,-37 0 0,111-12 0,-7-28-64,-115 25-1237,-21 5-5525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5.6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1 107 24575,'11'-2'0,"1"0"0,-1-1 0,0 0 0,0 0 0,0-1 0,0-1 0,13-7 0,21-8 0,-30 16 0,1 0 0,0 1 0,0 0 0,20 0 0,37-6 0,15-14-1365,-73 19-5461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5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6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24575,'63'0'0,"53"-1"0,118 16 0,-25-1 0,-13-2 0,337 15 0,-513-27-1365,-1 0-5461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6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1 156 24575,'42'-2'0,"54"-9"0,-12 0 0,-60 7 0,1-2 0,-2-1 0,1 0 0,-1-2 0,40-21 0,28-9 0,-70 32-195,0 1 0,1 1 0,-1 0 0,1 2 0,0 1 0,39 1 0,-42 1-6631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27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24575,'4'0'0,"5"0"0,4 0 0,4 0 0,3 0 0,2 0 0,1 0 0,0 0 0,0 0 0,0 0 0,0 0 0,-5 0-8191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32.4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24575,'1'0'0,"0"0"0,0 1 0,0-1 0,0 1 0,0-1 0,0 1 0,0-1 0,0 1 0,0 0 0,-1 0 0,1-1 0,0 1 0,-1 0 0,1 0 0,0 0 0,-1-1 0,1 1 0,-1 0 0,1 0 0,-1 0 0,1 0 0,-1 0 0,0 0 0,0 0 0,1 0 0,-1 0 0,0 2 0,4 34 0,-4-33 0,3 40 0,-3-22 0,1-1 0,1 1 0,1 0 0,1-1 0,1 1 0,8 20 0,-9-29 0,1-1 0,1 0 0,0-1 0,1 1 0,0-1 0,0 0 0,1-1 0,1 0 0,0 0 0,0-1 0,20 16 0,-11-12 0,-10-7 0,-1 0 0,1 0 0,1-1 0,-1 0 0,1-1 0,0 0 0,0 0 0,15 3 0,214 64 0,-31-11 0,-71-23 0,-102-33-1365,-22-7-5461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33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0 24575,'1'27'0,"-1"0"0,-1-1 0,-1 1 0,-2 0 0,0-1 0,-17 50 0,13-52-227,1 0-1,0 0 1,2 0-1,1 1 1,-2 37-1,6-43-6598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36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24575,'19'1'0,"1"2"0,0 0 0,-1 1 0,1 1 0,-1 1 0,0 1 0,-1 0 0,0 1 0,0 2 0,-1-1 0,20 16 0,-20-13-77,-12-8-107,1 0 0,-1 0 0,1-1 0,0 1 0,0-1 0,12 4 0,-3-4-6642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39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1 24575,'0'12'0,"0"0"0,-1 1 0,0-1 0,-1 0 0,-4 15 0,3-19 0,0-1 0,0-1 0,-1 1 0,0 0 0,0-1 0,-1 0 0,1 0 0,-1 0 0,-10 9 0,9-9 0,1 0 0,0 0 0,0 1 0,0 0 0,1 0 0,0 0 0,0 0 0,1 1 0,0 0 0,0 0 0,1-1 0,0 2 0,0-1 0,1 0 0,0 0 0,1 0 0,-1 1 0,2-1 0,1 14 0,1-2 0,1 0 0,1 0 0,1 0 0,0-1 0,2 0 0,17 32 0,-11-23 0,-8-16 0,0 0 0,0 0 0,2 0 0,-1-1 0,1 0 0,1-1 0,0 1 0,0-2 0,1 1 0,12 8 0,3 0-1365,-14-10-5461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39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24575,'4'1'0,"-1"1"0,1 0 0,0 1 0,0-1 0,-1 1 0,0-1 0,1 1 0,-1 0 0,0 0 0,4 5 0,7 6 0,14 6 0,1-2 0,1-1 0,0-2 0,44 16 0,14 9 0,-56-27 0,0-1 0,34 8 0,-34-11 0,0 1 0,36 18 0,-19 0-23,-40-21-126,1-1 0,0 0 0,0-1 0,0 0 0,1 0-1,0-1 1,0-1 0,15 3 0,-10-4-6677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15:41.0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24575,'1'19'0,"0"0"0,1 0 0,1 1 0,1-2 0,1 1 0,1 0 0,0-1 0,2 0 0,0-1 0,0 0 0,21 30 0,59 125 0,-59-111 0,-18-39 0,7 19 0,3-2 0,38 56 0,51 73 0,-82-142 0,-23-22 0,-1-1 0,0 1 0,0 0 0,0 0 0,0 0 0,0 1 0,2 4 0,3 5 0,1-1 0,0 0 0,0-1 0,1 0 0,1 0 0,0-1 0,17 11 0,-4-1 0,93 77 0,-39-31 0,-53-43 0,1-1 0,43 28 0,70 55 0,-83-68-35,-44-28-131,1 0 0,-1-1-1,2-1 1,-1 0 0,1-1 0,0 0-1,23 6 1,-21-10-6660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0:34:18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24575,'1'0'0,"0"0"0,0 1 0,0-1 0,0 1 0,0-1 0,0 1 0,0-1 0,0 1 0,0 0 0,-1 0 0,1-1 0,0 1 0,-1 0 0,1 0 0,0 0 0,-1-1 0,1 1 0,-1 0 0,1 0 0,-1 0 0,1 0 0,-1 0 0,0 0 0,0 0 0,1 0 0,-1 0 0,0 2 0,4 34 0,-4-33 0,3 40 0,-3-22 0,1-1 0,1 1 0,1 0 0,1-1 0,1 1 0,8 20 0,-9-29 0,1-1 0,1 0 0,0-1 0,1 1 0,0-1 0,0 0 0,1-1 0,1 0 0,0 0 0,0-1 0,20 16 0,-11-12 0,-10-7 0,-1 0 0,1 0 0,1-1 0,-1 0 0,1-1 0,0 0 0,0 0 0,15 3 0,214 64 0,-31-11 0,-71-23 0,-102-33-1365,-22-7-5461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0:34:18.3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0 24575,'1'27'0,"-1"0"0,-1-1 0,-1 1 0,-2 0 0,0-1 0,-17 50 0,13-52-227,1 0-1,0 0 1,2 0-1,1 1 1,-2 37-1,6-43-6598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0:34:18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24575,'19'1'0,"1"2"0,0 0 0,-1 1 0,1 1 0,-1 1 0,0 1 0,-1 0 0,0 1 0,0 2 0,-1-1 0,20 16 0,-20-13-77,-12-8-107,1 0 0,-1 0 0,1-1 0,0 1 0,0-1 0,12 4 0,-3-4-6642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0:35:03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24575,'1'0'0,"0"0"0,0 1 0,0-1 0,0 1 0,0-1 0,0 1 0,0-1 0,0 1 0,0 0 0,-1 0 0,1-1 0,0 1 0,-1 0 0,1 0 0,0 0 0,-1-1 0,1 1 0,-1 0 0,1 0 0,-1 0 0,1 0 0,-1 0 0,0 0 0,0 0 0,1 0 0,-1 0 0,0 2 0,4 34 0,-4-33 0,3 40 0,-3-22 0,1-1 0,1 1 0,1 0 0,1-1 0,1 1 0,8 20 0,-9-29 0,1-1 0,1 0 0,0-1 0,1 1 0,0-1 0,0 0 0,1-1 0,1 0 0,0 0 0,0-1 0,20 16 0,-11-12 0,-10-7 0,-1 0 0,1 0 0,1-1 0,-1 0 0,1-1 0,0 0 0,0 0 0,15 3 0,214 64 0,-31-11 0,-71-23 0,-102-33-1365,-22-7-5461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0:35:03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0 24575,'1'27'0,"-1"0"0,-1-1 0,-1 1 0,-2 0 0,0-1 0,-17 50 0,13-52-227,1 0-1,0 0 1,2 0-1,1 1 1,-2 37-1,6-43-6598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0:35:03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24575,'19'1'0,"1"2"0,0 0 0,-1 1 0,1 1 0,-1 1 0,0 1 0,-1 0 0,0 1 0,0 2 0,-1-1 0,20 16 0,-20-13-77,-12-8-107,1 0 0,-1 0 0,1-1 0,0 1 0,0-1 0,12 4 0,-3-4-6642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1:08:37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24575,'1'0'0,"0"0"0,0 1 0,0-1 0,0 1 0,0-1 0,0 1 0,0-1 0,0 1 0,0 0 0,-1 0 0,1-1 0,0 1 0,-1 0 0,1 0 0,0 0 0,-1-1 0,1 1 0,-1 0 0,1 0 0,-1 0 0,1 0 0,-1 0 0,0 0 0,0 0 0,1 0 0,-1 0 0,0 2 0,4 34 0,-4-33 0,3 40 0,-3-22 0,1-1 0,1 1 0,1 0 0,1-1 0,1 1 0,8 20 0,-9-29 0,1-1 0,1 0 0,0-1 0,1 1 0,0-1 0,0 0 0,1-1 0,1 0 0,0 0 0,0-1 0,20 16 0,-11-12 0,-10-7 0,-1 0 0,1 0 0,1-1 0,-1 0 0,1-1 0,0 0 0,0 0 0,15 3 0,214 64 0,-31-11 0,-71-23 0,-102-33-1365,-22-7-5461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1:08:37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0 24575,'1'27'0,"-1"0"0,-1-1 0,-1 1 0,-2 0 0,0-1 0,-17 50 0,13-52-227,1 0-1,0 0 1,2 0-1,1 1 1,-2 37-1,6-43-6598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1:08:37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24575,'19'1'0,"1"2"0,0 0 0,-1 1 0,1 1 0,-1 1 0,0 1 0,-1 0 0,0 1 0,0 2 0,-1-1 0,20 16 0,-20-13-77,-12-8-107,1 0 0,-1 0 0,1-1 0,0 1 0,0-1 0,12 4 0,-3-4-6642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11:04:11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28 468 24575,'6'1'0,"0"-1"0,0 1 0,1 0 0,-1 0 0,0 1 0,0 0 0,0 0 0,-1 0 0,1 1 0,9 6 0,51 42 0,-52-38 0,0-1 0,32 19 0,-25-17 0,-1 0 0,0 1 0,-1 1 0,23 25 0,38 30 0,-26-25 0,60 63 0,-43-38 0,-2-5 0,82 76 0,-11-30 0,-95-71 0,-36-31 0,1-1 0,1 0 0,0 0 0,20 12 0,59 38 0,-66-41 0,0-1 0,30 14 0,261 148-911,-263-139 1130,-42-31-84,1 1 0,1-2 0,19 13 0,9 2-53,55 42 0,22 14-94,-80-56 12,36 31 0,-1-2 0,161 115 0,-215-153 0,0 1 0,17 19 0,-20-19 0,0-1 0,0-1 0,18 12 0,-19-14 0,0 0 0,0 0 0,22 27 0,-22-22 0,1-1 0,22 17 0,-25-22 0,0 1 0,0 0 0,-1 1 0,0 0 0,-1 0 0,10 16 0,-13-18 0,2-1 0,-1 0 0,1 0 0,20 14 0,-19-15 0,0-1 0,-1 1 0,0 1 0,0 0 0,11 15 0,-11-13 0,0 0 0,0-1 0,1-1 0,0 0 0,20 14 0,25 23 0,14 10 0,-51-42 0,34 31 0,0 3 0,-40-38 0,0 0 0,0 1 0,-1 0 0,-1 1 0,16 23 0,95 184 0,-88-157 0,-26-50 0,1 0 0,1-1 0,14 16 0,-14-17 0,0-1 0,-1 1 0,-1 1 0,0-1 0,6 13 0,-6-10 0,0-1 0,1-1 0,0 0 0,1 0 0,17 18 0,25 31 0,-42-49 0,-1-1 0,1 0 0,0 0 0,1-1 0,14 10 0,-13-11 0,-1 0 0,0 1 0,-1 0 0,0 0 0,12 17 0,-16-19 0,0-1 0,1 0 0,0 0 0,0-1 0,1 1 0,-1-1 0,1-1 0,14 8 0,-14-8 0,1 0 0,-1 1 0,0 0 0,0 0 0,0 0 0,-1 1 0,0 0 0,9 12 0,-7-8 0,0 0 0,0-1 0,1 0 0,0-1 0,16 12 0,-14-12 0,-1 0 0,0 1 0,-1 0 0,16 19 0,-15-15 0,0-1 0,1 0 0,1-1 0,15 11 0,-15-11 0,1-1 0,-1 2 0,17 21 0,14 39 0,42 28 0,137 143 0,-39-77 0,-160-143 0,36 46 0,7 7 0,-23-28 0,-30-32 0,2 0 0,26 22 0,-34-31 0,0 0 0,-1 0 0,0 0 0,-1 0 0,1 1 0,-2 0 0,6 10 0,26 38 0,25 17 0,20 21 0,52 60 0,9 11 0,-97-108 0,71 70 0,-104-114 0,0 0 0,16 25 0,-19-25 0,0 0 0,1 0 0,1-1 0,14 12 0,45 47 0,-12-10 0,-6-6 0,-42-42 0,2-1 0,-1 0 0,1 0 0,1-2 0,24 17 0,-22-17 0,0 2 0,0 0 0,-1 0 0,14 17 0,-12-13 0,0-1 0,27 20 0,106 68 0,-85-70 0,-51-28 0,0 1 0,-1 0 0,0 1 0,21 16 0,-14-8 0,1-1 0,0-1 0,1-1 0,44 18 0,95 24 0,-132-49 0,1-1 0,-1-2 0,1 0 0,53-5 0,-9 0 0,-64 3 0,0-1 0,0-1 0,0 0 0,-1 0 0,1-1 0,-1 0 0,15-7 0,-14 6 0,0 0 0,1 0 0,-1 1 0,1 0 0,0 1 0,10-1 0,-9 2 0,0-1 0,0 0 0,0-1 0,0 0 0,-1 0 0,1-1 0,-1 0 0,0-1 0,0 0 0,-1-1 0,1 0 0,-1-1 0,-1 0 0,1 0 0,-1 0 0,0-1 0,-1-1 0,13-17 0,-2-3 0,1 1 0,1 1 0,28-28 0,-42 47 0,0 0 0,-1-1 0,-1 0 0,1 0 0,-1 0 0,-1 0 0,5-18 0,6-16 0,-4 14 0,-1 0 0,9-58 0,-2 7 0,-10 42 0,-1 0 0,-3 0 0,0 0 0,-6-53 0,1-4 0,4 49 0,2-1 0,11-50 0,-8 42 0,-3 0 0,-5-91 0,0 38 0,-1 72 0,-1-1 0,-2 1 0,-1 1 0,-13-38 0,-6-28 0,23 85 0,-5-18 0,2-1 0,-4-70 0,9 82 0,-2 0 0,-5-25 0,-3-40 0,0-2 0,6 66 0,-2-49 0,8-435 0,-2 487 0,-1 0 0,-7-29 0,4 29 0,2 0 0,-2-29 0,-6-86 0,0-6 0,10 120 0,-1 1 0,-7-29 0,5 29 0,0-2 0,0-24 0,5-832 0,-2 852 0,-10-50 0,6 49 0,-2-47 0,6 51 0,-2 1 0,-6-27 0,-1-14 0,-16-86 0,6 45 0,11 56 0,4 24 0,1 1 0,-1-39 0,3 35 0,-8-48 0,5 47 0,-2-46 0,6 53 0,-1 1 0,-2 0 0,0 1 0,-1-1 0,-1 1 0,-1 0 0,-11-24 0,-6-5 0,-48-73 0,26 54 0,-83-91 0,87 125 0,36 31 0,1-1 0,0 0 0,-1 0 0,1 0 0,0 0 0,1-1 0,-1 0 0,1 0 0,-6-10 0,0 0 0,0 0 0,-1 0 0,-1 2 0,0-1 0,-23-18 0,17 15 0,0 0 0,-18-24 0,29 32 0,-1 1 0,0 0 0,-1 1 0,1 0 0,-14-8 0,-26-23 0,27 19 0,-1 1 0,-1 1 0,-1 0 0,-41-20 0,-109-41 0,144 67 0,0 2 0,-1 1 0,0 1 0,0 2 0,0 1 0,0 1 0,-54 3 0,58-1 0,0-1 0,-27-6 0,25 3 0,-46-2 0,-706 8 0,755-2 0,-52-10 0,51 6 0,-50-2 0,-252-6 0,90-14-2613,121 21 2613,77 6 0,1-2 0,-48-9 0,31 3 628,0 3 0,-1 3 1,-70 5-1,12 0-528,-484-3-100,584 1 0,-1 0 0,-32 9 0,-29 2 0,-456-11 0,259-3 0,249 1 0,-52-10 0,51 6 0,-50-2 0,-361 8 0,415 0 0,1 2 0,0 1 0,0 0 0,-28 11 0,-20 3 0,-3-1 0,39-8 0,0-1 0,-1-2 0,-64 2 0,-341-9 0,419 2 0,-1 2 0,-27 5 0,27-4 0,0 0 0,-26 0 0,14-4 0,23-1 0,-1 0 0,1 1 0,0 0 0,-1 1 0,1 1 0,0 0 0,-1 0 0,1 1 0,0 1 0,1-1 0,-14 8 0,-3 4 0,16-10 0,1 1 0,1 0 0,-1 0 0,-15 15 0,21-17 0,1-1 0,1 1 0,-1 0 0,0 0 0,1 0 0,0 0 0,0 1 0,0-1 0,1 0 0,-1 1 0,1 0 0,0-1 0,0 1 0,1 0 0,-1 6 0,0 10 0,1 1 0,1-1 0,4 25 0,-4-40 0,0 0 0,1 0 0,0 0 0,-1-1 0,2 1 0,-1-1 0,1 1 0,0-1 0,0 0 0,0 0 0,1 0 0,-1 0 0,1-1 0,0 0 0,1 1 0,4 3 0,34 30 0,-37-31 0,1 0 0,0-1 0,0 1 0,0-2 0,16 10 0,-4-4 0,1-1 0,0-1 0,1-1 0,0-1 0,0-1 0,25 5 0,-33-9-136,0 2-1,-1-1 1,1 2-1,-1 0 1,0 0-1,0 1 1,-1 1-1,0 0 0,21 16 1,-22-14-6690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11:04:55.1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1163 24575,'0'-7'0,"1"-1"0,0 0 0,1 0 0,0 1 0,0-1 0,0 1 0,1-1 0,0 1 0,1 0 0,0 0 0,0 0 0,0 1 0,10-11 0,7-7 0,2 1 0,28-22 0,-1 0 0,-32 29 0,0 2 0,33-20 0,21-17 0,-60 42 0,1 1 0,0 0 0,1 1 0,23-10 0,27-14 0,-17 0 0,-33 21 0,0 1 0,0 0 0,1 1 0,0 1 0,0 0 0,17-5 0,-5 3 0,-1-2 0,-1-1 0,35-21 0,-45 24 0,132-96 0,-96 68 0,-42 30 0,1-1 0,0 1 0,0 0 0,1 1 0,0 1 0,15-7 0,-15 8 0,1-1 0,-2 0 0,1-1 0,0 0 0,-1 0 0,0-1 0,13-12 0,57-66 0,-63 65 0,0 1 0,0 0 0,2 2 0,40-29 0,-46 38 0,1 1 0,0 1 0,1 1 0,0 0 0,0 1 0,19-4 0,97-7 0,-110 13 0,8 0-116,-13 2-63,-1-2 1,1 1-1,0-2 1,-1 0 0,0-1-1,22-8 1,-24 5-6648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11:05:00.0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2254 24575,'39'-2'0,"64"-12"0,-37 5 0,-42 4 0,0-1 0,0-1 0,-1-1 0,0-1 0,0-1 0,-1-1 0,38-25 0,-45 28 0,0 1 0,0 1 0,1 0 0,29-7 0,38-15 0,-69 22 0,-10 5 0,0-1 0,0 1 0,-1-1 0,1 0 0,0 0 0,-1-1 0,1 1 0,-1 0 0,0-1 0,0 0 0,0 0 0,0 0 0,-1 0 0,1 0 0,3-8 0,0 4 0,-1 0 0,1 0 0,0 1 0,0-1 0,1 1 0,-1 1 0,1-1 0,1 1 0,-1 0 0,11-4 0,38-31 0,-38 26 0,1 0 0,0 1 0,1 1 0,0 1 0,1 1 0,36-12 0,42-22 0,50-21 0,-54 25 0,-17-4 0,-61 33 0,0 1 0,1 0 0,36-14 0,-40 18 0,0 0 0,0-1 0,-1-1 0,1-1 0,-2 1 0,20-18 0,-18 14 0,0 1 0,1 0 0,1 1 0,17-8 0,-1 1 0,-1-1 0,-1-2 0,46-37 0,-41 29 0,68-40 0,-98 64 0,1 0 0,0 0 0,-1-1 0,0 0 0,9-9 0,-10 9 0,0 1 0,0-1 0,1 1 0,-1 0 0,1 0 0,0 1 0,0-1 0,6-2 0,19-9 0,50-33 0,-56 32 0,1 1 0,52-24 0,-44 28 0,-25 9 0,1 0 0,-1-1 0,0-1 0,-1 1 0,1-1 0,-1 0 0,1-1 0,-1 0 0,7-6 0,5-5 0,1 1 0,27-16 0,-33 23 0,-1 0 0,0 0 0,-1-2 0,0 0 0,0 0 0,-1-1 0,0 0 0,16-23 0,-9 10 0,0 0 0,33-30 0,-29 30 0,106-123 0,-106 127 0,38-28 0,-13 10 0,27-14 0,-58 42 0,1-1 0,-2 0 0,0-1 0,0-1 0,-1 0 0,0-1 0,18-25 0,-21 25 0,0 1 0,0 0 0,2 1 0,-1 1 0,2 0 0,15-10 0,16-14 0,-35 27 0,0 1 0,1 1 0,0 0 0,17-7 0,-14 7 0,-1 0 0,25-17 0,-6 2-1365,-16 12-5461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11:05:01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1713 24575,'2'-4'0,"-1"0"0,1 0 0,0 1 0,0-1 0,0 1 0,0-1 0,1 1 0,-1 0 0,1 0 0,0 0 0,0 0 0,6-4 0,6-8 0,126-171 0,-130 175 0,1 0 0,0 1 0,1 1 0,27-16 0,28-21 0,-60 38 0,1 0 0,0 1 0,0 1 0,1-1 0,0 1 0,0 1 0,18-7 0,-5 2 0,-1 0 0,0-2 0,35-24 0,-37 22 0,0 1 0,1 1 0,1 1 0,26-10 0,-31 15 0,0-1 0,-1-1 0,0-1 0,0 0 0,-1-1 0,25-22 0,78-84 0,-24 21 0,-89 90 0,46-41 0,111-78 0,-129 101 0,-23 16 0,0 0 0,1 0 0,0 1 0,16-7 0,26-10 0,0-3 0,67-43 0,-77 47 0,-34 18 0,0 0 0,0-1 0,0 0 0,-1 0 0,15-13 0,92-99 0,-106 108 0,-2-1 0,1-1 0,9-16 0,-12 18 0,0 0 0,1 1 0,0-1 0,0 1 0,1 1 0,10-10 0,-10 10 0,1 0 0,-1 0 0,-1-1 0,1 1 0,-1-1 0,0-1 0,-1 1 0,0-1 0,-1 0 0,0 0 0,0-1 0,-1 1 0,3-14 0,-4 18 11,0 1 1,0-1-1,0 0 0,0 1 0,1 0 0,5-9 0,4-6-1454,-5 7-5383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11:05:03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1272 24575,'7'-1'0,"1"-1"0,-1 0 0,1 0 0,-1-1 0,1 1 0,-1-2 0,0 1 0,0-1 0,-1 0 0,8-5 0,42-21 0,-3 9 0,94-52 0,-54 25 0,5-11 0,-19 11 0,19 4 0,-70 33 0,0-1 0,-2-1 0,41-27 0,-48 28 0,1 1 0,0 0 0,1 2 0,41-14 0,-35 14 0,0-1 0,37-20 0,-31 13 0,45-18 0,-54 27 0,-1-2 0,0-1 0,-1-1 0,0 0 0,24-20 0,-24 16 0,48-28 0,-1 2 0,-28 11 0,-24 17 0,0 1 0,1 1 0,21-10 0,-25 14 0,0-1 0,-1-1 0,0 0 0,-1 0 0,0-1 0,-1-1 0,11-13 0,35-34 0,-49 50 0,0 1 0,0-2 0,-1 1 0,-1-1 0,1-1 0,-2 1 0,1-1 0,-1 0 0,-1 0 0,0 0 0,-1-1 0,0 1 0,-1-1 0,2-16 0,-4 26-40,1 0 0,-1 0 0,0 0 0,0 0-1,0-1 1,0 1 0,-1 0 0,1 0 0,-1 0 0,1 0 0,-1 0-1,1-1 1,-1 1 0,0 0 0,0 0 0,0 1 0,0-1-1,-1 0 1,1 0 0,0 1 0,-1-1 0,1 0 0,-1 1 0,0-1-1,1 1 1,-1 0 0,0 0 0,0 0 0,0-1 0,0 2-1,0-1 1,0 0 0,-4-1 0,-10-2-6786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11:05:06.2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53 24575,'45'1'0,"-11"0"0,1-2 0,-1 0 0,59-12 0,-32 3 32,-47 9-311,1-2-1,-1 1 1,1-2-1,23-8 1,-21 4-6547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11:05:09.5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1 884 24575,'0'-3'0,"1"0"0,-1 0 0,1 0 0,0 0 0,0 0 0,0 1 0,1-1 0,-1 0 0,1 0 0,-1 1 0,1-1 0,0 1 0,0 0 0,3-3 0,38-34 0,-26 25 0,-3 1 0,1 1 0,0 0 0,0 1 0,1 1 0,1 0 0,0 1 0,20-7 0,-14 5 0,0 0 0,-1-2 0,38-30 0,-4 4 0,-51 36 0,1 0 0,1 0 0,-1 1 0,0-1 0,1 1 0,-1 1 0,8-2 0,-9 2 0,0 0 0,0 0 0,0 0 0,0 0 0,0-1 0,0 0 0,-1 0 0,1 0 0,-1-1 0,1 0 0,-1 0 0,0 0 0,7-6 0,12-18 0,-15 17 0,1-1 0,1 1 0,0 1 0,22-17 0,-16 14 0,-1 0 0,21-20 0,-23 19 0,1 0 0,31-21 0,24-11 0,35-20 0,-92 58 0,1 2 0,-1 0 0,1 0 0,1 1 0,-1 1 0,26-4 0,-22 4 0,-1-1 0,-1 0 0,1-2 0,-1 1 0,1-2 0,-2 0 0,1-1 0,-1 0 0,23-19 0,52-27 0,-47 28-1365,-32 17-5461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11:05:07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0 306 24575,'16'-2'0,"-1"0"0,0-1 0,0-1 0,0 0 0,17-9 0,-3 3 0,28-9 0,117-42 0,-91 16 0,-17 8 0,-48 28-195,0 0 0,-1-1 0,-1-1 0,1-1 0,-2 0 0,20-19 0,-26 20-6631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11:05:10.3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0 447 24575,'6'-2'0,"-1"0"0,0 0 0,1 0 0,-1-1 0,-1 0 0,1 0 0,0 0 0,7-7 0,0 1 0,11-5 0,1 1 0,0 1 0,32-11 0,0 0 0,54-28 0,62-32 0,-163 78 5,-1 0 0,1-1 0,-1 0 1,0 0-1,-1-1 0,0 0 0,0-1 0,0 0 0,-1 0 0,0 0 0,-1 0 0,1-1 0,4-12 0,32-44-1441,-33 54-5390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9A05A-C030-404F-84CE-DF89B2719958}" type="datetimeFigureOut">
              <a:rPr lang="en-NL" smtClean="0"/>
              <a:t>13/11/2025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E3CD5-403F-42A1-A26B-48E265B3963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59280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098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A10BC492-4473-4B0E-93D5-D38953E1EC75}" type="slidenum">
              <a:rPr lang="en-GB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8874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025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3734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26920-CABF-6EC8-3DB9-A9A8191D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AF18A2FB-4A5A-AFB6-A797-66D5ECCF6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B4FC205E-3D83-14FC-BD70-C794F203DC6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1E65EF09-C826-3B43-A078-03DA267CC21E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5631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382B-261A-0B86-9009-E4ABCD5C4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F52190B-A81E-73CC-9E23-D2E2C83E9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7594DD9-5ACD-5105-715F-DA6383C74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F1413B-279A-96C2-521A-B1A20C5D2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8642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3055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7859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5702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19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5303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20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12591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21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2084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22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1908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23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8039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24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01514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AA935-BCC0-817F-6F5F-C40AF9E3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8D36A11-FBE7-9F62-0BC6-0960E1BC1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67D31B2-75F2-0D0C-3F1E-10289D69F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1EF6990-2940-8B26-334A-18919D554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5137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84620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2" name="Google Shape;7052;g3499dd801ae_0_1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3" name="Google Shape;7053;g3499dd801ae_0_1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1" name="Google Shape;7061;g3499dd801ae_0_16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2" name="Google Shape;7062;g3499dd801ae_0_16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9" name="Google Shape;7069;g3499dd801ae_0_16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0" name="Google Shape;7070;g3499dd801ae_0_16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7" name="Google Shape;7077;g3499dd801ae_0_16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8" name="Google Shape;7078;g3499dd801ae_0_16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5" name="Google Shape;7085;g3499dd801ae_0_16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6" name="Google Shape;7086;g3499dd801ae_0_16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3" name="Google Shape;7093;g3499dd801ae_0_16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4" name="Google Shape;7094;g3499dd801ae_0_16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2" name="Google Shape;7102;g3499dd801ae_0_16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3" name="Google Shape;7103;g3499dd801ae_0_16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1" name="Google Shape;7111;g3499dd801ae_0_16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2" name="Google Shape;7112;g3499dd801ae_0_16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0" name="Google Shape;7120;g3499dd801ae_0_16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1" name="Google Shape;7121;g3499dd801ae_0_16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9" name="Google Shape;7129;g3499dd801ae_0_16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0" name="Google Shape;7130;g3499dd801ae_0_16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9" name="Google Shape;7139;g3499dd801ae_0_16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0" name="Google Shape;7140;g3499dd801ae_0_165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" name="Google Shape;7147;g3499dd801ae_0_166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8" name="Google Shape;7148;g3499dd801ae_0_166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5" name="Google Shape;7155;g3499dd801ae_0_16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6" name="Google Shape;7156;g3499dd801ae_0_16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1114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58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96206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6F7A0-72B9-006A-FD6D-612FF36BA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29ED7-E442-1F6C-5931-84E41613B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137FD-5F57-59C3-9FFE-E55967140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DEA4B-A1E9-82FE-EDBA-D10B729681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60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53535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9AD2B3-D140-44BD-B63C-3C9AE3845FBA}" type="slidenum">
              <a:rPr lang="en-NL" smtClean="0"/>
              <a:t>67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268128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6299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263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1D846-F3E5-5EFD-5985-26221750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B299901A-9EB0-031A-619F-78094BF03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BD1C6A13-C4C1-5AE2-04C0-5C10469B832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CA213F67-371D-F0E9-9210-56EBE712F1BA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79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27045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15869-2E02-11FC-7004-B1A1C2627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0DB4EDD-0320-8777-DF50-35900983A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3B929CC1-877B-C861-6F70-6F7BCDD08FF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1F2481B0-D760-CC76-A133-F497AC8B3EC7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80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84318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15DC-E38F-749C-41C8-46974424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795DCAE8-2833-F28C-258B-1776FBA23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E6F720CB-35A1-B0C0-2E32-A8781F9BE34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ED83516A-1345-A5C2-8274-67EADE7C039F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81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03161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F1037-46EF-F647-F369-BCD10FA6E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A068FDC-AC1D-9519-35AB-5A4B30F7E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B734C13F-9AC1-3F86-4233-C70BA0B7C65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85A7FCBD-03D0-F144-3EDB-85AEC28AFB27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82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8890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0740B-9408-00B3-61BB-A45EF6DD0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0826FE58-8472-0162-DB0D-0735D7B2E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6B046DFC-31F3-3B89-166C-7680F4EBED8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11CFCC31-CA06-0F52-C685-61AF2D8F568F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83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82928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44CCD-6345-2EF5-EC57-B4FB76D3D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85909C1-4555-7C90-B4A1-A84125B58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2EEDA53-C4BE-6F39-C4C5-0443B42B0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89C94E6-6F82-7DA7-02DC-98AA5AD04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39020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171842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86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71290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87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307523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88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407465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89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81343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90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020267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91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416893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92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852506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C82B7-ADD2-F2BA-CD97-EEE6E5E74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493340BA-FB7C-C69E-1A16-58D7B52C6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0280CF6B-E5B7-77AD-A602-FFDCE886CC3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4896FFF3-FF0A-4726-A7D5-62F08A2D8C15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93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379461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94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722806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E7CDD-9A3F-69B2-F6C0-36DC4C7B8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D1331920-8ACE-813F-C074-75C2AD560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B8DFC69C-E28B-5AC4-7159-32EA4B652C2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520E9EF3-13AD-1B08-75F6-A3E0011CE262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95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936699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C4845-059E-E129-F7C0-84ABAE7F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26ACA935-9802-B5DD-86DD-73BA3046C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8195796C-2455-ED59-A059-933CA57673A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473189C1-A766-3C3C-195B-94DF57BD4B54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96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880714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B3D06-A37B-C00E-7C6B-445803C06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4BED263-B719-4EFF-CFCF-E19CACD5F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404ADE15-5A2D-F184-5D65-32F92A29771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3787B4DD-C181-EE66-F08C-D2F347A280B8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97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604344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86320-44D6-065A-2FC7-49DBA3160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6296E1CE-9D22-1889-2BE6-0519AAA7E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1F13CDCA-7DEE-2F0B-AA77-7C5439BA8C8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E9ECD347-1225-4FE2-45BB-53D77AE81A83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98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833114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99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90918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100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309379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101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870078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2D71-BB6E-AED5-0BC6-7F6586B3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B3DFD432-E8AE-2800-05A5-EB29F2E08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A8188AAD-26E8-25E6-5863-EBA103DD6F6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5489ED2F-A0C2-5C57-0B40-4EDD3BF51D44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102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919028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103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57347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104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987638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6B26B-19A9-76AA-20CA-BDEC5CA25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79C79BA-9518-10B0-2E0F-7EC21415D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E4D399D-80AB-157C-FF43-0F94536A3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ADD49EC-3FC9-21B9-9E6A-C0D894000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3693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95DED-2D91-4C0E-8D91-9F4313186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2E52DCC-11C7-18A9-F92B-AE1972FBA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60936480-744B-867B-4CA9-DCDF297FB3B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1FFC9738-8C74-094D-012F-FAE6D56D7346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106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600315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9AAE4-856A-F2C6-3AC7-D10498F59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EDCE900-9E92-EFF2-FEDF-0CFDCB30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A841525-461C-2DD1-B0B1-FBB40F4B0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DC1B443-28CA-7D8A-E94F-FCC93B578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1005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E48AD39F-D1BD-4A94-927C-E2D6B75091D7}"/>
              </a:ext>
            </a:extLst>
          </p:cNvPr>
          <p:cNvSpPr/>
          <p:nvPr userDrawn="1"/>
        </p:nvSpPr>
        <p:spPr>
          <a:xfrm>
            <a:off x="0" y="-367937"/>
            <a:ext cx="600998" cy="2462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EE762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Text #1</a:t>
            </a:r>
          </a:p>
        </p:txBody>
      </p:sp>
      <p:sp>
        <p:nvSpPr>
          <p:cNvPr id="11" name="Tijdelijke aanduiding voor tekst 15">
            <a:extLst>
              <a:ext uri="{FF2B5EF4-FFF2-40B4-BE49-F238E27FC236}">
                <a16:creationId xmlns:a16="http://schemas.microsoft.com/office/drawing/2014/main" id="{44E27EC2-81EE-5DE0-2BEB-2F38F88501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6060536"/>
            <a:ext cx="932400" cy="4752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92" name="Tijdelijke aanduiding voor tekst 12">
            <a:extLst>
              <a:ext uri="{FF2B5EF4-FFF2-40B4-BE49-F238E27FC236}">
                <a16:creationId xmlns:a16="http://schemas.microsoft.com/office/drawing/2014/main" id="{24E34CC7-AE46-F291-A9D4-1A35660FE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8207" y="707795"/>
            <a:ext cx="36000" cy="396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93" name="Tijdelijke aanduiding voor titel 1">
            <a:extLst>
              <a:ext uri="{FF2B5EF4-FFF2-40B4-BE49-F238E27FC236}">
                <a16:creationId xmlns:a16="http://schemas.microsoft.com/office/drawing/2014/main" id="{F9DB1A5B-74FB-7FED-54E6-CE4B949D30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162" y="722313"/>
            <a:ext cx="10559000" cy="3422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Place the title of the slide here</a:t>
            </a:r>
          </a:p>
        </p:txBody>
      </p:sp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3649715A-38D2-03F3-4957-40291419259B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65162" y="1592262"/>
            <a:ext cx="7428606" cy="40603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Plain text #1</a:t>
            </a:r>
          </a:p>
          <a:p>
            <a:pPr lvl="1"/>
            <a:r>
              <a:rPr lang="en-GB" noProof="0" dirty="0"/>
              <a:t>Plain text #2</a:t>
            </a:r>
          </a:p>
          <a:p>
            <a:pPr lvl="2"/>
            <a:r>
              <a:rPr lang="en-GB" noProof="0" dirty="0"/>
              <a:t>Heading #1</a:t>
            </a:r>
          </a:p>
          <a:p>
            <a:pPr lvl="3"/>
            <a:r>
              <a:rPr lang="en-GB" noProof="0" dirty="0" err="1"/>
              <a:t>Tekst</a:t>
            </a:r>
            <a:endParaRPr lang="en-GB" noProof="0" dirty="0"/>
          </a:p>
          <a:p>
            <a:pPr lvl="4"/>
            <a:r>
              <a:rPr lang="en-GB" noProof="0" dirty="0"/>
              <a:t>Heading #3</a:t>
            </a:r>
          </a:p>
          <a:p>
            <a:pPr lvl="5"/>
            <a:r>
              <a:rPr lang="en-GB" noProof="0" dirty="0"/>
              <a:t>Heading #4</a:t>
            </a:r>
          </a:p>
          <a:p>
            <a:pPr lvl="6"/>
            <a:r>
              <a:rPr lang="en-GB" noProof="0" dirty="0"/>
              <a:t>Numbers</a:t>
            </a:r>
          </a:p>
          <a:p>
            <a:pPr lvl="7"/>
            <a:r>
              <a:rPr lang="en-GB" noProof="0" dirty="0"/>
              <a:t>Letters</a:t>
            </a:r>
          </a:p>
          <a:p>
            <a:pPr marL="0" marR="0" lvl="8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GB" noProof="0" dirty="0" err="1"/>
              <a:t>Bronvermelding</a:t>
            </a:r>
            <a:endParaRPr lang="en-GB" noProof="0" dirty="0"/>
          </a:p>
        </p:txBody>
      </p:sp>
      <p:grpSp>
        <p:nvGrpSpPr>
          <p:cNvPr id="2" name="Groep 1">
            <a:extLst>
              <a:ext uri="{FF2B5EF4-FFF2-40B4-BE49-F238E27FC236}">
                <a16:creationId xmlns:a16="http://schemas.microsoft.com/office/drawing/2014/main" id="{3FEF774C-6798-2CDA-D16D-C524570ADC2D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6C887830-2765-2EDF-1DA5-B8B813D42CB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1" i="0" u="none" strike="noStrike" kern="1200" cap="all" spc="0" normalizeH="0" baseline="0" noProof="0" dirty="0">
                  <a:ln>
                    <a:noFill/>
                  </a:ln>
                  <a:solidFill>
                    <a:srgbClr val="EE7628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Choosing text levels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0BB465B5-C8D4-B502-B678-11BA2D7237D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77F1385A-0947-0C9B-6095-7C4DBE0B35F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E7628"/>
                </a:buClr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Bullet</a:t>
              </a:r>
            </a:p>
          </p:txBody>
        </p:sp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D7A0CFB7-14E9-2162-DD49-1110B0585DB9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F8663F83-FDBC-5858-0553-8827C57A96C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Choose from: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D816201-5D05-9BDF-A219-5C8E92E16186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447675" marR="0" lvl="1" indent="-2667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70809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Sub-Bullet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A7263C7-DC6C-20B5-B758-9483DBF4E79C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392C7286-28F9-42B3-542F-602CE6C04936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628650" marR="0" lvl="2" indent="-2667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70809"/>
                </a:buClr>
                <a:buSzTx/>
                <a:buFont typeface="Aptos" panose="020B0004020202020204" pitchFamily="34" charset="0"/>
                <a:buChar char="−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Sub-Bullet #2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A48B0F26-01BB-C45A-2F59-310190A07A6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3D0E261B-2F93-798B-E787-622F218D75D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3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ptos" panose="020B0004020202020204" pitchFamily="34" charset="0"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Tekst</a:t>
              </a: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B020055E-166C-3158-879C-C224A56131E2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0C8ABA8A-0B4A-E81A-D133-0EC4ED7224D9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ptos" panose="020B0004020202020204" pitchFamily="34" charset="0"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EE7628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Heading #1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244793F5-D9DD-654B-784C-D90BF2A31286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7BECC238-2E71-96C5-293C-F37E35DE905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6" indent="-3429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E7628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Numbers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559D0670-FB1B-2BF9-3B2E-930B448EBD7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678816AE-188B-76B9-60B3-56439C4021E7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7" indent="-3429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E7628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Letters</a:t>
              </a:r>
            </a:p>
          </p:txBody>
        </p:sp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26BD8EF6-0DF0-D04F-F158-50EEAAB216F3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E5240D22-ED3C-7CC8-1A53-5013DAE22990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8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70809"/>
                </a:buClr>
                <a:buSzTx/>
                <a:buFontTx/>
                <a:buNone/>
                <a:tabLst/>
                <a:defRPr/>
              </a:pPr>
              <a:r>
                <a:rPr kumimoji="0" lang="en-GB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rgbClr val="177AB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Bronvermelding</a:t>
              </a:r>
              <a:endParaRPr kumimoji="0" lang="en-GB" sz="1100" b="0" i="1" u="none" strike="noStrike" kern="1200" cap="none" spc="0" normalizeH="0" baseline="0" noProof="0" dirty="0">
                <a:ln>
                  <a:noFill/>
                </a:ln>
                <a:solidFill>
                  <a:srgbClr val="177ABF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34" name="Ovaal 33">
              <a:extLst>
                <a:ext uri="{FF2B5EF4-FFF2-40B4-BE49-F238E27FC236}">
                  <a16:creationId xmlns:a16="http://schemas.microsoft.com/office/drawing/2014/main" id="{C8DD6130-4C4C-0190-1E03-E2640DF51A70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5" name="Rechthoek 34">
              <a:extLst>
                <a:ext uri="{FF2B5EF4-FFF2-40B4-BE49-F238E27FC236}">
                  <a16:creationId xmlns:a16="http://schemas.microsoft.com/office/drawing/2014/main" id="{42DA1508-64A2-BABE-CCF4-A593C9FAB4B0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E7628"/>
                </a:buClr>
                <a:buSzTx/>
                <a:buFont typeface="Aptos" panose="020B0004020202020204" pitchFamily="34" charset="0"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2CA055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Heading #2</a:t>
              </a:r>
            </a:p>
          </p:txBody>
        </p:sp>
        <p:sp>
          <p:nvSpPr>
            <p:cNvPr id="36" name="Rechthoek 35">
              <a:extLst>
                <a:ext uri="{FF2B5EF4-FFF2-40B4-BE49-F238E27FC236}">
                  <a16:creationId xmlns:a16="http://schemas.microsoft.com/office/drawing/2014/main" id="{9F9EE05A-AFF4-24AE-B9F6-E02875DDF77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Want to know more?</a:t>
              </a:r>
              <a:br>
                <a:rPr kumimoji="0" lang="en-GB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</a:b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Go to the tab</a:t>
              </a:r>
              <a:r>
                <a:rPr kumimoji="0" lang="en-GB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'SLIDEBUILDER’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and click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</a:b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on the button </a:t>
              </a:r>
              <a:r>
                <a:rPr kumimoji="0" lang="en-GB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‘Inspiration'</a:t>
              </a:r>
            </a:p>
          </p:txBody>
        </p:sp>
        <p:grpSp>
          <p:nvGrpSpPr>
            <p:cNvPr id="37" name="ICOON_info">
              <a:extLst>
                <a:ext uri="{FF2B5EF4-FFF2-40B4-BE49-F238E27FC236}">
                  <a16:creationId xmlns:a16="http://schemas.microsoft.com/office/drawing/2014/main" id="{73944E8F-C20F-CCE1-C826-938B982F4DE8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5" name="Ovaal 84">
                <a:extLst>
                  <a:ext uri="{FF2B5EF4-FFF2-40B4-BE49-F238E27FC236}">
                    <a16:creationId xmlns:a16="http://schemas.microsoft.com/office/drawing/2014/main" id="{C4D91959-95B8-5423-4E25-EFA8E8BC3B2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sp>
            <p:nvSpPr>
              <p:cNvPr id="151" name="Graphic 163" descr="Informatie">
                <a:extLst>
                  <a:ext uri="{FF2B5EF4-FFF2-40B4-BE49-F238E27FC236}">
                    <a16:creationId xmlns:a16="http://schemas.microsoft.com/office/drawing/2014/main" id="{271CA4C8-0FA3-7E83-18B4-8CC86959EE3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VOORBEELD">
              <a:extLst>
                <a:ext uri="{FF2B5EF4-FFF2-40B4-BE49-F238E27FC236}">
                  <a16:creationId xmlns:a16="http://schemas.microsoft.com/office/drawing/2014/main" id="{8D9883B6-8F0C-C857-633E-62F166D199B8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7058B320-70FE-AA62-7D85-7A20FE357D7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Home</a:t>
                </a:r>
              </a:p>
            </p:txBody>
          </p: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7B603348-B5C2-6BA4-4005-85FD7389A59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370B9387-5D54-D3CD-E7E1-849346E7F8E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8" name="Groep 77">
                  <a:extLst>
                    <a:ext uri="{FF2B5EF4-FFF2-40B4-BE49-F238E27FC236}">
                      <a16:creationId xmlns:a16="http://schemas.microsoft.com/office/drawing/2014/main" id="{6544E565-DCE5-BA9D-98D5-E5F6F913B26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43D9AEF6-1005-4224-249A-86D94282904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1" name="Rechte verbindingslijn 80">
                    <a:extLst>
                      <a:ext uri="{FF2B5EF4-FFF2-40B4-BE49-F238E27FC236}">
                        <a16:creationId xmlns:a16="http://schemas.microsoft.com/office/drawing/2014/main" id="{AF5C623F-D2B9-0FB8-C480-61D67C8B1B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2" name="Rechte verbindingslijn 81">
                    <a:extLst>
                      <a:ext uri="{FF2B5EF4-FFF2-40B4-BE49-F238E27FC236}">
                        <a16:creationId xmlns:a16="http://schemas.microsoft.com/office/drawing/2014/main" id="{2E9B7A5A-69BF-AEA1-9CCC-F70B98EBB93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3" name="Rechte verbindingslijn 82">
                    <a:extLst>
                      <a:ext uri="{FF2B5EF4-FFF2-40B4-BE49-F238E27FC236}">
                        <a16:creationId xmlns:a16="http://schemas.microsoft.com/office/drawing/2014/main" id="{688886BB-B10B-7212-1D55-A5D6C62B65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4" name="Rechte verbindingslijn 83">
                    <a:extLst>
                      <a:ext uri="{FF2B5EF4-FFF2-40B4-BE49-F238E27FC236}">
                        <a16:creationId xmlns:a16="http://schemas.microsoft.com/office/drawing/2014/main" id="{B168F5AD-F3AB-7C81-945B-226A4B0C561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9" name="Pijl: rechts 78">
                  <a:extLst>
                    <a:ext uri="{FF2B5EF4-FFF2-40B4-BE49-F238E27FC236}">
                      <a16:creationId xmlns:a16="http://schemas.microsoft.com/office/drawing/2014/main" id="{F72C0390-499E-B728-36D3-44974CBDE54E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716C285-ACB3-02BD-4DE0-07B1A74B219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71" name="Groep 70">
                  <a:extLst>
                    <a:ext uri="{FF2B5EF4-FFF2-40B4-BE49-F238E27FC236}">
                      <a16:creationId xmlns:a16="http://schemas.microsoft.com/office/drawing/2014/main" id="{031B30A8-6900-6EB0-44AF-63D387740D4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6E777EE3-725D-1839-12D6-D81852C8272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21144C2B-2AF6-A1E9-4EF8-8F1A5A64AB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923271AE-3859-EE92-619E-ECCCDA76AE1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55CA7C6F-8D94-98FF-55EA-4BCEE5C454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276E2D7C-35D2-48AB-8F7C-BE84A03194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2" name="Pijl: rechts 71">
                  <a:extLst>
                    <a:ext uri="{FF2B5EF4-FFF2-40B4-BE49-F238E27FC236}">
                      <a16:creationId xmlns:a16="http://schemas.microsoft.com/office/drawing/2014/main" id="{5483392B-A6DF-4EF2-5CDB-0EC2EB028C7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49" name="Rechte verbindingslijn 48">
                <a:extLst>
                  <a:ext uri="{FF2B5EF4-FFF2-40B4-BE49-F238E27FC236}">
                    <a16:creationId xmlns:a16="http://schemas.microsoft.com/office/drawing/2014/main" id="{499CA73A-204E-C16A-9452-3B5EA1F5DC2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50" name="Rechte verbindingslijn 49">
                <a:extLst>
                  <a:ext uri="{FF2B5EF4-FFF2-40B4-BE49-F238E27FC236}">
                    <a16:creationId xmlns:a16="http://schemas.microsoft.com/office/drawing/2014/main" id="{2A45536C-7CB7-360A-734F-F3614513934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51" name="Rechthoek 50">
                <a:extLst>
                  <a:ext uri="{FF2B5EF4-FFF2-40B4-BE49-F238E27FC236}">
                    <a16:creationId xmlns:a16="http://schemas.microsoft.com/office/drawing/2014/main" id="{02544CF3-6710-4F22-8B7E-D66F927D617A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Text level down</a:t>
                </a:r>
              </a:p>
            </p:txBody>
          </p:sp>
          <p:sp>
            <p:nvSpPr>
              <p:cNvPr id="52" name="Rechthoek 51">
                <a:extLst>
                  <a:ext uri="{FF2B5EF4-FFF2-40B4-BE49-F238E27FC236}">
                    <a16:creationId xmlns:a16="http://schemas.microsoft.com/office/drawing/2014/main" id="{1BF297FE-405B-B694-1E41-460B4BCF8B4B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Text level up</a:t>
                </a:r>
              </a:p>
            </p:txBody>
          </p:sp>
          <p:grpSp>
            <p:nvGrpSpPr>
              <p:cNvPr id="53" name="Groep 52">
                <a:extLst>
                  <a:ext uri="{FF2B5EF4-FFF2-40B4-BE49-F238E27FC236}">
                    <a16:creationId xmlns:a16="http://schemas.microsoft.com/office/drawing/2014/main" id="{E124E1C4-63F8-B2B3-4B57-DE15A94B915A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63" name="Rechthoek 62">
                  <a:extLst>
                    <a:ext uri="{FF2B5EF4-FFF2-40B4-BE49-F238E27FC236}">
                      <a16:creationId xmlns:a16="http://schemas.microsoft.com/office/drawing/2014/main" id="{71E94031-4368-45C4-C018-2C243C184957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endParaRPr>
                </a:p>
              </p:txBody>
            </p:sp>
            <p:grpSp>
              <p:nvGrpSpPr>
                <p:cNvPr id="64" name="Groep 63">
                  <a:extLst>
                    <a:ext uri="{FF2B5EF4-FFF2-40B4-BE49-F238E27FC236}">
                      <a16:creationId xmlns:a16="http://schemas.microsoft.com/office/drawing/2014/main" id="{09E25DA7-63D4-DDDF-D074-44A977F5D12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6C2E312B-0EFA-2D4F-89CA-265C05B361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BC264D4A-8AA3-A244-C2BD-67295119998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97ACB481-B2CA-251D-38CB-E0575348464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7FB5BA4E-2F7B-5EB3-0364-05B5130D9EC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618F701-BE00-DC3D-F243-BD4F326C6FD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5" name="Pijl: rechts 64">
                  <a:extLst>
                    <a:ext uri="{FF2B5EF4-FFF2-40B4-BE49-F238E27FC236}">
                      <a16:creationId xmlns:a16="http://schemas.microsoft.com/office/drawing/2014/main" id="{14366743-ECD8-A7FB-85D8-069A07865C3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4" name="Groep 53">
                <a:extLst>
                  <a:ext uri="{FF2B5EF4-FFF2-40B4-BE49-F238E27FC236}">
                    <a16:creationId xmlns:a16="http://schemas.microsoft.com/office/drawing/2014/main" id="{52C2B9AE-A456-0F63-584A-78ED89F558D2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5" name="Rechthoek 54">
                  <a:extLst>
                    <a:ext uri="{FF2B5EF4-FFF2-40B4-BE49-F238E27FC236}">
                      <a16:creationId xmlns:a16="http://schemas.microsoft.com/office/drawing/2014/main" id="{B87C63E3-EE8E-AD5D-CAC7-A8E95070846C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endParaRPr>
                </a:p>
              </p:txBody>
            </p:sp>
            <p:grpSp>
              <p:nvGrpSpPr>
                <p:cNvPr id="56" name="Groep 55">
                  <a:extLst>
                    <a:ext uri="{FF2B5EF4-FFF2-40B4-BE49-F238E27FC236}">
                      <a16:creationId xmlns:a16="http://schemas.microsoft.com/office/drawing/2014/main" id="{CB368817-BE93-3F2B-0AD8-9F211B73A47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F3F227DE-628A-DA18-52C1-254949A97C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0A5BB5E1-8F09-1BAB-7ABC-76B71E6D429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7E2900F5-8328-D9F2-E857-BF236260689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2F58D699-8C5E-92A8-C9A5-6752DE0A90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F126E799-B0F4-B038-50F2-40DACF67CA8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7" name="Pijl: rechts 56">
                  <a:extLst>
                    <a:ext uri="{FF2B5EF4-FFF2-40B4-BE49-F238E27FC236}">
                      <a16:creationId xmlns:a16="http://schemas.microsoft.com/office/drawing/2014/main" id="{74F5E1BB-D2F4-B03B-02CA-95FCC9B2E61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9" name="Groep 38">
              <a:extLst>
                <a:ext uri="{FF2B5EF4-FFF2-40B4-BE49-F238E27FC236}">
                  <a16:creationId xmlns:a16="http://schemas.microsoft.com/office/drawing/2014/main" id="{6C0C7519-CA89-6D9E-4E9A-7E53D680B94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40" name="Inspireren">
                <a:extLst>
                  <a:ext uri="{FF2B5EF4-FFF2-40B4-BE49-F238E27FC236}">
                    <a16:creationId xmlns:a16="http://schemas.microsoft.com/office/drawing/2014/main" id="{60C48C1E-132D-CB24-9B6B-CCC32669D598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42" name="Freeform 12">
                  <a:extLst>
                    <a:ext uri="{FF2B5EF4-FFF2-40B4-BE49-F238E27FC236}">
                      <a16:creationId xmlns:a16="http://schemas.microsoft.com/office/drawing/2014/main" id="{B3DBD062-451C-9B51-6D4F-3985A74DB3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9546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Freeform 13">
                  <a:extLst>
                    <a:ext uri="{FF2B5EF4-FFF2-40B4-BE49-F238E27FC236}">
                      <a16:creationId xmlns:a16="http://schemas.microsoft.com/office/drawing/2014/main" id="{A5E87810-7C59-2CEF-4023-1E6A345011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9546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Freeform 14">
                  <a:extLst>
                    <a:ext uri="{FF2B5EF4-FFF2-40B4-BE49-F238E27FC236}">
                      <a16:creationId xmlns:a16="http://schemas.microsoft.com/office/drawing/2014/main" id="{220D2964-5C51-A85F-17A5-B1F01D02316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9546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1" name="Tekstvak 40">
                <a:extLst>
                  <a:ext uri="{FF2B5EF4-FFF2-40B4-BE49-F238E27FC236}">
                    <a16:creationId xmlns:a16="http://schemas.microsoft.com/office/drawing/2014/main" id="{76CB6002-89AB-50F0-B337-E1D44F24002B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44733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4="http://schemas.microsoft.com/office/drawing/2010/main"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jdelijke aanduiding voor titel 1">
            <a:extLst>
              <a:ext uri="{FF2B5EF4-FFF2-40B4-BE49-F238E27FC236}">
                <a16:creationId xmlns:a16="http://schemas.microsoft.com/office/drawing/2014/main" id="{6487721E-6D8E-22A6-150E-48B5B7398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67937"/>
            <a:ext cx="2086708" cy="3422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3054860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542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KST DIA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282E6B19-C172-4760-8A97-D66BFBC0201A}" type="datetime1">
              <a:rPr lang="nl-NL" smtClean="0"/>
              <a:t>13-11-2025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 tIns="72000"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06470" y="0"/>
            <a:ext cx="1480516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77CA6B8A-BEB2-49FD-AE28-FD442722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413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5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2" name="Google Shape;5582;p7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583" name="Google Shape;5583;p7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1pPr>
            <a:lvl2pPr marL="914400" lvl="1" indent="-228600"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4pPr>
            <a:lvl5pPr marL="2286000" lvl="4" indent="-228600"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5pPr>
            <a:lvl6pPr marL="2743200" lvl="5" indent="-228600"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>
              <a:spcBef>
                <a:spcPts val="700"/>
              </a:spcBef>
              <a:spcAft>
                <a:spcPts val="0"/>
              </a:spcAft>
              <a:buSzPts val="1500"/>
              <a:buNone/>
              <a:defRPr/>
            </a:lvl7pPr>
            <a:lvl8pPr marL="3657600" lvl="7" indent="-228600"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>
              <a:spcBef>
                <a:spcPts val="700"/>
              </a:spcBef>
              <a:spcAft>
                <a:spcPts val="7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584" name="Google Shape;5584;p7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2626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Background ligh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0">
            <a:extLst>
              <a:ext uri="{FF2B5EF4-FFF2-40B4-BE49-F238E27FC236}">
                <a16:creationId xmlns:a16="http://schemas.microsoft.com/office/drawing/2014/main" id="{EC75E586-75E4-9F58-629C-42972F2C3D7A}"/>
              </a:ext>
            </a:extLst>
          </p:cNvPr>
          <p:cNvSpPr txBox="1">
            <a:spLocks/>
          </p:cNvSpPr>
          <p:nvPr userDrawn="1"/>
        </p:nvSpPr>
        <p:spPr>
          <a:xfrm>
            <a:off x="193040" y="225424"/>
            <a:ext cx="11805920" cy="6424295"/>
          </a:xfrm>
          <a:prstGeom prst="roundRect">
            <a:avLst>
              <a:gd name="adj" fmla="val 3563"/>
            </a:avLst>
          </a:prstGeom>
          <a:solidFill>
            <a:srgbClr val="FCE4D4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E7628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EE82F239-2B35-4039-9A61-4FB8C953EA19}"/>
              </a:ext>
            </a:extLst>
          </p:cNvPr>
          <p:cNvSpPr/>
          <p:nvPr userDrawn="1"/>
        </p:nvSpPr>
        <p:spPr>
          <a:xfrm>
            <a:off x="0" y="-367937"/>
            <a:ext cx="2906373" cy="2462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EE762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Title only Background light orange</a:t>
            </a:r>
          </a:p>
        </p:txBody>
      </p:sp>
      <p:sp>
        <p:nvSpPr>
          <p:cNvPr id="5" name="Tijdelijke aanduiding voor tekst 15">
            <a:extLst>
              <a:ext uri="{FF2B5EF4-FFF2-40B4-BE49-F238E27FC236}">
                <a16:creationId xmlns:a16="http://schemas.microsoft.com/office/drawing/2014/main" id="{1573DD9B-8FD8-C1EC-787F-42558CEE97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6060536"/>
            <a:ext cx="932400" cy="4752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8" name="Tijdelijke aanduiding voor tekst 12">
            <a:extLst>
              <a:ext uri="{FF2B5EF4-FFF2-40B4-BE49-F238E27FC236}">
                <a16:creationId xmlns:a16="http://schemas.microsoft.com/office/drawing/2014/main" id="{FBA7C0EF-C85B-4505-8107-015B15633D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8207" y="707795"/>
            <a:ext cx="36000" cy="396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66DDD4FA-5C0A-526B-A5D0-BD4D9C52D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163" y="722313"/>
            <a:ext cx="10606838" cy="3422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Place the title of the slide here</a:t>
            </a:r>
          </a:p>
        </p:txBody>
      </p:sp>
    </p:spTree>
    <p:extLst>
      <p:ext uri="{BB962C8B-B14F-4D97-AF65-F5344CB8AC3E}">
        <p14:creationId xmlns:p14="http://schemas.microsoft.com/office/powerpoint/2010/main" val="286700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A6EF6-49D5-866F-A7C7-23E2AC9B8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7C2F5-B08B-CD9C-D020-5550F6A0C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A06FF-1FEF-22A3-8DE7-066E8CD7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2256-5C70-4277-A5E9-96882E7B8C89}" type="datetimeFigureOut">
              <a:rPr lang="en-NL" smtClean="0"/>
              <a:t>13/11/2025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06264-B970-E33A-C4D7-07C3D0BDF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7DC2B-3CFE-A343-F460-0D9E368C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D697A-CF44-4C00-81BC-B5B9DDDC83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0802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65163" y="722313"/>
            <a:ext cx="10582630" cy="3422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Place the title of the slide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720000" y="1592262"/>
            <a:ext cx="10752000" cy="42139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 err="1"/>
              <a:t>Tekst</a:t>
            </a:r>
            <a:endParaRPr lang="en-GB" noProof="0" dirty="0"/>
          </a:p>
          <a:p>
            <a:pPr lvl="4"/>
            <a:r>
              <a:rPr lang="en-GB" noProof="0" dirty="0"/>
              <a:t>Heading #1</a:t>
            </a:r>
          </a:p>
          <a:p>
            <a:pPr lvl="5"/>
            <a:r>
              <a:rPr lang="en-GB" noProof="0" dirty="0"/>
              <a:t>Heading #2</a:t>
            </a:r>
          </a:p>
          <a:p>
            <a:pPr lvl="6"/>
            <a:r>
              <a:rPr lang="en-GB" noProof="0" dirty="0"/>
              <a:t>Numbers</a:t>
            </a:r>
          </a:p>
          <a:p>
            <a:pPr lvl="7"/>
            <a:r>
              <a:rPr lang="en-GB" noProof="0" dirty="0"/>
              <a:t>Letters</a:t>
            </a:r>
          </a:p>
          <a:p>
            <a:pPr marL="0" marR="0" lvl="8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GB" noProof="0" dirty="0" err="1"/>
              <a:t>Bronvermelding</a:t>
            </a:r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3B2B64-2362-45C8-9E78-5ECAAAF3478D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2266793" y="7267316"/>
            <a:ext cx="4114800" cy="15179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|  Published under cc-by licence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49FE6F-67CB-4243-BE03-A9A3C4007850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175566" y="7255814"/>
            <a:ext cx="284597" cy="15179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000" b="1">
                <a:solidFill>
                  <a:schemeClr val="tx1"/>
                </a:solidFill>
                <a:latin typeface="+mj-lt"/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chemeClr val="tx1">
              <a:alpha val="20000"/>
            </a:schemeClr>
          </a:solidFill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0" y="0"/>
              <a:ext cx="12192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-12032" y="-542026"/>
            <a:ext cx="2129051" cy="1501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000" b="0" cap="all" baseline="0" noProof="0" dirty="0">
                <a:latin typeface="+mj-lt"/>
              </a:rPr>
              <a:t>Name of the layout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E8839A4-EDB3-CD18-65F6-1247F05B0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00" y="7267317"/>
            <a:ext cx="1451700" cy="1517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35A72ECF-8B84-41B2-B55D-F6FF3126552C}" type="datetime3">
              <a:rPr lang="en-GB" smtClean="0"/>
              <a:t>13 November, 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78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2"/>
        </a:buClr>
        <a:buFont typeface="Aptos" panose="020B0004020202020204" pitchFamily="34" charset="0"/>
        <a:buChar char="−"/>
        <a:defRPr sz="18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ptos" panose="020B0004020202020204" pitchFamily="34" charset="0"/>
        <a:buNone/>
        <a:defRPr sz="1800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ptos" panose="020B0004020202020204" pitchFamily="34" charset="0"/>
        <a:buNone/>
        <a:defRPr sz="2000" b="1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ptos" panose="020B0004020202020204" pitchFamily="34" charset="0"/>
        <a:buNone/>
        <a:defRPr sz="2000" b="1" i="0" kern="1200" cap="none" baseline="0">
          <a:solidFill>
            <a:schemeClr val="accent4"/>
          </a:solidFill>
          <a:latin typeface="+mj-lt"/>
          <a:ea typeface="+mn-ea"/>
          <a:cs typeface="+mn-cs"/>
        </a:defRPr>
      </a:lvl6pPr>
      <a:lvl7pPr marL="342900" indent="-3429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rabicPeriod"/>
        <a:tabLst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" indent="-3429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lphaLcPeriod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2"/>
        </a:buClr>
        <a:buFontTx/>
        <a:buNone/>
        <a:tabLst/>
        <a:defRPr sz="1400" i="1" kern="120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3">
          <p15:clr>
            <a:srgbClr val="F26B43"/>
          </p15:clr>
        </p15:guide>
        <p15:guide id="2" pos="450">
          <p15:clr>
            <a:srgbClr val="F26B43"/>
          </p15:clr>
        </p15:guide>
        <p15:guide id="3" orient="horz" pos="3657">
          <p15:clr>
            <a:srgbClr val="F26B43"/>
          </p15:clr>
        </p15:guide>
        <p15:guide id="4" orient="horz" pos="3997">
          <p15:clr>
            <a:srgbClr val="A4A3A4"/>
          </p15:clr>
        </p15:guide>
        <p15:guide id="5" orient="horz" pos="4092">
          <p15:clr>
            <a:srgbClr val="A4A3A4"/>
          </p15:clr>
        </p15:guide>
        <p15:guide id="6" pos="7219">
          <p15:clr>
            <a:srgbClr val="F26B43"/>
          </p15:clr>
        </p15:guide>
        <p15:guide id="7" orient="horz" pos="669">
          <p15:clr>
            <a:srgbClr val="A4A3A4"/>
          </p15:clr>
        </p15:guide>
        <p15:guide id="8" orient="horz" pos="455">
          <p15:clr>
            <a:srgbClr val="A4A3A4"/>
          </p15:clr>
        </p15:guide>
        <p15:guide id="9" orient="horz" pos="2160">
          <p15:clr>
            <a:srgbClr val="F26B43"/>
          </p15:clr>
        </p15:guide>
        <p15:guide id="10" orient="horz" pos="142">
          <p15:clr>
            <a:srgbClr val="5ACBF0"/>
          </p15:clr>
        </p15:guide>
        <p15:guide id="11" orient="horz" pos="4178">
          <p15:clr>
            <a:srgbClr val="5ACBF0"/>
          </p15:clr>
        </p15:guide>
        <p15:guide id="12" pos="3840">
          <p15:clr>
            <a:srgbClr val="F26B43"/>
          </p15:clr>
        </p15:guide>
        <p15:guide id="13" pos="121">
          <p15:clr>
            <a:srgbClr val="5ACBF0"/>
          </p15:clr>
        </p15:guide>
        <p15:guide id="14" pos="7559">
          <p15:clr>
            <a:srgbClr val="5ACBF0"/>
          </p15:clr>
        </p15:guide>
        <p15:guide id="15" orient="horz">
          <p15:clr>
            <a:srgbClr val="FDE53C"/>
          </p15:clr>
        </p15:guide>
        <p15:guide id="16" pos="7680">
          <p15:clr>
            <a:srgbClr val="FDE53C"/>
          </p15:clr>
        </p15:guide>
        <p15:guide id="17">
          <p15:clr>
            <a:srgbClr val="FDE53C"/>
          </p15:clr>
        </p15:guide>
        <p15:guide id="18" orient="horz" pos="4320">
          <p15:clr>
            <a:srgbClr val="FDE53C"/>
          </p15:clr>
        </p15:guide>
        <p15:guide id="19" pos="4021">
          <p15:clr>
            <a:srgbClr val="F26B43"/>
          </p15:clr>
        </p15:guide>
        <p15:guide id="20" pos="36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desk.surf.nl/wiki/display/WIKI/Snellius+hardware+and+file+system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race-ri.eu/wp-content/uploads/Best-Practice-Guide_Deep-Learning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en.wikipedia.org/wiki/Ampere_(microarchitecture)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servicedesk.surf.nl/wiki/display/WIKI/Deep+Learning+on+A100+GPUs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Instruction-level_parallelism" TargetMode="Externa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Embarrassingly_parallel" TargetMode="Externa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jpe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jpe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hyperlink" Target="https://pytorch.org/docs/stable/distributed.pipelining.html" TargetMode="External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41.png"/><Relationship Id="rId4" Type="http://schemas.openxmlformats.org/officeDocument/2006/relationships/image" Target="../media/image33.png"/><Relationship Id="rId9" Type="http://schemas.openxmlformats.org/officeDocument/2006/relationships/hyperlink" Target="https://arxiv.org/abs/1811.06965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jpeg"/><Relationship Id="rId5" Type="http://schemas.openxmlformats.org/officeDocument/2006/relationships/image" Target="../media/image41.png"/><Relationship Id="rId4" Type="http://schemas.openxmlformats.org/officeDocument/2006/relationships/hyperlink" Target="https://arxiv.org/pdf/1909.08053" TargetMode="Externa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hyperlink" Target="https://arxiv.org/abs/2105.13120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jpe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customXml" Target="../ink/ink10.xml"/><Relationship Id="rId42" Type="http://schemas.openxmlformats.org/officeDocument/2006/relationships/customXml" Target="../ink/ink21.xml"/><Relationship Id="rId47" Type="http://schemas.openxmlformats.org/officeDocument/2006/relationships/image" Target="../media/image500.png"/><Relationship Id="rId63" Type="http://schemas.openxmlformats.org/officeDocument/2006/relationships/image" Target="../media/image580.png"/><Relationship Id="rId68" Type="http://schemas.openxmlformats.org/officeDocument/2006/relationships/customXml" Target="../ink/ink34.xml"/><Relationship Id="rId84" Type="http://schemas.openxmlformats.org/officeDocument/2006/relationships/image" Target="../media/image68.png"/><Relationship Id="rId89" Type="http://schemas.openxmlformats.org/officeDocument/2006/relationships/customXml" Target="../ink/ink45.xml"/><Relationship Id="rId16" Type="http://schemas.openxmlformats.org/officeDocument/2006/relationships/image" Target="../media/image350.png"/><Relationship Id="rId11" Type="http://schemas.openxmlformats.org/officeDocument/2006/relationships/customXml" Target="../ink/ink5.xml"/><Relationship Id="rId32" Type="http://schemas.openxmlformats.org/officeDocument/2006/relationships/customXml" Target="../ink/ink16.xml"/><Relationship Id="rId37" Type="http://schemas.openxmlformats.org/officeDocument/2006/relationships/image" Target="../media/image450.png"/><Relationship Id="rId53" Type="http://schemas.openxmlformats.org/officeDocument/2006/relationships/image" Target="../media/image530.png"/><Relationship Id="rId58" Type="http://schemas.openxmlformats.org/officeDocument/2006/relationships/customXml" Target="../ink/ink29.xml"/><Relationship Id="rId74" Type="http://schemas.openxmlformats.org/officeDocument/2006/relationships/image" Target="../media/image630.png"/><Relationship Id="rId79" Type="http://schemas.openxmlformats.org/officeDocument/2006/relationships/customXml" Target="../ink/ink40.xml"/><Relationship Id="rId5" Type="http://schemas.openxmlformats.org/officeDocument/2006/relationships/customXml" Target="../ink/ink2.xml"/><Relationship Id="rId90" Type="http://schemas.openxmlformats.org/officeDocument/2006/relationships/customXml" Target="../ink/ink46.xml"/><Relationship Id="rId95" Type="http://schemas.openxmlformats.org/officeDocument/2006/relationships/customXml" Target="../ink/ink51.xml"/><Relationship Id="rId22" Type="http://schemas.openxmlformats.org/officeDocument/2006/relationships/image" Target="../media/image382.png"/><Relationship Id="rId27" Type="http://schemas.openxmlformats.org/officeDocument/2006/relationships/image" Target="../media/image402.png"/><Relationship Id="rId43" Type="http://schemas.openxmlformats.org/officeDocument/2006/relationships/image" Target="../media/image480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610.png"/><Relationship Id="rId80" Type="http://schemas.openxmlformats.org/officeDocument/2006/relationships/image" Target="../media/image660.png"/><Relationship Id="rId85" Type="http://schemas.openxmlformats.org/officeDocument/2006/relationships/customXml" Target="../ink/ink43.xml"/><Relationship Id="rId3" Type="http://schemas.openxmlformats.org/officeDocument/2006/relationships/customXml" Target="../ink/ink1.xml"/><Relationship Id="rId12" Type="http://schemas.openxmlformats.org/officeDocument/2006/relationships/image" Target="../media/image330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image" Target="../media/image432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560.png"/><Relationship Id="rId67" Type="http://schemas.openxmlformats.org/officeDocument/2006/relationships/image" Target="../media/image600.png"/><Relationship Id="rId20" Type="http://schemas.openxmlformats.org/officeDocument/2006/relationships/image" Target="../media/image371.png"/><Relationship Id="rId41" Type="http://schemas.openxmlformats.org/officeDocument/2006/relationships/image" Target="../media/image47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customXml" Target="../ink/ink38.xml"/><Relationship Id="rId83" Type="http://schemas.openxmlformats.org/officeDocument/2006/relationships/customXml" Target="../ink/ink42.xml"/><Relationship Id="rId88" Type="http://schemas.openxmlformats.org/officeDocument/2006/relationships/image" Target="../media/image700.png"/><Relationship Id="rId91" Type="http://schemas.openxmlformats.org/officeDocument/2006/relationships/customXml" Target="../ink/ink47.xml"/><Relationship Id="rId96" Type="http://schemas.openxmlformats.org/officeDocument/2006/relationships/customXml" Target="../ink/ink5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0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510.png"/><Relationship Id="rId57" Type="http://schemas.openxmlformats.org/officeDocument/2006/relationships/image" Target="../media/image550.png"/><Relationship Id="rId10" Type="http://schemas.openxmlformats.org/officeDocument/2006/relationships/image" Target="../media/image320.png"/><Relationship Id="rId31" Type="http://schemas.openxmlformats.org/officeDocument/2006/relationships/image" Target="../media/image422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590.png"/><Relationship Id="rId73" Type="http://schemas.openxmlformats.org/officeDocument/2006/relationships/customXml" Target="../ink/ink37.xml"/><Relationship Id="rId78" Type="http://schemas.openxmlformats.org/officeDocument/2006/relationships/image" Target="../media/image650.png"/><Relationship Id="rId81" Type="http://schemas.openxmlformats.org/officeDocument/2006/relationships/customXml" Target="../ink/ink41.xml"/><Relationship Id="rId86" Type="http://schemas.openxmlformats.org/officeDocument/2006/relationships/image" Target="../media/image690.png"/><Relationship Id="rId94" Type="http://schemas.openxmlformats.org/officeDocument/2006/relationships/customXml" Target="../ink/ink50.xml"/><Relationship Id="rId4" Type="http://schemas.openxmlformats.org/officeDocument/2006/relationships/image" Target="../media/image290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361.png"/><Relationship Id="rId39" Type="http://schemas.openxmlformats.org/officeDocument/2006/relationships/image" Target="../media/image460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540.png"/><Relationship Id="rId76" Type="http://schemas.openxmlformats.org/officeDocument/2006/relationships/image" Target="../media/image640.png"/><Relationship Id="rId97" Type="http://schemas.openxmlformats.org/officeDocument/2006/relationships/customXml" Target="../ink/ink53.xml"/><Relationship Id="rId7" Type="http://schemas.openxmlformats.org/officeDocument/2006/relationships/customXml" Target="../ink/ink3.xml"/><Relationship Id="rId71" Type="http://schemas.openxmlformats.org/officeDocument/2006/relationships/customXml" Target="../ink/ink36.xml"/><Relationship Id="rId92" Type="http://schemas.openxmlformats.org/officeDocument/2006/relationships/customXml" Target="../ink/ink48.xml"/><Relationship Id="rId2" Type="http://schemas.openxmlformats.org/officeDocument/2006/relationships/image" Target="../media/image49.png"/><Relationship Id="rId29" Type="http://schemas.openxmlformats.org/officeDocument/2006/relationships/image" Target="../media/image412.png"/><Relationship Id="rId24" Type="http://schemas.openxmlformats.org/officeDocument/2006/relationships/image" Target="../media/image391.png"/><Relationship Id="rId40" Type="http://schemas.openxmlformats.org/officeDocument/2006/relationships/customXml" Target="../ink/ink20.xml"/><Relationship Id="rId45" Type="http://schemas.openxmlformats.org/officeDocument/2006/relationships/image" Target="../media/image490.png"/><Relationship Id="rId66" Type="http://schemas.openxmlformats.org/officeDocument/2006/relationships/customXml" Target="../ink/ink33.xml"/><Relationship Id="rId87" Type="http://schemas.openxmlformats.org/officeDocument/2006/relationships/customXml" Target="../ink/ink44.xml"/><Relationship Id="rId61" Type="http://schemas.openxmlformats.org/officeDocument/2006/relationships/image" Target="../media/image570.png"/><Relationship Id="rId82" Type="http://schemas.openxmlformats.org/officeDocument/2006/relationships/image" Target="../media/image67.png"/><Relationship Id="rId19" Type="http://schemas.openxmlformats.org/officeDocument/2006/relationships/customXml" Target="../ink/ink9.xml"/><Relationship Id="rId14" Type="http://schemas.openxmlformats.org/officeDocument/2006/relationships/image" Target="../media/image340.png"/><Relationship Id="rId30" Type="http://schemas.openxmlformats.org/officeDocument/2006/relationships/customXml" Target="../ink/ink15.xml"/><Relationship Id="rId35" Type="http://schemas.openxmlformats.org/officeDocument/2006/relationships/image" Target="../media/image442.png"/><Relationship Id="rId56" Type="http://schemas.openxmlformats.org/officeDocument/2006/relationships/customXml" Target="../ink/ink28.xml"/><Relationship Id="rId77" Type="http://schemas.openxmlformats.org/officeDocument/2006/relationships/customXml" Target="../ink/ink39.xml"/><Relationship Id="rId8" Type="http://schemas.openxmlformats.org/officeDocument/2006/relationships/image" Target="../media/image310.png"/><Relationship Id="rId51" Type="http://schemas.openxmlformats.org/officeDocument/2006/relationships/image" Target="../media/image520.png"/><Relationship Id="rId72" Type="http://schemas.openxmlformats.org/officeDocument/2006/relationships/image" Target="../media/image620.png"/><Relationship Id="rId93" Type="http://schemas.openxmlformats.org/officeDocument/2006/relationships/customXml" Target="../ink/ink4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customXml" Target="../ink/ink59.xml"/><Relationship Id="rId18" Type="http://schemas.openxmlformats.org/officeDocument/2006/relationships/image" Target="../media/image180.png"/><Relationship Id="rId3" Type="http://schemas.openxmlformats.org/officeDocument/2006/relationships/customXml" Target="../ink/ink54.xml"/><Relationship Id="rId7" Type="http://schemas.openxmlformats.org/officeDocument/2006/relationships/customXml" Target="../ink/ink56.xml"/><Relationship Id="rId12" Type="http://schemas.openxmlformats.org/officeDocument/2006/relationships/image" Target="../media/image150.png"/><Relationship Id="rId17" Type="http://schemas.openxmlformats.org/officeDocument/2006/relationships/customXml" Target="../ink/ink61.xml"/><Relationship Id="rId2" Type="http://schemas.openxmlformats.org/officeDocument/2006/relationships/image" Target="../media/image53.png"/><Relationship Id="rId16" Type="http://schemas.openxmlformats.org/officeDocument/2006/relationships/image" Target="../media/image170.png"/><Relationship Id="rId20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customXml" Target="../ink/ink58.xml"/><Relationship Id="rId5" Type="http://schemas.openxmlformats.org/officeDocument/2006/relationships/customXml" Target="../ink/ink55.xml"/><Relationship Id="rId15" Type="http://schemas.openxmlformats.org/officeDocument/2006/relationships/customXml" Target="../ink/ink60.xml"/><Relationship Id="rId10" Type="http://schemas.openxmlformats.org/officeDocument/2006/relationships/image" Target="../media/image140.png"/><Relationship Id="rId19" Type="http://schemas.openxmlformats.org/officeDocument/2006/relationships/customXml" Target="../ink/ink62.xml"/><Relationship Id="rId4" Type="http://schemas.openxmlformats.org/officeDocument/2006/relationships/image" Target="../media/image110.png"/><Relationship Id="rId9" Type="http://schemas.openxmlformats.org/officeDocument/2006/relationships/customXml" Target="../ink/ink57.xml"/><Relationship Id="rId14" Type="http://schemas.openxmlformats.org/officeDocument/2006/relationships/image" Target="../media/image160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hyperlink" Target="https://www.tensorflow.org/guide/distributed_training" TargetMode="External"/><Relationship Id="rId7" Type="http://schemas.openxmlformats.org/officeDocument/2006/relationships/image" Target="../media/image34.png"/><Relationship Id="rId2" Type="http://schemas.openxmlformats.org/officeDocument/2006/relationships/hyperlink" Target="https://pytorch.org/docs/stable/distributed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hyperlink" Target="https://huggingface.co/docs/transformers/main/en/accelerate" TargetMode="External"/><Relationship Id="rId4" Type="http://schemas.openxmlformats.org/officeDocument/2006/relationships/hyperlink" Target="https://pytorch.org/docs/stable/fsdp.html" TargetMode="External"/><Relationship Id="rId9" Type="http://schemas.openxmlformats.org/officeDocument/2006/relationships/image" Target="../media/image3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tel/intel-extension-for-pytorch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hyperlink" Target="https://www.lumi-supercomputer.eu/" TargetMode="Externa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catalog.ngc.nvidia.com/orgs/nvidia/containers/pytorch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ezyang.com/2020/09/lets-talk-about-the-pytorch-dispatcher/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5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desk.surf.nl/wiki/display/WIKI/Deep+Learning+on+A100+GPUs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docs/stable/notes/cuda.html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5" Type="http://schemas.openxmlformats.org/officeDocument/2006/relationships/hyperlink" Target="https://docs.nvidia.com/deeplearning/performance/index.html" TargetMode="External"/><Relationship Id="rId4" Type="http://schemas.openxmlformats.org/officeDocument/2006/relationships/hyperlink" Target="https://docs.nvidia.com/deeplearning/performance/dl-performance-memory-limited/index.html" TargetMode="Externa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7.sv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jpe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8.jpe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2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SURF-ML/HPML-course-materials.git" TargetMode="External"/><Relationship Id="rId4" Type="http://schemas.openxmlformats.org/officeDocument/2006/relationships/hyperlink" Target="https://github.com/SURF-ML/HPML-course-materials/blob/august2025/Day2/notebooks/PyTorch_profiling.ipynb" TargetMode="Externa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https://arxiv.org/pdf/2412.19437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10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/>
          </p:nvPr>
        </p:nvSpPr>
        <p:spPr>
          <a:xfrm>
            <a:off x="423360" y="524520"/>
            <a:ext cx="5556240" cy="2644920"/>
          </a:xfrm>
          <a:prstGeom prst="rect">
            <a:avLst/>
          </a:prstGeom>
          <a:blipFill rotWithShape="0">
            <a:blip r:embed="rId3">
              <a:alphaModFix amt="90000"/>
            </a:blip>
            <a:stretch/>
          </a:blipFill>
          <a:ln w="0">
            <a:noFill/>
          </a:ln>
        </p:spPr>
        <p:txBody>
          <a:bodyPr lIns="900000" tIns="720000" rIns="288000" bIns="1800000" anchor="t">
            <a:noAutofit/>
          </a:bodyPr>
          <a:lstStyle/>
          <a:p>
            <a:pPr>
              <a:lnSpc>
                <a:spcPct val="114999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GB" sz="2500" b="1" spc="-1" dirty="0">
                <a:solidFill>
                  <a:srgbClr val="000000"/>
                </a:solidFill>
                <a:latin typeface="Arial"/>
              </a:rPr>
              <a:t>High-Performance</a:t>
            </a:r>
            <a:br>
              <a:rPr lang="en-GB" sz="2500" b="1" spc="-1" dirty="0">
                <a:solidFill>
                  <a:srgbClr val="000000"/>
                </a:solidFill>
                <a:latin typeface="Arial"/>
              </a:rPr>
            </a:br>
            <a:r>
              <a:rPr lang="en-GB" sz="2500" b="1" spc="-1" dirty="0">
                <a:solidFill>
                  <a:srgbClr val="000000"/>
                </a:solidFill>
                <a:latin typeface="Arial"/>
              </a:rPr>
              <a:t>Machine-Learning</a:t>
            </a:r>
            <a:endParaRPr lang="nl-NL" dirty="0"/>
          </a:p>
        </p:txBody>
      </p:sp>
      <p:sp>
        <p:nvSpPr>
          <p:cNvPr id="931" name="PlaceHolder 2"/>
          <p:cNvSpPr>
            <a:spLocks noGrp="1"/>
          </p:cNvSpPr>
          <p:nvPr>
            <p:ph/>
          </p:nvPr>
        </p:nvSpPr>
        <p:spPr>
          <a:xfrm>
            <a:off x="1013040" y="2183760"/>
            <a:ext cx="4875120" cy="973800"/>
          </a:xfrm>
          <a:prstGeom prst="rect">
            <a:avLst/>
          </a:prstGeom>
          <a:noFill/>
          <a:ln w="0">
            <a:noFill/>
          </a:ln>
        </p:spPr>
        <p:txBody>
          <a:bodyPr lIns="324000" tIns="0" rIns="252000" bIns="0" anchor="t">
            <a:noAutofit/>
          </a:bodyPr>
          <a:lstStyle/>
          <a:p>
            <a:pPr>
              <a:buNone/>
              <a:tabLst>
                <a:tab pos="0" algn="l"/>
              </a:tabLst>
            </a:pPr>
            <a:r>
              <a:rPr lang="en-GB" sz="1800" spc="-1" dirty="0">
                <a:solidFill>
                  <a:srgbClr val="000000"/>
                </a:solidFill>
                <a:latin typeface="Calibri"/>
              </a:rPr>
              <a:t>Robert Jan Schlimbach</a:t>
            </a:r>
            <a:endParaRPr lang="en-US" sz="1800" spc="-1" dirty="0" err="1">
              <a:solidFill>
                <a:srgbClr val="000000"/>
              </a:solidFill>
              <a:latin typeface="Arial"/>
            </a:endParaRPr>
          </a:p>
          <a:p>
            <a:pPr>
              <a:buNone/>
              <a:tabLst>
                <a:tab pos="0" algn="l"/>
              </a:tabLst>
            </a:pPr>
            <a:r>
              <a:rPr lang="en-GB" sz="1800" spc="-1" dirty="0">
                <a:solidFill>
                  <a:srgbClr val="000000"/>
                </a:solidFill>
                <a:latin typeface="Calibri"/>
              </a:rPr>
              <a:t>Team High-Performance Machine-Learning</a:t>
            </a:r>
            <a:endParaRPr lang="en-GB" sz="1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2" name="PlaceHolder 3"/>
          <p:cNvSpPr>
            <a:spLocks noGrp="1"/>
          </p:cNvSpPr>
          <p:nvPr>
            <p:ph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4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GB" sz="1600" b="0" strike="noStrike" spc="-1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Google Shape;226;p23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34" name="Google Shape;227;p23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35" name="Google Shape;228;p23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36" name="Google Shape;229;p23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37" name="Google Shape;230;p23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2" name="Afbeelding 1" descr="Afbeelding met overdekt, muur&#10;&#10;Automatisch gegenereerde beschrijving">
            <a:extLst>
              <a:ext uri="{FF2B5EF4-FFF2-40B4-BE49-F238E27FC236}">
                <a16:creationId xmlns:a16="http://schemas.microsoft.com/office/drawing/2014/main" id="{5E179440-CA2A-E3A5-961A-432D77DB3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5176" y="-1587"/>
            <a:ext cx="6343650" cy="4757738"/>
          </a:xfrm>
          <a:prstGeom prst="rect">
            <a:avLst/>
          </a:prstGeom>
        </p:spPr>
      </p:pic>
      <p:pic>
        <p:nvPicPr>
          <p:cNvPr id="3" name="Afbeelding 2" descr="Afbeelding met elektronica, Elektrische bedrading, server, Elektronische engineering&#10;&#10;Automatisch gegenereerde beschrijving">
            <a:extLst>
              <a:ext uri="{FF2B5EF4-FFF2-40B4-BE49-F238E27FC236}">
                <a16:creationId xmlns:a16="http://schemas.microsoft.com/office/drawing/2014/main" id="{2731C261-ABC9-5567-C5BA-58F99BC4FD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175" y="3038474"/>
            <a:ext cx="2863850" cy="3821113"/>
          </a:xfrm>
          <a:prstGeom prst="rect">
            <a:avLst/>
          </a:prstGeom>
        </p:spPr>
      </p:pic>
      <p:pic>
        <p:nvPicPr>
          <p:cNvPr id="4" name="Afbeelding 3" descr="Afbeelding met elektronica, Elektronische engineering, Computeronderdeel, Elektrische bedrading&#10;&#10;Automatisch gegenereerde beschrijving">
            <a:extLst>
              <a:ext uri="{FF2B5EF4-FFF2-40B4-BE49-F238E27FC236}">
                <a16:creationId xmlns:a16="http://schemas.microsoft.com/office/drawing/2014/main" id="{AA44F28F-FC9A-23BE-5E7B-72FDFE0B9E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3700" y="3038474"/>
            <a:ext cx="2863850" cy="382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5586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87A890E-C00D-9197-00A6-88BD19A651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79" y="6286088"/>
            <a:ext cx="932400" cy="475200"/>
          </a:xfrm>
        </p:spPr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C98650D-C22E-DF84-F100-67830B77CEC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DCA0AD4-71FD-E7CA-1CA5-7959F1F21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 this presentation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10DA4847-4A36-C5BF-512D-1661932BFC1E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44207" y="1342326"/>
            <a:ext cx="10275278" cy="4060393"/>
          </a:xfrm>
        </p:spPr>
        <p:txBody>
          <a:bodyPr/>
          <a:lstStyle/>
          <a:p>
            <a:pPr lvl="3"/>
            <a:r>
              <a:rPr lang="nl-NL" sz="3600" dirty="0"/>
              <a:t>Making (AI) workloads go fast</a:t>
            </a:r>
          </a:p>
          <a:p>
            <a:pPr lvl="3"/>
            <a:endParaRPr lang="nl-NL" sz="3600" dirty="0"/>
          </a:p>
          <a:p>
            <a:pPr lvl="3"/>
            <a:r>
              <a:rPr lang="nl-NL" sz="3600" dirty="0"/>
              <a:t>Warning: this will be messy</a:t>
            </a:r>
          </a:p>
          <a:p>
            <a:pPr lvl="3"/>
            <a:endParaRPr lang="nl-NL" sz="3600" dirty="0"/>
          </a:p>
          <a:p>
            <a:pPr lvl="3"/>
            <a:endParaRPr lang="nl-NL" sz="3600" dirty="0"/>
          </a:p>
          <a:p>
            <a:pPr lvl="3"/>
            <a:r>
              <a:rPr lang="nl-NL" sz="3600" dirty="0"/>
              <a:t>Material is available at </a:t>
            </a:r>
            <a:br>
              <a:rPr lang="nl-NL" sz="3600" dirty="0"/>
            </a:br>
            <a:r>
              <a:rPr lang="nl-NL" sz="3200" dirty="0"/>
              <a:t>https://github.com/SURF-ML/HPML-course-materials</a:t>
            </a:r>
          </a:p>
        </p:txBody>
      </p:sp>
      <p:pic>
        <p:nvPicPr>
          <p:cNvPr id="7" name="Picture 6" descr="A firefighter spraying water on a fire&#10;&#10;AI-generated content may be incorrect.">
            <a:extLst>
              <a:ext uri="{FF2B5EF4-FFF2-40B4-BE49-F238E27FC236}">
                <a16:creationId xmlns:a16="http://schemas.microsoft.com/office/drawing/2014/main" id="{FB4F60AC-C95B-3247-D34B-BED58BC82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960" y="628307"/>
            <a:ext cx="4837100" cy="322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085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E24CD-E146-B678-D912-C461DE63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A49DEEC0-5F21-9F3B-54F0-078494B189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79" y="6286088"/>
            <a:ext cx="932400" cy="475200"/>
          </a:xfrm>
        </p:spPr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C44529F-B658-22C9-5720-49D0391A8E2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21D4EBC-51A8-6827-4B09-03D5DB2A7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 this presentation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1371A7E3-3A14-B863-4BA8-487434043E7C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44207" y="1342326"/>
            <a:ext cx="10275278" cy="4060393"/>
          </a:xfrm>
        </p:spPr>
        <p:txBody>
          <a:bodyPr/>
          <a:lstStyle/>
          <a:p>
            <a:pPr lvl="3"/>
            <a:r>
              <a:rPr lang="nl-NL" sz="3600" dirty="0"/>
              <a:t>Please:</a:t>
            </a:r>
          </a:p>
          <a:p>
            <a:pPr marL="571500" lvl="3" indent="-571500">
              <a:buFont typeface="Arial" panose="020B0604020202020204" pitchFamily="34" charset="0"/>
              <a:buChar char="•"/>
            </a:pPr>
            <a:r>
              <a:rPr lang="nl-NL" sz="3600" dirty="0"/>
              <a:t>Interrupt me</a:t>
            </a:r>
            <a:br>
              <a:rPr lang="nl-NL" sz="3600" dirty="0"/>
            </a:br>
            <a:r>
              <a:rPr lang="nl-NL" sz="3600" dirty="0"/>
              <a:t>if you have a question</a:t>
            </a:r>
          </a:p>
          <a:p>
            <a:pPr marL="571500" lvl="3" indent="-571500">
              <a:buFont typeface="Arial" panose="020B0604020202020204" pitchFamily="34" charset="0"/>
              <a:buChar char="•"/>
            </a:pPr>
            <a:r>
              <a:rPr lang="nl-NL" sz="3600" dirty="0"/>
              <a:t>Let me know</a:t>
            </a:r>
            <a:br>
              <a:rPr lang="nl-NL" sz="3600" dirty="0"/>
            </a:br>
            <a:r>
              <a:rPr lang="nl-NL" sz="3600" dirty="0"/>
              <a:t>if something is unclear</a:t>
            </a:r>
            <a:br>
              <a:rPr lang="nl-NL" sz="3200" dirty="0"/>
            </a:br>
            <a:r>
              <a:rPr lang="nl-NL" sz="3200" dirty="0"/>
              <a:t>(it’s probably me, not you)</a:t>
            </a:r>
            <a:endParaRPr lang="nl-NL" sz="3600" dirty="0"/>
          </a:p>
        </p:txBody>
      </p:sp>
      <p:pic>
        <p:nvPicPr>
          <p:cNvPr id="7" name="Picture 6" descr="A firefighter spraying water on a fire&#10;&#10;AI-generated content may be incorrect.">
            <a:extLst>
              <a:ext uri="{FF2B5EF4-FFF2-40B4-BE49-F238E27FC236}">
                <a16:creationId xmlns:a16="http://schemas.microsoft.com/office/drawing/2014/main" id="{D89D88F9-9272-E713-9B15-D4AE2E2DB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960" y="628307"/>
            <a:ext cx="4837100" cy="322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69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64185BA-5495-BF3E-CCEF-973974A4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C537ADBB-B8D9-C08E-E653-9C7C468D4396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A2BFDBF-96C6-C8BA-BD1E-A7DBE1275965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Macro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5D4D6133-BFE7-F90D-F68E-4948213CA1A0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BE456379-F52C-CE62-0FB7-438431150BCC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871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Who am I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440293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b="1" spc="-1" dirty="0">
                <a:solidFill>
                  <a:srgbClr val="000000"/>
                </a:solidFill>
                <a:latin typeface="Arial"/>
              </a:rPr>
              <a:t>Robert Jan: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 err="1">
                <a:solidFill>
                  <a:srgbClr val="000000"/>
                </a:solidFill>
                <a:latin typeface="Arial"/>
              </a:rPr>
              <a:t>UvA</a:t>
            </a:r>
            <a:r>
              <a:rPr lang="en-GB" sz="1600" spc="-1" dirty="0">
                <a:solidFill>
                  <a:srgbClr val="000000"/>
                </a:solidFill>
                <a:latin typeface="Arial"/>
              </a:rPr>
              <a:t> CS&amp;AI grad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dirty="0"/>
              <a:t>HPC ML advisor at SURF</a:t>
            </a:r>
            <a:endParaRPr lang="en-US" sz="1600" spc="-1" dirty="0"/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dirty="0"/>
              <a:t>Love making code go fast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dirty="0"/>
              <a:t>Love running, climbing, and mountains</a:t>
            </a:r>
            <a:endParaRPr lang="en-US" sz="1600" spc="-1" dirty="0"/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b="1" dirty="0"/>
              <a:t>SURF</a:t>
            </a:r>
            <a:endParaRPr lang="en-GB" sz="1600" dirty="0"/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dirty="0"/>
              <a:t>Help academia in a very broad sense</a:t>
            </a:r>
            <a:endParaRPr lang="en-US" sz="1600" spc="-1" dirty="0"/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dirty="0" err="1"/>
              <a:t>Eduroam</a:t>
            </a:r>
            <a:r>
              <a:rPr lang="en-GB" sz="1600" dirty="0"/>
              <a:t>, </a:t>
            </a:r>
            <a:r>
              <a:rPr lang="en-GB" sz="1600" dirty="0" err="1"/>
              <a:t>SurfConext</a:t>
            </a:r>
            <a:r>
              <a:rPr lang="en-GB" sz="1600" dirty="0"/>
              <a:t>, </a:t>
            </a:r>
            <a:r>
              <a:rPr lang="en-GB" sz="1600" dirty="0" err="1"/>
              <a:t>SurfMarket</a:t>
            </a:r>
            <a:r>
              <a:rPr lang="en-GB" sz="1600" dirty="0"/>
              <a:t>, National Supercomputer, etc...</a:t>
            </a:r>
            <a:endParaRPr lang="en-US" sz="1600" spc="-1" dirty="0"/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dirty="0"/>
              <a:t>Collaborate a lot in (Inter-)National projects 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dirty="0"/>
              <a:t>Bulwark against our Microsoft overlords</a:t>
            </a: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b="1" dirty="0"/>
              <a:t>High-Performance Machine-Learning group</a:t>
            </a:r>
          </a:p>
          <a:p>
            <a:pPr>
              <a:lnSpc>
                <a:spcPct val="100000"/>
              </a:lnSpc>
              <a:buClr>
                <a:srgbClr val="EA7600"/>
              </a:buClr>
            </a:pPr>
            <a:r>
              <a:rPr lang="en-GB" sz="1600" dirty="0"/>
              <a:t>Very diverse set of people interested in everything AI &amp; Science &amp; HPC &amp; …</a:t>
            </a:r>
            <a:br>
              <a:rPr lang="en-GB" sz="2000" dirty="0"/>
            </a:br>
            <a:r>
              <a:rPr lang="en-GB" sz="2000" spc="-1" dirty="0">
                <a:solidFill>
                  <a:srgbClr val="000000"/>
                </a:solidFill>
                <a:latin typeface="Calibri"/>
              </a:rPr>
              <a:t> 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5" name="Afbeelding 4" descr="Afbeelding met water, buitenshuis, zwemmen, Oppervlaktegolf&#10;&#10;Automatisch gegenereerde beschrijving">
            <a:extLst>
              <a:ext uri="{FF2B5EF4-FFF2-40B4-BE49-F238E27FC236}">
                <a16:creationId xmlns:a16="http://schemas.microsoft.com/office/drawing/2014/main" id="{78E1213E-606A-0264-A1BB-E5D778302A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754" b="17467"/>
          <a:stretch/>
        </p:blipFill>
        <p:spPr>
          <a:xfrm>
            <a:off x="9906961" y="3431319"/>
            <a:ext cx="2079160" cy="1977386"/>
          </a:xfrm>
          <a:prstGeom prst="rect">
            <a:avLst/>
          </a:prstGeom>
        </p:spPr>
      </p:pic>
      <p:pic>
        <p:nvPicPr>
          <p:cNvPr id="2050" name="Picture 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A76DEC36-97B1-94DD-AC3B-4F1908010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8603" y="271116"/>
            <a:ext cx="2379874" cy="2386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71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Snellius</a:t>
            </a: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72040" y="87264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~1300 CPU-based nodes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128-192 cores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256-378 GB RAM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~100 high-memory nodes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1TB-8TB RAM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160 </a:t>
            </a:r>
            <a:r>
              <a:rPr lang="en-GB" sz="2000" spc="-1" dirty="0">
                <a:latin typeface="Calibri"/>
              </a:rPr>
              <a:t>GPU nodes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x4 </a:t>
            </a:r>
            <a:r>
              <a:rPr lang="en-GB" sz="1600" spc="-1" dirty="0" err="1">
                <a:latin typeface="Calibri"/>
              </a:rPr>
              <a:t>nvidia</a:t>
            </a:r>
            <a:r>
              <a:rPr lang="en-GB" sz="1600" spc="-1" dirty="0">
                <a:latin typeface="Calibri"/>
              </a:rPr>
              <a:t> A100s / H100s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512GB RAM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40GB /94 GB VRAM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400" spc="-1" dirty="0">
                <a:latin typeface="Calibri"/>
              </a:rPr>
              <a:t>Storage: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~13PB of medium-speed storage project space</a:t>
            </a:r>
            <a:endParaRPr lang="en-GB" sz="1600" dirty="0"/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720TB of home-</a:t>
            </a:r>
            <a:r>
              <a:rPr lang="en-GB" sz="1600" spc="-1" dirty="0" err="1">
                <a:latin typeface="Calibri"/>
              </a:rPr>
              <a:t>dir</a:t>
            </a:r>
            <a:endParaRPr lang="en-GB" sz="1600" spc="-1" dirty="0">
              <a:latin typeface="Calibri"/>
            </a:endParaRP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</a:rPr>
              <a:t>210TB of NVME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Interconnect: 100GBps </a:t>
            </a:r>
            <a:r>
              <a:rPr lang="en-GB" sz="2000" spc="-1" dirty="0" err="1">
                <a:latin typeface="Calibri"/>
              </a:rPr>
              <a:t>Infiniband</a:t>
            </a:r>
            <a:r>
              <a:rPr lang="en-GB" sz="2000" spc="-1" dirty="0">
                <a:latin typeface="Calibri"/>
              </a:rPr>
              <a:t> fat-tree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latin typeface="Calibri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3" name="Afbeelding 2" descr="Fat-Tree Topology">
            <a:extLst>
              <a:ext uri="{FF2B5EF4-FFF2-40B4-BE49-F238E27FC236}">
                <a16:creationId xmlns:a16="http://schemas.microsoft.com/office/drawing/2014/main" id="{EE3F339D-19D0-CBD9-16B5-EAC610DD2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507" y="4018745"/>
            <a:ext cx="5278335" cy="2511755"/>
          </a:xfrm>
          <a:prstGeom prst="rect">
            <a:avLst/>
          </a:prstGeom>
        </p:spPr>
      </p:pic>
      <p:pic>
        <p:nvPicPr>
          <p:cNvPr id="4" name="Afbeelding 3" descr="Afbeelding met elektronica, Elektronische engineering, Computeronderdeel, Elektrische bedrading&#10;&#10;Automatisch gegenereerde beschrijving">
            <a:extLst>
              <a:ext uri="{FF2B5EF4-FFF2-40B4-BE49-F238E27FC236}">
                <a16:creationId xmlns:a16="http://schemas.microsoft.com/office/drawing/2014/main" id="{88FD844E-B483-68AB-5248-AEA8D4609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754" y="15367"/>
            <a:ext cx="2863850" cy="3821113"/>
          </a:xfrm>
          <a:prstGeom prst="rect">
            <a:avLst/>
          </a:prstGeom>
        </p:spPr>
      </p:pic>
      <p:pic>
        <p:nvPicPr>
          <p:cNvPr id="5" name="Afbeelding 1" descr="Afbeelding met overdekt, muur&#10;&#10;Automatisch gegenereerde beschrijving">
            <a:extLst>
              <a:ext uri="{FF2B5EF4-FFF2-40B4-BE49-F238E27FC236}">
                <a16:creationId xmlns:a16="http://schemas.microsoft.com/office/drawing/2014/main" id="{8480D8B8-C127-B362-3414-1D30C54EF3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7284" y="-1"/>
            <a:ext cx="4711542" cy="353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52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5BA66-F70F-419D-ED09-DD1079F7B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F3F1CCB2-60D9-2646-F83D-646C87F61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latin typeface="Calibri"/>
              </a:rPr>
              <a:t>Access mechanisms</a:t>
            </a: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1953AEC7-999F-FC31-BD90-ADD05B3FE9D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72040" y="872640"/>
            <a:ext cx="8973720" cy="489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Direct access through institute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NWO small: &lt;=1M SBUs, &lt;= 10TB storage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NWO big: &gt;1M SBUs, &gt;10TB storage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LUMI access through SURF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LUMI/MN5/Leonardo/Jupiter: through EuroHPC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We also offer Spider HTC (‘small compute &amp; large data) and HPC Cloud (‘always on’) and </a:t>
            </a:r>
            <a:r>
              <a:rPr lang="en-GB" sz="2000" spc="-1" dirty="0" err="1">
                <a:latin typeface="Calibri"/>
              </a:rPr>
              <a:t>dCache</a:t>
            </a:r>
            <a:r>
              <a:rPr lang="en-GB" sz="2000" spc="-1" dirty="0">
                <a:latin typeface="Calibri"/>
              </a:rPr>
              <a:t> (data caching)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latin typeface="Calibri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We offer consultancy!</a:t>
            </a:r>
          </a:p>
          <a:p>
            <a:pPr marL="450850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4 hours ‘default’</a:t>
            </a:r>
          </a:p>
          <a:p>
            <a:pPr marL="450850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Up to 160 hours ‘if we think your project is important’</a:t>
            </a:r>
          </a:p>
          <a:p>
            <a:pPr marL="450850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</a:rPr>
              <a:t>NWO large: a lot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800" spc="-1" dirty="0">
              <a:latin typeface="Calibri"/>
            </a:endParaRPr>
          </a:p>
          <a:p>
            <a:pPr marL="450850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pc="-1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22B114CF-F80F-13DF-FB40-1A9692525067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04D0848E-5218-C80E-519B-AA41761A02FB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C3DEA03E-867B-531F-665E-1ACFD3A54177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22D9BDBC-74A4-5AFE-6E15-464C8E8BF150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1155E43B-B9E1-FEB5-BEF1-D97B2EA3742A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9B007DF9-9655-C2CE-AECA-86C5F40C3A81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95815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6662B-63D9-4F68-03BF-1866A360B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043365A-A5C9-F175-C388-89F24D14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797948C5-3EA3-311A-BBF0-16706C8351B1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2A19A8D4-141A-F941-0B4E-14F3FB388514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Micro: fast(er) code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A0E0BA05-62F3-89D8-A561-A30C0B336D6D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30DC7E04-32C2-816F-E21D-24EA21F34C31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169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The three S'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Calibri"/>
              </a:rPr>
              <a:t>Know your System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What kind of hardware do I have?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What features does my hardware support?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Calibri"/>
              </a:rPr>
              <a:t>Know your Software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Does my software do what I want to do efficiently?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Does my software support my hardware features?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Calibri"/>
              </a:rPr>
              <a:t>Know your Stack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What version of software am I running?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Is my stack compiled for my hardware?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31867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System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16240" y="872640"/>
            <a:ext cx="8973720" cy="5907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Which CPUs?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Architectures: X86_64, ARM64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What kind of storage?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SSD,  HDD, Tape?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SATA, NVMe or full PCI-E, Network? 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What kind of Networking?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Ethernet? InfiniBand (IB)?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IOPs vs Throughput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What kind of RAM?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High Bandwidth Memory (HBM) or Double Data Rate (DDR)? 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How much? Enough for a </a:t>
            </a:r>
            <a:r>
              <a:rPr lang="en-GB" sz="1400" spc="-1" dirty="0" err="1">
                <a:cs typeface="Arial"/>
              </a:rPr>
              <a:t>RAMdisk</a:t>
            </a:r>
            <a:r>
              <a:rPr lang="en-GB" sz="1400" spc="-1" dirty="0">
                <a:cs typeface="Arial"/>
              </a:rPr>
              <a:t>? (/dev/</a:t>
            </a:r>
            <a:r>
              <a:rPr lang="en-GB" sz="1400" spc="-1" dirty="0" err="1">
                <a:cs typeface="Arial"/>
              </a:rPr>
              <a:t>shm</a:t>
            </a:r>
            <a:r>
              <a:rPr lang="en-GB" sz="1400" spc="-1" dirty="0">
                <a:cs typeface="Arial"/>
              </a:rPr>
              <a:t>)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You (AI person) are always memory limited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Which GPUs?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AMD? Good raw performance, </a:t>
            </a:r>
            <a:r>
              <a:rPr lang="en-GB" sz="1400" spc="-1" dirty="0" err="1">
                <a:cs typeface="Arial"/>
              </a:rPr>
              <a:t>PyTorch</a:t>
            </a:r>
            <a:r>
              <a:rPr lang="en-GB" sz="1400" spc="-1" dirty="0">
                <a:cs typeface="Arial"/>
              </a:rPr>
              <a:t> support is improving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NVIDIA? Optimized for AI with good </a:t>
            </a:r>
            <a:r>
              <a:rPr lang="en-GB" sz="1400" spc="-1" dirty="0" err="1">
                <a:cs typeface="Arial"/>
              </a:rPr>
              <a:t>PyTorch</a:t>
            </a:r>
            <a:r>
              <a:rPr lang="en-GB" sz="1400" spc="-1" dirty="0">
                <a:cs typeface="Arial"/>
              </a:rPr>
              <a:t> support.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cs typeface="Arial"/>
              </a:rPr>
              <a:t>Intel? Technically supported in </a:t>
            </a:r>
            <a:r>
              <a:rPr lang="en-GB" sz="1400" spc="-1" dirty="0" err="1">
                <a:cs typeface="Arial"/>
              </a:rPr>
              <a:t>PyTorch</a:t>
            </a:r>
            <a:r>
              <a:rPr lang="en-GB" sz="1400" spc="-1" dirty="0">
                <a:cs typeface="Arial"/>
              </a:rPr>
              <a:t>.</a:t>
            </a:r>
          </a:p>
          <a:p>
            <a:pPr marL="457200" lvl="1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1600" spc="-1" dirty="0">
              <a:cs typeface="Arial"/>
            </a:endParaRP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2000" spc="-1" dirty="0"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4B8C8-0F66-2ED2-1A48-2790AB937D1F}"/>
              </a:ext>
            </a:extLst>
          </p:cNvPr>
          <p:cNvSpPr txBox="1"/>
          <p:nvPr/>
        </p:nvSpPr>
        <p:spPr>
          <a:xfrm>
            <a:off x="3917079" y="6585840"/>
            <a:ext cx="8972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800" spc="-1" dirty="0">
                <a:ea typeface="+mn-lt"/>
                <a:cs typeface="+mn-lt"/>
                <a:hlinkClick r:id="rId3"/>
              </a:rPr>
              <a:t>https://servicedesk.surf.nl/wiki/display/WIKI/Snellius+hardware+and+file+systems</a:t>
            </a:r>
            <a:endParaRPr lang="nl-NL" sz="18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5884679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System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Goals:</a:t>
            </a:r>
          </a:p>
          <a:p>
            <a:r>
              <a:rPr lang="nl-NL" dirty="0"/>
              <a:t>Understand </a:t>
            </a:r>
            <a:r>
              <a:rPr lang="nl-NL" dirty="0" err="1"/>
              <a:t>what</a:t>
            </a:r>
            <a:r>
              <a:rPr lang="nl-NL" dirty="0"/>
              <a:t> hardware bottlenecks </a:t>
            </a:r>
            <a:r>
              <a:rPr lang="nl-NL" dirty="0" err="1"/>
              <a:t>could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limiting</a:t>
            </a:r>
            <a:endParaRPr lang="nl-NL" dirty="0"/>
          </a:p>
          <a:p>
            <a:r>
              <a:rPr lang="nl-NL" dirty="0"/>
              <a:t>Understand pro’s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con’s</a:t>
            </a:r>
            <a:r>
              <a:rPr lang="nl-NL" dirty="0"/>
              <a:t> of </a:t>
            </a:r>
            <a:r>
              <a:rPr lang="nl-NL" dirty="0" err="1"/>
              <a:t>various</a:t>
            </a:r>
            <a:r>
              <a:rPr lang="nl-NL" dirty="0"/>
              <a:t> hardware</a:t>
            </a:r>
          </a:p>
          <a:p>
            <a:r>
              <a:rPr lang="nl-NL" dirty="0" err="1"/>
              <a:t>Know</a:t>
            </a:r>
            <a:r>
              <a:rPr lang="nl-NL" dirty="0"/>
              <a:t>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choose</a:t>
            </a:r>
            <a:r>
              <a:rPr lang="nl-NL" dirty="0"/>
              <a:t> </a:t>
            </a:r>
            <a:r>
              <a:rPr lang="nl-NL" dirty="0" err="1"/>
              <a:t>appropriate</a:t>
            </a:r>
            <a:r>
              <a:rPr lang="nl-NL" dirty="0"/>
              <a:t> hardware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DL </a:t>
            </a:r>
            <a:r>
              <a:rPr lang="nl-NL" dirty="0" err="1"/>
              <a:t>task</a:t>
            </a:r>
            <a:endParaRPr lang="nl-NL" dirty="0"/>
          </a:p>
          <a:p>
            <a:r>
              <a:rPr lang="nl-NL" dirty="0" err="1"/>
              <a:t>Know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do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mitigate</a:t>
            </a:r>
            <a:r>
              <a:rPr lang="nl-NL" dirty="0"/>
              <a:t> bottlenecks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137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Fundamental bottlenecks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Compute</a:t>
            </a:r>
            <a:r>
              <a:rPr lang="nl-NL" dirty="0"/>
              <a:t> (</a:t>
            </a:r>
            <a:r>
              <a:rPr lang="nl-NL" dirty="0" err="1"/>
              <a:t>floating</a:t>
            </a:r>
            <a:r>
              <a:rPr lang="nl-NL" dirty="0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bandwidth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size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Communication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12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7237683" y="1079058"/>
            <a:ext cx="3468787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E.g. training a compute intensive network on a single node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6642100" y="12700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Afbeelding 6" descr="Afbeelding met tekst, buitenshuis, person, vlot&#10;&#10;Automatisch gegenereerde beschrijving">
            <a:extLst>
              <a:ext uri="{FF2B5EF4-FFF2-40B4-BE49-F238E27FC236}">
                <a16:creationId xmlns:a16="http://schemas.microsoft.com/office/drawing/2014/main" id="{DE13FA06-9AB1-C1E8-AC51-E2F1DEC19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252" y="2946008"/>
            <a:ext cx="4249758" cy="32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47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Fundamental bottlenecks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err="1"/>
              <a:t>Compute</a:t>
            </a:r>
            <a:r>
              <a:rPr lang="nl-NL"/>
              <a:t> (</a:t>
            </a:r>
            <a:r>
              <a:rPr lang="nl-NL" err="1"/>
              <a:t>floating</a:t>
            </a:r>
            <a:r>
              <a:rPr lang="nl-NL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bandwidth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size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Communication</a:t>
            </a:r>
          </a:p>
          <a:p>
            <a:pPr lvl="1"/>
            <a:endParaRPr lang="nl-NL" sz="1400"/>
          </a:p>
          <a:p>
            <a:endParaRPr lang="nl-NL" sz="1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13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32483" y="1551498"/>
            <a:ext cx="4547917" cy="12926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/>
              <a:t>Data </a:t>
            </a:r>
            <a:r>
              <a:rPr lang="nl-NL" err="1"/>
              <a:t>needs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get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processor in time in order </a:t>
            </a:r>
            <a:r>
              <a:rPr lang="nl-NL" err="1"/>
              <a:t>to</a:t>
            </a:r>
            <a:r>
              <a:rPr lang="nl-NL"/>
              <a:t> do </a:t>
            </a:r>
            <a:r>
              <a:rPr lang="nl-NL" err="1"/>
              <a:t>compute</a:t>
            </a:r>
            <a:r>
              <a:rPr lang="nl-NL"/>
              <a:t>!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err="1"/>
              <a:t>Many</a:t>
            </a:r>
            <a:r>
              <a:rPr lang="nl-NL"/>
              <a:t> codes are </a:t>
            </a:r>
            <a:r>
              <a:rPr lang="nl-NL" err="1"/>
              <a:t>limited</a:t>
            </a:r>
            <a:r>
              <a:rPr lang="nl-NL"/>
              <a:t> </a:t>
            </a:r>
            <a:r>
              <a:rPr lang="nl-NL" err="1"/>
              <a:t>by</a:t>
            </a:r>
            <a:r>
              <a:rPr lang="nl-NL"/>
              <a:t> memory </a:t>
            </a:r>
            <a:r>
              <a:rPr lang="nl-NL" err="1"/>
              <a:t>bandwidth</a:t>
            </a:r>
            <a:endParaRPr lang="nl-NL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36900" y="18034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0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Fundamental bottlenecks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Compute</a:t>
            </a:r>
            <a:r>
              <a:rPr lang="nl-NL" dirty="0"/>
              <a:t> (</a:t>
            </a:r>
            <a:r>
              <a:rPr lang="nl-NL" dirty="0" err="1"/>
              <a:t>floating</a:t>
            </a:r>
            <a:r>
              <a:rPr lang="nl-NL" dirty="0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bandwidth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size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Communication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14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32483" y="1588869"/>
            <a:ext cx="5337256" cy="18466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(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) </a:t>
            </a:r>
            <a:r>
              <a:rPr lang="nl-NL" dirty="0" err="1"/>
              <a:t>limited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memory: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 err="1"/>
              <a:t>Deep</a:t>
            </a:r>
            <a:r>
              <a:rPr lang="nl-NL" dirty="0"/>
              <a:t>/</a:t>
            </a:r>
            <a:r>
              <a:rPr lang="nl-NL" dirty="0" err="1"/>
              <a:t>wide</a:t>
            </a:r>
            <a:r>
              <a:rPr lang="nl-NL" dirty="0"/>
              <a:t> </a:t>
            </a:r>
            <a:r>
              <a:rPr lang="nl-NL" dirty="0" err="1"/>
              <a:t>networks</a:t>
            </a:r>
            <a:endParaRPr lang="nl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/>
              <a:t>Networks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large input/output </a:t>
            </a:r>
            <a:r>
              <a:rPr lang="nl-NL" dirty="0" err="1"/>
              <a:t>layers</a:t>
            </a:r>
            <a:r>
              <a:rPr lang="nl-NL" dirty="0"/>
              <a:t> (e.g. high </a:t>
            </a:r>
            <a:r>
              <a:rPr lang="nl-NL" dirty="0" err="1"/>
              <a:t>res</a:t>
            </a:r>
            <a:r>
              <a:rPr lang="nl-NL" dirty="0"/>
              <a:t> images)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Not</a:t>
            </a:r>
            <a:r>
              <a:rPr lang="nl-NL" dirty="0"/>
              <a:t> a performance bottleneck, but a no-go!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/>
              <a:t>But: </a:t>
            </a:r>
            <a:r>
              <a:rPr lang="nl-NL" dirty="0" err="1"/>
              <a:t>unified</a:t>
            </a:r>
            <a:r>
              <a:rPr lang="nl-NL" dirty="0"/>
              <a:t> memory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73683" y="22352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07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Fundamental bottlenecks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Compute</a:t>
            </a:r>
            <a:r>
              <a:rPr lang="nl-NL" dirty="0"/>
              <a:t> (</a:t>
            </a:r>
            <a:r>
              <a:rPr lang="nl-NL" dirty="0" err="1"/>
              <a:t>floating</a:t>
            </a:r>
            <a:r>
              <a:rPr lang="nl-NL" dirty="0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bandwidth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size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Communication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15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07083" y="1932970"/>
            <a:ext cx="5337256" cy="24006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HPC systems </a:t>
            </a:r>
            <a:r>
              <a:rPr lang="nl-NL" dirty="0" err="1"/>
              <a:t>typically</a:t>
            </a:r>
            <a:r>
              <a:rPr lang="nl-NL" dirty="0"/>
              <a:t> have shared file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 err="1"/>
              <a:t>Good</a:t>
            </a:r>
            <a:r>
              <a:rPr lang="nl-NL" dirty="0"/>
              <a:t> </a:t>
            </a:r>
            <a:r>
              <a:rPr lang="nl-NL" dirty="0" err="1"/>
              <a:t>bandwitdh</a:t>
            </a:r>
            <a:endParaRPr lang="nl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/>
              <a:t>(</a:t>
            </a:r>
            <a:r>
              <a:rPr lang="nl-NL" dirty="0" err="1"/>
              <a:t>relatively</a:t>
            </a:r>
            <a:r>
              <a:rPr lang="nl-NL" dirty="0"/>
              <a:t>) low I/O operations per second (IOPS)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Common bottleneck in </a:t>
            </a:r>
            <a:r>
              <a:rPr lang="nl-NL" dirty="0" err="1"/>
              <a:t>distributed</a:t>
            </a:r>
            <a:r>
              <a:rPr lang="nl-NL" dirty="0"/>
              <a:t> </a:t>
            </a:r>
            <a:r>
              <a:rPr lang="nl-NL" dirty="0" err="1"/>
              <a:t>learning</a:t>
            </a:r>
            <a:r>
              <a:rPr lang="nl-NL" dirty="0"/>
              <a:t>! </a:t>
            </a:r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reading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filesystem.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Other</a:t>
            </a:r>
            <a:r>
              <a:rPr lang="nl-NL" dirty="0"/>
              <a:t> users (&amp; </a:t>
            </a:r>
            <a:r>
              <a:rPr lang="nl-NL" dirty="0" err="1"/>
              <a:t>sysadmins</a:t>
            </a:r>
            <a:r>
              <a:rPr lang="nl-NL" dirty="0"/>
              <a:t>)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dislike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do I/O in a </a:t>
            </a:r>
            <a:r>
              <a:rPr lang="nl-NL" dirty="0" err="1"/>
              <a:t>naive</a:t>
            </a:r>
            <a:r>
              <a:rPr lang="nl-NL" dirty="0"/>
              <a:t> way!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48283" y="27178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21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Fundamental bottlenecks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err="1"/>
              <a:t>Compute</a:t>
            </a:r>
            <a:r>
              <a:rPr lang="nl-NL"/>
              <a:t> (</a:t>
            </a:r>
            <a:r>
              <a:rPr lang="nl-NL" err="1"/>
              <a:t>floating</a:t>
            </a:r>
            <a:r>
              <a:rPr lang="nl-NL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bandwidth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size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Communication</a:t>
            </a:r>
          </a:p>
          <a:p>
            <a:pPr lvl="1"/>
            <a:endParaRPr lang="nl-NL" sz="1400"/>
          </a:p>
          <a:p>
            <a:endParaRPr lang="nl-NL" sz="1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16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07082" y="2295800"/>
            <a:ext cx="6033817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 anchor="t">
            <a:spAutoFit/>
          </a:bodyPr>
          <a:lstStyle/>
          <a:p>
            <a:r>
              <a:rPr lang="nl-NL" dirty="0"/>
              <a:t>Communication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limiting</a:t>
            </a:r>
            <a:r>
              <a:rPr lang="nl-NL" dirty="0"/>
              <a:t> in </a:t>
            </a:r>
            <a:r>
              <a:rPr lang="nl-NL" dirty="0" err="1"/>
              <a:t>several</a:t>
            </a:r>
            <a:r>
              <a:rPr lang="nl-NL" dirty="0"/>
              <a:t> </a:t>
            </a:r>
            <a:r>
              <a:rPr lang="nl-NL" dirty="0" err="1"/>
              <a:t>ways</a:t>
            </a:r>
            <a:r>
              <a:rPr lang="nl-NL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Latency</a:t>
            </a:r>
            <a:r>
              <a:rPr lang="nl-NL" dirty="0"/>
              <a:t> (</a:t>
            </a:r>
            <a:r>
              <a:rPr lang="nl-NL" dirty="0" err="1"/>
              <a:t>many</a:t>
            </a:r>
            <a:r>
              <a:rPr lang="nl-NL" dirty="0"/>
              <a:t>, small </a:t>
            </a:r>
            <a:r>
              <a:rPr lang="nl-NL" dirty="0" err="1"/>
              <a:t>message</a:t>
            </a:r>
            <a:r>
              <a:rPr lang="nl-NL" dirty="0"/>
              <a:t> </a:t>
            </a:r>
            <a:r>
              <a:rPr lang="nl-NL" dirty="0" err="1"/>
              <a:t>send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)</a:t>
            </a:r>
            <a:endParaRPr lang="nl-NL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Bandwidth</a:t>
            </a:r>
            <a:r>
              <a:rPr lang="nl-NL" dirty="0"/>
              <a:t> (few, large </a:t>
            </a:r>
            <a:r>
              <a:rPr lang="nl-NL" dirty="0" err="1"/>
              <a:t>messages</a:t>
            </a:r>
            <a:r>
              <a:rPr lang="nl-NL" dirty="0"/>
              <a:t> </a:t>
            </a:r>
            <a:r>
              <a:rPr lang="nl-NL" dirty="0" err="1"/>
              <a:t>send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)</a:t>
            </a:r>
            <a:endParaRPr lang="nl-NL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Load </a:t>
            </a:r>
            <a:r>
              <a:rPr lang="nl-NL" dirty="0" err="1"/>
              <a:t>imbalance</a:t>
            </a:r>
            <a:r>
              <a:rPr lang="nl-NL" dirty="0"/>
              <a:t> (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workers</a:t>
            </a:r>
            <a:r>
              <a:rPr lang="nl-NL" dirty="0"/>
              <a:t> in </a:t>
            </a:r>
            <a:r>
              <a:rPr lang="nl-NL" dirty="0" err="1"/>
              <a:t>distributed</a:t>
            </a:r>
            <a:r>
              <a:rPr lang="nl-NL" dirty="0"/>
              <a:t> job are slower / have more </a:t>
            </a:r>
            <a:r>
              <a:rPr lang="nl-NL" dirty="0" err="1"/>
              <a:t>work</a:t>
            </a:r>
            <a:r>
              <a:rPr lang="nl-NL" dirty="0"/>
              <a:t>; </a:t>
            </a:r>
            <a:r>
              <a:rPr lang="nl-NL" dirty="0" err="1"/>
              <a:t>others</a:t>
            </a:r>
            <a:r>
              <a:rPr lang="nl-NL" dirty="0"/>
              <a:t> have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wait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synchronization</a:t>
            </a:r>
            <a:r>
              <a:rPr lang="nl-NL" dirty="0"/>
              <a:t> is </a:t>
            </a:r>
            <a:r>
              <a:rPr lang="nl-NL" dirty="0" err="1"/>
              <a:t>needed</a:t>
            </a:r>
            <a:r>
              <a:rPr lang="nl-NL" dirty="0"/>
              <a:t>)</a:t>
            </a:r>
            <a:endParaRPr lang="nl-NL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CPU &lt;-&gt;</a:t>
            </a:r>
            <a:r>
              <a:rPr lang="nl-NL" dirty="0">
                <a:sym typeface="Wingdings" panose="05000000000000000000" pitchFamily="2" charset="2"/>
              </a:rPr>
              <a:t> GPU sync</a:t>
            </a:r>
            <a:endParaRPr lang="nl-NL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48283" y="316953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72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406" y="151652"/>
            <a:ext cx="11149188" cy="600744"/>
          </a:xfrm>
        </p:spPr>
        <p:txBody>
          <a:bodyPr/>
          <a:lstStyle/>
          <a:p>
            <a:r>
              <a:rPr kumimoji="0" lang="nl-NL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Some</a:t>
            </a:r>
            <a:r>
              <a:rPr kumimoji="0" lang="nl-NL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context</a:t>
            </a:r>
            <a:endParaRPr lang="nl-NL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17</a:t>
            </a:fld>
            <a:endParaRPr lang="nl-NL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D057561-C84D-F8F1-7628-7604D5A5853D}"/>
              </a:ext>
            </a:extLst>
          </p:cNvPr>
          <p:cNvGraphicFramePr>
            <a:graphicFrameLocks noGrp="1"/>
          </p:cNvGraphicFramePr>
          <p:nvPr/>
        </p:nvGraphicFramePr>
        <p:xfrm>
          <a:off x="3235319" y="78889"/>
          <a:ext cx="7858683" cy="664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147">
                  <a:extLst>
                    <a:ext uri="{9D8B030D-6E8A-4147-A177-3AD203B41FA5}">
                      <a16:colId xmlns:a16="http://schemas.microsoft.com/office/drawing/2014/main" val="3122299815"/>
                    </a:ext>
                  </a:extLst>
                </a:gridCol>
                <a:gridCol w="1768268">
                  <a:extLst>
                    <a:ext uri="{9D8B030D-6E8A-4147-A177-3AD203B41FA5}">
                      <a16:colId xmlns:a16="http://schemas.microsoft.com/office/drawing/2014/main" val="4182471653"/>
                    </a:ext>
                  </a:extLst>
                </a:gridCol>
                <a:gridCol w="1768268">
                  <a:extLst>
                    <a:ext uri="{9D8B030D-6E8A-4147-A177-3AD203B41FA5}">
                      <a16:colId xmlns:a16="http://schemas.microsoft.com/office/drawing/2014/main" val="411628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What?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Equivalent to N CPU instructions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075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CPU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 ns (@4GHz)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04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GPU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ns (@1 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555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Fetch from L1 CPU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48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Fetch from L2 CPU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78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Fetch from main CPU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014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CPU =&gt; GPU latency (PCI)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681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GPU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 GPU latency (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NVLink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570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Infiniband</a:t>
                      </a:r>
                      <a:r>
                        <a:rPr lang="en-US" dirty="0"/>
                        <a:t> network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917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Ethernet network latency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10-1000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40k-4M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872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Seek time (</a:t>
                      </a:r>
                      <a:r>
                        <a:rPr lang="en-US" dirty="0" err="1"/>
                        <a:t>NVMe</a:t>
                      </a:r>
                      <a:r>
                        <a:rPr lang="en-US" dirty="0"/>
                        <a:t> SSD)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597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Seek time (Sata SSD)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148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Seek time (hard disk)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2-5 </a:t>
                      </a:r>
                      <a:r>
                        <a:rPr lang="en-US" dirty="0" err="1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8-20M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80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File System (NFS) response 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10-40 </a:t>
                      </a:r>
                      <a:r>
                        <a:rPr lang="en-US" dirty="0" err="1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40-120M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437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Robot Fetch time (Tape)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+- 60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731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46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64185BA-5495-BF3E-CCEF-973974A4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C537ADBB-B8D9-C08E-E653-9C7C468D4396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A2BFDBF-96C6-C8BA-BD1E-A7DBE1275965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Micro: compute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5D4D6133-BFE7-F90D-F68E-4948213CA1A0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BE456379-F52C-CE62-0FB7-438431150BCC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403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19</a:t>
            </a:fld>
            <a:endParaRPr lang="nl-NL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680BFC-7F82-2B9C-3AF3-D75E3A00C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119031"/>
              </p:ext>
            </p:extLst>
          </p:nvPr>
        </p:nvGraphicFramePr>
        <p:xfrm>
          <a:off x="0" y="625353"/>
          <a:ext cx="12192001" cy="6384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0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858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44157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80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6189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245237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130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527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9130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1.4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31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351DD8E-B6E3-0246-0847-973C54C27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060776"/>
              </p:ext>
            </p:extLst>
          </p:nvPr>
        </p:nvGraphicFramePr>
        <p:xfrm>
          <a:off x="0" y="625353"/>
          <a:ext cx="12192001" cy="64582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0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858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44157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80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6189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245237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3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INT8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607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7508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7508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9337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08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1.4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20</a:t>
            </a:fld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B7BE87-189C-884D-5BDC-FEFCF3582353}"/>
              </a:ext>
            </a:extLst>
          </p:cNvPr>
          <p:cNvSpPr txBox="1"/>
          <p:nvPr/>
        </p:nvSpPr>
        <p:spPr>
          <a:xfrm>
            <a:off x="3297286" y="6293816"/>
            <a:ext cx="432015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>
                <a:hlinkClick r:id="rId3"/>
              </a:rPr>
              <a:t>Prace best practice guide – deep learning </a:t>
            </a:r>
            <a:endParaRPr lang="en-US" sz="1400"/>
          </a:p>
          <a:p>
            <a:pPr algn="ctr"/>
            <a:r>
              <a:rPr lang="nl-NL" sz="1400">
                <a:hlinkClick r:id="rId4"/>
              </a:rPr>
              <a:t>https://en.wikipedia.org/wiki/Ampere_(microarchitecture)</a:t>
            </a:r>
            <a:r>
              <a:rPr lang="en-US" sz="1400"/>
              <a:t> </a:t>
            </a:r>
            <a:endParaRPr lang="nl-NL" sz="140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7DB686-0C81-F3D5-44A9-20E886913C4E}"/>
              </a:ext>
            </a:extLst>
          </p:cNvPr>
          <p:cNvCxnSpPr/>
          <p:nvPr/>
        </p:nvCxnSpPr>
        <p:spPr>
          <a:xfrm flipH="1">
            <a:off x="4056065" y="526419"/>
            <a:ext cx="282705" cy="36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930EC93-7FF2-9F22-58D1-FC670331CD90}"/>
              </a:ext>
            </a:extLst>
          </p:cNvPr>
          <p:cNvSpPr txBox="1"/>
          <p:nvPr/>
        </p:nvSpPr>
        <p:spPr>
          <a:xfrm>
            <a:off x="4338770" y="28618"/>
            <a:ext cx="3865951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GPUs support reduced precision, which has higher performance</a:t>
            </a:r>
          </a:p>
        </p:txBody>
      </p:sp>
    </p:spTree>
    <p:extLst>
      <p:ext uri="{BB962C8B-B14F-4D97-AF65-F5344CB8AC3E}">
        <p14:creationId xmlns:p14="http://schemas.microsoft.com/office/powerpoint/2010/main" val="403381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9BDB8C-DE9E-3178-7B69-D2C63FE8E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099955"/>
              </p:ext>
            </p:extLst>
          </p:nvPr>
        </p:nvGraphicFramePr>
        <p:xfrm>
          <a:off x="0" y="625353"/>
          <a:ext cx="12192001" cy="64582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0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858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44157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80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6189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245237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3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INT8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607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7508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7508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9337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08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1.4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21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BC485-EAAB-A98C-2DE9-8C6789F5D377}"/>
              </a:ext>
            </a:extLst>
          </p:cNvPr>
          <p:cNvSpPr txBox="1"/>
          <p:nvPr/>
        </p:nvSpPr>
        <p:spPr>
          <a:xfrm>
            <a:off x="5942388" y="4318"/>
            <a:ext cx="2711383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lIns="182880" tIns="91440" rIns="182880" bIns="91440" rtlCol="0">
            <a:spAutoFit/>
          </a:bodyPr>
          <a:lstStyle/>
          <a:p>
            <a:pPr algn="l"/>
            <a:r>
              <a:rPr lang="nl-NL" err="1"/>
              <a:t>GPUs</a:t>
            </a:r>
            <a:r>
              <a:rPr lang="nl-NL"/>
              <a:t> have a lot of FLOPS</a:t>
            </a:r>
          </a:p>
          <a:p>
            <a:pPr algn="l"/>
            <a:r>
              <a:rPr lang="nl-NL" err="1"/>
              <a:t>compared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CPUs</a:t>
            </a:r>
            <a:endParaRPr lang="nl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729CC2-8B68-0717-ED83-B5A8E623E08C}"/>
              </a:ext>
            </a:extLst>
          </p:cNvPr>
          <p:cNvCxnSpPr/>
          <p:nvPr/>
        </p:nvCxnSpPr>
        <p:spPr>
          <a:xfrm flipH="1">
            <a:off x="5659683" y="466743"/>
            <a:ext cx="282705" cy="36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47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59D99F-2F82-21E9-1F25-820EC2E3F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335783"/>
              </p:ext>
            </p:extLst>
          </p:nvPr>
        </p:nvGraphicFramePr>
        <p:xfrm>
          <a:off x="0" y="625352"/>
          <a:ext cx="12192001" cy="6433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0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858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44157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80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6189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245237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259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3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583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493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493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493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7458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7458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9274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58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1.4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22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FD39A9-9E50-6DA9-2926-D6F2CB983487}"/>
              </a:ext>
            </a:extLst>
          </p:cNvPr>
          <p:cNvSpPr txBox="1"/>
          <p:nvPr/>
        </p:nvSpPr>
        <p:spPr>
          <a:xfrm>
            <a:off x="7236648" y="46071"/>
            <a:ext cx="4955351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CPUs have a lot of memory compared to GPUs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153666-E48C-5B95-0E8E-2D2A727EA3CD}"/>
              </a:ext>
            </a:extLst>
          </p:cNvPr>
          <p:cNvCxnSpPr/>
          <p:nvPr/>
        </p:nvCxnSpPr>
        <p:spPr>
          <a:xfrm flipH="1">
            <a:off x="7396614" y="507736"/>
            <a:ext cx="282705" cy="36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45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132FC6-94F1-3435-3466-5AC0D800E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603412"/>
              </p:ext>
            </p:extLst>
          </p:nvPr>
        </p:nvGraphicFramePr>
        <p:xfrm>
          <a:off x="-1" y="625353"/>
          <a:ext cx="12165952" cy="6384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7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784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42140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799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14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57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7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4061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242576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130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527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9130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15.75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1.4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23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0260A-49D4-2DEC-7218-1E7EB3B7D756}"/>
              </a:ext>
            </a:extLst>
          </p:cNvPr>
          <p:cNvSpPr txBox="1"/>
          <p:nvPr/>
        </p:nvSpPr>
        <p:spPr>
          <a:xfrm>
            <a:off x="8630785" y="-84954"/>
            <a:ext cx="3871499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/>
              <a:t>Memory </a:t>
            </a:r>
            <a:r>
              <a:rPr lang="nl-NL" err="1"/>
              <a:t>bandwidth</a:t>
            </a:r>
            <a:r>
              <a:rPr lang="nl-NL"/>
              <a:t> </a:t>
            </a:r>
            <a:r>
              <a:rPr lang="nl-NL" err="1"/>
              <a:t>relative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FLOPS is </a:t>
            </a:r>
            <a:r>
              <a:rPr lang="nl-NL" err="1"/>
              <a:t>approximately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same</a:t>
            </a:r>
            <a:endParaRPr lang="nl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B22F13-0734-C067-C4DE-5BA2C16B5F21}"/>
              </a:ext>
            </a:extLst>
          </p:cNvPr>
          <p:cNvCxnSpPr/>
          <p:nvPr/>
        </p:nvCxnSpPr>
        <p:spPr>
          <a:xfrm flipH="1">
            <a:off x="8915639" y="562111"/>
            <a:ext cx="282705" cy="36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1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217A1B-AC7E-455E-CB4E-A8BC02067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361117"/>
              </p:ext>
            </p:extLst>
          </p:nvPr>
        </p:nvGraphicFramePr>
        <p:xfrm>
          <a:off x="0" y="625353"/>
          <a:ext cx="12192001" cy="6384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0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858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944157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80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5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6189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245237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130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FP32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</a:rPr>
                        <a:t>PCIe [GB/s]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527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MI325x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48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GB200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2,500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384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16,000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9130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42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1.4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 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24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0260A-49D4-2DEC-7218-1E7EB3B7D756}"/>
              </a:ext>
            </a:extLst>
          </p:cNvPr>
          <p:cNvSpPr txBox="1"/>
          <p:nvPr/>
        </p:nvSpPr>
        <p:spPr>
          <a:xfrm>
            <a:off x="6984787" y="-20598"/>
            <a:ext cx="3715593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GPU </a:t>
            </a:r>
            <a:r>
              <a:rPr lang="nl-NL" dirty="0" err="1"/>
              <a:t>price</a:t>
            </a:r>
            <a:r>
              <a:rPr lang="nl-NL" dirty="0"/>
              <a:t> is </a:t>
            </a:r>
            <a:r>
              <a:rPr lang="nl-NL" dirty="0" err="1"/>
              <a:t>often</a:t>
            </a:r>
            <a:r>
              <a:rPr lang="nl-NL" dirty="0"/>
              <a:t> irrelevant, but </a:t>
            </a:r>
            <a:r>
              <a:rPr lang="nl-NL" dirty="0" err="1"/>
              <a:t>the</a:t>
            </a:r>
            <a:r>
              <a:rPr lang="nl-NL" dirty="0"/>
              <a:t> performance per Watt is.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B22F13-0734-C067-C4DE-5BA2C16B5F21}"/>
              </a:ext>
            </a:extLst>
          </p:cNvPr>
          <p:cNvCxnSpPr>
            <a:cxnSpLocks/>
          </p:cNvCxnSpPr>
          <p:nvPr/>
        </p:nvCxnSpPr>
        <p:spPr>
          <a:xfrm>
            <a:off x="10700380" y="369332"/>
            <a:ext cx="443802" cy="697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89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B324-1AEE-D9E1-E4C0-114FD8049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in practice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65B87-0A40-BDA1-1A4B-C41FB84F6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958173"/>
            <a:ext cx="8974163" cy="4456846"/>
          </a:xfrm>
        </p:spPr>
        <p:txBody>
          <a:bodyPr/>
          <a:lstStyle/>
          <a:p>
            <a:r>
              <a:rPr lang="en-US" dirty="0"/>
              <a:t>In practice, the performance can be different (depending on software)</a:t>
            </a:r>
          </a:p>
          <a:p>
            <a:r>
              <a:rPr lang="en-US" dirty="0"/>
              <a:t>GPUs: observed FLOPS is ~2/3 of theoretical FLOPS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EC745-8DEA-01B4-0F5A-AF622F0719E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D2D0E-D091-A820-D223-4BE8D193B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25</a:t>
            </a:fld>
            <a:endParaRPr lang="nl-NL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146153D-AA2E-9A40-9E19-EAC2DC03B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4259" y="1833963"/>
            <a:ext cx="6588145" cy="454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216B5EE-3EB9-1630-C5E5-2ACF73060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149" y="1833963"/>
            <a:ext cx="6866423" cy="455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30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27A7A-1EB9-9ADC-1B18-341BA4E27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D6D611F-B69F-CC88-CA5B-BF79F10C0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A7013766-60C8-51F9-C3AC-EE4AE355C2D8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A476C87D-9F68-5230-40AD-99DE247A74F9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Micro: precision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F45B1845-171C-421F-25C9-D161C98ABE30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E8208AE6-9F85-20E3-930E-99625033AAFB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6179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Tensor cores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58" y="872921"/>
            <a:ext cx="9882007" cy="4456846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Lower precision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Increasingly specialized</a:t>
            </a:r>
          </a:p>
          <a:p>
            <a:r>
              <a:rPr lang="nl-NL" dirty="0"/>
              <a:t>Pack as many instructions in one go to avoid instruction overhead, &amp; avoid data movement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cs typeface="Calibri"/>
              </a:rPr>
              <a:t>H=Half, I=Integer, FMA=Fused Multiply Add, DP=Dot Product, MMA = Matrix Multiplication Add</a:t>
            </a:r>
          </a:p>
          <a:p>
            <a:pPr>
              <a:buFont typeface="Arial" panose="020B0604020202020204" pitchFamily="34" charset="0"/>
              <a:buChar char="•"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cs typeface="Calibri"/>
              </a:rPr>
              <a:t>Previously:                                                        Now:</a:t>
            </a:r>
          </a:p>
          <a:p>
            <a:pPr marL="0" indent="0">
              <a:buNone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27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372" y="0"/>
            <a:ext cx="7172473" cy="19167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768C3F-355C-436D-0CC6-17C41B6C6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784" y="3676039"/>
            <a:ext cx="3900061" cy="2316724"/>
          </a:xfrm>
          <a:prstGeom prst="rect">
            <a:avLst/>
          </a:prstGeom>
        </p:spPr>
      </p:pic>
      <p:pic>
        <p:nvPicPr>
          <p:cNvPr id="7" name="Picture 6" descr="Diagram of a diagram of a machine&#10;&#10;AI-generated content may be incorrect.">
            <a:extLst>
              <a:ext uri="{FF2B5EF4-FFF2-40B4-BE49-F238E27FC236}">
                <a16:creationId xmlns:a16="http://schemas.microsoft.com/office/drawing/2014/main" id="{754E57AA-F5DC-9E44-2151-99B824CEED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60" y="3704412"/>
            <a:ext cx="3094250" cy="2912946"/>
          </a:xfrm>
          <a:prstGeom prst="rect">
            <a:avLst/>
          </a:prstGeom>
        </p:spPr>
      </p:pic>
      <p:pic>
        <p:nvPicPr>
          <p:cNvPr id="13" name="Picture 12" descr="A diagram of a machine&#10;&#10;AI-generated content may be incorrect.">
            <a:extLst>
              <a:ext uri="{FF2B5EF4-FFF2-40B4-BE49-F238E27FC236}">
                <a16:creationId xmlns:a16="http://schemas.microsoft.com/office/drawing/2014/main" id="{60E08D4E-3D05-9BF5-B896-6CC561E270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725" y="3694726"/>
            <a:ext cx="3556113" cy="278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7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Lower precision for DL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71681" y="1330870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Again: lower precision is a double-whammy of more efficient computation and loading less data</a:t>
            </a:r>
          </a:p>
          <a:p>
            <a:r>
              <a:rPr lang="nl-NL" dirty="0"/>
              <a:t>Generally, </a:t>
            </a:r>
            <a:r>
              <a:rPr lang="nl-NL" i="1" dirty="0"/>
              <a:t>you</a:t>
            </a:r>
            <a:r>
              <a:rPr lang="nl-NL" dirty="0"/>
              <a:t> are responsible for specifying a reduced precision: DL frameworks don’t do this automatically since it may impact your networks accuracy, convergence, etc</a:t>
            </a: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28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C7618-2F3D-E756-4DA3-AD40CF349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98" y="2880075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AC012-A53C-BB4B-AA5C-14F5B2ABA912}"/>
              </a:ext>
            </a:extLst>
          </p:cNvPr>
          <p:cNvSpPr txBox="1"/>
          <p:nvPr/>
        </p:nvSpPr>
        <p:spPr>
          <a:xfrm>
            <a:off x="1104882" y="4511467"/>
            <a:ext cx="5003905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Mixed </a:t>
            </a:r>
            <a:r>
              <a:rPr lang="nl-NL" dirty="0" err="1"/>
              <a:t>precision</a:t>
            </a:r>
            <a:r>
              <a:rPr lang="nl-NL" dirty="0"/>
              <a:t> </a:t>
            </a:r>
            <a:r>
              <a:rPr lang="nl-NL" dirty="0" err="1"/>
              <a:t>uses</a:t>
            </a:r>
            <a:r>
              <a:rPr lang="nl-NL" dirty="0"/>
              <a:t> FP16. </a:t>
            </a:r>
            <a:r>
              <a:rPr lang="nl-NL" dirty="0" err="1"/>
              <a:t>Reduced</a:t>
            </a:r>
            <a:r>
              <a:rPr lang="nl-NL" dirty="0"/>
              <a:t> range </a:t>
            </a:r>
            <a:r>
              <a:rPr lang="nl-NL" dirty="0" err="1"/>
              <a:t>causes</a:t>
            </a:r>
            <a:r>
              <a:rPr lang="nl-NL" dirty="0"/>
              <a:t> (</a:t>
            </a:r>
            <a:r>
              <a:rPr lang="nl-NL" dirty="0" err="1"/>
              <a:t>potential</a:t>
            </a:r>
            <a:r>
              <a:rPr lang="nl-NL" dirty="0"/>
              <a:t>)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gradient</a:t>
            </a:r>
            <a:r>
              <a:rPr lang="nl-NL" dirty="0"/>
              <a:t> </a:t>
            </a:r>
            <a:r>
              <a:rPr lang="nl-NL" dirty="0" err="1"/>
              <a:t>scaling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prevent</a:t>
            </a:r>
            <a:r>
              <a:rPr lang="nl-NL" dirty="0"/>
              <a:t> </a:t>
            </a:r>
            <a:r>
              <a:rPr lang="nl-NL" dirty="0" err="1"/>
              <a:t>underflows</a:t>
            </a:r>
            <a:endParaRPr lang="nl-NL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03C999-67D5-69B6-9EF4-8B7725C0B547}"/>
              </a:ext>
            </a:extLst>
          </p:cNvPr>
          <p:cNvCxnSpPr>
            <a:cxnSpLocks/>
          </p:cNvCxnSpPr>
          <p:nvPr/>
        </p:nvCxnSpPr>
        <p:spPr>
          <a:xfrm>
            <a:off x="6223518" y="4823927"/>
            <a:ext cx="597160" cy="149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56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Lower precision for DL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29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C7618-2F3D-E756-4DA3-AD40CF349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98" y="2880075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AC012-A53C-BB4B-AA5C-14F5B2ABA912}"/>
              </a:ext>
            </a:extLst>
          </p:cNvPr>
          <p:cNvSpPr txBox="1"/>
          <p:nvPr/>
        </p:nvSpPr>
        <p:spPr>
          <a:xfrm>
            <a:off x="232646" y="4581732"/>
            <a:ext cx="5358857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TF32 tries to combine best of both worlds: range of an FP32 (no gradient scaling needed), but with reduced precision (for speedup &amp; less memory)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03C999-67D5-69B6-9EF4-8B7725C0B547}"/>
              </a:ext>
            </a:extLst>
          </p:cNvPr>
          <p:cNvCxnSpPr>
            <a:cxnSpLocks/>
          </p:cNvCxnSpPr>
          <p:nvPr/>
        </p:nvCxnSpPr>
        <p:spPr>
          <a:xfrm flipV="1">
            <a:off x="5236551" y="4577183"/>
            <a:ext cx="1397514" cy="512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99EAED24-A7F3-9F4D-C968-31D09C65F466}"/>
              </a:ext>
            </a:extLst>
          </p:cNvPr>
          <p:cNvSpPr txBox="1">
            <a:spLocks/>
          </p:cNvSpPr>
          <p:nvPr/>
        </p:nvSpPr>
        <p:spPr>
          <a:xfrm>
            <a:off x="668762" y="1297498"/>
            <a:ext cx="9882007" cy="44568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−"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i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Again: lower precision is a double-whammy of more efficient computation and loading less data</a:t>
            </a:r>
          </a:p>
          <a:p>
            <a:r>
              <a:rPr lang="nl-NL" dirty="0"/>
              <a:t>Generally, </a:t>
            </a:r>
            <a:r>
              <a:rPr lang="nl-NL" i="1" dirty="0"/>
              <a:t>you</a:t>
            </a:r>
            <a:r>
              <a:rPr lang="nl-NL" dirty="0"/>
              <a:t> are responsible for specifying a reduced precision: DL frameworks don’t do this automatically since it may impact your networks accuracy, convergence, etc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indent="0">
              <a:buFont typeface="Arial" panose="020B0604020202020204" pitchFamily="34" charset="0"/>
              <a:buNone/>
            </a:pPr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lvl="1" indent="0">
              <a:buFont typeface="Arial" panose="020B0604020202020204" pitchFamily="34" charset="0"/>
              <a:buNone/>
            </a:pPr>
            <a:endParaRPr lang="nl-NL" sz="1400" dirty="0"/>
          </a:p>
          <a:p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116240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Lower precision for DL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71681" y="1285102"/>
            <a:ext cx="9882007" cy="4456846"/>
          </a:xfrm>
        </p:spPr>
        <p:txBody>
          <a:bodyPr/>
          <a:lstStyle/>
          <a:p>
            <a:r>
              <a:rPr lang="nl-NL" dirty="0"/>
              <a:t>Again: lower precision is a double-whammy of more efficient computation and loading less data</a:t>
            </a:r>
          </a:p>
          <a:p>
            <a:r>
              <a:rPr lang="nl-NL" dirty="0"/>
              <a:t>Generally, </a:t>
            </a:r>
            <a:r>
              <a:rPr lang="nl-NL" i="1" dirty="0"/>
              <a:t>you</a:t>
            </a:r>
            <a:r>
              <a:rPr lang="nl-NL" dirty="0"/>
              <a:t> are responsible for specifying a reduced precision: DL frameworks don’t do this automatically since it may impact your networks accuracy, convergence, etc</a:t>
            </a: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30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C7618-2F3D-E756-4DA3-AD40CF349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98" y="2880075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AC012-A53C-BB4B-AA5C-14F5B2ABA912}"/>
              </a:ext>
            </a:extLst>
          </p:cNvPr>
          <p:cNvSpPr txBox="1"/>
          <p:nvPr/>
        </p:nvSpPr>
        <p:spPr>
          <a:xfrm>
            <a:off x="232646" y="4487932"/>
            <a:ext cx="5003905" cy="18466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 err="1"/>
              <a:t>Automatically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i="1" dirty="0" err="1"/>
              <a:t>unless</a:t>
            </a:r>
            <a:r>
              <a:rPr lang="nl-NL" dirty="0"/>
              <a:t> </a:t>
            </a:r>
          </a:p>
          <a:p>
            <a:pPr marL="285750" indent="-285750">
              <a:buFontTx/>
              <a:buChar char="-"/>
            </a:pPr>
            <a:r>
              <a:rPr lang="nl-NL" dirty="0"/>
              <a:t>Environment </a:t>
            </a:r>
            <a:r>
              <a:rPr lang="nl-NL" dirty="0" err="1"/>
              <a:t>variable</a:t>
            </a:r>
            <a:r>
              <a:rPr lang="nl-NL" dirty="0"/>
              <a:t> </a:t>
            </a:r>
            <a:r>
              <a:rPr lang="en-US" i="1" dirty="0"/>
              <a:t>NVIDIA_TF32_OVERRIDE=0</a:t>
            </a:r>
            <a:r>
              <a:rPr lang="nl-NL" dirty="0"/>
              <a:t> is set</a:t>
            </a:r>
          </a:p>
          <a:p>
            <a:pPr marL="285750" indent="-285750">
              <a:buFontTx/>
              <a:buChar char="-"/>
            </a:pPr>
            <a:r>
              <a:rPr lang="en-US" i="1" dirty="0"/>
              <a:t>torch.backends.cuda.matmul.allow_tf32 = False </a:t>
            </a:r>
            <a:r>
              <a:rPr lang="en-US" dirty="0"/>
              <a:t>and torch.</a:t>
            </a:r>
            <a:r>
              <a:rPr lang="en-US" i="1" dirty="0"/>
              <a:t>backends.cudnn.allow_tf32 = False</a:t>
            </a:r>
            <a:r>
              <a:rPr lang="en-US" dirty="0"/>
              <a:t> are set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03C999-67D5-69B6-9EF4-8B7725C0B547}"/>
              </a:ext>
            </a:extLst>
          </p:cNvPr>
          <p:cNvCxnSpPr>
            <a:cxnSpLocks/>
          </p:cNvCxnSpPr>
          <p:nvPr/>
        </p:nvCxnSpPr>
        <p:spPr>
          <a:xfrm flipV="1">
            <a:off x="5236551" y="4577183"/>
            <a:ext cx="1397514" cy="512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09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Lower precision for DL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768" y="6368914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31</a:t>
            </a:fld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4CE7A0-9C5B-A7C2-EFF8-4745C13BAB70}"/>
              </a:ext>
            </a:extLst>
          </p:cNvPr>
          <p:cNvSpPr txBox="1"/>
          <p:nvPr/>
        </p:nvSpPr>
        <p:spPr>
          <a:xfrm>
            <a:off x="1371600" y="6368914"/>
            <a:ext cx="80200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/>
              <a:t>Source: </a:t>
            </a:r>
            <a:r>
              <a:rPr lang="en-US">
                <a:hlinkClick r:id="rId2"/>
              </a:rPr>
              <a:t>https://servicedesk.surf.nl/wiki/display/WIKI/Deep+Learning+on+A100+GPUs</a:t>
            </a:r>
            <a:r>
              <a:rPr lang="en-US"/>
              <a:t> 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B271578-81FA-1580-AD07-DA262105E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74" y="1289480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685F74-E954-CA78-BB4B-0BA884045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989" y="2631410"/>
            <a:ext cx="3095887" cy="285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97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7f899dffe16b4de2bfe03da0c1f57bc6">
            <a:extLst>
              <a:ext uri="{FF2B5EF4-FFF2-40B4-BE49-F238E27FC236}">
                <a16:creationId xmlns:a16="http://schemas.microsoft.com/office/drawing/2014/main" id="{68B73E62-F9AB-F1F0-1B1A-8B81E1BE8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54" y="969228"/>
            <a:ext cx="6555698" cy="368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Nvidia Hopper (e.g. H100)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r>
              <a:rPr lang="nl-NL" sz="1400" dirty="0"/>
              <a:t>FP8 support</a:t>
            </a:r>
          </a:p>
          <a:p>
            <a:pPr marL="233363" indent="-233363"/>
            <a:r>
              <a:rPr lang="nl-NL" sz="1400" dirty="0" err="1"/>
              <a:t>Transformer</a:t>
            </a:r>
            <a:r>
              <a:rPr lang="nl-NL" sz="1400" dirty="0"/>
              <a:t> Engine </a:t>
            </a:r>
            <a:r>
              <a:rPr lang="nl-NL" sz="1400" dirty="0" err="1"/>
              <a:t>for</a:t>
            </a:r>
            <a:r>
              <a:rPr lang="nl-NL" sz="1400" dirty="0"/>
              <a:t> </a:t>
            </a:r>
            <a:r>
              <a:rPr lang="nl-NL" sz="1400" dirty="0" err="1"/>
              <a:t>transformer</a:t>
            </a:r>
            <a:r>
              <a:rPr lang="nl-NL" sz="1400" dirty="0"/>
              <a:t> </a:t>
            </a:r>
            <a:r>
              <a:rPr lang="nl-NL" sz="1400" dirty="0" err="1"/>
              <a:t>specific</a:t>
            </a:r>
            <a:r>
              <a:rPr lang="nl-NL" sz="1400" dirty="0"/>
              <a:t> </a:t>
            </a:r>
            <a:r>
              <a:rPr lang="nl-NL" sz="1400" dirty="0" err="1"/>
              <a:t>improvements</a:t>
            </a:r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522288" lvl="1" indent="-222250"/>
            <a:endParaRPr lang="nl-NL" sz="1400" dirty="0"/>
          </a:p>
          <a:p>
            <a:pPr lvl="2"/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32</a:t>
            </a:fld>
            <a:endParaRPr lang="nl-NL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EE0F52-89EB-1B17-E035-C29676E1A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250" y="2651869"/>
            <a:ext cx="4006462" cy="26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8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4FB7B-DCB7-DBCB-9C22-B10707F64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8506-4B39-A044-EDD0-17F56C95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Nvidia Blackwell GPUs (e.g. B300)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67F02-19B4-19EC-D5CC-2E5E8F4BB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r>
              <a:rPr lang="nl-NL" sz="1400" dirty="0"/>
              <a:t>FP4 support</a:t>
            </a:r>
          </a:p>
          <a:p>
            <a:r>
              <a:rPr lang="nl-NL" sz="1400" dirty="0"/>
              <a:t>Second-generation Transformer Engine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ADBA8-4969-EE44-B074-3E34820D6E1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14BF9-0200-CAAB-C8D1-58069B34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33</a:t>
            </a:fld>
            <a:endParaRPr lang="nl-NL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DDF32CD-3423-0F1E-E9CC-28A6D9751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75" y="955569"/>
            <a:ext cx="5013390" cy="39700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92F697C-1714-75B9-EFA5-27819F34B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298" y="2666393"/>
            <a:ext cx="6047553" cy="264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3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C7D1BB84-7AA5-8050-79ED-E9B5B897B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910" y="1198328"/>
            <a:ext cx="10042728" cy="565967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A14977-E55E-C17B-292D-41BEEA829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6B19-C172-4760-8A97-D66BFBC0201A}" type="datetime1">
              <a:rPr lang="nl-NL" smtClean="0"/>
              <a:t>13-11-2025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034580-5602-47E3-76D0-3C0909668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A76517-F04C-CDD4-E97F-487837B29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about the distribution of your data &amp; model becomes even more important</a:t>
            </a:r>
            <a:endParaRPr lang="en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195DA1-C643-5637-E646-E4DCCA2A651B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1757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3AD22-DC10-728A-F6D2-1034DC1F8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75C811-9622-E3CE-20BB-EDB3BB17A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6B19-C172-4760-8A97-D66BFBC0201A}" type="datetime1">
              <a:rPr lang="nl-NL" smtClean="0"/>
              <a:t>13-11-2025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D3C88-F216-811A-0AF0-A043380D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DC7BE9-5A06-DFA6-9EC1-E58E76B79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about the distribution of your data &amp; model becomes even more important</a:t>
            </a:r>
            <a:endParaRPr lang="en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FB6D69-A654-1447-A8DA-560374A25423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F572CF-3E50-CF01-84B4-54CA12473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800"/>
            <a:ext cx="12198624" cy="56309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4D2FBB-F40A-707A-DBA2-794F27B22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82" y="2747104"/>
            <a:ext cx="2904737" cy="199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36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6CE9E-7DA0-E597-E554-23AFE7F84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E765D0-1BBC-46A9-B3CA-0BCD1D68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6B19-C172-4760-8A97-D66BFBC0201A}" type="datetime1">
              <a:rPr lang="nl-NL" smtClean="0"/>
              <a:t>13-11-2025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D9B05-3084-C582-E712-38D79734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07BAE3-ADA8-F503-7E51-651BC7CF5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about the distribution of your data &amp; model becomes even more important</a:t>
            </a:r>
            <a:endParaRPr lang="en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DD8720-1FF7-DE97-B8A6-D1EAEB7D9C7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333AA2-047B-66A6-790B-BB508904C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34601"/>
            <a:ext cx="12192001" cy="5517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965C05-A68E-A6BD-F72E-F6AB2D4C4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82" y="2747104"/>
            <a:ext cx="2904737" cy="199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4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64185BA-5495-BF3E-CCEF-973974A4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C537ADBB-B8D9-C08E-E653-9C7C468D4396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A2BFDBF-96C6-C8BA-BD1E-A7DBE1275965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Micro: storage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5D4D6133-BFE7-F90D-F68E-4948213CA1A0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BE456379-F52C-CE62-0FB7-438431150BCC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739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" name="Google Shape;7055;p100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/>
              <a:t>HPC File System</a:t>
            </a:r>
            <a:endParaRPr sz="3700" b="1" dirty="0"/>
          </a:p>
        </p:txBody>
      </p:sp>
      <p:sp>
        <p:nvSpPr>
          <p:cNvPr id="7056" name="Google Shape;7056;p100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57" name="Google Shape;7057;p100"/>
          <p:cNvSpPr txBox="1">
            <a:spLocks noGrp="1"/>
          </p:cNvSpPr>
          <p:nvPr>
            <p:ph type="body" idx="4294967295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58" name="Google Shape;7058;p100"/>
          <p:cNvSpPr txBox="1">
            <a:spLocks noGrp="1"/>
          </p:cNvSpPr>
          <p:nvPr>
            <p:ph type="body" idx="1"/>
          </p:nvPr>
        </p:nvSpPr>
        <p:spPr>
          <a:xfrm>
            <a:off x="1308540" y="1592285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HPC systems typically use parallel shared file systems.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1" i="0" u="none" strike="noStrike" cap="none">
                <a:solidFill>
                  <a:srgbClr val="434343"/>
                </a:solidFill>
              </a:rPr>
              <a:t>Parallel file system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one file can be distributed over many physical disks, to increase I/O bandwidth.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59" name="Google Shape;7059;p1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4740" y="3334685"/>
            <a:ext cx="6137280" cy="2714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4" name="Google Shape;7064;p101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/>
              <a:t>HPC File System</a:t>
            </a:r>
            <a:endParaRPr sz="3700" b="1" dirty="0"/>
          </a:p>
        </p:txBody>
      </p:sp>
      <p:sp>
        <p:nvSpPr>
          <p:cNvPr id="7065" name="Google Shape;7065;p101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66" name="Google Shape;7066;p101"/>
          <p:cNvSpPr txBox="1">
            <a:spLocks noGrp="1"/>
          </p:cNvSpPr>
          <p:nvPr>
            <p:ph type="body" idx="4294967295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67" name="Google Shape;7067;p101"/>
          <p:cNvSpPr txBox="1">
            <a:spLocks noGrp="1"/>
          </p:cNvSpPr>
          <p:nvPr>
            <p:ph type="body" idx="1"/>
          </p:nvPr>
        </p:nvSpPr>
        <p:spPr>
          <a:xfrm>
            <a:off x="999640" y="1592285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main types of parallel filesystems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826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434343"/>
              </a:buClr>
              <a:buSzPts val="2200"/>
              <a:buChar char="•"/>
            </a:pPr>
            <a:r>
              <a:rPr lang="en-US" sz="2200" b="1" i="0" u="none" strike="noStrike" cap="none">
                <a:solidFill>
                  <a:srgbClr val="434343"/>
                </a:solidFill>
              </a:rPr>
              <a:t>Lustre</a:t>
            </a:r>
            <a:endParaRPr sz="2200" b="1" i="0" u="none" strike="noStrike" cap="none">
              <a:solidFill>
                <a:srgbClr val="434343"/>
              </a:solidFill>
            </a:endParaRPr>
          </a:p>
          <a:p>
            <a:pPr marL="52056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Metadata (filename, size, location, etc) stored on separate server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56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Storage Target (OST) stores actual file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56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Striping over multiple OSTs can be managed by user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434343"/>
              </a:buClr>
              <a:buSzPts val="2000"/>
              <a:buChar char="•"/>
            </a:pPr>
            <a:r>
              <a:rPr lang="en-US" sz="2000" b="1" i="0" u="none" strike="noStrike" cap="none">
                <a:solidFill>
                  <a:srgbClr val="434343"/>
                </a:solidFill>
              </a:rPr>
              <a:t>GPFS (Snellius)</a:t>
            </a:r>
            <a:endParaRPr sz="2000" b="1" i="0" u="none" strike="noStrike" cap="none">
              <a:solidFill>
                <a:srgbClr val="434343"/>
              </a:solidFill>
            </a:endParaRPr>
          </a:p>
          <a:p>
            <a:pPr marL="52056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Metadata and actual file stored on the same server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56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Striping is managed automatically, by file system. User has no control.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2" name="Google Shape;7072;p102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/>
              <a:t>HPC File System</a:t>
            </a:r>
            <a:endParaRPr sz="3700" b="1" dirty="0"/>
          </a:p>
        </p:txBody>
      </p:sp>
      <p:sp>
        <p:nvSpPr>
          <p:cNvPr id="7073" name="Google Shape;7073;p102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74" name="Google Shape;7074;p102"/>
          <p:cNvSpPr txBox="1">
            <a:spLocks noGrp="1"/>
          </p:cNvSpPr>
          <p:nvPr>
            <p:ph type="body" idx="4294967295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75" name="Google Shape;7075;p102"/>
          <p:cNvSpPr txBox="1">
            <a:spLocks noGrp="1"/>
          </p:cNvSpPr>
          <p:nvPr>
            <p:ph type="body" idx="1"/>
          </p:nvPr>
        </p:nvSpPr>
        <p:spPr>
          <a:xfrm>
            <a:off x="953750" y="1652700"/>
            <a:ext cx="103152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HPC file systems are optimized for </a:t>
            </a:r>
            <a:r>
              <a:rPr lang="en-US" sz="2400" b="1" i="1" u="none" strike="noStrike" cap="none">
                <a:solidFill>
                  <a:schemeClr val="dk1"/>
                </a:solidFill>
              </a:rPr>
              <a:t>bandwidth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I/O operations per second (IOPS)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Snellius GPFS: up to 10 GB/s write, 20 GB/s read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 when e.g. a 100 node job needs to start from the same 20 GB input file…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HPC file systems are typically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good at AI / data science workloads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workloads are generally: reading lots of small files / parts of a file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0" name="Google Shape;7080;p103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/>
              <a:t>HPC File System</a:t>
            </a:r>
            <a:endParaRPr sz="3700" b="1" dirty="0"/>
          </a:p>
        </p:txBody>
      </p:sp>
      <p:sp>
        <p:nvSpPr>
          <p:cNvPr id="7081" name="Google Shape;7081;p103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82" name="Google Shape;7082;p103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83" name="Google Shape;7083;p103"/>
          <p:cNvSpPr txBox="1">
            <a:spLocks noGrp="1"/>
          </p:cNvSpPr>
          <p:nvPr>
            <p:ph type="body" idx="1"/>
          </p:nvPr>
        </p:nvSpPr>
        <p:spPr>
          <a:xfrm>
            <a:off x="907165" y="14674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marR="0" lvl="0" indent="-26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inode stores all information about a linux file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its name and data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size, last change date, file permissions, etc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most HPC systems, you’ll have an inode quota, in addition to a size quota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total size, each filesystem has a (fixed) maximum number of inodes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way to discourage doing to many IOPS 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8" name="Google Shape;7088;p104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/>
              <a:t>HPC File System</a:t>
            </a:r>
            <a:endParaRPr sz="3700" b="1" dirty="0"/>
          </a:p>
        </p:txBody>
      </p:sp>
      <p:sp>
        <p:nvSpPr>
          <p:cNvPr id="7089" name="Google Shape;7089;p104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90" name="Google Shape;7090;p104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91" name="Google Shape;7091;p104"/>
          <p:cNvSpPr txBox="1">
            <a:spLocks noGrp="1"/>
          </p:cNvSpPr>
          <p:nvPr>
            <p:ph type="body" idx="1"/>
          </p:nvPr>
        </p:nvSpPr>
        <p:spPr>
          <a:xfrm>
            <a:off x="907165" y="14674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marR="0" lvl="0" indent="-26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inode stores all information about a linux file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its name and data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size, last change date, file permissions, etc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most HPC systems, you’ll have an inode quota, in addition to a size quota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total size, each filesystem has a (fixed) maximum number of inodes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way to discourage doing to many IOPS 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Seems we’ll run out of inodes before we run out of space on e.g. our home1 filesystem: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df -ih /gpfs/home1/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Filesystem     Inodes IUsed IFree IUse% Mounted 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home1            287M  141M  146M   50% /gpfs/home1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df -h /gpfs/home1/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Filesystem      Size  Used Avail Use% Mounted 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home1           121T   56T   66T  46% /gpfs/home1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" name="Google Shape;7096;p105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/>
              <a:t>HPC File System</a:t>
            </a:r>
            <a:endParaRPr sz="3700" b="1" dirty="0"/>
          </a:p>
        </p:txBody>
      </p:sp>
      <p:sp>
        <p:nvSpPr>
          <p:cNvPr id="7097" name="Google Shape;7097;p105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98" name="Google Shape;7098;p105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99" name="Google Shape;7099;p105"/>
          <p:cNvSpPr txBox="1">
            <a:spLocks noGrp="1"/>
          </p:cNvSpPr>
          <p:nvPr>
            <p:ph type="body" idx="1"/>
          </p:nvPr>
        </p:nvSpPr>
        <p:spPr>
          <a:xfrm>
            <a:off x="714365" y="1652635"/>
            <a:ext cx="64065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your dataset is 10k png files of 2k each…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Home1: 121TB, 287M inodes, so 421k per inode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everyone does this, the filesystem will be full of inodes, with 99.5% / 120 TB (!) storage still available…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0" name="Google Shape;7100;p105"/>
          <p:cNvPicPr preferRelativeResize="0"/>
          <p:nvPr/>
        </p:nvPicPr>
        <p:blipFill rotWithShape="1">
          <a:blip r:embed="rId4">
            <a:alphaModFix/>
          </a:blip>
          <a:srcRect r="60955"/>
          <a:stretch/>
        </p:blipFill>
        <p:spPr>
          <a:xfrm>
            <a:off x="6745754" y="678662"/>
            <a:ext cx="3818200" cy="55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5" name="Google Shape;7105;p106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/>
              <a:t>HPC File System</a:t>
            </a:r>
            <a:endParaRPr sz="3700" b="1" dirty="0"/>
          </a:p>
        </p:txBody>
      </p:sp>
      <p:sp>
        <p:nvSpPr>
          <p:cNvPr id="7106" name="Google Shape;7106;p106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07" name="Google Shape;7107;p106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08" name="Google Shape;7108;p106"/>
          <p:cNvSpPr txBox="1">
            <a:spLocks noGrp="1"/>
          </p:cNvSpPr>
          <p:nvPr>
            <p:ph type="body" idx="1"/>
          </p:nvPr>
        </p:nvSpPr>
        <p:spPr>
          <a:xfrm>
            <a:off x="714365" y="1652635"/>
            <a:ext cx="64065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your dataset is 10k png files of 2k each…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Home1: 121TB, 287M inodes, so 421k per inode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everyone does this, the filesystem will be full of inodes, with 99.5% / 120 TB (!) storage still available…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run 100 epochs, you’ll do 1M I/O operations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sysadmin won’t like you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fellow users won’t like you: everyone suffers slow I/O because of your job!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shouldn’t like you: your I/O might be holding back your training performance…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9" name="Google Shape;7109;p106"/>
          <p:cNvPicPr preferRelativeResize="0"/>
          <p:nvPr/>
        </p:nvPicPr>
        <p:blipFill rotWithShape="1">
          <a:blip r:embed="rId4">
            <a:alphaModFix/>
          </a:blip>
          <a:srcRect r="60955"/>
          <a:stretch/>
        </p:blipFill>
        <p:spPr>
          <a:xfrm>
            <a:off x="6745754" y="678662"/>
            <a:ext cx="3818200" cy="55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4" name="Google Shape;7114;p107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/>
              <a:t>Packed Data Format</a:t>
            </a:r>
            <a:endParaRPr sz="3700" b="1" dirty="0"/>
          </a:p>
        </p:txBody>
      </p:sp>
      <p:sp>
        <p:nvSpPr>
          <p:cNvPr id="7115" name="Google Shape;7115;p107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16" name="Google Shape;7116;p107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17" name="Google Shape;7117;p107"/>
          <p:cNvSpPr txBox="1">
            <a:spLocks noGrp="1"/>
          </p:cNvSpPr>
          <p:nvPr>
            <p:ph type="body" idx="1"/>
          </p:nvPr>
        </p:nvSpPr>
        <p:spPr>
          <a:xfrm>
            <a:off x="714365" y="1291935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 ‘packed data format’?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 multiple individual files together in a single ‘packed’/archive file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18" name="Google Shape;7118;p10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8975" y="2054375"/>
            <a:ext cx="8052348" cy="452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3" name="Google Shape;7123;p108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24" name="Google Shape;7124;p108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25" name="Google Shape;7125;p108"/>
          <p:cNvSpPr txBox="1">
            <a:spLocks noGrp="1"/>
          </p:cNvSpPr>
          <p:nvPr>
            <p:ph type="body" idx="1"/>
          </p:nvPr>
        </p:nvSpPr>
        <p:spPr>
          <a:xfrm>
            <a:off x="657215" y="17534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</a:rPr>
              <a:t>What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‘packed data format’?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 multiple individual files together in a single ‘packed’/archive file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 of packed data formats → ZIP, TAR, LMDB, HDF5, PARQUET, etc.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 not necessarily involve compression!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69879" marR="0" lvl="1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Compression is possible, but often runs on single process, so slow to decompress 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26" name="Google Shape;7126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25" y="3975450"/>
            <a:ext cx="5124525" cy="2882551"/>
          </a:xfrm>
          <a:prstGeom prst="rect">
            <a:avLst/>
          </a:prstGeom>
          <a:noFill/>
          <a:ln>
            <a:noFill/>
          </a:ln>
        </p:spPr>
      </p:pic>
      <p:sp>
        <p:nvSpPr>
          <p:cNvPr id="7127" name="Google Shape;7127;p108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/>
              <a:t>Packed Data Format</a:t>
            </a:r>
            <a:endParaRPr sz="3700" b="1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2" name="Google Shape;7132;p109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33" name="Google Shape;7133;p109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34" name="Google Shape;7134;p109"/>
          <p:cNvSpPr txBox="1">
            <a:spLocks noGrp="1"/>
          </p:cNvSpPr>
          <p:nvPr>
            <p:ph type="body" idx="1"/>
          </p:nvPr>
        </p:nvSpPr>
        <p:spPr>
          <a:xfrm>
            <a:off x="657215" y="17534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</a:rPr>
              <a:t>What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‘packed data format’?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 multiple individual files together in a single ‘packed’/archive file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 of packed data formats → ZIP, TAR, LMDB, HDF5, PARQUET, etc.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 not necessarily involve compression!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69879" marR="0" lvl="1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Compression is possible, but often runs on single process, so slow to decompress 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5" name="Google Shape;7135;p109"/>
          <p:cNvSpPr txBox="1">
            <a:spLocks noGrp="1"/>
          </p:cNvSpPr>
          <p:nvPr>
            <p:ph type="body" idx="1"/>
          </p:nvPr>
        </p:nvSpPr>
        <p:spPr>
          <a:xfrm>
            <a:off x="606865" y="417746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400" b="1"/>
              <a:t>Why </a:t>
            </a:r>
            <a:r>
              <a:rPr lang="en-US" sz="2000"/>
              <a:t>packed data format</a:t>
            </a:r>
            <a:br>
              <a:rPr lang="en-US" sz="2000"/>
            </a:br>
            <a:endParaRPr sz="20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HPC systems use a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shared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filesystem. Packed data formats…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Reduces inode consumption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Reduces number of I/O operations/s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Reduces slowdown for yourself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other users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6" name="Google Shape;7136;p109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/>
              <a:t>Packed Data Format</a:t>
            </a:r>
            <a:endParaRPr sz="3700" b="1" dirty="0"/>
          </a:p>
        </p:txBody>
      </p:sp>
      <p:sp>
        <p:nvSpPr>
          <p:cNvPr id="7137" name="Google Shape;7137;p109"/>
          <p:cNvSpPr txBox="1"/>
          <p:nvPr/>
        </p:nvSpPr>
        <p:spPr>
          <a:xfrm>
            <a:off x="7488575" y="5585875"/>
            <a:ext cx="3216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/>
              <a:t>https://servicedesk.surf.nl/wiki/spaces/WIKI/pages/56295498/Best+Practice+for+Data+Formats+in+Deep+Learning</a:t>
            </a:r>
            <a:endParaRPr i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2" name="Google Shape;7142;p110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/>
              <a:t>Local Scratch Disks</a:t>
            </a:r>
            <a:endParaRPr sz="3700" b="1" dirty="0"/>
          </a:p>
        </p:txBody>
      </p:sp>
      <p:sp>
        <p:nvSpPr>
          <p:cNvPr id="7143" name="Google Shape;7143;p110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44" name="Google Shape;7144;p110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45" name="Google Shape;7145;p110"/>
          <p:cNvSpPr txBox="1">
            <a:spLocks noGrp="1"/>
          </p:cNvSpPr>
          <p:nvPr>
            <p:ph type="body" idx="1"/>
          </p:nvPr>
        </p:nvSpPr>
        <p:spPr>
          <a:xfrm>
            <a:off x="445740" y="175946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HPC systems have </a:t>
            </a:r>
            <a:r>
              <a:rPr lang="en-US" sz="2000" b="1" i="0" u="none" strike="noStrike" cap="none">
                <a:solidFill>
                  <a:srgbClr val="000000"/>
                </a:solidFill>
              </a:rPr>
              <a:t>local disks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nodes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Snellius, these can be requested by adding </a:t>
            </a:r>
            <a:br>
              <a:rPr lang="en-US" sz="2000" b="0" i="0" u="none" strike="noStrike" cap="none"/>
            </a:b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#SBATCH –constraint=scratch-node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your batch script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about half our GPU nodes have local scratch disk. You might be in the queue longer if you request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scratch-node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so only do it if you think you benefit from it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0" name="Google Shape;7150;p111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/>
              <a:t>Local Scratch Disks</a:t>
            </a:r>
            <a:endParaRPr sz="3700" b="1" dirty="0"/>
          </a:p>
        </p:txBody>
      </p:sp>
      <p:sp>
        <p:nvSpPr>
          <p:cNvPr id="7151" name="Google Shape;7151;p111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52" name="Google Shape;7152;p111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53" name="Google Shape;7153;p111"/>
          <p:cNvSpPr txBox="1">
            <a:spLocks noGrp="1"/>
          </p:cNvSpPr>
          <p:nvPr>
            <p:ph type="body" idx="1"/>
          </p:nvPr>
        </p:nvSpPr>
        <p:spPr>
          <a:xfrm>
            <a:off x="445740" y="175946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HPC systems have </a:t>
            </a:r>
            <a:r>
              <a:rPr lang="en-US" sz="2000" b="1" i="0" u="none" strike="noStrike" cap="none">
                <a:solidFill>
                  <a:srgbClr val="000000"/>
                </a:solidFill>
              </a:rPr>
              <a:t>local disks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nodes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Snellius, these can be requested by adding </a:t>
            </a:r>
            <a:br>
              <a:rPr lang="en-US" sz="2000" b="0" i="0" u="none" strike="noStrike" cap="none"/>
            </a:b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#SBATCH –constraint=scratch-node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your batch script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about half our GPU nodes have local scratch disk. You might be in the queue longer if you request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scratch-node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so only do it if you think you benefit from it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scratch disks can usually handle much more IOPs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scratch disks are </a:t>
            </a:r>
            <a:r>
              <a:rPr lang="en-US" sz="2000" b="1" i="0" u="none" strike="noStrike" cap="none">
                <a:solidFill>
                  <a:srgbClr val="000000"/>
                </a:solidFill>
              </a:rPr>
              <a:t>shared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between all users in a node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Users on the same node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still experience some effects when you ‘hammer’ local scratch with I/O,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it’s way less bad than on a shared filesystem!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8" name="Google Shape;7158;p112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/>
              <a:t>Local Scratch Disks</a:t>
            </a:r>
            <a:endParaRPr sz="3700" b="1" dirty="0"/>
          </a:p>
        </p:txBody>
      </p:sp>
      <p:sp>
        <p:nvSpPr>
          <p:cNvPr id="7159" name="Google Shape;7159;p112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60" name="Google Shape;7160;p112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61" name="Google Shape;7161;p112"/>
          <p:cNvSpPr txBox="1">
            <a:spLocks noGrp="1"/>
          </p:cNvSpPr>
          <p:nvPr>
            <p:ph type="body" idx="1"/>
          </p:nvPr>
        </p:nvSpPr>
        <p:spPr>
          <a:xfrm>
            <a:off x="719990" y="15379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HPC systems have local disks 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nodes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really need to use 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individual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files instead of a packed file format, use local scratch disks in the following way: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2" name="Google Shape;7162;p112"/>
          <p:cNvSpPr txBox="1"/>
          <p:nvPr/>
        </p:nvSpPr>
        <p:spPr>
          <a:xfrm>
            <a:off x="2497450" y="3429000"/>
            <a:ext cx="58005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zip/tar on shared parallel Filesystem.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start of job: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local scratch dir (for every node, if you use multiple)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further I/O from that local scratch dir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76524-C086-86D1-BBF0-3907DD408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Practically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31ED2-C547-B551-E84D-9E1DCC220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 err="1"/>
              <a:t>WebDataset</a:t>
            </a:r>
            <a:endParaRPr lang="en-US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Use Huggingface datasets</a:t>
            </a:r>
            <a:endParaRPr lang="en-NL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C02BE8-69A2-0814-6E71-5EBD422BCF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74" y="3088603"/>
            <a:ext cx="5227375" cy="3653184"/>
          </a:xfrm>
          <a:prstGeom prst="rect">
            <a:avLst/>
          </a:prstGeom>
        </p:spPr>
      </p:pic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BDAFE14-4091-654D-0C3C-00111B2CBE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694" y="0"/>
            <a:ext cx="6176127" cy="31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9894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64185BA-5495-BF3E-CCEF-973974A4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C537ADBB-B8D9-C08E-E653-9C7C468D4396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A2BFDBF-96C6-C8BA-BD1E-A7DBE1275965}"/>
              </a:ext>
            </a:extLst>
          </p:cNvPr>
          <p:cNvSpPr txBox="1"/>
          <p:nvPr/>
        </p:nvSpPr>
        <p:spPr>
          <a:xfrm>
            <a:off x="902978" y="2987073"/>
            <a:ext cx="10684545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Micro: parallelism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5D4D6133-BFE7-F90D-F68E-4948213CA1A0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BE456379-F52C-CE62-0FB7-438431150BCC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241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Types of parallelization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types of parallelization exist?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Instruction level parallelism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Embarrassingly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parallel</a:t>
            </a:r>
          </a:p>
          <a:p>
            <a:pPr marL="404813" lvl="4" indent="287338">
              <a:buFont typeface="Arial" panose="020B0604020202020204" pitchFamily="34" charset="0"/>
              <a:buChar char="•"/>
            </a:pPr>
            <a:r>
              <a:rPr lang="nl-NL" dirty="0"/>
              <a:t>Fully Sharded Data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Model parallel:</a:t>
            </a:r>
          </a:p>
          <a:p>
            <a:pPr marL="404813" lvl="4" indent="287338">
              <a:buFont typeface="Arial" panose="020B0604020202020204" pitchFamily="34" charset="0"/>
              <a:buChar char="•"/>
            </a:pPr>
            <a:r>
              <a:rPr lang="nl-NL" dirty="0"/>
              <a:t>Pipeline parallel</a:t>
            </a:r>
          </a:p>
          <a:p>
            <a:pPr marL="404813" lvl="4" indent="287338">
              <a:buFont typeface="Arial" panose="020B0604020202020204" pitchFamily="34" charset="0"/>
              <a:buChar char="•"/>
            </a:pPr>
            <a:r>
              <a:rPr lang="nl-NL" dirty="0"/>
              <a:t>Tensor parallel</a:t>
            </a:r>
          </a:p>
          <a:p>
            <a:pPr marL="404813" lvl="4" indent="287338">
              <a:buFont typeface="Arial" panose="020B0604020202020204" pitchFamily="34" charset="0"/>
              <a:buChar char="•"/>
            </a:pPr>
            <a:r>
              <a:rPr lang="nl-NL" dirty="0"/>
              <a:t>Sequence parallel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Hybrid data/model parallelism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53</a:t>
            </a:fld>
            <a:endParaRPr lang="nl-NL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199A66-A9AA-E73B-5F76-39349F5C0FBF}"/>
              </a:ext>
            </a:extLst>
          </p:cNvPr>
          <p:cNvCxnSpPr/>
          <p:nvPr/>
        </p:nvCxnSpPr>
        <p:spPr>
          <a:xfrm>
            <a:off x="5515886" y="2280716"/>
            <a:ext cx="0" cy="1069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A418611-AE1F-9A8C-6234-EBE85BDC8AD0}"/>
              </a:ext>
            </a:extLst>
          </p:cNvPr>
          <p:cNvSpPr txBox="1"/>
          <p:nvPr/>
        </p:nvSpPr>
        <p:spPr>
          <a:xfrm>
            <a:off x="6223749" y="2644610"/>
            <a:ext cx="313348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l-NL" dirty="0" err="1"/>
              <a:t>Increasing</a:t>
            </a:r>
            <a:r>
              <a:rPr lang="nl-NL" dirty="0"/>
              <a:t> </a:t>
            </a:r>
            <a:r>
              <a:rPr lang="nl-NL" dirty="0" err="1"/>
              <a:t>complexity</a:t>
            </a:r>
            <a:r>
              <a:rPr lang="nl-NL" dirty="0"/>
              <a:t>/</a:t>
            </a:r>
            <a:r>
              <a:rPr lang="nl-NL" dirty="0" err="1"/>
              <a:t>bandwidth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3473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Types of parallelization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Instruction level parallelism</a:t>
            </a:r>
          </a:p>
          <a:p>
            <a:pPr marL="569913" lvl="1">
              <a:buFont typeface="Arial" panose="020B0604020202020204" pitchFamily="34" charset="0"/>
              <a:buChar char="•"/>
            </a:pPr>
            <a:r>
              <a:rPr lang="en-US" dirty="0"/>
              <a:t>Executing multiple instructions (e.g. additions) in parallel</a:t>
            </a:r>
          </a:p>
          <a:p>
            <a:pPr marL="569913" lvl="1">
              <a:buFont typeface="Arial" panose="020B0604020202020204" pitchFamily="34" charset="0"/>
              <a:buChar char="•"/>
            </a:pPr>
            <a:r>
              <a:rPr lang="en-US" dirty="0"/>
              <a:t>Examples: vector instructions (CPU), Tensor Cores (GPU)</a:t>
            </a:r>
          </a:p>
          <a:p>
            <a:pPr marL="569913" lvl="1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https://en.wikipedia.org/wiki/Instruction-level_parallelism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54</a:t>
            </a:fld>
            <a:endParaRPr lang="nl-NL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7142D620-9FF3-1DAE-FA9E-07BEB322F5FD}"/>
              </a:ext>
            </a:extLst>
          </p:cNvPr>
          <p:cNvGraphicFramePr>
            <a:graphicFrameLocks noGrp="1"/>
          </p:cNvGraphicFramePr>
          <p:nvPr/>
        </p:nvGraphicFramePr>
        <p:xfrm>
          <a:off x="2797322" y="4533275"/>
          <a:ext cx="23392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813">
                  <a:extLst>
                    <a:ext uri="{9D8B030D-6E8A-4147-A177-3AD203B41FA5}">
                      <a16:colId xmlns:a16="http://schemas.microsoft.com/office/drawing/2014/main" val="3086434951"/>
                    </a:ext>
                  </a:extLst>
                </a:gridCol>
                <a:gridCol w="584813">
                  <a:extLst>
                    <a:ext uri="{9D8B030D-6E8A-4147-A177-3AD203B41FA5}">
                      <a16:colId xmlns:a16="http://schemas.microsoft.com/office/drawing/2014/main" val="1474529289"/>
                    </a:ext>
                  </a:extLst>
                </a:gridCol>
                <a:gridCol w="584813">
                  <a:extLst>
                    <a:ext uri="{9D8B030D-6E8A-4147-A177-3AD203B41FA5}">
                      <a16:colId xmlns:a16="http://schemas.microsoft.com/office/drawing/2014/main" val="1901139108"/>
                    </a:ext>
                  </a:extLst>
                </a:gridCol>
                <a:gridCol w="584813">
                  <a:extLst>
                    <a:ext uri="{9D8B030D-6E8A-4147-A177-3AD203B41FA5}">
                      <a16:colId xmlns:a16="http://schemas.microsoft.com/office/drawing/2014/main" val="21533471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1.1</a:t>
                      </a:r>
                    </a:p>
                  </a:txBody>
                  <a:tcPr anchor="ctr">
                    <a:solidFill>
                      <a:srgbClr val="BACA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3.7</a:t>
                      </a:r>
                    </a:p>
                  </a:txBody>
                  <a:tcPr anchor="ctr">
                    <a:solidFill>
                      <a:srgbClr val="BACA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-1.6</a:t>
                      </a:r>
                    </a:p>
                  </a:txBody>
                  <a:tcPr anchor="ctr">
                    <a:solidFill>
                      <a:srgbClr val="BACA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2.3</a:t>
                      </a:r>
                    </a:p>
                  </a:txBody>
                  <a:tcPr anchor="ctr">
                    <a:solidFill>
                      <a:srgbClr val="BAC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202945"/>
                  </a:ext>
                </a:extLst>
              </a:tr>
            </a:tbl>
          </a:graphicData>
        </a:graphic>
      </p:graphicFrame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59E5D436-A3FB-76EE-7B42-B58EBF8E93E1}"/>
              </a:ext>
            </a:extLst>
          </p:cNvPr>
          <p:cNvGraphicFramePr>
            <a:graphicFrameLocks noGrp="1"/>
          </p:cNvGraphicFramePr>
          <p:nvPr/>
        </p:nvGraphicFramePr>
        <p:xfrm>
          <a:off x="2797322" y="5312039"/>
          <a:ext cx="23392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813">
                  <a:extLst>
                    <a:ext uri="{9D8B030D-6E8A-4147-A177-3AD203B41FA5}">
                      <a16:colId xmlns:a16="http://schemas.microsoft.com/office/drawing/2014/main" val="3086434951"/>
                    </a:ext>
                  </a:extLst>
                </a:gridCol>
                <a:gridCol w="584813">
                  <a:extLst>
                    <a:ext uri="{9D8B030D-6E8A-4147-A177-3AD203B41FA5}">
                      <a16:colId xmlns:a16="http://schemas.microsoft.com/office/drawing/2014/main" val="1474529289"/>
                    </a:ext>
                  </a:extLst>
                </a:gridCol>
                <a:gridCol w="584813">
                  <a:extLst>
                    <a:ext uri="{9D8B030D-6E8A-4147-A177-3AD203B41FA5}">
                      <a16:colId xmlns:a16="http://schemas.microsoft.com/office/drawing/2014/main" val="1901139108"/>
                    </a:ext>
                  </a:extLst>
                </a:gridCol>
                <a:gridCol w="584813">
                  <a:extLst>
                    <a:ext uri="{9D8B030D-6E8A-4147-A177-3AD203B41FA5}">
                      <a16:colId xmlns:a16="http://schemas.microsoft.com/office/drawing/2014/main" val="21533471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-3.4</a:t>
                      </a:r>
                    </a:p>
                  </a:txBody>
                  <a:tcPr anchor="ctr">
                    <a:solidFill>
                      <a:srgbClr val="BACA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1.7</a:t>
                      </a:r>
                    </a:p>
                  </a:txBody>
                  <a:tcPr anchor="ctr">
                    <a:solidFill>
                      <a:srgbClr val="BACA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-0.2</a:t>
                      </a:r>
                    </a:p>
                  </a:txBody>
                  <a:tcPr anchor="ctr">
                    <a:solidFill>
                      <a:srgbClr val="BACA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5.2</a:t>
                      </a:r>
                    </a:p>
                  </a:txBody>
                  <a:tcPr anchor="ctr">
                    <a:solidFill>
                      <a:srgbClr val="BAC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2029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A75BC5F-8130-273A-A248-0BC031AAA83A}"/>
              </a:ext>
            </a:extLst>
          </p:cNvPr>
          <p:cNvSpPr txBox="1"/>
          <p:nvPr/>
        </p:nvSpPr>
        <p:spPr>
          <a:xfrm>
            <a:off x="2340064" y="4564806"/>
            <a:ext cx="53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7F0BA3-B6FC-E3DD-F6F6-815ECDC7D9E6}"/>
              </a:ext>
            </a:extLst>
          </p:cNvPr>
          <p:cNvSpPr txBox="1"/>
          <p:nvPr/>
        </p:nvSpPr>
        <p:spPr>
          <a:xfrm>
            <a:off x="2340065" y="5343570"/>
            <a:ext cx="590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 = </a:t>
            </a:r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61F8FCE7-8D23-3051-847C-884A3C5121C8}"/>
              </a:ext>
            </a:extLst>
          </p:cNvPr>
          <p:cNvGraphicFramePr>
            <a:graphicFrameLocks noGrp="1"/>
          </p:cNvGraphicFramePr>
          <p:nvPr/>
        </p:nvGraphicFramePr>
        <p:xfrm>
          <a:off x="5631537" y="4872583"/>
          <a:ext cx="23392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813">
                  <a:extLst>
                    <a:ext uri="{9D8B030D-6E8A-4147-A177-3AD203B41FA5}">
                      <a16:colId xmlns:a16="http://schemas.microsoft.com/office/drawing/2014/main" val="3086434951"/>
                    </a:ext>
                  </a:extLst>
                </a:gridCol>
                <a:gridCol w="584813">
                  <a:extLst>
                    <a:ext uri="{9D8B030D-6E8A-4147-A177-3AD203B41FA5}">
                      <a16:colId xmlns:a16="http://schemas.microsoft.com/office/drawing/2014/main" val="1474529289"/>
                    </a:ext>
                  </a:extLst>
                </a:gridCol>
                <a:gridCol w="584813">
                  <a:extLst>
                    <a:ext uri="{9D8B030D-6E8A-4147-A177-3AD203B41FA5}">
                      <a16:colId xmlns:a16="http://schemas.microsoft.com/office/drawing/2014/main" val="1901139108"/>
                    </a:ext>
                  </a:extLst>
                </a:gridCol>
                <a:gridCol w="584813">
                  <a:extLst>
                    <a:ext uri="{9D8B030D-6E8A-4147-A177-3AD203B41FA5}">
                      <a16:colId xmlns:a16="http://schemas.microsoft.com/office/drawing/2014/main" val="21533471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-2.3</a:t>
                      </a:r>
                    </a:p>
                  </a:txBody>
                  <a:tcPr anchor="ctr">
                    <a:solidFill>
                      <a:srgbClr val="BACA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5.4</a:t>
                      </a:r>
                    </a:p>
                  </a:txBody>
                  <a:tcPr anchor="ctr">
                    <a:solidFill>
                      <a:srgbClr val="BACA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-1.8</a:t>
                      </a:r>
                    </a:p>
                  </a:txBody>
                  <a:tcPr anchor="ctr">
                    <a:solidFill>
                      <a:srgbClr val="BACA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7.5</a:t>
                      </a:r>
                    </a:p>
                  </a:txBody>
                  <a:tcPr anchor="ctr">
                    <a:solidFill>
                      <a:srgbClr val="BAC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20294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6F1FCB5-5424-EB1F-70B9-EBEE465055B3}"/>
              </a:ext>
            </a:extLst>
          </p:cNvPr>
          <p:cNvSpPr txBox="1"/>
          <p:nvPr/>
        </p:nvSpPr>
        <p:spPr>
          <a:xfrm>
            <a:off x="5170658" y="4832946"/>
            <a:ext cx="423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23C04C-9649-A5CC-AF9E-02EA0DEDFBC4}"/>
              </a:ext>
            </a:extLst>
          </p:cNvPr>
          <p:cNvSpPr txBox="1"/>
          <p:nvPr/>
        </p:nvSpPr>
        <p:spPr>
          <a:xfrm>
            <a:off x="3793265" y="4855706"/>
            <a:ext cx="423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165959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Types of parallelization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Embarrassingly parallel</a:t>
            </a:r>
          </a:p>
          <a:p>
            <a:pPr marL="569913" lvl="1">
              <a:buFont typeface="Arial" panose="020B0604020202020204" pitchFamily="34" charset="0"/>
              <a:buChar char="•"/>
            </a:pPr>
            <a:r>
              <a:rPr lang="en-US" dirty="0"/>
              <a:t>A workload or problem where little or no effort is needed to separate into number of parallel tasks</a:t>
            </a:r>
          </a:p>
          <a:p>
            <a:pPr marL="569913" lvl="1">
              <a:buFont typeface="Arial" panose="020B0604020202020204" pitchFamily="34" charset="0"/>
              <a:buChar char="•"/>
            </a:pPr>
            <a:r>
              <a:rPr lang="en-US" dirty="0"/>
              <a:t>Examples: hyperparameter grid search, training multiple model architectures</a:t>
            </a:r>
          </a:p>
          <a:p>
            <a:pPr marL="569913" lvl="1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https://en.wikipedia.org/wiki/Embarrassingly_parallel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55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215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Parallelism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938" y="833566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Train a single model, single set of hyperparameters, but </a:t>
            </a:r>
            <a:r>
              <a:rPr lang="en-US" b="1" i="1" dirty="0"/>
              <a:t>faster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Split the batch over multiple processors (CPUs/GPUs)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processor holds a copy of the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Forward pass: calculated by each of the workers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Backward pass: gradients computed (per worker), communicated and aggregated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Effective batch size is a multiple of the number of workers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reality: keep the per-device batch-size the same, just scale the global batch-size and increase LR proportionally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56</a:t>
            </a:fld>
            <a:endParaRPr lang="nl-NL"/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287336" y="1558799"/>
            <a:ext cx="2292902" cy="564851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Blip>
                <a:blip r:embed="rId2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Tx/>
              <a:buBlip>
                <a:blip r:embed="rId3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4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5"/>
              </a:buBlip>
              <a:tabLst/>
              <a:defRPr sz="20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3400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Font typeface="Calibri" panose="020F0502020204030204" pitchFamily="34" charset="0"/>
              <a:buChar char="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938" indent="-2619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6575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buFont typeface="Arial" pitchFamily="34" charset="0"/>
              <a:buChar char="•"/>
            </a:pPr>
            <a:endParaRPr lang="en-US" dirty="0"/>
          </a:p>
          <a:p>
            <a:pPr lvl="0"/>
            <a:endParaRPr lang="en-US" altLang="nl-NL" sz="1900" dirty="0"/>
          </a:p>
          <a:p>
            <a:pPr lvl="0">
              <a:buFont typeface="Arial" charset="0"/>
              <a:buNone/>
            </a:pPr>
            <a:endParaRPr lang="en-US" altLang="nl-NL" dirty="0"/>
          </a:p>
        </p:txBody>
      </p:sp>
      <p:pic>
        <p:nvPicPr>
          <p:cNvPr id="7" name="Picture 2" descr="Afbeeldingsresultaat voor cats and dog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71047" y="5885989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Afbeeldingsresultaat voor cats and dog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71047" y="4392850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5926768" y="4407395"/>
            <a:ext cx="1350595" cy="827951"/>
            <a:chOff x="3221405" y="3951065"/>
            <a:chExt cx="2152502" cy="131954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54C8591-8A09-6040-88B8-1E2D64A3D075}"/>
                </a:ext>
              </a:extLst>
            </p:cNvPr>
            <p:cNvSpPr/>
            <p:nvPr/>
          </p:nvSpPr>
          <p:spPr>
            <a:xfrm>
              <a:off x="3450003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69F550C-C509-1A4C-A120-92DC6309FFAF}"/>
                </a:ext>
              </a:extLst>
            </p:cNvPr>
            <p:cNvSpPr/>
            <p:nvPr/>
          </p:nvSpPr>
          <p:spPr>
            <a:xfrm>
              <a:off x="3450003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3DBEA2C-8CB1-1F45-A074-0A4BAC357977}"/>
                </a:ext>
              </a:extLst>
            </p:cNvPr>
            <p:cNvSpPr/>
            <p:nvPr/>
          </p:nvSpPr>
          <p:spPr>
            <a:xfrm>
              <a:off x="3449582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C88E3CB-638B-D042-A134-1A8C0E51A3D8}"/>
                </a:ext>
              </a:extLst>
            </p:cNvPr>
            <p:cNvSpPr/>
            <p:nvPr/>
          </p:nvSpPr>
          <p:spPr>
            <a:xfrm>
              <a:off x="4225640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8C86E56-73AA-8B47-8B60-840CE593D6B1}"/>
                </a:ext>
              </a:extLst>
            </p:cNvPr>
            <p:cNvSpPr/>
            <p:nvPr/>
          </p:nvSpPr>
          <p:spPr>
            <a:xfrm>
              <a:off x="4225639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64170D3-A4DA-9B4E-87C7-F9AD2C4FDDCC}"/>
                </a:ext>
              </a:extLst>
            </p:cNvPr>
            <p:cNvSpPr/>
            <p:nvPr/>
          </p:nvSpPr>
          <p:spPr>
            <a:xfrm>
              <a:off x="4225639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86CD9F3-2953-6945-A787-96752FD1CCED}"/>
                </a:ext>
              </a:extLst>
            </p:cNvPr>
            <p:cNvSpPr/>
            <p:nvPr/>
          </p:nvSpPr>
          <p:spPr>
            <a:xfrm>
              <a:off x="5053132" y="442691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B94DEA2-AA75-334C-8D87-785551076467}"/>
                </a:ext>
              </a:extLst>
            </p:cNvPr>
            <p:cNvCxnSpPr>
              <a:stCxn id="16" idx="6"/>
              <a:endCxn id="19" idx="2"/>
            </p:cNvCxnSpPr>
            <p:nvPr/>
          </p:nvCxnSpPr>
          <p:spPr>
            <a:xfrm flipV="1">
              <a:off x="3770778" y="4111453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5BD838B-4B3E-EB49-B82E-40AEA475F8CF}"/>
                </a:ext>
              </a:extLst>
            </p:cNvPr>
            <p:cNvCxnSpPr/>
            <p:nvPr/>
          </p:nvCxnSpPr>
          <p:spPr>
            <a:xfrm flipV="1">
              <a:off x="3770357" y="4610835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5829E74-97FC-654F-A0C4-6D1AB34266E6}"/>
                </a:ext>
              </a:extLst>
            </p:cNvPr>
            <p:cNvCxnSpPr/>
            <p:nvPr/>
          </p:nvCxnSpPr>
          <p:spPr>
            <a:xfrm flipV="1">
              <a:off x="3770357" y="5113932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700B218-80B5-854E-8A20-998CD205B811}"/>
                </a:ext>
              </a:extLst>
            </p:cNvPr>
            <p:cNvCxnSpPr>
              <a:endCxn id="20" idx="3"/>
            </p:cNvCxnSpPr>
            <p:nvPr/>
          </p:nvCxnSpPr>
          <p:spPr>
            <a:xfrm flipV="1">
              <a:off x="3770357" y="4724246"/>
              <a:ext cx="502259" cy="39726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68EE955-F979-804F-966C-3B09E74A511E}"/>
                </a:ext>
              </a:extLst>
            </p:cNvPr>
            <p:cNvCxnSpPr>
              <a:endCxn id="20" idx="1"/>
            </p:cNvCxnSpPr>
            <p:nvPr/>
          </p:nvCxnSpPr>
          <p:spPr>
            <a:xfrm>
              <a:off x="3774391" y="4116528"/>
              <a:ext cx="498224" cy="3808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FE34918-01CD-324E-ADC7-8C7618B9A137}"/>
                </a:ext>
              </a:extLst>
            </p:cNvPr>
            <p:cNvCxnSpPr>
              <a:endCxn id="21" idx="1"/>
            </p:cNvCxnSpPr>
            <p:nvPr/>
          </p:nvCxnSpPr>
          <p:spPr>
            <a:xfrm>
              <a:off x="3767607" y="4110446"/>
              <a:ext cx="505009" cy="8863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4B8F354-AC16-1B41-9E21-62A17EFD04B0}"/>
                </a:ext>
              </a:extLst>
            </p:cNvPr>
            <p:cNvCxnSpPr>
              <a:endCxn id="19" idx="3"/>
            </p:cNvCxnSpPr>
            <p:nvPr/>
          </p:nvCxnSpPr>
          <p:spPr>
            <a:xfrm flipV="1">
              <a:off x="3774391" y="4224864"/>
              <a:ext cx="498225" cy="88959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6E2A8B2-A78A-1441-9031-1BB71F2F5B69}"/>
                </a:ext>
              </a:extLst>
            </p:cNvPr>
            <p:cNvCxnSpPr/>
            <p:nvPr/>
          </p:nvCxnSpPr>
          <p:spPr>
            <a:xfrm flipV="1">
              <a:off x="3777141" y="4173806"/>
              <a:ext cx="454862" cy="43575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476527A-3E29-504A-A51F-FD3AADE09166}"/>
                </a:ext>
              </a:extLst>
            </p:cNvPr>
            <p:cNvCxnSpPr/>
            <p:nvPr/>
          </p:nvCxnSpPr>
          <p:spPr>
            <a:xfrm>
              <a:off x="3770356" y="4606842"/>
              <a:ext cx="465260" cy="43817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2D17DA8-ADE8-7A41-A4B3-2AA2404B596C}"/>
                </a:ext>
              </a:extLst>
            </p:cNvPr>
            <p:cNvCxnSpPr>
              <a:endCxn id="23" idx="1"/>
            </p:cNvCxnSpPr>
            <p:nvPr/>
          </p:nvCxnSpPr>
          <p:spPr>
            <a:xfrm>
              <a:off x="4553330" y="4116529"/>
              <a:ext cx="546778" cy="35735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76B3456-D16B-9744-880A-A88B8590C98D}"/>
                </a:ext>
              </a:extLst>
            </p:cNvPr>
            <p:cNvCxnSpPr>
              <a:endCxn id="23" idx="3"/>
            </p:cNvCxnSpPr>
            <p:nvPr/>
          </p:nvCxnSpPr>
          <p:spPr>
            <a:xfrm flipV="1">
              <a:off x="4549448" y="4700709"/>
              <a:ext cx="550661" cy="40974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DB8B276-D42C-044E-9EC6-6BC37B50A2B1}"/>
                </a:ext>
              </a:extLst>
            </p:cNvPr>
            <p:cNvCxnSpPr/>
            <p:nvPr/>
          </p:nvCxnSpPr>
          <p:spPr>
            <a:xfrm flipV="1">
              <a:off x="3221405" y="460823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D311785-D55B-0440-976E-05BB48D5AEE8}"/>
                </a:ext>
              </a:extLst>
            </p:cNvPr>
            <p:cNvCxnSpPr/>
            <p:nvPr/>
          </p:nvCxnSpPr>
          <p:spPr>
            <a:xfrm flipV="1">
              <a:off x="3228981" y="4098930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91F324A-7E04-2B47-B61E-BD806D6AB00B}"/>
                </a:ext>
              </a:extLst>
            </p:cNvPr>
            <p:cNvCxnSpPr/>
            <p:nvPr/>
          </p:nvCxnSpPr>
          <p:spPr>
            <a:xfrm flipV="1">
              <a:off x="3228981" y="512881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F90248C-A018-2542-967F-34DCDEFE8026}"/>
                </a:ext>
              </a:extLst>
            </p:cNvPr>
            <p:cNvCxnSpPr>
              <a:endCxn id="23" idx="2"/>
            </p:cNvCxnSpPr>
            <p:nvPr/>
          </p:nvCxnSpPr>
          <p:spPr>
            <a:xfrm flipV="1">
              <a:off x="4546414" y="4587298"/>
              <a:ext cx="50671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/>
          <p:cNvGrpSpPr/>
          <p:nvPr/>
        </p:nvGrpSpPr>
        <p:grpSpPr>
          <a:xfrm>
            <a:off x="5926768" y="5834783"/>
            <a:ext cx="1350595" cy="827951"/>
            <a:chOff x="3221405" y="3951065"/>
            <a:chExt cx="2152502" cy="131954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54C8591-8A09-6040-88B8-1E2D64A3D075}"/>
                </a:ext>
              </a:extLst>
            </p:cNvPr>
            <p:cNvSpPr/>
            <p:nvPr/>
          </p:nvSpPr>
          <p:spPr>
            <a:xfrm>
              <a:off x="3450003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69F550C-C509-1A4C-A120-92DC6309FFAF}"/>
                </a:ext>
              </a:extLst>
            </p:cNvPr>
            <p:cNvSpPr/>
            <p:nvPr/>
          </p:nvSpPr>
          <p:spPr>
            <a:xfrm>
              <a:off x="3450003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3DBEA2C-8CB1-1F45-A074-0A4BAC357977}"/>
                </a:ext>
              </a:extLst>
            </p:cNvPr>
            <p:cNvSpPr/>
            <p:nvPr/>
          </p:nvSpPr>
          <p:spPr>
            <a:xfrm>
              <a:off x="3449582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C88E3CB-638B-D042-A134-1A8C0E51A3D8}"/>
                </a:ext>
              </a:extLst>
            </p:cNvPr>
            <p:cNvSpPr/>
            <p:nvPr/>
          </p:nvSpPr>
          <p:spPr>
            <a:xfrm>
              <a:off x="4225640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8C86E56-73AA-8B47-8B60-840CE593D6B1}"/>
                </a:ext>
              </a:extLst>
            </p:cNvPr>
            <p:cNvSpPr/>
            <p:nvPr/>
          </p:nvSpPr>
          <p:spPr>
            <a:xfrm>
              <a:off x="4225639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64170D3-A4DA-9B4E-87C7-F9AD2C4FDDCC}"/>
                </a:ext>
              </a:extLst>
            </p:cNvPr>
            <p:cNvSpPr/>
            <p:nvPr/>
          </p:nvSpPr>
          <p:spPr>
            <a:xfrm>
              <a:off x="4225639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86CD9F3-2953-6945-A787-96752FD1CCED}"/>
                </a:ext>
              </a:extLst>
            </p:cNvPr>
            <p:cNvSpPr/>
            <p:nvPr/>
          </p:nvSpPr>
          <p:spPr>
            <a:xfrm>
              <a:off x="5053132" y="442691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B94DEA2-AA75-334C-8D87-785551076467}"/>
                </a:ext>
              </a:extLst>
            </p:cNvPr>
            <p:cNvCxnSpPr>
              <a:stCxn id="45" idx="6"/>
              <a:endCxn id="48" idx="2"/>
            </p:cNvCxnSpPr>
            <p:nvPr/>
          </p:nvCxnSpPr>
          <p:spPr>
            <a:xfrm flipV="1">
              <a:off x="3770778" y="4111453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15BD838B-4B3E-EB49-B82E-40AEA475F8CF}"/>
                </a:ext>
              </a:extLst>
            </p:cNvPr>
            <p:cNvCxnSpPr/>
            <p:nvPr/>
          </p:nvCxnSpPr>
          <p:spPr>
            <a:xfrm flipV="1">
              <a:off x="3770357" y="4610835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45829E74-97FC-654F-A0C4-6D1AB34266E6}"/>
                </a:ext>
              </a:extLst>
            </p:cNvPr>
            <p:cNvCxnSpPr/>
            <p:nvPr/>
          </p:nvCxnSpPr>
          <p:spPr>
            <a:xfrm flipV="1">
              <a:off x="3770357" y="5113932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700B218-80B5-854E-8A20-998CD205B811}"/>
                </a:ext>
              </a:extLst>
            </p:cNvPr>
            <p:cNvCxnSpPr>
              <a:endCxn id="49" idx="3"/>
            </p:cNvCxnSpPr>
            <p:nvPr/>
          </p:nvCxnSpPr>
          <p:spPr>
            <a:xfrm flipV="1">
              <a:off x="3770357" y="4724246"/>
              <a:ext cx="502259" cy="39726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868EE955-F979-804F-966C-3B09E74A511E}"/>
                </a:ext>
              </a:extLst>
            </p:cNvPr>
            <p:cNvCxnSpPr>
              <a:endCxn id="49" idx="1"/>
            </p:cNvCxnSpPr>
            <p:nvPr/>
          </p:nvCxnSpPr>
          <p:spPr>
            <a:xfrm>
              <a:off x="3774391" y="4116528"/>
              <a:ext cx="498224" cy="3808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EFE34918-01CD-324E-ADC7-8C7618B9A137}"/>
                </a:ext>
              </a:extLst>
            </p:cNvPr>
            <p:cNvCxnSpPr>
              <a:endCxn id="50" idx="1"/>
            </p:cNvCxnSpPr>
            <p:nvPr/>
          </p:nvCxnSpPr>
          <p:spPr>
            <a:xfrm>
              <a:off x="3767607" y="4110446"/>
              <a:ext cx="505009" cy="8863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4B8F354-AC16-1B41-9E21-62A17EFD04B0}"/>
                </a:ext>
              </a:extLst>
            </p:cNvPr>
            <p:cNvCxnSpPr>
              <a:endCxn id="48" idx="3"/>
            </p:cNvCxnSpPr>
            <p:nvPr/>
          </p:nvCxnSpPr>
          <p:spPr>
            <a:xfrm flipV="1">
              <a:off x="3774391" y="4224864"/>
              <a:ext cx="498225" cy="88959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6E2A8B2-A78A-1441-9031-1BB71F2F5B69}"/>
                </a:ext>
              </a:extLst>
            </p:cNvPr>
            <p:cNvCxnSpPr/>
            <p:nvPr/>
          </p:nvCxnSpPr>
          <p:spPr>
            <a:xfrm flipV="1">
              <a:off x="3777141" y="4173806"/>
              <a:ext cx="454862" cy="43575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476527A-3E29-504A-A51F-FD3AADE09166}"/>
                </a:ext>
              </a:extLst>
            </p:cNvPr>
            <p:cNvCxnSpPr/>
            <p:nvPr/>
          </p:nvCxnSpPr>
          <p:spPr>
            <a:xfrm>
              <a:off x="3770356" y="4606842"/>
              <a:ext cx="465260" cy="43817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B2D17DA8-ADE8-7A41-A4B3-2AA2404B596C}"/>
                </a:ext>
              </a:extLst>
            </p:cNvPr>
            <p:cNvCxnSpPr>
              <a:endCxn id="51" idx="1"/>
            </p:cNvCxnSpPr>
            <p:nvPr/>
          </p:nvCxnSpPr>
          <p:spPr>
            <a:xfrm>
              <a:off x="4553330" y="4116529"/>
              <a:ext cx="546778" cy="35735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C76B3456-D16B-9744-880A-A88B8590C98D}"/>
                </a:ext>
              </a:extLst>
            </p:cNvPr>
            <p:cNvCxnSpPr>
              <a:endCxn id="51" idx="3"/>
            </p:cNvCxnSpPr>
            <p:nvPr/>
          </p:nvCxnSpPr>
          <p:spPr>
            <a:xfrm flipV="1">
              <a:off x="4549448" y="4700709"/>
              <a:ext cx="550661" cy="40974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EDB8B276-D42C-044E-9EC6-6BC37B50A2B1}"/>
                </a:ext>
              </a:extLst>
            </p:cNvPr>
            <p:cNvCxnSpPr/>
            <p:nvPr/>
          </p:nvCxnSpPr>
          <p:spPr>
            <a:xfrm flipV="1">
              <a:off x="3221405" y="460823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CD311785-D55B-0440-976E-05BB48D5AEE8}"/>
                </a:ext>
              </a:extLst>
            </p:cNvPr>
            <p:cNvCxnSpPr/>
            <p:nvPr/>
          </p:nvCxnSpPr>
          <p:spPr>
            <a:xfrm flipV="1">
              <a:off x="3228981" y="4098930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791F324A-7E04-2B47-B61E-BD806D6AB00B}"/>
                </a:ext>
              </a:extLst>
            </p:cNvPr>
            <p:cNvCxnSpPr/>
            <p:nvPr/>
          </p:nvCxnSpPr>
          <p:spPr>
            <a:xfrm flipV="1">
              <a:off x="3228981" y="512881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7F90248C-A018-2542-967F-34DCDEFE8026}"/>
                </a:ext>
              </a:extLst>
            </p:cNvPr>
            <p:cNvCxnSpPr>
              <a:endCxn id="51" idx="2"/>
            </p:cNvCxnSpPr>
            <p:nvPr/>
          </p:nvCxnSpPr>
          <p:spPr>
            <a:xfrm flipV="1">
              <a:off x="4546414" y="4587298"/>
              <a:ext cx="50671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8468606" y="4677118"/>
            <a:ext cx="108151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l-NL" dirty="0"/>
              <a:t>Processor 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45890" y="5600820"/>
            <a:ext cx="7264959" cy="126013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0" name="Rectangle 69"/>
          <p:cNvSpPr/>
          <p:nvPr/>
        </p:nvSpPr>
        <p:spPr>
          <a:xfrm>
            <a:off x="3045889" y="4177692"/>
            <a:ext cx="7264959" cy="126013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1" name="TextBox 70"/>
          <p:cNvSpPr txBox="1"/>
          <p:nvPr/>
        </p:nvSpPr>
        <p:spPr>
          <a:xfrm>
            <a:off x="8504051" y="6133354"/>
            <a:ext cx="108151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l-NL" dirty="0"/>
              <a:t>Processor 2</a:t>
            </a:r>
          </a:p>
        </p:txBody>
      </p:sp>
      <p:pic>
        <p:nvPicPr>
          <p:cNvPr id="73" name="Picture 4" descr="Afbeeldingsresultaat voor cats and dog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4989" y="4749457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" descr="Afbeeldingsresultaat voor cats and dog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5955" y="5149298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91F324A-7E04-2B47-B61E-BD806D6AB00B}"/>
              </a:ext>
            </a:extLst>
          </p:cNvPr>
          <p:cNvCxnSpPr>
            <a:endCxn id="70" idx="1"/>
          </p:cNvCxnSpPr>
          <p:nvPr/>
        </p:nvCxnSpPr>
        <p:spPr>
          <a:xfrm flipV="1">
            <a:off x="1883807" y="4807760"/>
            <a:ext cx="1162082" cy="1142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91F324A-7E04-2B47-B61E-BD806D6AB00B}"/>
              </a:ext>
            </a:extLst>
          </p:cNvPr>
          <p:cNvCxnSpPr/>
          <p:nvPr/>
        </p:nvCxnSpPr>
        <p:spPr>
          <a:xfrm>
            <a:off x="2021701" y="5498903"/>
            <a:ext cx="1024188" cy="56102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94D5BAFE-129D-4635-74E5-F99C969C6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7990" y="787410"/>
            <a:ext cx="1831881" cy="77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600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Model parallelism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Train a single </a:t>
            </a:r>
            <a:r>
              <a:rPr lang="en-US" b="1" i="1" dirty="0"/>
              <a:t>very big</a:t>
            </a:r>
            <a:r>
              <a:rPr lang="en-US" b="1" dirty="0"/>
              <a:t> </a:t>
            </a:r>
            <a:r>
              <a:rPr lang="en-US" dirty="0"/>
              <a:t>model, single set of hyperparameters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Split the model over multiple processors (CPUs/GPUs or a hybrid)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processor sees all the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Communication needed both during forward and backward pass!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57</a:t>
            </a:fld>
            <a:endParaRPr lang="nl-NL"/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287336" y="1558799"/>
            <a:ext cx="2292902" cy="564851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Blip>
                <a:blip r:embed="rId2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Tx/>
              <a:buBlip>
                <a:blip r:embed="rId3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4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5"/>
              </a:buBlip>
              <a:tabLst/>
              <a:defRPr sz="20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3400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Font typeface="Calibri" panose="020F0502020204030204" pitchFamily="34" charset="0"/>
              <a:buChar char="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938" indent="-2619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6575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buFont typeface="Arial" pitchFamily="34" charset="0"/>
              <a:buChar char="•"/>
            </a:pPr>
            <a:endParaRPr lang="en-US" dirty="0"/>
          </a:p>
          <a:p>
            <a:pPr lvl="0"/>
            <a:endParaRPr lang="en-US" altLang="nl-NL" sz="1900" dirty="0"/>
          </a:p>
          <a:p>
            <a:pPr lvl="0">
              <a:buFont typeface="Arial" charset="0"/>
              <a:buNone/>
            </a:pPr>
            <a:endParaRPr lang="en-US" altLang="nl-NL" dirty="0"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233165" y="4229594"/>
            <a:ext cx="2243289" cy="1375196"/>
            <a:chOff x="3221405" y="3951065"/>
            <a:chExt cx="2152502" cy="131954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54C8591-8A09-6040-88B8-1E2D64A3D075}"/>
                </a:ext>
              </a:extLst>
            </p:cNvPr>
            <p:cNvSpPr/>
            <p:nvPr/>
          </p:nvSpPr>
          <p:spPr>
            <a:xfrm>
              <a:off x="3450003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69F550C-C509-1A4C-A120-92DC6309FFAF}"/>
                </a:ext>
              </a:extLst>
            </p:cNvPr>
            <p:cNvSpPr/>
            <p:nvPr/>
          </p:nvSpPr>
          <p:spPr>
            <a:xfrm>
              <a:off x="3450003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3DBEA2C-8CB1-1F45-A074-0A4BAC357977}"/>
                </a:ext>
              </a:extLst>
            </p:cNvPr>
            <p:cNvSpPr/>
            <p:nvPr/>
          </p:nvSpPr>
          <p:spPr>
            <a:xfrm>
              <a:off x="3449582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C88E3CB-638B-D042-A134-1A8C0E51A3D8}"/>
                </a:ext>
              </a:extLst>
            </p:cNvPr>
            <p:cNvSpPr/>
            <p:nvPr/>
          </p:nvSpPr>
          <p:spPr>
            <a:xfrm>
              <a:off x="4225640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8C86E56-73AA-8B47-8B60-840CE593D6B1}"/>
                </a:ext>
              </a:extLst>
            </p:cNvPr>
            <p:cNvSpPr/>
            <p:nvPr/>
          </p:nvSpPr>
          <p:spPr>
            <a:xfrm>
              <a:off x="4225639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64170D3-A4DA-9B4E-87C7-F9AD2C4FDDCC}"/>
                </a:ext>
              </a:extLst>
            </p:cNvPr>
            <p:cNvSpPr/>
            <p:nvPr/>
          </p:nvSpPr>
          <p:spPr>
            <a:xfrm>
              <a:off x="4225639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86CD9F3-2953-6945-A787-96752FD1CCED}"/>
                </a:ext>
              </a:extLst>
            </p:cNvPr>
            <p:cNvSpPr/>
            <p:nvPr/>
          </p:nvSpPr>
          <p:spPr>
            <a:xfrm>
              <a:off x="5053132" y="442691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B94DEA2-AA75-334C-8D87-785551076467}"/>
                </a:ext>
              </a:extLst>
            </p:cNvPr>
            <p:cNvCxnSpPr>
              <a:stCxn id="8" idx="6"/>
              <a:endCxn id="11" idx="2"/>
            </p:cNvCxnSpPr>
            <p:nvPr/>
          </p:nvCxnSpPr>
          <p:spPr>
            <a:xfrm flipV="1">
              <a:off x="3770778" y="4111453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5BD838B-4B3E-EB49-B82E-40AEA475F8CF}"/>
                </a:ext>
              </a:extLst>
            </p:cNvPr>
            <p:cNvCxnSpPr/>
            <p:nvPr/>
          </p:nvCxnSpPr>
          <p:spPr>
            <a:xfrm flipV="1">
              <a:off x="3770357" y="4610835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5829E74-97FC-654F-A0C4-6D1AB34266E6}"/>
                </a:ext>
              </a:extLst>
            </p:cNvPr>
            <p:cNvCxnSpPr/>
            <p:nvPr/>
          </p:nvCxnSpPr>
          <p:spPr>
            <a:xfrm flipV="1">
              <a:off x="3770357" y="5113932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700B218-80B5-854E-8A20-998CD205B811}"/>
                </a:ext>
              </a:extLst>
            </p:cNvPr>
            <p:cNvCxnSpPr>
              <a:endCxn id="12" idx="3"/>
            </p:cNvCxnSpPr>
            <p:nvPr/>
          </p:nvCxnSpPr>
          <p:spPr>
            <a:xfrm flipV="1">
              <a:off x="3770357" y="4724246"/>
              <a:ext cx="502259" cy="39726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68EE955-F979-804F-966C-3B09E74A511E}"/>
                </a:ext>
              </a:extLst>
            </p:cNvPr>
            <p:cNvCxnSpPr>
              <a:endCxn id="12" idx="1"/>
            </p:cNvCxnSpPr>
            <p:nvPr/>
          </p:nvCxnSpPr>
          <p:spPr>
            <a:xfrm>
              <a:off x="3774391" y="4116528"/>
              <a:ext cx="498224" cy="3808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FE34918-01CD-324E-ADC7-8C7618B9A137}"/>
                </a:ext>
              </a:extLst>
            </p:cNvPr>
            <p:cNvCxnSpPr>
              <a:endCxn id="13" idx="1"/>
            </p:cNvCxnSpPr>
            <p:nvPr/>
          </p:nvCxnSpPr>
          <p:spPr>
            <a:xfrm>
              <a:off x="3767607" y="4110446"/>
              <a:ext cx="505009" cy="8863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4B8F354-AC16-1B41-9E21-62A17EFD04B0}"/>
                </a:ext>
              </a:extLst>
            </p:cNvPr>
            <p:cNvCxnSpPr>
              <a:endCxn id="11" idx="3"/>
            </p:cNvCxnSpPr>
            <p:nvPr/>
          </p:nvCxnSpPr>
          <p:spPr>
            <a:xfrm flipV="1">
              <a:off x="3774391" y="4224864"/>
              <a:ext cx="498225" cy="88959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6E2A8B2-A78A-1441-9031-1BB71F2F5B69}"/>
                </a:ext>
              </a:extLst>
            </p:cNvPr>
            <p:cNvCxnSpPr/>
            <p:nvPr/>
          </p:nvCxnSpPr>
          <p:spPr>
            <a:xfrm flipV="1">
              <a:off x="3777141" y="4173806"/>
              <a:ext cx="454862" cy="43575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476527A-3E29-504A-A51F-FD3AADE09166}"/>
                </a:ext>
              </a:extLst>
            </p:cNvPr>
            <p:cNvCxnSpPr/>
            <p:nvPr/>
          </p:nvCxnSpPr>
          <p:spPr>
            <a:xfrm>
              <a:off x="3770356" y="4606842"/>
              <a:ext cx="465260" cy="43817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2D17DA8-ADE8-7A41-A4B3-2AA2404B596C}"/>
                </a:ext>
              </a:extLst>
            </p:cNvPr>
            <p:cNvCxnSpPr>
              <a:endCxn id="14" idx="1"/>
            </p:cNvCxnSpPr>
            <p:nvPr/>
          </p:nvCxnSpPr>
          <p:spPr>
            <a:xfrm>
              <a:off x="4553330" y="4116529"/>
              <a:ext cx="546778" cy="35735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76B3456-D16B-9744-880A-A88B8590C98D}"/>
                </a:ext>
              </a:extLst>
            </p:cNvPr>
            <p:cNvCxnSpPr>
              <a:endCxn id="14" idx="3"/>
            </p:cNvCxnSpPr>
            <p:nvPr/>
          </p:nvCxnSpPr>
          <p:spPr>
            <a:xfrm flipV="1">
              <a:off x="4549448" y="4700709"/>
              <a:ext cx="550661" cy="40974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DB8B276-D42C-044E-9EC6-6BC37B50A2B1}"/>
                </a:ext>
              </a:extLst>
            </p:cNvPr>
            <p:cNvCxnSpPr/>
            <p:nvPr/>
          </p:nvCxnSpPr>
          <p:spPr>
            <a:xfrm flipV="1">
              <a:off x="3221405" y="460823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D311785-D55B-0440-976E-05BB48D5AEE8}"/>
                </a:ext>
              </a:extLst>
            </p:cNvPr>
            <p:cNvCxnSpPr/>
            <p:nvPr/>
          </p:nvCxnSpPr>
          <p:spPr>
            <a:xfrm flipV="1">
              <a:off x="3228981" y="4098930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91F324A-7E04-2B47-B61E-BD806D6AB00B}"/>
                </a:ext>
              </a:extLst>
            </p:cNvPr>
            <p:cNvCxnSpPr/>
            <p:nvPr/>
          </p:nvCxnSpPr>
          <p:spPr>
            <a:xfrm flipV="1">
              <a:off x="3228981" y="512881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F90248C-A018-2542-967F-34DCDEFE8026}"/>
                </a:ext>
              </a:extLst>
            </p:cNvPr>
            <p:cNvCxnSpPr>
              <a:endCxn id="14" idx="2"/>
            </p:cNvCxnSpPr>
            <p:nvPr/>
          </p:nvCxnSpPr>
          <p:spPr>
            <a:xfrm flipV="1">
              <a:off x="4546414" y="4587298"/>
              <a:ext cx="50671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/>
          <p:cNvSpPr/>
          <p:nvPr/>
        </p:nvSpPr>
        <p:spPr>
          <a:xfrm>
            <a:off x="2935657" y="4779470"/>
            <a:ext cx="7264959" cy="126013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Rectangle 31"/>
          <p:cNvSpPr/>
          <p:nvPr/>
        </p:nvSpPr>
        <p:spPr>
          <a:xfrm>
            <a:off x="2935657" y="3526569"/>
            <a:ext cx="7264959" cy="126013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3" name="Picture 4" descr="Afbeeldingsresultaat voor cats and dog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4757" y="4098334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Afbeeldingsresultaat voor cats and dog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6586" y="4387762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/>
          <p:cNvSpPr txBox="1"/>
          <p:nvPr/>
        </p:nvSpPr>
        <p:spPr>
          <a:xfrm>
            <a:off x="8482112" y="4048682"/>
            <a:ext cx="108151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l-NL" dirty="0"/>
              <a:t>Processor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2112" y="5301583"/>
            <a:ext cx="108151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l-NL" dirty="0"/>
              <a:t>Processor 2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91F324A-7E04-2B47-B61E-BD806D6AB00B}"/>
              </a:ext>
            </a:extLst>
          </p:cNvPr>
          <p:cNvCxnSpPr/>
          <p:nvPr/>
        </p:nvCxnSpPr>
        <p:spPr>
          <a:xfrm flipV="1">
            <a:off x="2229777" y="4140586"/>
            <a:ext cx="691636" cy="14840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55290" y="3736207"/>
            <a:ext cx="2191147" cy="1842375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91F324A-7E04-2B47-B61E-BD806D6AB00B}"/>
              </a:ext>
            </a:extLst>
          </p:cNvPr>
          <p:cNvCxnSpPr/>
          <p:nvPr/>
        </p:nvCxnSpPr>
        <p:spPr>
          <a:xfrm>
            <a:off x="2229777" y="5052769"/>
            <a:ext cx="691636" cy="2488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" descr="Afbeeldingsresultaat voor cats and dog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16388" y="3623630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Afbeeldingsresultaat voor cats and dog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8217" y="3913058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Afbeeldingsresultaat voor cats and dog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96317" y="4860291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Afbeeldingsresultaat voor cats and dog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88146" y="5149719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563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Model </a:t>
            </a:r>
            <a:r>
              <a:rPr lang="nl-NL" dirty="0" err="1"/>
              <a:t>parallelism</a:t>
            </a:r>
            <a:r>
              <a:rPr lang="nl-NL" dirty="0"/>
              <a:t>: Pipeline parallelism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Model </a:t>
            </a:r>
            <a:r>
              <a:rPr lang="nl-NL" dirty="0" err="1"/>
              <a:t>parallelism</a:t>
            </a:r>
            <a:r>
              <a:rPr lang="nl-NL" dirty="0"/>
              <a:t>, executed in a pipelined fashion over multiple micro-batches (data </a:t>
            </a:r>
            <a:r>
              <a:rPr lang="nl-NL" dirty="0" err="1"/>
              <a:t>parallelism</a:t>
            </a:r>
            <a:r>
              <a:rPr lang="nl-NL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More efficient than model parallelism: hides communication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computation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See </a:t>
            </a:r>
            <a:r>
              <a:rPr lang="nl-NL" dirty="0">
                <a:hlinkClick r:id="rId3"/>
              </a:rPr>
              <a:t>https://pytorch.org/docs/stable/distributed.pipelining.html</a:t>
            </a:r>
            <a:r>
              <a:rPr lang="nl-NL" dirty="0"/>
              <a:t> 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58</a:t>
            </a:fld>
            <a:endParaRPr lang="nl-NL"/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287336" y="1558799"/>
            <a:ext cx="2292902" cy="564851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Blip>
                <a:blip r:embed="rId4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Tx/>
              <a:buBlip>
                <a:blip r:embed="rId5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6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7"/>
              </a:buBlip>
              <a:tabLst/>
              <a:defRPr sz="20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3400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Font typeface="Calibri" panose="020F0502020204030204" pitchFamily="34" charset="0"/>
              <a:buChar char="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938" indent="-2619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6575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buFont typeface="Arial" pitchFamily="34" charset="0"/>
              <a:buChar char="•"/>
            </a:pPr>
            <a:endParaRPr lang="en-US" dirty="0"/>
          </a:p>
          <a:p>
            <a:pPr lvl="0"/>
            <a:endParaRPr lang="en-US" altLang="nl-NL" sz="1900" dirty="0"/>
          </a:p>
          <a:p>
            <a:pPr lvl="0">
              <a:buFont typeface="Arial" charset="0"/>
              <a:buNone/>
            </a:pPr>
            <a:endParaRPr lang="en-US" altLang="nl-NL" dirty="0"/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33235536-6674-4364-8212-D2825C4FC595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1145409" y="2902225"/>
            <a:ext cx="8275660" cy="3704106"/>
          </a:xfrm>
          <a:prstGeom prst="rect">
            <a:avLst/>
          </a:prstGeom>
          <a:ln w="12600">
            <a:noFill/>
          </a:ln>
        </p:spPr>
      </p:pic>
      <p:sp>
        <p:nvSpPr>
          <p:cNvPr id="8" name="CustomShape 2">
            <a:extLst>
              <a:ext uri="{FF2B5EF4-FFF2-40B4-BE49-F238E27FC236}">
                <a16:creationId xmlns:a16="http://schemas.microsoft.com/office/drawing/2014/main" id="{08AB26FD-8887-42CA-BEAE-8A12BCB6587A}"/>
              </a:ext>
            </a:extLst>
          </p:cNvPr>
          <p:cNvSpPr/>
          <p:nvPr/>
        </p:nvSpPr>
        <p:spPr>
          <a:xfrm>
            <a:off x="7145448" y="6257598"/>
            <a:ext cx="3561022" cy="348733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50760" tIns="50760" rIns="50760" bIns="5076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nl-NL" sz="1600" b="0" i="1" strike="noStrike" spc="-1" dirty="0">
                <a:solidFill>
                  <a:srgbClr val="929292"/>
                </a:solidFill>
                <a:latin typeface="Helvetica Neue"/>
                <a:ea typeface="Helvetica Neue"/>
              </a:rPr>
              <a:t>Huang et al. (2019, arXiv:</a:t>
            </a:r>
            <a:r>
              <a:rPr lang="nl-NL" sz="1600" b="0" i="1" u="sng" strike="noStrike" spc="-1" dirty="0">
                <a:solidFill>
                  <a:srgbClr val="0000FF"/>
                </a:solidFill>
                <a:uFillTx/>
                <a:latin typeface="Helvetica Neue"/>
                <a:ea typeface="Helvetica Neue"/>
                <a:hlinkClick r:id="rId9"/>
              </a:rPr>
              <a:t>1811.06965</a:t>
            </a:r>
            <a:r>
              <a:rPr lang="nl-NL" sz="1600" b="0" i="1" strike="noStrike" spc="-1" dirty="0">
                <a:solidFill>
                  <a:srgbClr val="929292"/>
                </a:solidFill>
                <a:latin typeface="Helvetica Neue"/>
                <a:ea typeface="Helvetica Neue"/>
              </a:rPr>
              <a:t>)</a:t>
            </a:r>
            <a:endParaRPr lang="nl-NL" sz="1600" b="0" strike="noStrike" spc="-1" dirty="0">
              <a:latin typeface="Calibri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22C42B5-6256-04F4-E1EE-731CC5CCB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8227" y="872921"/>
            <a:ext cx="2090094" cy="88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184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Model </a:t>
            </a:r>
            <a:r>
              <a:rPr lang="nl-NL" dirty="0" err="1"/>
              <a:t>parallelism</a:t>
            </a:r>
            <a:r>
              <a:rPr lang="nl-NL" dirty="0"/>
              <a:t>: Tensor </a:t>
            </a:r>
            <a:r>
              <a:rPr lang="nl-NL" dirty="0" err="1"/>
              <a:t>parallelism</a:t>
            </a: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59</a:t>
            </a:fld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Vertical Text Placeholder 2">
                <a:extLst>
                  <a:ext uri="{FF2B5EF4-FFF2-40B4-BE49-F238E27FC236}">
                    <a16:creationId xmlns:a16="http://schemas.microsoft.com/office/drawing/2014/main" id="{D2C8596C-FADD-393F-0640-0574E134CE2B}"/>
                  </a:ext>
                </a:extLst>
              </p:cNvPr>
              <p:cNvSpPr>
                <a:spLocks noGrp="1"/>
              </p:cNvSpPr>
              <p:nvPr>
                <p:ph type="body" orient="vert" idx="1"/>
              </p:nvPr>
            </p:nvSpPr>
            <p:spPr>
              <a:xfrm>
                <a:off x="523807" y="1145098"/>
                <a:ext cx="9369836" cy="471223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Split individual weight W and/or feature X tensors across devices: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ReLU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endParaRPr lang="en-US" b="0" i="1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dirty="0"/>
                  <a:t> -&gt;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ReLU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Requires device sync due to non-linearity a synchronization is required, instead split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ReLU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ReLU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Vertical Text Placeholder 2">
                <a:extLst>
                  <a:ext uri="{FF2B5EF4-FFF2-40B4-BE49-F238E27FC236}">
                    <a16:creationId xmlns:a16="http://schemas.microsoft.com/office/drawing/2014/main" id="{D2C8596C-FADD-393F-0640-0574E134CE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orient="vert" idx="1"/>
              </p:nvPr>
            </p:nvSpPr>
            <p:spPr>
              <a:xfrm>
                <a:off x="523807" y="1145098"/>
                <a:ext cx="9369836" cy="4712231"/>
              </a:xfrm>
              <a:blipFill>
                <a:blip r:embed="rId2"/>
                <a:stretch>
                  <a:fillRect l="-1759" t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06733B1-A034-4744-39BE-005E41768F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39" b="16606"/>
          <a:stretch/>
        </p:blipFill>
        <p:spPr>
          <a:xfrm>
            <a:off x="56121" y="3807506"/>
            <a:ext cx="6524511" cy="278546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F8DADDB-781A-9F00-FED9-6C187C97DF35}"/>
              </a:ext>
            </a:extLst>
          </p:cNvPr>
          <p:cNvSpPr txBox="1"/>
          <p:nvPr/>
        </p:nvSpPr>
        <p:spPr>
          <a:xfrm>
            <a:off x="868948" y="5528236"/>
            <a:ext cx="6104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https://arxiv.org/pdf/1909.08053</a:t>
            </a:r>
            <a:r>
              <a:rPr lang="en-US" dirty="0"/>
              <a:t> 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8E35373-28C9-8D3E-425B-EE5B81CA8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8227" y="872921"/>
            <a:ext cx="2090094" cy="88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diagram of a multicolored square&#10;&#10;AI-generated content may be incorrect.">
            <a:extLst>
              <a:ext uri="{FF2B5EF4-FFF2-40B4-BE49-F238E27FC236}">
                <a16:creationId xmlns:a16="http://schemas.microsoft.com/office/drawing/2014/main" id="{D6BC1921-B40F-60A6-E001-EF60056BA1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0632" y="3701604"/>
            <a:ext cx="5611368" cy="315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97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C65B6-772B-F1E7-F903-E0AF69BFE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B189D-38BF-CC91-7288-9C4C3119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Model </a:t>
            </a:r>
            <a:r>
              <a:rPr lang="nl-NL" dirty="0" err="1"/>
              <a:t>parallelism</a:t>
            </a:r>
            <a:r>
              <a:rPr lang="nl-NL" dirty="0"/>
              <a:t>: </a:t>
            </a:r>
            <a:r>
              <a:rPr lang="nl-NL" dirty="0" err="1"/>
              <a:t>Sequence</a:t>
            </a:r>
            <a:r>
              <a:rPr lang="nl-NL" dirty="0"/>
              <a:t> parallel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AFBC2B-0557-4AC4-0F6B-142347EE2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Split longer sequences (e.g. sentences) across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maximum batch size and throughput compared to tensor parallel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84301-7AE9-B7C7-43EE-169D86B3C9F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8509F1-ADA9-3236-C480-90C07F151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60</a:t>
            </a:fld>
            <a:endParaRPr lang="nl-NL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7414F149-C04F-81EF-E02E-7D088F812511}"/>
              </a:ext>
            </a:extLst>
          </p:cNvPr>
          <p:cNvSpPr txBox="1">
            <a:spLocks noChangeArrowheads="1"/>
          </p:cNvSpPr>
          <p:nvPr/>
        </p:nvSpPr>
        <p:spPr>
          <a:xfrm>
            <a:off x="287336" y="1558799"/>
            <a:ext cx="2292902" cy="564851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Blip>
                <a:blip r:embed="rId3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Tx/>
              <a:buBlip>
                <a:blip r:embed="rId4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5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6"/>
              </a:buBlip>
              <a:tabLst/>
              <a:defRPr sz="20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3400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Font typeface="Calibri" panose="020F0502020204030204" pitchFamily="34" charset="0"/>
              <a:buChar char="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938" indent="-2619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6575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buFont typeface="Arial" pitchFamily="34" charset="0"/>
              <a:buChar char="•"/>
            </a:pPr>
            <a:endParaRPr lang="en-US" dirty="0"/>
          </a:p>
          <a:p>
            <a:pPr lvl="0"/>
            <a:endParaRPr lang="en-US" altLang="nl-NL" sz="1900" dirty="0"/>
          </a:p>
          <a:p>
            <a:pPr lvl="0">
              <a:buFont typeface="Arial" charset="0"/>
              <a:buNone/>
            </a:pPr>
            <a:endParaRPr lang="en-US" altLang="nl-NL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7EB1A6B2-A552-A8CF-D35B-FE570E8FB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074" y="941365"/>
            <a:ext cx="2086584" cy="85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3BED4C-2BA8-14F0-5390-07E1C01207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815254" y="3303237"/>
            <a:ext cx="11652284" cy="2885674"/>
          </a:xfrm>
          <a:prstGeom prst="rect">
            <a:avLst/>
          </a:prstGeom>
        </p:spPr>
      </p:pic>
      <p:sp>
        <p:nvSpPr>
          <p:cNvPr id="10" name="CustomShape 2">
            <a:extLst>
              <a:ext uri="{FF2B5EF4-FFF2-40B4-BE49-F238E27FC236}">
                <a16:creationId xmlns:a16="http://schemas.microsoft.com/office/drawing/2014/main" id="{5A2CD48E-560F-3484-B7F1-659B413EDF80}"/>
              </a:ext>
            </a:extLst>
          </p:cNvPr>
          <p:cNvSpPr/>
          <p:nvPr/>
        </p:nvSpPr>
        <p:spPr>
          <a:xfrm>
            <a:off x="6116162" y="6310148"/>
            <a:ext cx="4985259" cy="348733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50760" tIns="50760" rIns="50760" bIns="5076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Li, </a:t>
            </a:r>
            <a:r>
              <a:rPr lang="en-US" sz="16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Shenggui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</a:t>
            </a:r>
            <a:r>
              <a:rPr lang="en-US" sz="1600" b="0" i="1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16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preprint:</a:t>
            </a:r>
            <a:r>
              <a:rPr lang="en-US" sz="16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9"/>
              </a:rPr>
              <a:t>2105.13120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(2021).</a:t>
            </a:r>
            <a:endParaRPr lang="nl-NL" sz="1600" b="0" strike="noStrike" spc="-1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8602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7C170-5EA7-9D3C-AFE8-171B534A5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6B19-C172-4760-8A97-D66BFBC0201A}" type="datetime1">
              <a:rPr lang="nl-NL" smtClean="0"/>
              <a:t>13-11-2025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11817-D493-D380-B833-6B24C6C08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710FB6-A04B-290E-5A5B-8DB64BCE2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FSDP Workflow</a:t>
            </a:r>
            <a:endParaRPr lang="en-NL" dirty="0"/>
          </a:p>
        </p:txBody>
      </p:sp>
      <p:sp>
        <p:nvSpPr>
          <p:cNvPr id="5" name="Vertical Text Placeholder 4">
            <a:extLst>
              <a:ext uri="{FF2B5EF4-FFF2-40B4-BE49-F238E27FC236}">
                <a16:creationId xmlns:a16="http://schemas.microsoft.com/office/drawing/2014/main" id="{AD50FC15-7AD5-8D9A-0E0A-994E94893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400483"/>
            <a:ext cx="5545527" cy="5185340"/>
          </a:xfrm>
        </p:spPr>
        <p:txBody>
          <a:bodyPr/>
          <a:lstStyle/>
          <a:p>
            <a:pPr marL="0" indent="0">
              <a:spcBef>
                <a:spcPts val="1600"/>
              </a:spcBef>
              <a:buNone/>
            </a:pPr>
            <a:r>
              <a:rPr lang="en-US" i="1" dirty="0"/>
              <a:t>AKA weird non-pipeline parallel, non-tensor parallel, </a:t>
            </a:r>
            <a:r>
              <a:rPr lang="en-US" i="1" dirty="0" err="1"/>
              <a:t>tensor+pipeline</a:t>
            </a:r>
            <a:r>
              <a:rPr lang="en-US" i="1" dirty="0"/>
              <a:t> parallel (actually just DP)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en-US" i="1" dirty="0"/>
              <a:t>In constructor</a:t>
            </a:r>
            <a:br>
              <a:rPr lang="en-US" i="1" dirty="0"/>
            </a:br>
            <a:r>
              <a:rPr lang="en-US" i="1" dirty="0"/>
              <a:t>- </a:t>
            </a:r>
            <a:r>
              <a:rPr lang="en-US" dirty="0"/>
              <a:t>Shard model parameters and each rank only keeps its own shard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en-US" i="1" dirty="0"/>
              <a:t>In forward path</a:t>
            </a:r>
            <a:br>
              <a:rPr lang="en-US" i="1" dirty="0"/>
            </a:br>
            <a:r>
              <a:rPr lang="en-US" i="1" dirty="0"/>
              <a:t>- </a:t>
            </a:r>
            <a:r>
              <a:rPr lang="en-US" dirty="0"/>
              <a:t>Run </a:t>
            </a:r>
            <a:r>
              <a:rPr lang="en-US" dirty="0" err="1"/>
              <a:t>all_gather</a:t>
            </a:r>
            <a:r>
              <a:rPr lang="en-US" dirty="0"/>
              <a:t> to collect all shards from all ranks to recover the full parameter in this FSDP unit</a:t>
            </a:r>
            <a:br>
              <a:rPr lang="en-US" dirty="0"/>
            </a:br>
            <a:r>
              <a:rPr lang="en-US" dirty="0"/>
              <a:t>- Run forward computation</a:t>
            </a:r>
            <a:br>
              <a:rPr lang="en-US" dirty="0"/>
            </a:br>
            <a:r>
              <a:rPr lang="en-US" dirty="0"/>
              <a:t>- Discard parameter shards it has just collected</a:t>
            </a: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i="1" dirty="0"/>
              <a:t>In backward path</a:t>
            </a:r>
            <a:br>
              <a:rPr lang="en-US" i="1" dirty="0"/>
            </a:br>
            <a:r>
              <a:rPr lang="en-US" i="1" dirty="0"/>
              <a:t>- </a:t>
            </a:r>
            <a:r>
              <a:rPr lang="en-US" dirty="0"/>
              <a:t>Run </a:t>
            </a:r>
            <a:r>
              <a:rPr lang="en-US" dirty="0" err="1"/>
              <a:t>all_gather</a:t>
            </a:r>
            <a:r>
              <a:rPr lang="en-US" dirty="0"/>
              <a:t> to collect all shards from all ranks to recover the full parameter in this FSDP unit</a:t>
            </a:r>
            <a:br>
              <a:rPr lang="en-US" dirty="0"/>
            </a:br>
            <a:r>
              <a:rPr lang="en-US" dirty="0"/>
              <a:t>- Run backward computation</a:t>
            </a:r>
            <a:br>
              <a:rPr lang="en-US" dirty="0"/>
            </a:br>
            <a:r>
              <a:rPr lang="en-US" dirty="0"/>
              <a:t>- Run </a:t>
            </a:r>
            <a:r>
              <a:rPr lang="en-US" dirty="0" err="1"/>
              <a:t>reduce_scatter</a:t>
            </a:r>
            <a:r>
              <a:rPr lang="en-US" dirty="0"/>
              <a:t> to sync gradients</a:t>
            </a:r>
            <a:br>
              <a:rPr lang="en-US" dirty="0"/>
            </a:br>
            <a:r>
              <a:rPr lang="en-US" dirty="0"/>
              <a:t>- Discard parameters.</a:t>
            </a:r>
          </a:p>
          <a:p>
            <a:endParaRPr lang="en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D48B23-659D-537D-4029-1CD7990EBBA9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Google Shape;295;p43">
            <a:extLst>
              <a:ext uri="{FF2B5EF4-FFF2-40B4-BE49-F238E27FC236}">
                <a16:creationId xmlns:a16="http://schemas.microsoft.com/office/drawing/2014/main" id="{3A622851-4440-6D85-DB89-7F612B43C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80634" y="61933"/>
            <a:ext cx="6359273" cy="3367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96;p43">
            <a:extLst>
              <a:ext uri="{FF2B5EF4-FFF2-40B4-BE49-F238E27FC236}">
                <a16:creationId xmlns:a16="http://schemas.microsoft.com/office/drawing/2014/main" id="{097B8321-81CB-E071-5546-A8A492B493F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2667" y="3553733"/>
            <a:ext cx="5875199" cy="3225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2930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Hybrid model/data parallelism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62</a:t>
            </a:fld>
            <a:endParaRPr lang="nl-NL"/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287336" y="1558799"/>
            <a:ext cx="2292902" cy="564851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Blip>
                <a:blip r:embed="rId2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Tx/>
              <a:buBlip>
                <a:blip r:embed="rId3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4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5"/>
              </a:buBlip>
              <a:tabLst/>
              <a:defRPr sz="20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3400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Font typeface="Calibri" panose="020F0502020204030204" pitchFamily="34" charset="0"/>
              <a:buChar char="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938" indent="-2619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6575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buFont typeface="Arial" pitchFamily="34" charset="0"/>
              <a:buChar char="•"/>
            </a:pPr>
            <a:endParaRPr lang="en-US" dirty="0"/>
          </a:p>
          <a:p>
            <a:pPr lvl="0"/>
            <a:endParaRPr lang="en-US" altLang="nl-NL" sz="1900" dirty="0"/>
          </a:p>
          <a:p>
            <a:pPr lvl="0">
              <a:buFont typeface="Arial" charset="0"/>
              <a:buNone/>
            </a:pPr>
            <a:endParaRPr lang="en-US" altLang="nl-NL" dirty="0"/>
          </a:p>
        </p:txBody>
      </p:sp>
      <p:grpSp>
        <p:nvGrpSpPr>
          <p:cNvPr id="7" name="Group 6"/>
          <p:cNvGrpSpPr/>
          <p:nvPr/>
        </p:nvGrpSpPr>
        <p:grpSpPr>
          <a:xfrm rot="5400000">
            <a:off x="5591553" y="4201312"/>
            <a:ext cx="2243289" cy="1375196"/>
            <a:chOff x="3221405" y="3951065"/>
            <a:chExt cx="2152502" cy="131954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54C8591-8A09-6040-88B8-1E2D64A3D075}"/>
                </a:ext>
              </a:extLst>
            </p:cNvPr>
            <p:cNvSpPr/>
            <p:nvPr/>
          </p:nvSpPr>
          <p:spPr>
            <a:xfrm>
              <a:off x="3450003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69F550C-C509-1A4C-A120-92DC6309FFAF}"/>
                </a:ext>
              </a:extLst>
            </p:cNvPr>
            <p:cNvSpPr/>
            <p:nvPr/>
          </p:nvSpPr>
          <p:spPr>
            <a:xfrm>
              <a:off x="3450003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3DBEA2C-8CB1-1F45-A074-0A4BAC357977}"/>
                </a:ext>
              </a:extLst>
            </p:cNvPr>
            <p:cNvSpPr/>
            <p:nvPr/>
          </p:nvSpPr>
          <p:spPr>
            <a:xfrm>
              <a:off x="3449582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C88E3CB-638B-D042-A134-1A8C0E51A3D8}"/>
                </a:ext>
              </a:extLst>
            </p:cNvPr>
            <p:cNvSpPr/>
            <p:nvPr/>
          </p:nvSpPr>
          <p:spPr>
            <a:xfrm>
              <a:off x="4225640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8C86E56-73AA-8B47-8B60-840CE593D6B1}"/>
                </a:ext>
              </a:extLst>
            </p:cNvPr>
            <p:cNvSpPr/>
            <p:nvPr/>
          </p:nvSpPr>
          <p:spPr>
            <a:xfrm>
              <a:off x="4225639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64170D3-A4DA-9B4E-87C7-F9AD2C4FDDCC}"/>
                </a:ext>
              </a:extLst>
            </p:cNvPr>
            <p:cNvSpPr/>
            <p:nvPr/>
          </p:nvSpPr>
          <p:spPr>
            <a:xfrm>
              <a:off x="4225639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86CD9F3-2953-6945-A787-96752FD1CCED}"/>
                </a:ext>
              </a:extLst>
            </p:cNvPr>
            <p:cNvSpPr/>
            <p:nvPr/>
          </p:nvSpPr>
          <p:spPr>
            <a:xfrm>
              <a:off x="5053132" y="442691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B94DEA2-AA75-334C-8D87-785551076467}"/>
                </a:ext>
              </a:extLst>
            </p:cNvPr>
            <p:cNvCxnSpPr>
              <a:stCxn id="8" idx="6"/>
              <a:endCxn id="11" idx="2"/>
            </p:cNvCxnSpPr>
            <p:nvPr/>
          </p:nvCxnSpPr>
          <p:spPr>
            <a:xfrm flipV="1">
              <a:off x="3770778" y="4111453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5BD838B-4B3E-EB49-B82E-40AEA475F8CF}"/>
                </a:ext>
              </a:extLst>
            </p:cNvPr>
            <p:cNvCxnSpPr/>
            <p:nvPr/>
          </p:nvCxnSpPr>
          <p:spPr>
            <a:xfrm flipV="1">
              <a:off x="3770357" y="4610835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5829E74-97FC-654F-A0C4-6D1AB34266E6}"/>
                </a:ext>
              </a:extLst>
            </p:cNvPr>
            <p:cNvCxnSpPr/>
            <p:nvPr/>
          </p:nvCxnSpPr>
          <p:spPr>
            <a:xfrm flipV="1">
              <a:off x="3770357" y="5113932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700B218-80B5-854E-8A20-998CD205B811}"/>
                </a:ext>
              </a:extLst>
            </p:cNvPr>
            <p:cNvCxnSpPr>
              <a:endCxn id="12" idx="3"/>
            </p:cNvCxnSpPr>
            <p:nvPr/>
          </p:nvCxnSpPr>
          <p:spPr>
            <a:xfrm flipV="1">
              <a:off x="3770357" y="4724246"/>
              <a:ext cx="502259" cy="39726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68EE955-F979-804F-966C-3B09E74A511E}"/>
                </a:ext>
              </a:extLst>
            </p:cNvPr>
            <p:cNvCxnSpPr>
              <a:endCxn id="12" idx="1"/>
            </p:cNvCxnSpPr>
            <p:nvPr/>
          </p:nvCxnSpPr>
          <p:spPr>
            <a:xfrm>
              <a:off x="3774391" y="4116528"/>
              <a:ext cx="498224" cy="3808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FE34918-01CD-324E-ADC7-8C7618B9A137}"/>
                </a:ext>
              </a:extLst>
            </p:cNvPr>
            <p:cNvCxnSpPr>
              <a:endCxn id="13" idx="1"/>
            </p:cNvCxnSpPr>
            <p:nvPr/>
          </p:nvCxnSpPr>
          <p:spPr>
            <a:xfrm>
              <a:off x="3767607" y="4110446"/>
              <a:ext cx="505009" cy="8863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4B8F354-AC16-1B41-9E21-62A17EFD04B0}"/>
                </a:ext>
              </a:extLst>
            </p:cNvPr>
            <p:cNvCxnSpPr>
              <a:endCxn id="11" idx="3"/>
            </p:cNvCxnSpPr>
            <p:nvPr/>
          </p:nvCxnSpPr>
          <p:spPr>
            <a:xfrm flipV="1">
              <a:off x="3774391" y="4224864"/>
              <a:ext cx="498225" cy="88959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6E2A8B2-A78A-1441-9031-1BB71F2F5B69}"/>
                </a:ext>
              </a:extLst>
            </p:cNvPr>
            <p:cNvCxnSpPr/>
            <p:nvPr/>
          </p:nvCxnSpPr>
          <p:spPr>
            <a:xfrm flipV="1">
              <a:off x="3777141" y="4173806"/>
              <a:ext cx="454862" cy="43575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476527A-3E29-504A-A51F-FD3AADE09166}"/>
                </a:ext>
              </a:extLst>
            </p:cNvPr>
            <p:cNvCxnSpPr/>
            <p:nvPr/>
          </p:nvCxnSpPr>
          <p:spPr>
            <a:xfrm>
              <a:off x="3770356" y="4606842"/>
              <a:ext cx="465260" cy="43817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2D17DA8-ADE8-7A41-A4B3-2AA2404B596C}"/>
                </a:ext>
              </a:extLst>
            </p:cNvPr>
            <p:cNvCxnSpPr>
              <a:endCxn id="14" idx="1"/>
            </p:cNvCxnSpPr>
            <p:nvPr/>
          </p:nvCxnSpPr>
          <p:spPr>
            <a:xfrm>
              <a:off x="4553330" y="4116529"/>
              <a:ext cx="546778" cy="35735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76B3456-D16B-9744-880A-A88B8590C98D}"/>
                </a:ext>
              </a:extLst>
            </p:cNvPr>
            <p:cNvCxnSpPr>
              <a:endCxn id="14" idx="3"/>
            </p:cNvCxnSpPr>
            <p:nvPr/>
          </p:nvCxnSpPr>
          <p:spPr>
            <a:xfrm flipV="1">
              <a:off x="4549448" y="4700709"/>
              <a:ext cx="550661" cy="40974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DB8B276-D42C-044E-9EC6-6BC37B50A2B1}"/>
                </a:ext>
              </a:extLst>
            </p:cNvPr>
            <p:cNvCxnSpPr/>
            <p:nvPr/>
          </p:nvCxnSpPr>
          <p:spPr>
            <a:xfrm flipV="1">
              <a:off x="3221405" y="460823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D311785-D55B-0440-976E-05BB48D5AEE8}"/>
                </a:ext>
              </a:extLst>
            </p:cNvPr>
            <p:cNvCxnSpPr/>
            <p:nvPr/>
          </p:nvCxnSpPr>
          <p:spPr>
            <a:xfrm flipV="1">
              <a:off x="3228981" y="4098930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91F324A-7E04-2B47-B61E-BD806D6AB00B}"/>
                </a:ext>
              </a:extLst>
            </p:cNvPr>
            <p:cNvCxnSpPr/>
            <p:nvPr/>
          </p:nvCxnSpPr>
          <p:spPr>
            <a:xfrm flipV="1">
              <a:off x="3228981" y="512881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F90248C-A018-2542-967F-34DCDEFE8026}"/>
                </a:ext>
              </a:extLst>
            </p:cNvPr>
            <p:cNvCxnSpPr>
              <a:endCxn id="14" idx="2"/>
            </p:cNvCxnSpPr>
            <p:nvPr/>
          </p:nvCxnSpPr>
          <p:spPr>
            <a:xfrm flipV="1">
              <a:off x="4546414" y="4587298"/>
              <a:ext cx="50671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/>
          <p:cNvSpPr/>
          <p:nvPr/>
        </p:nvSpPr>
        <p:spPr>
          <a:xfrm>
            <a:off x="2935657" y="4779470"/>
            <a:ext cx="7264959" cy="126013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Rectangle 31"/>
          <p:cNvSpPr/>
          <p:nvPr/>
        </p:nvSpPr>
        <p:spPr>
          <a:xfrm>
            <a:off x="2935657" y="3526569"/>
            <a:ext cx="7264959" cy="126013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4" name="Picture 2" descr="Afbeeldingsresultaat voor cats and dog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2034" y="4288987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/>
          <p:cNvSpPr txBox="1"/>
          <p:nvPr/>
        </p:nvSpPr>
        <p:spPr>
          <a:xfrm>
            <a:off x="8482112" y="4048682"/>
            <a:ext cx="108151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l-NL" dirty="0"/>
              <a:t>Processor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2112" y="5301583"/>
            <a:ext cx="108151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l-NL" dirty="0"/>
              <a:t>Processor 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91F324A-7E04-2B47-B61E-BD806D6AB00B}"/>
              </a:ext>
            </a:extLst>
          </p:cNvPr>
          <p:cNvCxnSpPr/>
          <p:nvPr/>
        </p:nvCxnSpPr>
        <p:spPr>
          <a:xfrm flipV="1">
            <a:off x="2229777" y="4140586"/>
            <a:ext cx="691636" cy="14840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55290" y="3736207"/>
            <a:ext cx="2191147" cy="1842375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91F324A-7E04-2B47-B61E-BD806D6AB00B}"/>
              </a:ext>
            </a:extLst>
          </p:cNvPr>
          <p:cNvCxnSpPr/>
          <p:nvPr/>
        </p:nvCxnSpPr>
        <p:spPr>
          <a:xfrm>
            <a:off x="2229777" y="5052769"/>
            <a:ext cx="691636" cy="2488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2" descr="Afbeeldingsresultaat voor cats and dog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40273" y="3774558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Afbeeldingsresultaat voor cats and dog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40273" y="5048793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7CEB41A8-8A82-3090-8F7A-ED6A9B2BCCEF}"/>
              </a:ext>
            </a:extLst>
          </p:cNvPr>
          <p:cNvGrpSpPr/>
          <p:nvPr/>
        </p:nvGrpSpPr>
        <p:grpSpPr>
          <a:xfrm rot="5400000">
            <a:off x="5446491" y="1651970"/>
            <a:ext cx="2243289" cy="1375196"/>
            <a:chOff x="3221405" y="3951065"/>
            <a:chExt cx="2152502" cy="131954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23A330B-C0A6-4149-CB34-9030C66FE444}"/>
                </a:ext>
              </a:extLst>
            </p:cNvPr>
            <p:cNvSpPr/>
            <p:nvPr/>
          </p:nvSpPr>
          <p:spPr>
            <a:xfrm>
              <a:off x="3450003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F858D09-D3C8-9767-EC79-C6252972715C}"/>
                </a:ext>
              </a:extLst>
            </p:cNvPr>
            <p:cNvSpPr/>
            <p:nvPr/>
          </p:nvSpPr>
          <p:spPr>
            <a:xfrm>
              <a:off x="3450003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35CD79-4373-3B73-B31A-9AA541DF18EF}"/>
                </a:ext>
              </a:extLst>
            </p:cNvPr>
            <p:cNvSpPr/>
            <p:nvPr/>
          </p:nvSpPr>
          <p:spPr>
            <a:xfrm>
              <a:off x="3449582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3B7393F-64DF-8952-056F-C43795344400}"/>
                </a:ext>
              </a:extLst>
            </p:cNvPr>
            <p:cNvSpPr/>
            <p:nvPr/>
          </p:nvSpPr>
          <p:spPr>
            <a:xfrm>
              <a:off x="4225640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DB9B757-BDE3-C3B5-931F-0FDEB7DFF1C5}"/>
                </a:ext>
              </a:extLst>
            </p:cNvPr>
            <p:cNvSpPr/>
            <p:nvPr/>
          </p:nvSpPr>
          <p:spPr>
            <a:xfrm>
              <a:off x="4225639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448B495-4B8E-BB68-2ABC-9064CF464065}"/>
                </a:ext>
              </a:extLst>
            </p:cNvPr>
            <p:cNvSpPr/>
            <p:nvPr/>
          </p:nvSpPr>
          <p:spPr>
            <a:xfrm>
              <a:off x="4225639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19135FF-1BE1-783A-F3AE-A33285F88CB1}"/>
                </a:ext>
              </a:extLst>
            </p:cNvPr>
            <p:cNvSpPr/>
            <p:nvPr/>
          </p:nvSpPr>
          <p:spPr>
            <a:xfrm>
              <a:off x="5053132" y="442691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F5DFB624-62A3-0922-B9AD-E7A54537432B}"/>
                </a:ext>
              </a:extLst>
            </p:cNvPr>
            <p:cNvCxnSpPr>
              <a:stCxn id="46" idx="6"/>
              <a:endCxn id="49" idx="2"/>
            </p:cNvCxnSpPr>
            <p:nvPr/>
          </p:nvCxnSpPr>
          <p:spPr>
            <a:xfrm flipV="1">
              <a:off x="3770778" y="4111453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BF45E2C-10AE-6B0A-6DC9-4D2823FB8CCE}"/>
                </a:ext>
              </a:extLst>
            </p:cNvPr>
            <p:cNvCxnSpPr/>
            <p:nvPr/>
          </p:nvCxnSpPr>
          <p:spPr>
            <a:xfrm flipV="1">
              <a:off x="3770357" y="4610835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B1E7D06-3036-CD56-7625-4F8AC599A242}"/>
                </a:ext>
              </a:extLst>
            </p:cNvPr>
            <p:cNvCxnSpPr/>
            <p:nvPr/>
          </p:nvCxnSpPr>
          <p:spPr>
            <a:xfrm flipV="1">
              <a:off x="3770357" y="5113932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ED021204-DF69-D68B-531B-368AA7AA8BE6}"/>
                </a:ext>
              </a:extLst>
            </p:cNvPr>
            <p:cNvCxnSpPr>
              <a:endCxn id="50" idx="3"/>
            </p:cNvCxnSpPr>
            <p:nvPr/>
          </p:nvCxnSpPr>
          <p:spPr>
            <a:xfrm flipV="1">
              <a:off x="3770357" y="4724246"/>
              <a:ext cx="502259" cy="39726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CE990A5B-8FD8-DB5F-C8F9-CDA6ACA31A80}"/>
                </a:ext>
              </a:extLst>
            </p:cNvPr>
            <p:cNvCxnSpPr>
              <a:endCxn id="50" idx="1"/>
            </p:cNvCxnSpPr>
            <p:nvPr/>
          </p:nvCxnSpPr>
          <p:spPr>
            <a:xfrm>
              <a:off x="3774391" y="4116528"/>
              <a:ext cx="498224" cy="3808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BC2A9A7-9FF3-C905-33ED-7C73236C352E}"/>
                </a:ext>
              </a:extLst>
            </p:cNvPr>
            <p:cNvCxnSpPr>
              <a:endCxn id="51" idx="1"/>
            </p:cNvCxnSpPr>
            <p:nvPr/>
          </p:nvCxnSpPr>
          <p:spPr>
            <a:xfrm>
              <a:off x="3767607" y="4110446"/>
              <a:ext cx="505009" cy="8863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62BEF8D-FEC4-51C7-D2A1-911DE104A2D2}"/>
                </a:ext>
              </a:extLst>
            </p:cNvPr>
            <p:cNvCxnSpPr>
              <a:endCxn id="49" idx="3"/>
            </p:cNvCxnSpPr>
            <p:nvPr/>
          </p:nvCxnSpPr>
          <p:spPr>
            <a:xfrm flipV="1">
              <a:off x="3774391" y="4224864"/>
              <a:ext cx="498225" cy="88959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7144F11-2E40-2B38-0EE1-7A998E20B048}"/>
                </a:ext>
              </a:extLst>
            </p:cNvPr>
            <p:cNvCxnSpPr/>
            <p:nvPr/>
          </p:nvCxnSpPr>
          <p:spPr>
            <a:xfrm flipV="1">
              <a:off x="3777141" y="4173806"/>
              <a:ext cx="454862" cy="43575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EF7F550-5781-7AF9-9349-95D362A18B63}"/>
                </a:ext>
              </a:extLst>
            </p:cNvPr>
            <p:cNvCxnSpPr/>
            <p:nvPr/>
          </p:nvCxnSpPr>
          <p:spPr>
            <a:xfrm>
              <a:off x="3770356" y="4606842"/>
              <a:ext cx="465260" cy="43817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C3625766-2CB3-9400-DEDD-B2708D501385}"/>
                </a:ext>
              </a:extLst>
            </p:cNvPr>
            <p:cNvCxnSpPr>
              <a:endCxn id="52" idx="1"/>
            </p:cNvCxnSpPr>
            <p:nvPr/>
          </p:nvCxnSpPr>
          <p:spPr>
            <a:xfrm>
              <a:off x="4553330" y="4116529"/>
              <a:ext cx="546778" cy="35735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B1C6F30-0380-4262-CE13-F32BE0E8CB4C}"/>
                </a:ext>
              </a:extLst>
            </p:cNvPr>
            <p:cNvCxnSpPr>
              <a:endCxn id="52" idx="3"/>
            </p:cNvCxnSpPr>
            <p:nvPr/>
          </p:nvCxnSpPr>
          <p:spPr>
            <a:xfrm flipV="1">
              <a:off x="4549448" y="4700709"/>
              <a:ext cx="550661" cy="40974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69A015A-8C5C-4ACB-8736-F99DC53B21FE}"/>
                </a:ext>
              </a:extLst>
            </p:cNvPr>
            <p:cNvCxnSpPr/>
            <p:nvPr/>
          </p:nvCxnSpPr>
          <p:spPr>
            <a:xfrm flipV="1">
              <a:off x="3221405" y="460823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FA27188E-842F-4070-DC10-ECD7083AFA4C}"/>
                </a:ext>
              </a:extLst>
            </p:cNvPr>
            <p:cNvCxnSpPr/>
            <p:nvPr/>
          </p:nvCxnSpPr>
          <p:spPr>
            <a:xfrm flipV="1">
              <a:off x="3228981" y="4098930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9BC8E90A-C498-DC19-BD01-37858BCD086F}"/>
                </a:ext>
              </a:extLst>
            </p:cNvPr>
            <p:cNvCxnSpPr/>
            <p:nvPr/>
          </p:nvCxnSpPr>
          <p:spPr>
            <a:xfrm flipV="1">
              <a:off x="3228981" y="512881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65AAEF15-31E4-940F-5E01-84ABF24C864F}"/>
                </a:ext>
              </a:extLst>
            </p:cNvPr>
            <p:cNvCxnSpPr>
              <a:endCxn id="52" idx="2"/>
            </p:cNvCxnSpPr>
            <p:nvPr/>
          </p:nvCxnSpPr>
          <p:spPr>
            <a:xfrm flipV="1">
              <a:off x="4546414" y="4587298"/>
              <a:ext cx="50671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7DD80DF3-ABD8-EB81-8627-FC7502E91B33}"/>
              </a:ext>
            </a:extLst>
          </p:cNvPr>
          <p:cNvSpPr/>
          <p:nvPr/>
        </p:nvSpPr>
        <p:spPr>
          <a:xfrm>
            <a:off x="2935657" y="2273411"/>
            <a:ext cx="7264959" cy="126013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FA3ADF7-38F9-FBC8-1B22-1628C986559D}"/>
              </a:ext>
            </a:extLst>
          </p:cNvPr>
          <p:cNvSpPr/>
          <p:nvPr/>
        </p:nvSpPr>
        <p:spPr>
          <a:xfrm>
            <a:off x="2935657" y="1020510"/>
            <a:ext cx="7264959" cy="126013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0" name="Picture 4" descr="Afbeeldingsresultaat voor cats and dogs">
            <a:extLst>
              <a:ext uri="{FF2B5EF4-FFF2-40B4-BE49-F238E27FC236}">
                <a16:creationId xmlns:a16="http://schemas.microsoft.com/office/drawing/2014/main" id="{D6B7E459-D476-A687-FA92-73352423E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4757" y="1592275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E22A29E2-01EB-C20C-A305-B9B05528C3EF}"/>
              </a:ext>
            </a:extLst>
          </p:cNvPr>
          <p:cNvSpPr txBox="1"/>
          <p:nvPr/>
        </p:nvSpPr>
        <p:spPr>
          <a:xfrm>
            <a:off x="8482112" y="1542623"/>
            <a:ext cx="108151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l-NL" dirty="0"/>
              <a:t>Processor 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8E2B783-9E3D-AA9E-0C1C-224EB5908CF2}"/>
              </a:ext>
            </a:extLst>
          </p:cNvPr>
          <p:cNvSpPr txBox="1"/>
          <p:nvPr/>
        </p:nvSpPr>
        <p:spPr>
          <a:xfrm>
            <a:off x="8482112" y="2795524"/>
            <a:ext cx="108151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l-NL" dirty="0"/>
              <a:t>Processor 2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42423EF-5769-1A4F-7F44-D8C069140C69}"/>
              </a:ext>
            </a:extLst>
          </p:cNvPr>
          <p:cNvCxnSpPr/>
          <p:nvPr/>
        </p:nvCxnSpPr>
        <p:spPr>
          <a:xfrm flipV="1">
            <a:off x="2229777" y="1634527"/>
            <a:ext cx="691636" cy="14840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FADE8B79-9502-4611-950F-46CEEFD17215}"/>
              </a:ext>
            </a:extLst>
          </p:cNvPr>
          <p:cNvSpPr/>
          <p:nvPr/>
        </p:nvSpPr>
        <p:spPr>
          <a:xfrm>
            <a:off x="155290" y="1230148"/>
            <a:ext cx="2191147" cy="1842375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B816EE0-850F-B30B-1EBB-AB96EEC25F96}"/>
              </a:ext>
            </a:extLst>
          </p:cNvPr>
          <p:cNvCxnSpPr/>
          <p:nvPr/>
        </p:nvCxnSpPr>
        <p:spPr>
          <a:xfrm>
            <a:off x="2229777" y="2546710"/>
            <a:ext cx="691636" cy="2488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Picture 4" descr="Afbeeldingsresultaat voor cats and dogs">
            <a:extLst>
              <a:ext uri="{FF2B5EF4-FFF2-40B4-BE49-F238E27FC236}">
                <a16:creationId xmlns:a16="http://schemas.microsoft.com/office/drawing/2014/main" id="{D105B7FD-C88B-BD8D-9631-FF9CE6159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16388" y="1117571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4" descr="Afbeeldingsresultaat voor cats and dogs">
            <a:extLst>
              <a:ext uri="{FF2B5EF4-FFF2-40B4-BE49-F238E27FC236}">
                <a16:creationId xmlns:a16="http://schemas.microsoft.com/office/drawing/2014/main" id="{AD4D34BD-C6DA-374F-766D-AE9F238CD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96317" y="2354232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14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6A7BD-898A-79BD-D42B-953B98570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BF0FD-E609-FFDB-BEB7-D04AD3163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3D </a:t>
            </a:r>
            <a:r>
              <a:rPr lang="nl-NL" dirty="0" err="1"/>
              <a:t>Parallelism</a:t>
            </a: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7CA27-2C2E-267C-DD6D-249C495B1B7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C573C-FD64-D618-01F9-AE254355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63</a:t>
            </a:fld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C3814-5E9F-B89D-2040-F84596569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8" y="1145098"/>
            <a:ext cx="7619824" cy="580434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Combined Data Parallel, Pipeline Parallel, Tensor Parallel</a:t>
            </a:r>
          </a:p>
          <a:p>
            <a:pPr marL="809625" indent="-254000">
              <a:buFont typeface="Arial" panose="020B0604020202020204" pitchFamily="34" charset="0"/>
              <a:buChar char="•"/>
            </a:pPr>
            <a:r>
              <a:rPr lang="en-US" dirty="0"/>
              <a:t>4D: including Sequence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3D grid of devices</a:t>
            </a:r>
          </a:p>
          <a:p>
            <a:pPr marL="630238" indent="-265113">
              <a:buFont typeface="Arial" panose="020B0604020202020204" pitchFamily="34" charset="0"/>
              <a:buChar char="•"/>
            </a:pPr>
            <a:r>
              <a:rPr lang="en-US" dirty="0"/>
              <a:t>Each dimension deals with its own parallelization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Physical location of GPUs with respect to each other matters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example:</a:t>
            </a:r>
          </a:p>
          <a:p>
            <a:pPr marL="635000" indent="-304800">
              <a:buFont typeface="Arial" panose="020B0604020202020204" pitchFamily="34" charset="0"/>
              <a:buChar char="•"/>
            </a:pPr>
            <a:r>
              <a:rPr lang="en-US" dirty="0"/>
              <a:t>Tensor parallel between GPUs in node</a:t>
            </a:r>
          </a:p>
          <a:p>
            <a:pPr marL="635000" indent="-304800">
              <a:buFont typeface="Arial" panose="020B0604020202020204" pitchFamily="34" charset="0"/>
              <a:buChar char="•"/>
            </a:pPr>
            <a:r>
              <a:rPr lang="en-US" dirty="0"/>
              <a:t>Pipeline parallel between nodes</a:t>
            </a:r>
          </a:p>
          <a:p>
            <a:pPr marL="635000" indent="-304800">
              <a:buFont typeface="Arial" panose="020B0604020202020204" pitchFamily="34" charset="0"/>
              <a:buChar char="•"/>
            </a:pPr>
            <a:r>
              <a:rPr lang="en-US" dirty="0"/>
              <a:t>Data parallel between racks</a:t>
            </a:r>
          </a:p>
          <a:p>
            <a:pPr marL="11113" indent="319088">
              <a:buFont typeface="Arial" panose="020B0604020202020204" pitchFamily="34" charset="0"/>
              <a:buChar char="•"/>
              <a:tabLst>
                <a:tab pos="277813" algn="l"/>
              </a:tabLst>
            </a:pPr>
            <a:endParaRPr lang="en-US" dirty="0"/>
          </a:p>
          <a:p>
            <a:pPr marL="635000" indent="-304800">
              <a:buFont typeface="Arial" panose="020B0604020202020204" pitchFamily="34" charset="0"/>
              <a:buChar char="•"/>
            </a:pPr>
            <a:endParaRPr lang="en-US" dirty="0"/>
          </a:p>
          <a:p>
            <a:pPr marL="635000" indent="-304800">
              <a:buFont typeface="Arial" panose="020B0604020202020204" pitchFamily="34" charset="0"/>
              <a:buChar char="•"/>
            </a:pPr>
            <a:endParaRPr lang="en-US" dirty="0"/>
          </a:p>
          <a:p>
            <a:pPr marL="330200" indent="0">
              <a:buNone/>
            </a:pPr>
            <a:endParaRPr lang="en-US" dirty="0"/>
          </a:p>
          <a:p>
            <a:pPr marL="635000" indent="-304800">
              <a:buFont typeface="Arial" panose="020B0604020202020204" pitchFamily="34" charset="0"/>
              <a:buChar char="•"/>
            </a:pPr>
            <a:endParaRPr lang="en-US" dirty="0"/>
          </a:p>
          <a:p>
            <a:pPr marL="630238" indent="-265113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6" name="Picture 2" descr="Colorful blocks showing  Mapping of workers in Figure 1 to GPUs on a system with eight nodes, each with four GPUs. Coloring denotes GPUs on the same node.">
            <a:extLst>
              <a:ext uri="{FF2B5EF4-FFF2-40B4-BE49-F238E27FC236}">
                <a16:creationId xmlns:a16="http://schemas.microsoft.com/office/drawing/2014/main" id="{D6490F2D-917C-3547-40C4-74913EFDA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885" y="2820712"/>
            <a:ext cx="5301762" cy="3062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50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7E44-1EB1-2940-21F6-A67E98B59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D2C8-2781-7918-F423-4923F9FC2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7B0141-BE37-AB1E-19C7-EE5FB1402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29" y="0"/>
            <a:ext cx="11394141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71F8794-8929-3E08-02BB-9B9E1F2DF6E0}"/>
                  </a:ext>
                </a:extLst>
              </p14:cNvPr>
              <p14:cNvContentPartPr/>
              <p14:nvPr/>
            </p14:nvContentPartPr>
            <p14:xfrm>
              <a:off x="1311934" y="667659"/>
              <a:ext cx="118440" cy="9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71F8794-8929-3E08-02BB-9B9E1F2DF6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05814" y="661539"/>
                <a:ext cx="13068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FD7E098-E125-E45E-3407-391DA3CBE1CC}"/>
                  </a:ext>
                </a:extLst>
              </p14:cNvPr>
              <p14:cNvContentPartPr/>
              <p14:nvPr/>
            </p14:nvContentPartPr>
            <p14:xfrm>
              <a:off x="1884334" y="642819"/>
              <a:ext cx="246240" cy="9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FD7E098-E125-E45E-3407-391DA3CBE1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78214" y="636699"/>
                <a:ext cx="25848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597CDDBB-90E9-A8D4-36C0-B8AA291B4E2A}"/>
              </a:ext>
            </a:extLst>
          </p:cNvPr>
          <p:cNvGrpSpPr/>
          <p:nvPr/>
        </p:nvGrpSpPr>
        <p:grpSpPr>
          <a:xfrm>
            <a:off x="2703334" y="603939"/>
            <a:ext cx="3840840" cy="64080"/>
            <a:chOff x="2703334" y="603939"/>
            <a:chExt cx="3840840" cy="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45F44F5-4D51-18C5-DB7C-774B8FF94B34}"/>
                    </a:ext>
                  </a:extLst>
                </p14:cNvPr>
                <p14:cNvContentPartPr/>
                <p14:nvPr/>
              </p14:nvContentPartPr>
              <p14:xfrm>
                <a:off x="2703334" y="651819"/>
                <a:ext cx="1440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45F44F5-4D51-18C5-DB7C-774B8FF94B3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97214" y="645699"/>
                  <a:ext cx="26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970A6F0-8D67-A326-27BA-9C54CB22087F}"/>
                    </a:ext>
                  </a:extLst>
                </p14:cNvPr>
                <p14:cNvContentPartPr/>
                <p14:nvPr/>
              </p14:nvContentPartPr>
              <p14:xfrm>
                <a:off x="2957494" y="659379"/>
                <a:ext cx="365760" cy="8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970A6F0-8D67-A326-27BA-9C54CB22087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51374" y="653259"/>
                  <a:ext cx="37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04E6FDF-7C48-CF66-1E00-075C8BAFFB91}"/>
                    </a:ext>
                  </a:extLst>
                </p14:cNvPr>
                <p14:cNvContentPartPr/>
                <p14:nvPr/>
              </p14:nvContentPartPr>
              <p14:xfrm>
                <a:off x="3601894" y="651099"/>
                <a:ext cx="317520" cy="9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04E6FDF-7C48-CF66-1E00-075C8BAFFB9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95774" y="644979"/>
                  <a:ext cx="3297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693A69D-4DFF-9E22-E0DD-40330B5EFB83}"/>
                    </a:ext>
                  </a:extLst>
                </p14:cNvPr>
                <p14:cNvContentPartPr/>
                <p14:nvPr/>
              </p14:nvContentPartPr>
              <p14:xfrm>
                <a:off x="4214254" y="651819"/>
                <a:ext cx="2937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693A69D-4DFF-9E22-E0DD-40330B5EFB8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08134" y="645699"/>
                  <a:ext cx="306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6811E98-1AEA-43A2-EE18-425E506F20F6}"/>
                    </a:ext>
                  </a:extLst>
                </p14:cNvPr>
                <p14:cNvContentPartPr/>
                <p14:nvPr/>
              </p14:nvContentPartPr>
              <p14:xfrm>
                <a:off x="4786654" y="651819"/>
                <a:ext cx="3729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6811E98-1AEA-43A2-EE18-425E506F20F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780534" y="645699"/>
                  <a:ext cx="385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B90BF3A-E83B-F380-2CA8-2CF3DAA10D5E}"/>
                    </a:ext>
                  </a:extLst>
                </p14:cNvPr>
                <p14:cNvContentPartPr/>
                <p14:nvPr/>
              </p14:nvContentPartPr>
              <p14:xfrm>
                <a:off x="5541934" y="635979"/>
                <a:ext cx="40104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B90BF3A-E83B-F380-2CA8-2CF3DAA10D5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5814" y="629859"/>
                  <a:ext cx="413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759DEEB-4FED-F879-F1E7-20EFC51841A1}"/>
                    </a:ext>
                  </a:extLst>
                </p14:cNvPr>
                <p14:cNvContentPartPr/>
                <p14:nvPr/>
              </p14:nvContentPartPr>
              <p14:xfrm>
                <a:off x="6257614" y="603939"/>
                <a:ext cx="286560" cy="24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759DEEB-4FED-F879-F1E7-20EFC51841A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251494" y="597819"/>
                  <a:ext cx="29880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9951CC0-AB9C-6C45-6EC7-FE3FA1021A69}"/>
              </a:ext>
            </a:extLst>
          </p:cNvPr>
          <p:cNvGrpSpPr/>
          <p:nvPr/>
        </p:nvGrpSpPr>
        <p:grpSpPr>
          <a:xfrm>
            <a:off x="7124494" y="588099"/>
            <a:ext cx="1056600" cy="50040"/>
            <a:chOff x="7124494" y="588099"/>
            <a:chExt cx="1056600" cy="5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ACBC639-DCC4-31DD-ECB1-E87BDD501BD2}"/>
                    </a:ext>
                  </a:extLst>
                </p14:cNvPr>
                <p14:cNvContentPartPr/>
                <p14:nvPr/>
              </p14:nvContentPartPr>
              <p14:xfrm>
                <a:off x="7124494" y="588099"/>
                <a:ext cx="540000" cy="16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ACBC639-DCC4-31DD-ECB1-E87BDD501BD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18374" y="581979"/>
                  <a:ext cx="5522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A2B5A09-6A6A-88DE-3216-C6ACF63B7C68}"/>
                    </a:ext>
                  </a:extLst>
                </p14:cNvPr>
                <p14:cNvContentPartPr/>
                <p14:nvPr/>
              </p14:nvContentPartPr>
              <p14:xfrm>
                <a:off x="7855654" y="628059"/>
                <a:ext cx="325440" cy="10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A2B5A09-6A6A-88DE-3216-C6ACF63B7C6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849534" y="621939"/>
                  <a:ext cx="33768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CCBBC31-56F3-B32E-1E82-B6F0E6C271EF}"/>
              </a:ext>
            </a:extLst>
          </p:cNvPr>
          <p:cNvGrpSpPr/>
          <p:nvPr/>
        </p:nvGrpSpPr>
        <p:grpSpPr>
          <a:xfrm>
            <a:off x="8825854" y="604299"/>
            <a:ext cx="1075680" cy="32040"/>
            <a:chOff x="8825854" y="604299"/>
            <a:chExt cx="1075680" cy="3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4F9AC04-A4DB-79F6-F69D-B190019EF67E}"/>
                    </a:ext>
                  </a:extLst>
                </p14:cNvPr>
                <p14:cNvContentPartPr/>
                <p14:nvPr/>
              </p14:nvContentPartPr>
              <p14:xfrm>
                <a:off x="8825854" y="635979"/>
                <a:ext cx="3729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4F9AC04-A4DB-79F6-F69D-B190019EF67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819734" y="629859"/>
                  <a:ext cx="385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FC5C484-D8CF-8C93-279B-A2211709CB42}"/>
                    </a:ext>
                  </a:extLst>
                </p14:cNvPr>
                <p14:cNvContentPartPr/>
                <p14:nvPr/>
              </p14:nvContentPartPr>
              <p14:xfrm>
                <a:off x="9429934" y="604299"/>
                <a:ext cx="47160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FC5C484-D8CF-8C93-279B-A2211709CB4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423814" y="598179"/>
                  <a:ext cx="48384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21C0B7-E69A-1742-3AB9-A7B5FA68EC81}"/>
              </a:ext>
            </a:extLst>
          </p:cNvPr>
          <p:cNvGrpSpPr/>
          <p:nvPr/>
        </p:nvGrpSpPr>
        <p:grpSpPr>
          <a:xfrm>
            <a:off x="10352614" y="572259"/>
            <a:ext cx="478800" cy="32040"/>
            <a:chOff x="10352614" y="572259"/>
            <a:chExt cx="478800" cy="3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4C746BD-8281-EC07-C082-1B3FC4F2233C}"/>
                    </a:ext>
                  </a:extLst>
                </p14:cNvPr>
                <p14:cNvContentPartPr/>
                <p14:nvPr/>
              </p14:nvContentPartPr>
              <p14:xfrm>
                <a:off x="10352614" y="590979"/>
                <a:ext cx="201240" cy="13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4C746BD-8281-EC07-C082-1B3FC4F2233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346494" y="584859"/>
                  <a:ext cx="2134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9542A5D-2404-0A4F-D1AC-C271E0CA8BD0}"/>
                    </a:ext>
                  </a:extLst>
                </p14:cNvPr>
                <p14:cNvContentPartPr/>
                <p14:nvPr/>
              </p14:nvContentPartPr>
              <p14:xfrm>
                <a:off x="10829614" y="572259"/>
                <a:ext cx="180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9542A5D-2404-0A4F-D1AC-C271E0CA8BD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823494" y="566139"/>
                  <a:ext cx="1404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6D3C8C0-7458-7595-4C59-336E74E824B0}"/>
                  </a:ext>
                </a:extLst>
              </p14:cNvPr>
              <p14:cNvContentPartPr/>
              <p14:nvPr/>
            </p14:nvContentPartPr>
            <p14:xfrm>
              <a:off x="158854" y="6154059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6D3C8C0-7458-7595-4C59-336E74E824B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52734" y="614793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AE0FA10-9939-E73E-3AB4-9B9EF67A9F11}"/>
                  </a:ext>
                </a:extLst>
              </p14:cNvPr>
              <p14:cNvContentPartPr/>
              <p14:nvPr/>
            </p14:nvContentPartPr>
            <p14:xfrm>
              <a:off x="238414" y="5957859"/>
              <a:ext cx="65880" cy="1011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AE0FA10-9939-E73E-3AB4-9B9EF67A9F1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32294" y="5951739"/>
                <a:ext cx="78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D4B6712-4534-91E0-E1DD-0A88248570E8}"/>
                  </a:ext>
                </a:extLst>
              </p14:cNvPr>
              <p14:cNvContentPartPr/>
              <p14:nvPr/>
            </p14:nvContentPartPr>
            <p14:xfrm>
              <a:off x="516694" y="5598939"/>
              <a:ext cx="218880" cy="142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D4B6712-4534-91E0-E1DD-0A88248570E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10574" y="5592819"/>
                <a:ext cx="2311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357116C-70CC-9639-F8DF-CFFF3FF8F462}"/>
                  </a:ext>
                </a:extLst>
              </p14:cNvPr>
              <p14:cNvContentPartPr/>
              <p14:nvPr/>
            </p14:nvContentPartPr>
            <p14:xfrm>
              <a:off x="882454" y="5160819"/>
              <a:ext cx="288360" cy="254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357116C-70CC-9639-F8DF-CFFF3FF8F46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76334" y="5154699"/>
                <a:ext cx="30060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AC2389B-82EA-E931-B9A2-4D6D44C35C89}"/>
                  </a:ext>
                </a:extLst>
              </p14:cNvPr>
              <p14:cNvContentPartPr/>
              <p14:nvPr/>
            </p14:nvContentPartPr>
            <p14:xfrm>
              <a:off x="1486894" y="4786779"/>
              <a:ext cx="398160" cy="199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AC2389B-82EA-E931-B9A2-4D6D44C35C8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480774" y="4780659"/>
                <a:ext cx="41040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6C0F656-F4AD-24D0-E06F-D159F4DA02A9}"/>
                  </a:ext>
                </a:extLst>
              </p14:cNvPr>
              <p14:cNvContentPartPr/>
              <p14:nvPr/>
            </p14:nvContentPartPr>
            <p14:xfrm>
              <a:off x="2138494" y="4468179"/>
              <a:ext cx="253440" cy="1040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6C0F656-F4AD-24D0-E06F-D159F4DA02A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132374" y="4462059"/>
                <a:ext cx="2656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1D58849-9CCB-1F86-8526-28ABACB20288}"/>
                  </a:ext>
                </a:extLst>
              </p14:cNvPr>
              <p14:cNvContentPartPr/>
              <p14:nvPr/>
            </p14:nvContentPartPr>
            <p14:xfrm>
              <a:off x="2695414" y="3939339"/>
              <a:ext cx="369000" cy="2592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1D58849-9CCB-1F86-8526-28ABACB2028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689294" y="3933219"/>
                <a:ext cx="38124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A4B0368-AEDD-2A03-1332-8FB924ECAA7C}"/>
                  </a:ext>
                </a:extLst>
              </p14:cNvPr>
              <p14:cNvContentPartPr/>
              <p14:nvPr/>
            </p14:nvContentPartPr>
            <p14:xfrm>
              <a:off x="3458614" y="3636939"/>
              <a:ext cx="381600" cy="1717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A4B0368-AEDD-2A03-1332-8FB924ECAA7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452494" y="3630819"/>
                <a:ext cx="39384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042A2D7-9C1B-D418-C0A8-BE21F30C95FB}"/>
                  </a:ext>
                </a:extLst>
              </p14:cNvPr>
              <p14:cNvContentPartPr/>
              <p14:nvPr/>
            </p14:nvContentPartPr>
            <p14:xfrm>
              <a:off x="4198054" y="3207819"/>
              <a:ext cx="322560" cy="211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042A2D7-9C1B-D418-C0A8-BE21F30C95F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191934" y="3201699"/>
                <a:ext cx="3348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159CA99-448D-B030-9E4E-1BF3F859FE14}"/>
                  </a:ext>
                </a:extLst>
              </p14:cNvPr>
              <p14:cNvContentPartPr/>
              <p14:nvPr/>
            </p14:nvContentPartPr>
            <p14:xfrm>
              <a:off x="4770814" y="2923419"/>
              <a:ext cx="412560" cy="1620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159CA99-448D-B030-9E4E-1BF3F859FE1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764694" y="2917299"/>
                <a:ext cx="42480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11087FB-E44E-F95D-688C-1B58FDB4F1D6}"/>
                  </a:ext>
                </a:extLst>
              </p14:cNvPr>
              <p14:cNvContentPartPr/>
              <p14:nvPr/>
            </p14:nvContentPartPr>
            <p14:xfrm>
              <a:off x="5557774" y="2681139"/>
              <a:ext cx="259560" cy="781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11087FB-E44E-F95D-688C-1B58FDB4F1D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551654" y="2675019"/>
                <a:ext cx="27180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13BAE07-F2CB-9202-E563-A585824CD0BC}"/>
                  </a:ext>
                </a:extLst>
              </p14:cNvPr>
              <p14:cNvContentPartPr/>
              <p14:nvPr/>
            </p14:nvContentPartPr>
            <p14:xfrm>
              <a:off x="6209734" y="2483499"/>
              <a:ext cx="300960" cy="774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13BAE07-F2CB-9202-E563-A585824CD0B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203614" y="2477379"/>
                <a:ext cx="31320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73931C3-F20B-7C4E-7BC8-24A65BB84ABA}"/>
                  </a:ext>
                </a:extLst>
              </p14:cNvPr>
              <p14:cNvContentPartPr/>
              <p14:nvPr/>
            </p14:nvContentPartPr>
            <p14:xfrm>
              <a:off x="6917494" y="2268939"/>
              <a:ext cx="357480" cy="84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73931C3-F20B-7C4E-7BC8-24A65BB84AB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911374" y="2262819"/>
                <a:ext cx="36972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0BB2F5A-F2B9-EA0E-AD19-A0493EF68AF6}"/>
                  </a:ext>
                </a:extLst>
              </p14:cNvPr>
              <p14:cNvContentPartPr/>
              <p14:nvPr/>
            </p14:nvContentPartPr>
            <p14:xfrm>
              <a:off x="7704814" y="2046819"/>
              <a:ext cx="540000" cy="1321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0BB2F5A-F2B9-EA0E-AD19-A0493EF68AF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698694" y="2040699"/>
                <a:ext cx="5522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2B3D02A-B833-323B-D4BD-AD70A1259C44}"/>
                  </a:ext>
                </a:extLst>
              </p14:cNvPr>
              <p14:cNvContentPartPr/>
              <p14:nvPr/>
            </p14:nvContentPartPr>
            <p14:xfrm>
              <a:off x="8881654" y="1759899"/>
              <a:ext cx="439920" cy="849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2B3D02A-B833-323B-D4BD-AD70A1259C4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875534" y="1753779"/>
                <a:ext cx="45216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79798B4-5817-7BD7-8B49-F06F0214581A}"/>
                  </a:ext>
                </a:extLst>
              </p14:cNvPr>
              <p14:cNvContentPartPr/>
              <p14:nvPr/>
            </p14:nvContentPartPr>
            <p14:xfrm>
              <a:off x="9867334" y="1494219"/>
              <a:ext cx="277920" cy="56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79798B4-5817-7BD7-8B49-F06F0214581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861214" y="1488099"/>
                <a:ext cx="29016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B1F7A7F-B28F-1FEC-C73B-A4AF5437AB39}"/>
                  </a:ext>
                </a:extLst>
              </p14:cNvPr>
              <p14:cNvContentPartPr/>
              <p14:nvPr/>
            </p14:nvContentPartPr>
            <p14:xfrm>
              <a:off x="10615054" y="1422939"/>
              <a:ext cx="253800" cy="486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B1F7A7F-B28F-1FEC-C73B-A4AF5437AB3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608934" y="1416819"/>
                <a:ext cx="266040" cy="6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2BEFE367-32F3-6D46-B4A5-EB02586CDE96}"/>
              </a:ext>
            </a:extLst>
          </p:cNvPr>
          <p:cNvGrpSpPr/>
          <p:nvPr/>
        </p:nvGrpSpPr>
        <p:grpSpPr>
          <a:xfrm>
            <a:off x="11354134" y="1168419"/>
            <a:ext cx="700200" cy="135720"/>
            <a:chOff x="11354134" y="1168419"/>
            <a:chExt cx="700200" cy="13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17545D9-936B-1E35-6D87-F5AC81BD792E}"/>
                    </a:ext>
                  </a:extLst>
                </p14:cNvPr>
                <p14:cNvContentPartPr/>
                <p14:nvPr/>
              </p14:nvContentPartPr>
              <p14:xfrm>
                <a:off x="11354134" y="1259859"/>
                <a:ext cx="307080" cy="44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17545D9-936B-1E35-6D87-F5AC81BD792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48014" y="1253739"/>
                  <a:ext cx="3193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8EECDCA-6998-A30A-DE8B-FDB5C10DE5D3}"/>
                    </a:ext>
                  </a:extLst>
                </p14:cNvPr>
                <p14:cNvContentPartPr/>
                <p14:nvPr/>
              </p14:nvContentPartPr>
              <p14:xfrm>
                <a:off x="11839054" y="1178139"/>
                <a:ext cx="152280" cy="38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8EECDCA-6998-A30A-DE8B-FDB5C10DE5D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832934" y="1172019"/>
                  <a:ext cx="1645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00DECFC-3353-7588-50F6-E53F8A87249F}"/>
                    </a:ext>
                  </a:extLst>
                </p14:cNvPr>
                <p14:cNvContentPartPr/>
                <p14:nvPr/>
              </p14:nvContentPartPr>
              <p14:xfrm>
                <a:off x="12053974" y="1168419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00DECFC-3353-7588-50F6-E53F8A87249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047854" y="116229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30E41FF-987E-D84D-9BF8-2A51CC1FE2F9}"/>
              </a:ext>
            </a:extLst>
          </p:cNvPr>
          <p:cNvGrpSpPr/>
          <p:nvPr/>
        </p:nvGrpSpPr>
        <p:grpSpPr>
          <a:xfrm>
            <a:off x="10932934" y="532659"/>
            <a:ext cx="1231920" cy="72000"/>
            <a:chOff x="10932934" y="532659"/>
            <a:chExt cx="1231920" cy="7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1C95CEA-0802-6950-201E-41D78C509BE1}"/>
                    </a:ext>
                  </a:extLst>
                </p14:cNvPr>
                <p14:cNvContentPartPr/>
                <p14:nvPr/>
              </p14:nvContentPartPr>
              <p14:xfrm>
                <a:off x="10932934" y="563979"/>
                <a:ext cx="500760" cy="24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1C95CEA-0802-6950-201E-41D78C509BE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926814" y="557859"/>
                  <a:ext cx="513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A1F92F0-D526-7862-06FD-9BEBE818374D}"/>
                    </a:ext>
                  </a:extLst>
                </p14:cNvPr>
                <p14:cNvContentPartPr/>
                <p14:nvPr/>
              </p14:nvContentPartPr>
              <p14:xfrm>
                <a:off x="11719894" y="548139"/>
                <a:ext cx="254160" cy="56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A1F92F0-D526-7862-06FD-9BEBE818374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713774" y="542019"/>
                  <a:ext cx="2664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E7C3C91-93F6-F29F-AB19-3D2E51AAB107}"/>
                    </a:ext>
                  </a:extLst>
                </p14:cNvPr>
                <p14:cNvContentPartPr/>
                <p14:nvPr/>
              </p14:nvContentPartPr>
              <p14:xfrm>
                <a:off x="12086014" y="532659"/>
                <a:ext cx="7884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E7C3C91-93F6-F29F-AB19-3D2E51AAB10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2079894" y="526539"/>
                  <a:ext cx="9108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9C6451D-D3A6-17F3-C0EE-13195118D632}"/>
              </a:ext>
            </a:extLst>
          </p:cNvPr>
          <p:cNvGrpSpPr/>
          <p:nvPr/>
        </p:nvGrpSpPr>
        <p:grpSpPr>
          <a:xfrm rot="19839277">
            <a:off x="6486566" y="6596380"/>
            <a:ext cx="386640" cy="253080"/>
            <a:chOff x="6758014" y="770979"/>
            <a:chExt cx="38664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DADD525-290C-1238-FF2D-90CB856FD3AF}"/>
                    </a:ext>
                  </a:extLst>
                </p14:cNvPr>
                <p14:cNvContentPartPr/>
                <p14:nvPr/>
              </p14:nvContentPartPr>
              <p14:xfrm>
                <a:off x="6822094" y="786819"/>
                <a:ext cx="322560" cy="237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DADD525-290C-1238-FF2D-90CB856FD3A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15974" y="780699"/>
                  <a:ext cx="3348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F725BF6-82AD-1DC8-89D7-FDA52B3C2125}"/>
                    </a:ext>
                  </a:extLst>
                </p14:cNvPr>
                <p14:cNvContentPartPr/>
                <p14:nvPr/>
              </p14:nvContentPartPr>
              <p14:xfrm>
                <a:off x="6758014" y="779259"/>
                <a:ext cx="25200" cy="158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F725BF6-82AD-1DC8-89D7-FDA52B3C212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751894" y="773139"/>
                  <a:ext cx="374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9192F2F-6BD8-251F-9EBB-9CE61690B802}"/>
                    </a:ext>
                  </a:extLst>
                </p14:cNvPr>
                <p14:cNvContentPartPr/>
                <p14:nvPr/>
              </p14:nvContentPartPr>
              <p14:xfrm>
                <a:off x="6814174" y="770979"/>
                <a:ext cx="118800" cy="48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9192F2F-6BD8-251F-9EBB-9CE61690B80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808054" y="764859"/>
                  <a:ext cx="13104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91C5716-B42D-DA50-DBE5-18EF2E1CE8DC}"/>
              </a:ext>
            </a:extLst>
          </p:cNvPr>
          <p:cNvGrpSpPr/>
          <p:nvPr/>
        </p:nvGrpSpPr>
        <p:grpSpPr>
          <a:xfrm>
            <a:off x="6923614" y="2520219"/>
            <a:ext cx="558000" cy="588600"/>
            <a:chOff x="6923614" y="2520219"/>
            <a:chExt cx="558000" cy="58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E4C6B95-6BE5-7085-1451-AB375E0E9B68}"/>
                    </a:ext>
                  </a:extLst>
                </p14:cNvPr>
                <p14:cNvContentPartPr/>
                <p14:nvPr/>
              </p14:nvContentPartPr>
              <p14:xfrm>
                <a:off x="6923614" y="2560179"/>
                <a:ext cx="75960" cy="244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E4C6B95-6BE5-7085-1451-AB375E0E9B6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917494" y="2554059"/>
                  <a:ext cx="882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8C5FCA7-A89E-5D60-C902-775695A420BE}"/>
                    </a:ext>
                  </a:extLst>
                </p14:cNvPr>
                <p14:cNvContentPartPr/>
                <p14:nvPr/>
              </p14:nvContentPartPr>
              <p14:xfrm>
                <a:off x="7004974" y="2520219"/>
                <a:ext cx="277920" cy="128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8C5FCA7-A89E-5D60-C902-775695A420B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998854" y="2514099"/>
                  <a:ext cx="2901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85B768B-06FB-E746-8348-8563B83BB8FC}"/>
                    </a:ext>
                  </a:extLst>
                </p14:cNvPr>
                <p14:cNvContentPartPr/>
                <p14:nvPr/>
              </p14:nvContentPartPr>
              <p14:xfrm>
                <a:off x="7020814" y="2560179"/>
                <a:ext cx="460800" cy="548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85B768B-06FB-E746-8348-8563B83BB8F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014694" y="2554059"/>
                  <a:ext cx="473040" cy="560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01FCE444-C15F-E5E5-DF78-7737B56163F5}"/>
              </a:ext>
            </a:extLst>
          </p:cNvPr>
          <p:cNvSpPr txBox="1"/>
          <p:nvPr/>
        </p:nvSpPr>
        <p:spPr>
          <a:xfrm>
            <a:off x="10046779" y="3313479"/>
            <a:ext cx="21180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- TP=4 better than TP=2, implying TP=8 may be better than TP=4 given enough bandwidth</a:t>
            </a:r>
            <a:endParaRPr lang="en-NL" sz="1400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F8764A1-7A41-4AAD-3B7D-8DD2EBF1D220}"/>
              </a:ext>
            </a:extLst>
          </p:cNvPr>
          <p:cNvSpPr txBox="1"/>
          <p:nvPr/>
        </p:nvSpPr>
        <p:spPr>
          <a:xfrm>
            <a:off x="7333294" y="825493"/>
            <a:ext cx="322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TP=4 (TP=tensor parallel) Not bottlenecked by network</a:t>
            </a:r>
            <a:endParaRPr lang="en-NL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244477F-CA4B-9FAD-3CBB-51852746B71B}"/>
              </a:ext>
            </a:extLst>
          </p:cNvPr>
          <p:cNvSpPr txBox="1"/>
          <p:nvPr/>
        </p:nvSpPr>
        <p:spPr>
          <a:xfrm>
            <a:off x="7438845" y="2648739"/>
            <a:ext cx="270640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TP=8 (so outside the node) clearly scaling</a:t>
            </a:r>
            <a:br>
              <a:rPr lang="en-US" sz="1400" dirty="0">
                <a:solidFill>
                  <a:srgbClr val="FF0000"/>
                </a:solidFill>
              </a:rPr>
            </a:br>
            <a:r>
              <a:rPr lang="en-US" sz="1400" dirty="0">
                <a:solidFill>
                  <a:srgbClr val="FF0000"/>
                </a:solidFill>
              </a:rPr>
              <a:t>with network bandwidth.</a:t>
            </a:r>
          </a:p>
          <a:p>
            <a:r>
              <a:rPr lang="en-US" sz="1400" dirty="0">
                <a:solidFill>
                  <a:srgbClr val="FF0000"/>
                </a:solidFill>
              </a:rPr>
              <a:t>Lost performance fraction</a:t>
            </a:r>
          </a:p>
          <a:p>
            <a:r>
              <a:rPr lang="en-US" sz="1400" dirty="0">
                <a:solidFill>
                  <a:srgbClr val="FF0000"/>
                </a:solidFill>
              </a:rPr>
              <a:t>~0.45, implying in a best case at least ~400Gbps</a:t>
            </a:r>
            <a:br>
              <a:rPr lang="en-US" sz="1400" dirty="0">
                <a:solidFill>
                  <a:srgbClr val="FF0000"/>
                </a:solidFill>
              </a:rPr>
            </a:br>
            <a:r>
              <a:rPr lang="en-US" sz="1400" dirty="0">
                <a:solidFill>
                  <a:srgbClr val="FF0000"/>
                </a:solidFill>
              </a:rPr>
              <a:t>needed per GPU to not be bottlenecked by Network, </a:t>
            </a:r>
            <a:br>
              <a:rPr lang="en-US" sz="1400" dirty="0">
                <a:solidFill>
                  <a:srgbClr val="FF0000"/>
                </a:solidFill>
              </a:rPr>
            </a:br>
            <a:r>
              <a:rPr lang="en-US" sz="1400" dirty="0">
                <a:solidFill>
                  <a:srgbClr val="FF0000"/>
                </a:solidFill>
              </a:rPr>
              <a:t>Probably more like </a:t>
            </a:r>
            <a:br>
              <a:rPr lang="en-US" sz="1400" dirty="0">
                <a:solidFill>
                  <a:srgbClr val="FF0000"/>
                </a:solidFill>
              </a:rPr>
            </a:br>
            <a:r>
              <a:rPr lang="en-US" sz="1400" dirty="0">
                <a:solidFill>
                  <a:srgbClr val="FF0000"/>
                </a:solidFill>
              </a:rPr>
              <a:t>~600-800Gbps per GPU</a:t>
            </a:r>
            <a:br>
              <a:rPr lang="en-US" sz="1400" dirty="0">
                <a:solidFill>
                  <a:srgbClr val="FF0000"/>
                </a:solidFill>
              </a:rPr>
            </a:br>
            <a:r>
              <a:rPr lang="en-US" sz="1400" dirty="0">
                <a:solidFill>
                  <a:srgbClr val="FF0000"/>
                </a:solidFill>
              </a:rPr>
              <a:t>due to Amdahl’s law (not taking into account TP=8 may scale above TP=4)</a:t>
            </a:r>
            <a:br>
              <a:rPr lang="en-US" dirty="0">
                <a:solidFill>
                  <a:srgbClr val="FF0000"/>
                </a:solidFill>
              </a:rPr>
            </a:br>
            <a:endParaRPr lang="en-NL" dirty="0">
              <a:solidFill>
                <a:srgbClr val="FF000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A6DD18D-E9BF-C8D7-DE1D-BBCE8230F0B3}"/>
              </a:ext>
            </a:extLst>
          </p:cNvPr>
          <p:cNvGrpSpPr/>
          <p:nvPr/>
        </p:nvGrpSpPr>
        <p:grpSpPr>
          <a:xfrm>
            <a:off x="6910414" y="923379"/>
            <a:ext cx="386640" cy="253080"/>
            <a:chOff x="6758014" y="770979"/>
            <a:chExt cx="38664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5468519-FA6D-9B65-7BE9-8FE11D07383E}"/>
                    </a:ext>
                  </a:extLst>
                </p14:cNvPr>
                <p14:cNvContentPartPr/>
                <p14:nvPr/>
              </p14:nvContentPartPr>
              <p14:xfrm>
                <a:off x="6822094" y="786819"/>
                <a:ext cx="322560" cy="237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DADD525-290C-1238-FF2D-90CB856FD3A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15974" y="780699"/>
                  <a:ext cx="3348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0E6183D-4D49-957F-2CF8-629C3438831C}"/>
                    </a:ext>
                  </a:extLst>
                </p14:cNvPr>
                <p14:cNvContentPartPr/>
                <p14:nvPr/>
              </p14:nvContentPartPr>
              <p14:xfrm>
                <a:off x="6758014" y="779259"/>
                <a:ext cx="25200" cy="158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F725BF6-82AD-1DC8-89D7-FDA52B3C212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751894" y="773139"/>
                  <a:ext cx="374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3CAB8A8-5EE6-04B2-17BA-F3A03FDF8673}"/>
                    </a:ext>
                  </a:extLst>
                </p14:cNvPr>
                <p14:cNvContentPartPr/>
                <p14:nvPr/>
              </p14:nvContentPartPr>
              <p14:xfrm>
                <a:off x="6814174" y="770979"/>
                <a:ext cx="118800" cy="48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9192F2F-6BD8-251F-9EBB-9CE61690B80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808054" y="764859"/>
                  <a:ext cx="131040" cy="60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E7C1E0A3-C6DE-4211-995C-079741B2F5A8}"/>
              </a:ext>
            </a:extLst>
          </p:cNvPr>
          <p:cNvSpPr txBox="1"/>
          <p:nvPr/>
        </p:nvSpPr>
        <p:spPr>
          <a:xfrm>
            <a:off x="6983048" y="6469477"/>
            <a:ext cx="5302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Different levels of GPU&gt;GPU speed (in Gbps)</a:t>
            </a:r>
            <a:endParaRPr lang="en-NL" dirty="0">
              <a:solidFill>
                <a:srgbClr val="FF0000"/>
              </a:solidFill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8B22B11-800F-E0C5-2D1E-111CFAFBB421}"/>
              </a:ext>
            </a:extLst>
          </p:cNvPr>
          <p:cNvGrpSpPr/>
          <p:nvPr/>
        </p:nvGrpSpPr>
        <p:grpSpPr>
          <a:xfrm rot="15812786">
            <a:off x="470841" y="2291840"/>
            <a:ext cx="386640" cy="253080"/>
            <a:chOff x="6758014" y="770979"/>
            <a:chExt cx="38664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5886CB4-86B4-C474-A581-C3391B4E13BE}"/>
                    </a:ext>
                  </a:extLst>
                </p14:cNvPr>
                <p14:cNvContentPartPr/>
                <p14:nvPr/>
              </p14:nvContentPartPr>
              <p14:xfrm>
                <a:off x="6822094" y="786819"/>
                <a:ext cx="322560" cy="237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DADD525-290C-1238-FF2D-90CB856FD3A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15974" y="780699"/>
                  <a:ext cx="3348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4341295-1D62-DD6C-4545-3F5AC502BB76}"/>
                    </a:ext>
                  </a:extLst>
                </p14:cNvPr>
                <p14:cNvContentPartPr/>
                <p14:nvPr/>
              </p14:nvContentPartPr>
              <p14:xfrm>
                <a:off x="6758014" y="779259"/>
                <a:ext cx="25200" cy="158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F725BF6-82AD-1DC8-89D7-FDA52B3C212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751894" y="773139"/>
                  <a:ext cx="374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3398F2A-8397-225F-FF3A-6423F8783C6E}"/>
                    </a:ext>
                  </a:extLst>
                </p14:cNvPr>
                <p14:cNvContentPartPr/>
                <p14:nvPr/>
              </p14:nvContentPartPr>
              <p14:xfrm>
                <a:off x="6814174" y="770979"/>
                <a:ext cx="118800" cy="48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9192F2F-6BD8-251F-9EBB-9CE61690B80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808054" y="764859"/>
                  <a:ext cx="131040" cy="60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C6EA74C5-C76B-6BD6-101D-0931DDD929E7}"/>
              </a:ext>
            </a:extLst>
          </p:cNvPr>
          <p:cNvSpPr txBox="1"/>
          <p:nvPr/>
        </p:nvSpPr>
        <p:spPr>
          <a:xfrm>
            <a:off x="0" y="1722095"/>
            <a:ext cx="5302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TFLOPs per GPU.</a:t>
            </a:r>
            <a:endParaRPr lang="en-NL" dirty="0">
              <a:solidFill>
                <a:srgbClr val="FF0000"/>
              </a:solidFill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E43350C-CC94-0E3D-DCA9-D552450B04AA}"/>
              </a:ext>
            </a:extLst>
          </p:cNvPr>
          <p:cNvGrpSpPr/>
          <p:nvPr/>
        </p:nvGrpSpPr>
        <p:grpSpPr>
          <a:xfrm rot="19839277">
            <a:off x="7240441" y="5822475"/>
            <a:ext cx="386640" cy="253080"/>
            <a:chOff x="6758014" y="770979"/>
            <a:chExt cx="38664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FF478FC-8A47-8AEE-0720-91AC3E3F8249}"/>
                    </a:ext>
                  </a:extLst>
                </p14:cNvPr>
                <p14:cNvContentPartPr/>
                <p14:nvPr/>
              </p14:nvContentPartPr>
              <p14:xfrm>
                <a:off x="6822094" y="786819"/>
                <a:ext cx="322560" cy="237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DADD525-290C-1238-FF2D-90CB856FD3A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15974" y="780699"/>
                  <a:ext cx="3348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28ED2C3-B506-6A24-44A6-9392C97703E7}"/>
                    </a:ext>
                  </a:extLst>
                </p14:cNvPr>
                <p14:cNvContentPartPr/>
                <p14:nvPr/>
              </p14:nvContentPartPr>
              <p14:xfrm>
                <a:off x="6758014" y="779259"/>
                <a:ext cx="25200" cy="158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F725BF6-82AD-1DC8-89D7-FDA52B3C212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751894" y="773139"/>
                  <a:ext cx="374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410FFDF-3662-5A16-39F4-AC0E96262800}"/>
                    </a:ext>
                  </a:extLst>
                </p14:cNvPr>
                <p14:cNvContentPartPr/>
                <p14:nvPr/>
              </p14:nvContentPartPr>
              <p14:xfrm>
                <a:off x="6814174" y="770979"/>
                <a:ext cx="118800" cy="48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9192F2F-6BD8-251F-9EBB-9CE61690B80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808054" y="764859"/>
                  <a:ext cx="131040" cy="60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F154247A-D551-B02B-5F76-E27B2D67888F}"/>
              </a:ext>
            </a:extLst>
          </p:cNvPr>
          <p:cNvSpPr txBox="1"/>
          <p:nvPr/>
        </p:nvSpPr>
        <p:spPr>
          <a:xfrm>
            <a:off x="7723851" y="5772072"/>
            <a:ext cx="5302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 of memory runs register as -1.</a:t>
            </a:r>
            <a:endParaRPr lang="en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6944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7CF9774-8A2E-E255-8D9B-1AC473783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0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6E9B87-C693-7882-7BFD-B11909A159FD}"/>
              </a:ext>
            </a:extLst>
          </p:cNvPr>
          <p:cNvSpPr txBox="1"/>
          <p:nvPr/>
        </p:nvSpPr>
        <p:spPr>
          <a:xfrm>
            <a:off x="9739160" y="3429000"/>
            <a:ext cx="24528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Flipping to PP (pipeline parallel) view: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FF0000"/>
                </a:solidFill>
              </a:rPr>
              <a:t>TP=4 Still dominates performant codes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FF0000"/>
                </a:solidFill>
              </a:rPr>
              <a:t>Again implying that TP=8 may be better given enough bandwidth</a:t>
            </a:r>
          </a:p>
          <a:p>
            <a:pPr marL="285750" indent="-285750">
              <a:buFontTx/>
              <a:buChar char="-"/>
            </a:pPr>
            <a:endParaRPr lang="en-NL" sz="1400" dirty="0"/>
          </a:p>
        </p:txBody>
      </p:sp>
    </p:spTree>
    <p:extLst>
      <p:ext uri="{BB962C8B-B14F-4D97-AF65-F5344CB8AC3E}">
        <p14:creationId xmlns:p14="http://schemas.microsoft.com/office/powerpoint/2010/main" val="15666381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57720-6C1F-BAE4-391C-E3980942C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DF7A2CBE-022D-D269-15E6-13CC052CB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54" y="-54943"/>
            <a:ext cx="11031733" cy="69129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A2F753-95CC-C2A1-D5A8-4A60889A3FE9}"/>
              </a:ext>
            </a:extLst>
          </p:cNvPr>
          <p:cNvSpPr txBox="1"/>
          <p:nvPr/>
        </p:nvSpPr>
        <p:spPr>
          <a:xfrm>
            <a:off x="9559087" y="3805361"/>
            <a:ext cx="24935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Using single node training  we can show this scaling indeed continues </a:t>
            </a:r>
            <a:endParaRPr lang="en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2498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463A5-F116-7C12-102C-7F918724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86858-24FA-2529-6420-D274B4268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AD57F2-CB0D-C04B-9881-2DB40D290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37642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9187B5-189C-387E-F1EF-AAA7C73D2ABF}"/>
              </a:ext>
            </a:extLst>
          </p:cNvPr>
          <p:cNvSpPr txBox="1"/>
          <p:nvPr/>
        </p:nvSpPr>
        <p:spPr>
          <a:xfrm>
            <a:off x="9640110" y="2879387"/>
            <a:ext cx="24935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FLOPS efficiency scale with memory util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TP and PP decrease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memory util enabling scaling in model size and input size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TP typically decreases memory consumption more than PP…</a:t>
            </a:r>
            <a:endParaRPr lang="en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0541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FE08661A-86BB-1198-BE82-FFAF3CFB7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08" y="0"/>
            <a:ext cx="11441984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0E114D3-CD27-17B3-EC9D-0A99EE471B0F}"/>
                  </a:ext>
                </a:extLst>
              </p14:cNvPr>
              <p14:cNvContentPartPr/>
              <p14:nvPr/>
            </p14:nvContentPartPr>
            <p14:xfrm>
              <a:off x="5197091" y="542257"/>
              <a:ext cx="2796480" cy="2431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0E114D3-CD27-17B3-EC9D-0A99EE471B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90971" y="536137"/>
                <a:ext cx="2808720" cy="244404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7FFB592-F645-8C30-70BB-92C004FDCEB4}"/>
              </a:ext>
            </a:extLst>
          </p:cNvPr>
          <p:cNvSpPr txBox="1"/>
          <p:nvPr/>
        </p:nvSpPr>
        <p:spPr>
          <a:xfrm>
            <a:off x="5653225" y="724462"/>
            <a:ext cx="2279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Underutilization</a:t>
            </a:r>
          </a:p>
          <a:p>
            <a:r>
              <a:rPr lang="en-US" dirty="0">
                <a:solidFill>
                  <a:srgbClr val="FF0000"/>
                </a:solidFill>
              </a:rPr>
              <a:t>          Of memory.  </a:t>
            </a:r>
            <a:endParaRPr lang="en-NL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31E8F2-F398-75C2-A02C-31289D291995}"/>
                  </a:ext>
                </a:extLst>
              </p14:cNvPr>
              <p14:cNvContentPartPr/>
              <p14:nvPr/>
            </p14:nvContentPartPr>
            <p14:xfrm>
              <a:off x="5522879" y="567053"/>
              <a:ext cx="669600" cy="419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31E8F2-F398-75C2-A02C-31289D2919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16759" y="560933"/>
                <a:ext cx="681840" cy="43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60E45CD8-D1C8-1028-2BEA-5B874797656B}"/>
              </a:ext>
            </a:extLst>
          </p:cNvPr>
          <p:cNvGrpSpPr/>
          <p:nvPr/>
        </p:nvGrpSpPr>
        <p:grpSpPr>
          <a:xfrm>
            <a:off x="5914912" y="603792"/>
            <a:ext cx="2017800" cy="1930680"/>
            <a:chOff x="5411258" y="712735"/>
            <a:chExt cx="2017800" cy="193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D2AA414-0A60-DFAA-AD07-7288F86B5156}"/>
                    </a:ext>
                  </a:extLst>
                </p14:cNvPr>
                <p14:cNvContentPartPr/>
                <p14:nvPr/>
              </p14:nvContentPartPr>
              <p14:xfrm>
                <a:off x="6051338" y="1133935"/>
                <a:ext cx="1296360" cy="811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D2AA414-0A60-DFAA-AD07-7288F86B515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45218" y="1127815"/>
                  <a:ext cx="1308600" cy="82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6CED503-630B-7F1A-8727-3681590C2E2B}"/>
                    </a:ext>
                  </a:extLst>
                </p14:cNvPr>
                <p14:cNvContentPartPr/>
                <p14:nvPr/>
              </p14:nvContentPartPr>
              <p14:xfrm>
                <a:off x="6467138" y="1711015"/>
                <a:ext cx="730080" cy="616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6CED503-630B-7F1A-8727-3681590C2E2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61018" y="1704895"/>
                  <a:ext cx="74232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3A978E9-328B-B655-4EFD-969D608EAF46}"/>
                    </a:ext>
                  </a:extLst>
                </p14:cNvPr>
                <p14:cNvContentPartPr/>
                <p14:nvPr/>
              </p14:nvContentPartPr>
              <p14:xfrm>
                <a:off x="6733178" y="2185495"/>
                <a:ext cx="695880" cy="457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3A978E9-328B-B655-4EFD-969D608EAF4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27058" y="2179375"/>
                  <a:ext cx="70812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CB46608-8827-1FA5-BAE2-E30E683BFC73}"/>
                    </a:ext>
                  </a:extLst>
                </p14:cNvPr>
                <p14:cNvContentPartPr/>
                <p14:nvPr/>
              </p14:nvContentPartPr>
              <p14:xfrm>
                <a:off x="5411258" y="1318975"/>
                <a:ext cx="149760" cy="19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CB46608-8827-1FA5-BAE2-E30E683BFC7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05138" y="1312855"/>
                  <a:ext cx="162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7AEBFA4-99F6-5CF4-7ACC-1B3E71EFB65C}"/>
                    </a:ext>
                  </a:extLst>
                </p14:cNvPr>
                <p14:cNvContentPartPr/>
                <p14:nvPr/>
              </p14:nvContentPartPr>
              <p14:xfrm>
                <a:off x="5935058" y="1410775"/>
                <a:ext cx="496080" cy="318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7AEBFA4-99F6-5CF4-7ACC-1B3E71EFB65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28938" y="1404655"/>
                  <a:ext cx="5083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2972D69-817E-EF0D-79E1-CE21827CEEFF}"/>
                    </a:ext>
                  </a:extLst>
                </p14:cNvPr>
                <p14:cNvContentPartPr/>
                <p14:nvPr/>
              </p14:nvContentPartPr>
              <p14:xfrm>
                <a:off x="6267698" y="712735"/>
                <a:ext cx="238320" cy="110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2972D69-817E-EF0D-79E1-CE21827CEEF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61578" y="706615"/>
                  <a:ext cx="250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7EF800B-62BB-D8A1-FD1D-9262EB292E95}"/>
                    </a:ext>
                  </a:extLst>
                </p14:cNvPr>
                <p14:cNvContentPartPr/>
                <p14:nvPr/>
              </p14:nvContentPartPr>
              <p14:xfrm>
                <a:off x="6916058" y="820015"/>
                <a:ext cx="246600" cy="160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7EF800B-62BB-D8A1-FD1D-9262EB292E9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909938" y="813895"/>
                  <a:ext cx="258840" cy="173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B2F22C2-2148-96A8-5846-ADAD94BEAE45}"/>
              </a:ext>
            </a:extLst>
          </p:cNvPr>
          <p:cNvSpPr txBox="1"/>
          <p:nvPr/>
        </p:nvSpPr>
        <p:spPr>
          <a:xfrm>
            <a:off x="8211728" y="1024992"/>
            <a:ext cx="22794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Performance of TP&gt;=4 might have been even better with larger batch size/sequence length</a:t>
            </a:r>
            <a:endParaRPr lang="en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4180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07" y="162068"/>
            <a:ext cx="11149188" cy="600744"/>
          </a:xfrm>
        </p:spPr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type of </a:t>
            </a:r>
            <a:r>
              <a:rPr lang="nl-NL" dirty="0" err="1"/>
              <a:t>parallelism</a:t>
            </a:r>
            <a:r>
              <a:rPr lang="nl-NL" dirty="0"/>
              <a:t> is </a:t>
            </a:r>
            <a:r>
              <a:rPr lang="nl-NL" dirty="0" err="1"/>
              <a:t>applicable</a:t>
            </a:r>
            <a:r>
              <a:rPr lang="nl-NL" dirty="0"/>
              <a:t>? </a:t>
            </a:r>
            <a:r>
              <a:rPr lang="nl-NL" dirty="0" err="1"/>
              <a:t>Ease</a:t>
            </a:r>
            <a:r>
              <a:rPr lang="nl-NL" dirty="0"/>
              <a:t>-of-</a:t>
            </a:r>
            <a:r>
              <a:rPr lang="nl-NL" dirty="0" err="1"/>
              <a:t>implementation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(independent) training runs =&gt; Embarrassingly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Single model takes too long too train =&gt; Data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Single model is too big for memory =&gt; Model / Pipeline / Tensor / Sequence / FSDP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Single model is too big for memory </a:t>
            </a:r>
            <a:r>
              <a:rPr lang="en-US" i="1" dirty="0"/>
              <a:t>and </a:t>
            </a:r>
            <a:r>
              <a:rPr lang="en-US" dirty="0"/>
              <a:t>takes too long to train =&gt; Hybrid parallelism</a:t>
            </a:r>
          </a:p>
          <a:p>
            <a:pPr marL="569913" lvl="1">
              <a:buFont typeface="Arial" panose="020B0604020202020204" pitchFamily="34" charset="0"/>
              <a:buChar char="•"/>
            </a:pPr>
            <a:r>
              <a:rPr lang="en-US" dirty="0"/>
              <a:t>All of the well-known, big models (GPT-X) are trained this way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69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677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6AAC0-9309-C9A6-04E8-52E995A67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B7AB15-C5C6-54F7-B24F-BC9E207C562C}"/>
              </a:ext>
            </a:extLst>
          </p:cNvPr>
          <p:cNvSpPr/>
          <p:nvPr/>
        </p:nvSpPr>
        <p:spPr>
          <a:xfrm>
            <a:off x="270588" y="1026367"/>
            <a:ext cx="7501812" cy="5131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3E424-44F5-9D94-D69B-B223133A6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(independent) training runs =&gt; Embarrassingly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Single model takes too long too train =&gt; Data parallel</a:t>
            </a:r>
          </a:p>
          <a:p>
            <a:r>
              <a:rPr lang="en-US" dirty="0"/>
              <a:t>Single model is too big for memory =&gt; Model / Pipeline / Tensor / Sequence / FSDP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Single model is too big for memory </a:t>
            </a:r>
            <a:r>
              <a:rPr lang="en-US" i="1" dirty="0"/>
              <a:t>and </a:t>
            </a:r>
            <a:r>
              <a:rPr lang="en-US" dirty="0"/>
              <a:t>takes too long to train =&gt; Hybrid parallelism</a:t>
            </a:r>
          </a:p>
          <a:p>
            <a:pPr marL="569913" lvl="1">
              <a:buFont typeface="Arial" panose="020B0604020202020204" pitchFamily="34" charset="0"/>
              <a:buChar char="•"/>
            </a:pPr>
            <a:r>
              <a:rPr lang="en-US" dirty="0"/>
              <a:t>All of the well-known, big models (GPT-X) are trained this way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11C36-C2DB-3D26-8BFC-C6FA27B0EE47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669F0B-BB84-7CC4-73FD-87D51789F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70</a:t>
            </a:fld>
            <a:endParaRPr lang="nl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306371-6DDB-79D4-030F-B8C7D660F319}"/>
              </a:ext>
            </a:extLst>
          </p:cNvPr>
          <p:cNvCxnSpPr/>
          <p:nvPr/>
        </p:nvCxnSpPr>
        <p:spPr>
          <a:xfrm>
            <a:off x="7772400" y="1278294"/>
            <a:ext cx="3732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CEC31BF-EEB3-5E65-D93D-6E0768CA818E}"/>
              </a:ext>
            </a:extLst>
          </p:cNvPr>
          <p:cNvSpPr txBox="1"/>
          <p:nvPr/>
        </p:nvSpPr>
        <p:spPr>
          <a:xfrm>
            <a:off x="8476453" y="1026367"/>
            <a:ext cx="223001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/>
              <a:t>Any cluster will do, no fast network needed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0F14AD-3B98-07CE-3D0D-99F4C3725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07" y="162068"/>
            <a:ext cx="11149188" cy="600744"/>
          </a:xfrm>
        </p:spPr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type of </a:t>
            </a:r>
            <a:r>
              <a:rPr lang="nl-NL" dirty="0" err="1"/>
              <a:t>parallelism</a:t>
            </a:r>
            <a:r>
              <a:rPr lang="nl-NL" dirty="0"/>
              <a:t> is </a:t>
            </a:r>
            <a:r>
              <a:rPr lang="nl-NL" dirty="0" err="1"/>
              <a:t>applicable</a:t>
            </a:r>
            <a:r>
              <a:rPr lang="nl-NL" dirty="0"/>
              <a:t>? </a:t>
            </a:r>
            <a:r>
              <a:rPr lang="nl-NL" dirty="0" err="1"/>
              <a:t>Ease</a:t>
            </a:r>
            <a:r>
              <a:rPr lang="nl-NL" dirty="0"/>
              <a:t>-of-</a:t>
            </a:r>
            <a:r>
              <a:rPr lang="nl-NL" dirty="0" err="1"/>
              <a:t>implementation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5011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3168765-A964-76C1-7DC3-D8184AFCA217}"/>
              </a:ext>
            </a:extLst>
          </p:cNvPr>
          <p:cNvSpPr/>
          <p:nvPr/>
        </p:nvSpPr>
        <p:spPr>
          <a:xfrm>
            <a:off x="186612" y="1552369"/>
            <a:ext cx="9451909" cy="19839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(independent) training runs =&gt; Embarrassingly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Single model takes too long too train =&gt; Data parallel</a:t>
            </a:r>
          </a:p>
          <a:p>
            <a:r>
              <a:rPr lang="en-US" dirty="0"/>
              <a:t>Single model is too big for memory =&gt; Model / Pipeline / Tensor / Sequence / FSDP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Single model is too big for memory </a:t>
            </a:r>
            <a:r>
              <a:rPr lang="en-US" i="1" dirty="0"/>
              <a:t>and </a:t>
            </a:r>
            <a:r>
              <a:rPr lang="en-US" dirty="0"/>
              <a:t>takes too long to train =&gt; Hybrid parallelism</a:t>
            </a:r>
          </a:p>
          <a:p>
            <a:pPr marL="569913" lvl="1">
              <a:buFont typeface="Arial" panose="020B0604020202020204" pitchFamily="34" charset="0"/>
              <a:buChar char="•"/>
            </a:pPr>
            <a:r>
              <a:rPr lang="en-US" dirty="0"/>
              <a:t>All of the well-known, big models (GPT-X) are trained this way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71</a:t>
            </a:fld>
            <a:endParaRPr lang="nl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839A618-2CD3-FC55-65B7-3A94369E6408}"/>
              </a:ext>
            </a:extLst>
          </p:cNvPr>
          <p:cNvCxnSpPr>
            <a:cxnSpLocks/>
          </p:cNvCxnSpPr>
          <p:nvPr/>
        </p:nvCxnSpPr>
        <p:spPr>
          <a:xfrm>
            <a:off x="4926155" y="3741576"/>
            <a:ext cx="0" cy="391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D1B7CB0-1A43-6E11-032D-8B3677BB970B}"/>
              </a:ext>
            </a:extLst>
          </p:cNvPr>
          <p:cNvSpPr txBox="1"/>
          <p:nvPr/>
        </p:nvSpPr>
        <p:spPr>
          <a:xfrm>
            <a:off x="2666037" y="4404050"/>
            <a:ext cx="508453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/>
              <a:t>HPC cluster needed, i.e. with fast network and fast connections between e.g. GPUs in a single node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38C99DB-299C-3B2B-C735-544F50D54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07" y="162068"/>
            <a:ext cx="11149188" cy="600744"/>
          </a:xfrm>
        </p:spPr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type of </a:t>
            </a:r>
            <a:r>
              <a:rPr lang="nl-NL" dirty="0" err="1"/>
              <a:t>parallelism</a:t>
            </a:r>
            <a:r>
              <a:rPr lang="nl-NL" dirty="0"/>
              <a:t> is </a:t>
            </a:r>
            <a:r>
              <a:rPr lang="nl-NL" dirty="0" err="1"/>
              <a:t>applicable</a:t>
            </a:r>
            <a:r>
              <a:rPr lang="nl-NL" dirty="0"/>
              <a:t>? </a:t>
            </a:r>
            <a:r>
              <a:rPr lang="nl-NL" dirty="0" err="1"/>
              <a:t>Ease</a:t>
            </a:r>
            <a:r>
              <a:rPr lang="nl-NL" dirty="0"/>
              <a:t>-of-</a:t>
            </a:r>
            <a:r>
              <a:rPr lang="nl-NL" dirty="0" err="1"/>
              <a:t>implementation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9220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A420-0D0D-DBD6-BF1C-961F00653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793" y="382344"/>
            <a:ext cx="10582630" cy="342211"/>
          </a:xfrm>
        </p:spPr>
        <p:txBody>
          <a:bodyPr/>
          <a:lstStyle/>
          <a:p>
            <a:r>
              <a:rPr lang="en-US" dirty="0"/>
              <a:t>So….. What type of parallelization? Optimal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E036F-5C1D-22DC-EE7E-5533987D0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163" y="1430216"/>
            <a:ext cx="11268000" cy="6261100"/>
          </a:xfrm>
        </p:spPr>
        <p:txBody>
          <a:bodyPr/>
          <a:lstStyle/>
          <a:p>
            <a:r>
              <a:rPr lang="en-US" dirty="0"/>
              <a:t>Data parallel (DP)</a:t>
            </a:r>
          </a:p>
          <a:p>
            <a:pPr marL="800100" indent="-266700"/>
            <a:r>
              <a:rPr lang="en-US" dirty="0"/>
              <a:t>Easy to set-up. </a:t>
            </a:r>
          </a:p>
          <a:p>
            <a:pPr marL="800100" indent="-266700"/>
            <a:r>
              <a:rPr lang="en-US" dirty="0"/>
              <a:t>Relatively infrequent and low-bandwidth communication (only once per forward/backwards)</a:t>
            </a:r>
          </a:p>
          <a:p>
            <a:pPr marL="800100" indent="-266700"/>
            <a:r>
              <a:rPr lang="en-US" dirty="0"/>
              <a:t>Model is copied to each device, so redundancy in memory that might hamper efficiency</a:t>
            </a:r>
          </a:p>
          <a:p>
            <a:pPr marL="1600200" indent="-342900"/>
            <a:r>
              <a:rPr lang="en-US" dirty="0"/>
              <a:t>FSDP (fully sharded DP) partially solves this by sharding the model and retrieving the weights for a layer just-in-time. Requires more communication. </a:t>
            </a:r>
          </a:p>
          <a:p>
            <a:pPr marL="50800" indent="228600"/>
            <a:r>
              <a:rPr lang="en-US" dirty="0"/>
              <a:t>Pipeline parallel</a:t>
            </a:r>
          </a:p>
          <a:p>
            <a:pPr marL="508000" indent="228600"/>
            <a:r>
              <a:rPr lang="en-US" dirty="0"/>
              <a:t>Complicated to set-up, lots of tuning to avoid bubbles</a:t>
            </a:r>
          </a:p>
          <a:p>
            <a:pPr marL="508000" indent="228600"/>
            <a:r>
              <a:rPr lang="en-US" dirty="0"/>
              <a:t>Moderate communication (after each block of layers)</a:t>
            </a:r>
          </a:p>
          <a:p>
            <a:pPr marL="508000" indent="228600"/>
            <a:r>
              <a:rPr lang="en-US" dirty="0"/>
              <a:t>Significant memory reduction by splitting model and batches over devices</a:t>
            </a:r>
          </a:p>
          <a:p>
            <a:pPr marL="114300" indent="228600"/>
            <a:r>
              <a:rPr lang="en-US" dirty="0"/>
              <a:t>Tensor parallel</a:t>
            </a:r>
          </a:p>
          <a:p>
            <a:pPr marL="508000" indent="228600"/>
            <a:r>
              <a:rPr lang="en-US" dirty="0"/>
              <a:t>More involved than DP to set-up but does not suffer from bubbles. Computationally very efficient.</a:t>
            </a:r>
          </a:p>
          <a:p>
            <a:pPr marL="508000" indent="228600"/>
            <a:r>
              <a:rPr lang="en-US" dirty="0"/>
              <a:t>Very high bandwidth requirement</a:t>
            </a:r>
          </a:p>
          <a:p>
            <a:pPr marL="508000" indent="228600"/>
            <a:r>
              <a:rPr lang="en-US" dirty="0"/>
              <a:t>Significant memory reduction. Typically even more than pipeline</a:t>
            </a:r>
          </a:p>
          <a:p>
            <a:pPr marL="508000" indent="228600"/>
            <a:endParaRPr lang="en-US" dirty="0"/>
          </a:p>
          <a:p>
            <a:pPr marL="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11FE4-E371-7EC3-A56D-34D00082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D697A-CF44-4C00-81BC-B5B9DDDC8359}" type="slidenum">
              <a:rPr lang="en-NL" smtClean="0"/>
              <a:t>72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893779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 I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parallelise</a:t>
            </a:r>
            <a:r>
              <a:rPr lang="nl-NL" dirty="0"/>
              <a:t>?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Consider alternatives: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pruning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different hardware architecture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precision datatypes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rank fine-tuning (</a:t>
            </a:r>
            <a:r>
              <a:rPr lang="en-US" dirty="0" err="1"/>
              <a:t>LoRA</a:t>
            </a:r>
            <a:r>
              <a:rPr lang="en-US" dirty="0"/>
              <a:t>/</a:t>
            </a:r>
            <a:r>
              <a:rPr lang="en-US" dirty="0" err="1"/>
              <a:t>QLoRA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Quantization (inference)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73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345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9DCB7-7FB7-4A8E-B1F9-13A02393E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93FD2-D534-BD73-F119-DA52EDAF5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Parallelization</a:t>
            </a:r>
            <a:r>
              <a:rPr lang="nl-NL" dirty="0"/>
              <a:t> tools/</a:t>
            </a:r>
            <a:r>
              <a:rPr lang="nl-NL" dirty="0" err="1"/>
              <a:t>wrappers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D55CD-71D2-FE51-3AE8-2DAE2A03E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10182663" cy="460255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torch.distributed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https://pytorch.org/docs/stable/distributed.html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tf.distribute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https://www.tensorflow.org/guide/distributed_training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parallel:</a:t>
            </a:r>
          </a:p>
          <a:p>
            <a:pPr marL="635000">
              <a:buFont typeface="Arial" panose="020B0604020202020204" pitchFamily="34" charset="0"/>
              <a:buChar char="•"/>
            </a:pPr>
            <a:r>
              <a:rPr lang="en-US" dirty="0" err="1"/>
              <a:t>PyTorch</a:t>
            </a:r>
            <a:r>
              <a:rPr lang="en-US" dirty="0"/>
              <a:t> Distributed Data Parallel (DDP)</a:t>
            </a:r>
          </a:p>
          <a:p>
            <a:pPr marL="303213" indent="-303213">
              <a:buFont typeface="Arial" panose="020B0604020202020204" pitchFamily="34" charset="0"/>
              <a:buChar char="•"/>
            </a:pPr>
            <a:r>
              <a:rPr lang="en-US" dirty="0"/>
              <a:t>Model parallel:</a:t>
            </a:r>
          </a:p>
          <a:p>
            <a:pPr marL="800100" indent="-357188">
              <a:buFont typeface="Arial" panose="020B0604020202020204" pitchFamily="34" charset="0"/>
              <a:buChar char="•"/>
            </a:pPr>
            <a:r>
              <a:rPr lang="en-US" dirty="0" err="1"/>
              <a:t>DeepSpeed</a:t>
            </a:r>
            <a:r>
              <a:rPr lang="en-US" dirty="0"/>
              <a:t> </a:t>
            </a:r>
            <a:r>
              <a:rPr lang="en-US" dirty="0" err="1"/>
              <a:t>ZeRO</a:t>
            </a:r>
            <a:endParaRPr lang="en-US" dirty="0"/>
          </a:p>
          <a:p>
            <a:pPr marL="800100" indent="-357188">
              <a:buFont typeface="Arial" panose="020B0604020202020204" pitchFamily="34" charset="0"/>
              <a:buChar char="•"/>
            </a:pPr>
            <a:r>
              <a:rPr lang="en-US" dirty="0"/>
              <a:t>Torch </a:t>
            </a:r>
            <a:r>
              <a:rPr lang="en-US" dirty="0" err="1"/>
              <a:t>FullyShardedDataParallel</a:t>
            </a:r>
            <a:r>
              <a:rPr lang="en-US" dirty="0"/>
              <a:t> (FSDP): </a:t>
            </a:r>
            <a:r>
              <a:rPr lang="en-US" dirty="0">
                <a:hlinkClick r:id="rId4"/>
              </a:rPr>
              <a:t>https://pytorch.org/docs/stable/fsdp.html</a:t>
            </a:r>
            <a:r>
              <a:rPr lang="en-US" dirty="0"/>
              <a:t> </a:t>
            </a:r>
          </a:p>
          <a:p>
            <a:pPr marL="1200150" indent="-357188">
              <a:buFont typeface="Arial" panose="020B0604020202020204" pitchFamily="34" charset="0"/>
              <a:buChar char="•"/>
            </a:pPr>
            <a:r>
              <a:rPr lang="en-US" dirty="0"/>
              <a:t>Wrapper of ZeRO-3</a:t>
            </a:r>
          </a:p>
          <a:p>
            <a:pPr marL="365125" indent="-365125">
              <a:buFont typeface="Arial" panose="020B0604020202020204" pitchFamily="34" charset="0"/>
              <a:buChar char="•"/>
            </a:pPr>
            <a:r>
              <a:rPr lang="en-US" dirty="0" err="1"/>
              <a:t>Huggingface’s</a:t>
            </a:r>
            <a:r>
              <a:rPr lang="en-US" dirty="0"/>
              <a:t> accelerate: </a:t>
            </a:r>
            <a:r>
              <a:rPr lang="en-US" dirty="0">
                <a:hlinkClick r:id="rId5"/>
              </a:rPr>
              <a:t>https://huggingface.co/docs/transformers/main/en/accelerate</a:t>
            </a:r>
            <a:r>
              <a:rPr lang="en-US" dirty="0"/>
              <a:t> </a:t>
            </a:r>
          </a:p>
          <a:p>
            <a:pPr marL="303213" indent="-303213">
              <a:buFont typeface="Arial" panose="020B0604020202020204" pitchFamily="34" charset="0"/>
              <a:buChar char="•"/>
            </a:pPr>
            <a:endParaRPr lang="en-US" dirty="0"/>
          </a:p>
          <a:p>
            <a:pPr marL="63500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B135C-FB5C-386C-3D6B-BFA8919D8C3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FCEDF-C961-8858-BBC5-6F26BBBDF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74</a:t>
            </a:fld>
            <a:endParaRPr lang="nl-NL"/>
          </a:p>
        </p:txBody>
      </p:sp>
      <p:sp>
        <p:nvSpPr>
          <p:cNvPr id="8" name="Vertical Text Placeholder 2">
            <a:extLst>
              <a:ext uri="{FF2B5EF4-FFF2-40B4-BE49-F238E27FC236}">
                <a16:creationId xmlns:a16="http://schemas.microsoft.com/office/drawing/2014/main" id="{41BEAFEE-662D-651C-AFB9-DEFAF13F6619}"/>
              </a:ext>
            </a:extLst>
          </p:cNvPr>
          <p:cNvSpPr txBox="1">
            <a:spLocks/>
          </p:cNvSpPr>
          <p:nvPr/>
        </p:nvSpPr>
        <p:spPr>
          <a:xfrm>
            <a:off x="7094424" y="2405135"/>
            <a:ext cx="8974163" cy="1409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Blip>
                <a:blip r:embed="rId6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Tx/>
              <a:buBlip>
                <a:blip r:embed="rId7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8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9"/>
              </a:buBlip>
              <a:tabLst/>
              <a:defRPr sz="20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3400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Font typeface="Calibri" panose="020F0502020204030204" pitchFamily="34" charset="0"/>
              <a:buChar char="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938" indent="-2619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6575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US" b="1" dirty="0"/>
              <a:t>ZeRO-1: </a:t>
            </a:r>
            <a:r>
              <a:rPr lang="en-US" dirty="0"/>
              <a:t>Partition optimizer state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b="1" dirty="0"/>
              <a:t>ZeRO-2: </a:t>
            </a:r>
            <a:r>
              <a:rPr lang="en-US" dirty="0"/>
              <a:t>Partition gradients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b="1" dirty="0"/>
              <a:t>ZeRO-3: </a:t>
            </a:r>
            <a:r>
              <a:rPr lang="en-US" dirty="0"/>
              <a:t>Partition Model Weights </a:t>
            </a:r>
          </a:p>
          <a:p>
            <a:pPr marL="303213" lvl="0" indent="-303213">
              <a:buFont typeface="Arial" panose="020B0604020202020204" pitchFamily="34" charset="0"/>
              <a:buChar char="•"/>
            </a:pPr>
            <a:endParaRPr lang="en-US" dirty="0"/>
          </a:p>
          <a:p>
            <a:pPr marL="635000" lvl="0">
              <a:buFont typeface="Arial" panose="020B0604020202020204" pitchFamily="34" charset="0"/>
              <a:buChar char="•"/>
            </a:pPr>
            <a:endParaRPr lang="en-US" dirty="0"/>
          </a:p>
          <a:p>
            <a:pPr lvl="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72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2F65-8F22-F596-BD52-3EDE573D4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682ED0-DA4A-0EB1-CA79-33B451AB77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40A70-CCC3-C76E-C1BA-8A82943B33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69D4D4-DC7D-F92F-9B23-364A7C18F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 your distribution</a:t>
            </a:r>
            <a:br>
              <a:rPr lang="en-US" dirty="0"/>
            </a:br>
            <a:r>
              <a:rPr lang="en-US" dirty="0"/>
              <a:t>method to your system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6BB838-3B28-B3DC-0231-7E25F02DC298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5162" y="2075294"/>
            <a:ext cx="7428606" cy="4060393"/>
          </a:xfrm>
        </p:spPr>
        <p:txBody>
          <a:bodyPr/>
          <a:lstStyle/>
          <a:p>
            <a:r>
              <a:rPr lang="en-US" dirty="0"/>
              <a:t>TP inside a node, PP/DP outside of a node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6D91FB5-114C-BE7E-2A70-C1DCF552B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521" y="0"/>
            <a:ext cx="6173480" cy="3429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0ECFFE-4D1E-13D6-DB21-95555A478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589" y="3664780"/>
            <a:ext cx="9371411" cy="308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6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56FCE-0699-B9EC-2E15-C6F0E2BF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E0D9AA-0941-0C17-69E5-36A32DC2D4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F1CCD-6FFE-D672-797A-7B6D57BEB5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02C03A-52C7-5C98-1605-0C714C39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you want to do multi-</a:t>
            </a:r>
            <a:r>
              <a:rPr lang="en-US" dirty="0" err="1"/>
              <a:t>gpu</a:t>
            </a:r>
            <a:r>
              <a:rPr lang="en-US" dirty="0"/>
              <a:t>?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6BC912-E193-C114-64CF-47590E512A15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5162" y="2075294"/>
            <a:ext cx="3650692" cy="4060393"/>
          </a:xfrm>
        </p:spPr>
        <p:txBody>
          <a:bodyPr/>
          <a:lstStyle/>
          <a:p>
            <a:r>
              <a:rPr lang="en-US" dirty="0"/>
              <a:t>Scaling inside a node is much easier than outside a node</a:t>
            </a:r>
          </a:p>
          <a:p>
            <a:r>
              <a:rPr lang="en-US" dirty="0"/>
              <a:t>Scaling should always be 90%+ (unless you have a very good reason not to)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0D41C-6B76-C5AE-EDF6-7D84B07CB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323" y="1505558"/>
            <a:ext cx="7082923" cy="4748463"/>
          </a:xfrm>
          <a:prstGeom prst="rect">
            <a:avLst/>
          </a:prstGeom>
        </p:spPr>
      </p:pic>
      <p:pic>
        <p:nvPicPr>
          <p:cNvPr id="9" name="Picture 8" descr="A graph of a number of nodes&#10;&#10;AI-generated content may be incorrect.">
            <a:extLst>
              <a:ext uri="{FF2B5EF4-FFF2-40B4-BE49-F238E27FC236}">
                <a16:creationId xmlns:a16="http://schemas.microsoft.com/office/drawing/2014/main" id="{4A60A0B7-593B-646B-750B-2B14C53F6E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377" y="3593551"/>
            <a:ext cx="4294133" cy="317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73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64185BA-5495-BF3E-CCEF-973974A4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C537ADBB-B8D9-C08E-E653-9C7C468D4396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A2BFDBF-96C6-C8BA-BD1E-A7DBE1275965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Monitoring!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5D4D6133-BFE7-F90D-F68E-4948213CA1A0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BE456379-F52C-CE62-0FB7-438431150BCC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959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tekst 10">
            <a:extLst>
              <a:ext uri="{FF2B5EF4-FFF2-40B4-BE49-F238E27FC236}">
                <a16:creationId xmlns:a16="http://schemas.microsoft.com/office/drawing/2014/main" id="{EEE66043-85EF-D548-6EA3-FC5096CA14BD}"/>
              </a:ext>
            </a:extLst>
          </p:cNvPr>
          <p:cNvSpPr txBox="1">
            <a:spLocks/>
          </p:cNvSpPr>
          <p:nvPr/>
        </p:nvSpPr>
        <p:spPr>
          <a:xfrm>
            <a:off x="193040" y="225424"/>
            <a:ext cx="11805920" cy="6424295"/>
          </a:xfrm>
          <a:prstGeom prst="roundRect">
            <a:avLst>
              <a:gd name="adj" fmla="val 3563"/>
            </a:avLst>
          </a:prstGeom>
          <a:solidFill>
            <a:srgbClr val="FCE4D4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E7628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25" name="Vorm 6">
            <a:extLst>
              <a:ext uri="{FF2B5EF4-FFF2-40B4-BE49-F238E27FC236}">
                <a16:creationId xmlns:a16="http://schemas.microsoft.com/office/drawing/2014/main" id="{997B0FE5-06F0-A9B5-FF11-8428FEFC98AC}"/>
              </a:ext>
            </a:extLst>
          </p:cNvPr>
          <p:cNvSpPr txBox="1"/>
          <p:nvPr/>
        </p:nvSpPr>
        <p:spPr>
          <a:xfrm>
            <a:off x="4753972" y="4786172"/>
            <a:ext cx="5359746" cy="1026000"/>
          </a:xfrm>
          <a:prstGeom prst="rect">
            <a:avLst/>
          </a:prstGeom>
          <a:solidFill>
            <a:srgbClr val="D5ECDD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Vorm 6">
            <a:extLst>
              <a:ext uri="{FF2B5EF4-FFF2-40B4-BE49-F238E27FC236}">
                <a16:creationId xmlns:a16="http://schemas.microsoft.com/office/drawing/2014/main" id="{71CB7B59-BFCD-A4F5-E149-E9A046A81117}"/>
              </a:ext>
            </a:extLst>
          </p:cNvPr>
          <p:cNvSpPr txBox="1"/>
          <p:nvPr/>
        </p:nvSpPr>
        <p:spPr>
          <a:xfrm>
            <a:off x="4753972" y="3725517"/>
            <a:ext cx="5359746" cy="1026000"/>
          </a:xfrm>
          <a:prstGeom prst="rect">
            <a:avLst/>
          </a:prstGeom>
          <a:solidFill>
            <a:srgbClr val="D1E4F2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Vorm 6">
            <a:extLst>
              <a:ext uri="{FF2B5EF4-FFF2-40B4-BE49-F238E27FC236}">
                <a16:creationId xmlns:a16="http://schemas.microsoft.com/office/drawing/2014/main" id="{A462DA75-4D75-A95A-27DA-6E74FA9166DA}"/>
              </a:ext>
            </a:extLst>
          </p:cNvPr>
          <p:cNvSpPr txBox="1"/>
          <p:nvPr/>
        </p:nvSpPr>
        <p:spPr>
          <a:xfrm>
            <a:off x="4753972" y="2670575"/>
            <a:ext cx="5359746" cy="1026000"/>
          </a:xfrm>
          <a:prstGeom prst="rect">
            <a:avLst/>
          </a:prstGeom>
          <a:solidFill>
            <a:srgbClr val="FDF8DA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Vorm 4">
            <a:extLst>
              <a:ext uri="{FF2B5EF4-FFF2-40B4-BE49-F238E27FC236}">
                <a16:creationId xmlns:a16="http://schemas.microsoft.com/office/drawing/2014/main" id="{0618E69C-0048-0238-23A2-CD45C57A7A70}"/>
              </a:ext>
            </a:extLst>
          </p:cNvPr>
          <p:cNvSpPr txBox="1"/>
          <p:nvPr/>
        </p:nvSpPr>
        <p:spPr>
          <a:xfrm>
            <a:off x="4753973" y="1578320"/>
            <a:ext cx="5359746" cy="1060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B2DA2214-1EA4-E3F1-C026-15DCB2448B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7F0A341-5EC5-5383-B842-A265DDD526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8A3DDFD-9D1A-59E0-9C60-B0504FFF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Monitoring pyramid</a:t>
            </a:r>
          </a:p>
        </p:txBody>
      </p:sp>
      <p:sp>
        <p:nvSpPr>
          <p:cNvPr id="5" name="Trapezium 4">
            <a:extLst>
              <a:ext uri="{FF2B5EF4-FFF2-40B4-BE49-F238E27FC236}">
                <a16:creationId xmlns:a16="http://schemas.microsoft.com/office/drawing/2014/main" id="{BB547A6C-21E0-B4F6-70FA-6B2EB89F64F1}"/>
              </a:ext>
            </a:extLst>
          </p:cNvPr>
          <p:cNvSpPr txBox="1"/>
          <p:nvPr/>
        </p:nvSpPr>
        <p:spPr>
          <a:xfrm>
            <a:off x="2332401" y="1441115"/>
            <a:ext cx="1957324" cy="109768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390" tIns="25390" rIns="25390" bIns="25390" numCol="1" spcCol="1270" anchor="ctr" anchorCtr="0">
            <a:noAutofit/>
          </a:bodyPr>
          <a:lstStyle/>
          <a:p>
            <a:pPr marL="0" marR="0" lvl="0" indent="0" algn="r" defTabSz="8886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99" b="1" dirty="0">
                <a:solidFill>
                  <a:srgbClr val="070809"/>
                </a:solidFill>
                <a:latin typeface="Aptos"/>
              </a:rPr>
              <a:t>Kernel-level profiling</a:t>
            </a:r>
          </a:p>
        </p:txBody>
      </p:sp>
      <p:sp>
        <p:nvSpPr>
          <p:cNvPr id="6" name="Trapezium 6">
            <a:extLst>
              <a:ext uri="{FF2B5EF4-FFF2-40B4-BE49-F238E27FC236}">
                <a16:creationId xmlns:a16="http://schemas.microsoft.com/office/drawing/2014/main" id="{F5E941E2-AAD4-A55C-92B5-6B04961281EA}"/>
              </a:ext>
            </a:extLst>
          </p:cNvPr>
          <p:cNvSpPr txBox="1"/>
          <p:nvPr/>
        </p:nvSpPr>
        <p:spPr>
          <a:xfrm>
            <a:off x="601744" y="2507491"/>
            <a:ext cx="3042206" cy="109768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390" tIns="25390" rIns="25390" bIns="25390" numCol="1" spcCol="1270" anchor="ctr" anchorCtr="0">
            <a:noAutofit/>
          </a:bodyPr>
          <a:lstStyle/>
          <a:p>
            <a:pPr marL="0" marR="0" lvl="0" indent="0" algn="r" defTabSz="8886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99" b="1" dirty="0">
                <a:solidFill>
                  <a:srgbClr val="070809"/>
                </a:solidFill>
                <a:latin typeface="Aptos"/>
              </a:rPr>
              <a:t>Job-level </a:t>
            </a:r>
            <a:r>
              <a:rPr kumimoji="0" lang="en-GB" sz="1499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Profiling</a:t>
            </a:r>
          </a:p>
        </p:txBody>
      </p:sp>
      <p:sp>
        <p:nvSpPr>
          <p:cNvPr id="7" name="Trapezium 8">
            <a:extLst>
              <a:ext uri="{FF2B5EF4-FFF2-40B4-BE49-F238E27FC236}">
                <a16:creationId xmlns:a16="http://schemas.microsoft.com/office/drawing/2014/main" id="{DEBCCE6C-AD2E-BE5C-EFF4-D5FE6D9C8485}"/>
              </a:ext>
            </a:extLst>
          </p:cNvPr>
          <p:cNvSpPr txBox="1"/>
          <p:nvPr/>
        </p:nvSpPr>
        <p:spPr>
          <a:xfrm>
            <a:off x="137498" y="3573866"/>
            <a:ext cx="2833970" cy="109768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390" tIns="25390" rIns="25390" bIns="25390" numCol="1" spcCol="1270" anchor="ctr" anchorCtr="0">
            <a:noAutofit/>
          </a:bodyPr>
          <a:lstStyle/>
          <a:p>
            <a:pPr marL="0" marR="0" lvl="0" indent="0" algn="r" defTabSz="8886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99" b="1" dirty="0">
                <a:solidFill>
                  <a:srgbClr val="070809"/>
                </a:solidFill>
                <a:latin typeface="Aptos"/>
              </a:rPr>
              <a:t>Performance metric collection</a:t>
            </a:r>
            <a:endParaRPr kumimoji="0" lang="en-GB" sz="1499" b="1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3A70BCFE-909E-1A83-C281-959146F35F25}"/>
              </a:ext>
            </a:extLst>
          </p:cNvPr>
          <p:cNvSpPr/>
          <p:nvPr/>
        </p:nvSpPr>
        <p:spPr>
          <a:xfrm rot="5400000" flipH="1" flipV="1">
            <a:off x="9057310" y="3402635"/>
            <a:ext cx="4213225" cy="592482"/>
          </a:xfrm>
          <a:custGeom>
            <a:avLst/>
            <a:gdLst>
              <a:gd name="connsiteX0" fmla="*/ 4213225 w 4213225"/>
              <a:gd name="connsiteY0" fmla="*/ 296242 h 592482"/>
              <a:gd name="connsiteX1" fmla="*/ 4198659 w 4213225"/>
              <a:gd name="connsiteY1" fmla="*/ 322816 h 592482"/>
              <a:gd name="connsiteX2" fmla="*/ 3885242 w 4213225"/>
              <a:gd name="connsiteY2" fmla="*/ 575446 h 592482"/>
              <a:gd name="connsiteX3" fmla="*/ 3829491 w 4213225"/>
              <a:gd name="connsiteY3" fmla="*/ 592482 h 592482"/>
              <a:gd name="connsiteX4" fmla="*/ 2702737 w 4213225"/>
              <a:gd name="connsiteY4" fmla="*/ 592482 h 592482"/>
              <a:gd name="connsiteX5" fmla="*/ 2702741 w 4213225"/>
              <a:gd name="connsiteY5" fmla="*/ 592479 h 592482"/>
              <a:gd name="connsiteX6" fmla="*/ 0 w 4213225"/>
              <a:gd name="connsiteY6" fmla="*/ 592479 h 592482"/>
              <a:gd name="connsiteX7" fmla="*/ 0 w 4213225"/>
              <a:gd name="connsiteY7" fmla="*/ 0 h 592482"/>
              <a:gd name="connsiteX8" fmla="*/ 3779781 w 4213225"/>
              <a:gd name="connsiteY8" fmla="*/ 0 h 592482"/>
              <a:gd name="connsiteX9" fmla="*/ 3779783 w 4213225"/>
              <a:gd name="connsiteY9" fmla="*/ 2 h 592482"/>
              <a:gd name="connsiteX10" fmla="*/ 3829491 w 4213225"/>
              <a:gd name="connsiteY10" fmla="*/ 2 h 592482"/>
              <a:gd name="connsiteX11" fmla="*/ 3885242 w 4213225"/>
              <a:gd name="connsiteY11" fmla="*/ 17039 h 592482"/>
              <a:gd name="connsiteX12" fmla="*/ 4198659 w 4213225"/>
              <a:gd name="connsiteY12" fmla="*/ 269668 h 592482"/>
              <a:gd name="connsiteX13" fmla="*/ 4213225 w 4213225"/>
              <a:gd name="connsiteY13" fmla="*/ 296242 h 59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213225" h="592482">
                <a:moveTo>
                  <a:pt x="4213225" y="296242"/>
                </a:moveTo>
                <a:cubicBezTo>
                  <a:pt x="4213225" y="305612"/>
                  <a:pt x="4208369" y="314983"/>
                  <a:pt x="4198659" y="322816"/>
                </a:cubicBezTo>
                <a:lnTo>
                  <a:pt x="3885242" y="575446"/>
                </a:lnTo>
                <a:cubicBezTo>
                  <a:pt x="3871917" y="586186"/>
                  <a:pt x="3851301" y="592482"/>
                  <a:pt x="3829491" y="592482"/>
                </a:cubicBezTo>
                <a:lnTo>
                  <a:pt x="2702737" y="592482"/>
                </a:lnTo>
                <a:lnTo>
                  <a:pt x="2702741" y="592479"/>
                </a:lnTo>
                <a:lnTo>
                  <a:pt x="0" y="592479"/>
                </a:lnTo>
                <a:lnTo>
                  <a:pt x="0" y="0"/>
                </a:lnTo>
                <a:lnTo>
                  <a:pt x="3779781" y="0"/>
                </a:lnTo>
                <a:lnTo>
                  <a:pt x="3779783" y="2"/>
                </a:lnTo>
                <a:lnTo>
                  <a:pt x="3829491" y="2"/>
                </a:lnTo>
                <a:cubicBezTo>
                  <a:pt x="3851301" y="2"/>
                  <a:pt x="3871917" y="6298"/>
                  <a:pt x="3885242" y="17039"/>
                </a:cubicBezTo>
                <a:lnTo>
                  <a:pt x="4198659" y="269668"/>
                </a:lnTo>
                <a:cubicBezTo>
                  <a:pt x="4208369" y="277502"/>
                  <a:pt x="4213225" y="286872"/>
                  <a:pt x="4213225" y="29624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tIns="71972" bIns="71972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Time investment</a:t>
            </a:r>
          </a:p>
        </p:txBody>
      </p:sp>
      <p:sp>
        <p:nvSpPr>
          <p:cNvPr id="9" name="Vorm 4">
            <a:extLst>
              <a:ext uri="{FF2B5EF4-FFF2-40B4-BE49-F238E27FC236}">
                <a16:creationId xmlns:a16="http://schemas.microsoft.com/office/drawing/2014/main" id="{6FD8C71D-9E10-30A4-D2E5-9F09B9CD630A}"/>
              </a:ext>
            </a:extLst>
          </p:cNvPr>
          <p:cNvSpPr txBox="1"/>
          <p:nvPr/>
        </p:nvSpPr>
        <p:spPr>
          <a:xfrm>
            <a:off x="5588539" y="1578320"/>
            <a:ext cx="4525180" cy="10602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lvl="0" algn="r" defTabSz="88864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GB" sz="1400" b="1" dirty="0">
                <a:solidFill>
                  <a:srgbClr val="070809"/>
                </a:solidFill>
              </a:rPr>
              <a:t>Nsight compute</a:t>
            </a:r>
          </a:p>
        </p:txBody>
      </p:sp>
      <p:sp>
        <p:nvSpPr>
          <p:cNvPr id="10" name="Vorm 6">
            <a:extLst>
              <a:ext uri="{FF2B5EF4-FFF2-40B4-BE49-F238E27FC236}">
                <a16:creationId xmlns:a16="http://schemas.microsoft.com/office/drawing/2014/main" id="{36A3F4B0-D3EF-0D96-679E-BDAACF46E802}"/>
              </a:ext>
            </a:extLst>
          </p:cNvPr>
          <p:cNvSpPr txBox="1"/>
          <p:nvPr/>
        </p:nvSpPr>
        <p:spPr>
          <a:xfrm>
            <a:off x="6257478" y="2670575"/>
            <a:ext cx="3856240" cy="1026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lvl="1" algn="r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defRPr/>
            </a:pPr>
            <a:r>
              <a:rPr lang="en-GB" sz="1400" b="1" dirty="0" err="1">
                <a:solidFill>
                  <a:srgbClr val="070809"/>
                </a:solidFill>
              </a:rPr>
              <a:t>PyTorch</a:t>
            </a:r>
            <a:r>
              <a:rPr lang="en-GB" sz="1400" b="1" dirty="0">
                <a:solidFill>
                  <a:srgbClr val="070809"/>
                </a:solidFill>
              </a:rPr>
              <a:t> profiler, </a:t>
            </a:r>
            <a:r>
              <a:rPr lang="en-GB" sz="1400" b="1" dirty="0" err="1">
                <a:solidFill>
                  <a:srgbClr val="070809"/>
                </a:solidFill>
              </a:rPr>
              <a:t>nsight</a:t>
            </a:r>
            <a:r>
              <a:rPr lang="en-GB" sz="1400" b="1" dirty="0">
                <a:solidFill>
                  <a:srgbClr val="070809"/>
                </a:solidFill>
              </a:rPr>
              <a:t> systems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Vorm 8">
            <a:extLst>
              <a:ext uri="{FF2B5EF4-FFF2-40B4-BE49-F238E27FC236}">
                <a16:creationId xmlns:a16="http://schemas.microsoft.com/office/drawing/2014/main" id="{995C4980-E012-A8C9-0B65-D30F2667B7F4}"/>
              </a:ext>
            </a:extLst>
          </p:cNvPr>
          <p:cNvSpPr txBox="1"/>
          <p:nvPr/>
        </p:nvSpPr>
        <p:spPr>
          <a:xfrm>
            <a:off x="6386255" y="3725517"/>
            <a:ext cx="3727464" cy="1026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Wandb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Tensorboard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perf metric logging</a:t>
            </a:r>
            <a:b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(e.g. iterations per second, %watts over time)</a:t>
            </a:r>
          </a:p>
        </p:txBody>
      </p:sp>
      <p:sp>
        <p:nvSpPr>
          <p:cNvPr id="12" name="Vorm 10">
            <a:extLst>
              <a:ext uri="{FF2B5EF4-FFF2-40B4-BE49-F238E27FC236}">
                <a16:creationId xmlns:a16="http://schemas.microsoft.com/office/drawing/2014/main" id="{A2330634-E15A-976C-4092-EFE5F05D2990}"/>
              </a:ext>
            </a:extLst>
          </p:cNvPr>
          <p:cNvSpPr txBox="1"/>
          <p:nvPr/>
        </p:nvSpPr>
        <p:spPr>
          <a:xfrm>
            <a:off x="7210097" y="4786172"/>
            <a:ext cx="2903621" cy="1026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lvl="0" algn="r" defTabSz="88864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GB" sz="1499" b="1" dirty="0" err="1">
                <a:solidFill>
                  <a:srgbClr val="070809"/>
                </a:solidFill>
              </a:rPr>
              <a:t>Htop</a:t>
            </a:r>
            <a:r>
              <a:rPr lang="en-GB" sz="1499" b="1" dirty="0">
                <a:solidFill>
                  <a:srgbClr val="070809"/>
                </a:solidFill>
              </a:rPr>
              <a:t>, </a:t>
            </a:r>
            <a:r>
              <a:rPr lang="en-GB" sz="1499" b="1" dirty="0" err="1">
                <a:solidFill>
                  <a:srgbClr val="070809"/>
                </a:solidFill>
              </a:rPr>
              <a:t>nvtop</a:t>
            </a:r>
            <a:r>
              <a:rPr lang="en-GB" sz="1499" b="1" dirty="0">
                <a:solidFill>
                  <a:srgbClr val="070809"/>
                </a:solidFill>
              </a:rPr>
              <a:t>, </a:t>
            </a:r>
            <a:r>
              <a:rPr lang="en-GB" sz="1499" b="1" dirty="0" err="1">
                <a:solidFill>
                  <a:srgbClr val="070809"/>
                </a:solidFill>
              </a:rPr>
              <a:t>nvidia-smi</a:t>
            </a:r>
            <a:r>
              <a:rPr lang="en-GB" sz="1499" b="1" dirty="0">
                <a:solidFill>
                  <a:srgbClr val="070809"/>
                </a:solidFill>
              </a:rPr>
              <a:t>, </a:t>
            </a:r>
            <a:r>
              <a:rPr lang="en-GB" sz="1499" b="1" dirty="0" err="1">
                <a:solidFill>
                  <a:srgbClr val="070809"/>
                </a:solidFill>
              </a:rPr>
              <a:t>dcgmi</a:t>
            </a:r>
            <a:endParaRPr lang="en-GB" sz="1499" b="1" dirty="0">
              <a:solidFill>
                <a:srgbClr val="070809"/>
              </a:solidFill>
            </a:endParaRPr>
          </a:p>
        </p:txBody>
      </p:sp>
      <p:sp>
        <p:nvSpPr>
          <p:cNvPr id="13" name="Trapezium 12">
            <a:extLst>
              <a:ext uri="{FF2B5EF4-FFF2-40B4-BE49-F238E27FC236}">
                <a16:creationId xmlns:a16="http://schemas.microsoft.com/office/drawing/2014/main" id="{B5A13D25-8D17-86B0-6DE8-405DEC198C2B}"/>
              </a:ext>
            </a:extLst>
          </p:cNvPr>
          <p:cNvSpPr/>
          <p:nvPr/>
        </p:nvSpPr>
        <p:spPr>
          <a:xfrm>
            <a:off x="4108197" y="1573011"/>
            <a:ext cx="1337879" cy="1060232"/>
          </a:xfrm>
          <a:prstGeom prst="trapezoid">
            <a:avLst>
              <a:gd name="adj" fmla="val 6309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Trapezium 13">
            <a:extLst>
              <a:ext uri="{FF2B5EF4-FFF2-40B4-BE49-F238E27FC236}">
                <a16:creationId xmlns:a16="http://schemas.microsoft.com/office/drawing/2014/main" id="{E103301D-12A0-A977-671D-B1F23C6EA6D9}"/>
              </a:ext>
            </a:extLst>
          </p:cNvPr>
          <p:cNvSpPr/>
          <p:nvPr/>
        </p:nvSpPr>
        <p:spPr>
          <a:xfrm>
            <a:off x="3439257" y="2631475"/>
            <a:ext cx="2675759" cy="1060232"/>
          </a:xfrm>
          <a:prstGeom prst="trapezoid">
            <a:avLst>
              <a:gd name="adj" fmla="val 6309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13333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13333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Trapezium 14">
            <a:extLst>
              <a:ext uri="{FF2B5EF4-FFF2-40B4-BE49-F238E27FC236}">
                <a16:creationId xmlns:a16="http://schemas.microsoft.com/office/drawing/2014/main" id="{47EECC8C-70A6-BB27-5A8E-6091427B2DD8}"/>
              </a:ext>
            </a:extLst>
          </p:cNvPr>
          <p:cNvSpPr/>
          <p:nvPr/>
        </p:nvSpPr>
        <p:spPr>
          <a:xfrm>
            <a:off x="2770317" y="3691708"/>
            <a:ext cx="4013637" cy="1060232"/>
          </a:xfrm>
          <a:prstGeom prst="trapezoid">
            <a:avLst>
              <a:gd name="adj" fmla="val 6309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26667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26667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6" name="Trapezium 15">
            <a:extLst>
              <a:ext uri="{FF2B5EF4-FFF2-40B4-BE49-F238E27FC236}">
                <a16:creationId xmlns:a16="http://schemas.microsoft.com/office/drawing/2014/main" id="{94113037-6234-A9B8-B644-31C3A10A3589}"/>
              </a:ext>
            </a:extLst>
          </p:cNvPr>
          <p:cNvSpPr/>
          <p:nvPr/>
        </p:nvSpPr>
        <p:spPr>
          <a:xfrm>
            <a:off x="2101378" y="4751940"/>
            <a:ext cx="5351517" cy="1060232"/>
          </a:xfrm>
          <a:prstGeom prst="trapezoid">
            <a:avLst>
              <a:gd name="adj" fmla="val 6309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4000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Trapezium 8">
            <a:extLst>
              <a:ext uri="{FF2B5EF4-FFF2-40B4-BE49-F238E27FC236}">
                <a16:creationId xmlns:a16="http://schemas.microsoft.com/office/drawing/2014/main" id="{B5CB78C1-6172-2EF2-1A09-5D14016D0152}"/>
              </a:ext>
            </a:extLst>
          </p:cNvPr>
          <p:cNvSpPr txBox="1"/>
          <p:nvPr/>
        </p:nvSpPr>
        <p:spPr>
          <a:xfrm>
            <a:off x="427101" y="4721636"/>
            <a:ext cx="1800686" cy="109768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390" tIns="25390" rIns="25390" bIns="25390" numCol="1" spcCol="1270" anchor="ctr" anchorCtr="0">
            <a:noAutofit/>
          </a:bodyPr>
          <a:lstStyle/>
          <a:p>
            <a:pPr marL="0" marR="0" lvl="0" indent="0" algn="r" defTabSz="8886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99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Runtime monitoring</a:t>
            </a:r>
          </a:p>
        </p:txBody>
      </p:sp>
    </p:spTree>
    <p:extLst>
      <p:ext uri="{BB962C8B-B14F-4D97-AF65-F5344CB8AC3E}">
        <p14:creationId xmlns:p14="http://schemas.microsoft.com/office/powerpoint/2010/main" val="112412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F43DB-7BCB-E88B-D7ED-379EB2088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BA1C017F-9208-9005-6A7B-01970FC18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spc="-1" dirty="0" err="1">
                <a:solidFill>
                  <a:srgbClr val="000000"/>
                </a:solidFill>
                <a:latin typeface="Calibri"/>
              </a:rPr>
              <a:t>n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vidia-smi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4031700A-B425-9911-E38A-EA587B5D70C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853E81A7-5314-8F9C-3F53-588C2E103393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79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DF920C5-3EE2-A61D-AD7E-A828FCEE7CDC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88480D28-DEAF-3336-7BB6-3BE958FDD939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6D219D25-30F8-8E6A-29D8-DBDA7747D97D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EDCC7B7C-77DD-D862-7291-527DC386FC93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E6E0370A-CA54-D5AB-0CD7-2809ADE13868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349FBF-44B5-4429-FCC2-5C7653CC9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480" y="0"/>
            <a:ext cx="86380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517719"/>
      </p:ext>
    </p:extLst>
  </p:cSld>
  <p:clrMapOvr>
    <a:masterClrMapping/>
  </p:clrMapOvr>
  <p:transition spd="slow"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7A531-0A43-A2A2-49D3-6A8B711D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07BD4C69-4B38-E827-B718-F3E6ED387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spc="-1" dirty="0" err="1">
                <a:solidFill>
                  <a:srgbClr val="000000"/>
                </a:solidFill>
                <a:latin typeface="Calibri"/>
              </a:rPr>
              <a:t>n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vidia-smi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B5039949-63BF-FB9E-5C94-048CBE3386F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9C2772D0-1823-94A8-C579-25DE122969AD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80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C8A65508-BF7F-8169-FD22-6CA9C7996CA8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11A2AF73-A736-8670-EB4C-3E7C22BE447B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26BA5A5C-9956-C70D-5969-63CD0120BC1D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72528AE8-4F0B-431C-06E2-C73103DE8B67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0CF34769-1CFC-3521-51BE-0A7D8AAAC387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60364-6E6E-1111-B9F5-6CD3B2996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3344"/>
            <a:ext cx="12192000" cy="605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10719"/>
      </p:ext>
    </p:extLst>
  </p:cSld>
  <p:clrMapOvr>
    <a:masterClrMapping/>
  </p:clrMapOvr>
  <p:transition spd="slow"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92F0-84AA-0861-79C3-A3412477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A20E9EE4-A092-6AC3-1837-8825D1C57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0" y="-7794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nvtop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DA880F9D-C954-E0AB-2DBB-2F2FDBF7D88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3CBA9BB0-C061-D1B3-056E-473616E38B1C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81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A754A3D7-A141-4CF6-2776-9202680D4288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464261CA-2CEE-1085-5E12-070953873628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1F345902-D5E1-E375-4DF3-3509C16A28C5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C132BA60-FCB6-E544-8C97-73F69A067535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762EC892-BF42-13AE-3AB1-BBCD8BF46902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4CA060-689B-C55E-5383-E0D6516BDFCF}"/>
              </a:ext>
            </a:extLst>
          </p:cNvPr>
          <p:cNvSpPr/>
          <p:nvPr/>
        </p:nvSpPr>
        <p:spPr>
          <a:xfrm>
            <a:off x="386862" y="5700027"/>
            <a:ext cx="520698" cy="445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577B85-913B-BB40-78C1-05810F6ADEE5}"/>
              </a:ext>
            </a:extLst>
          </p:cNvPr>
          <p:cNvSpPr/>
          <p:nvPr/>
        </p:nvSpPr>
        <p:spPr>
          <a:xfrm>
            <a:off x="3982452" y="5700028"/>
            <a:ext cx="8209187" cy="3868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5CF323-5F48-293C-F3E7-6A8BDEA1B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116"/>
            <a:ext cx="12192000" cy="654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63533"/>
      </p:ext>
    </p:extLst>
  </p:cSld>
  <p:clrMapOvr>
    <a:masterClrMapping/>
  </p:clrMapOvr>
  <p:transition spd="slow"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C17DA-82C3-C609-AFA9-58579D087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69357F11-D76D-EAB3-A185-40F71F58B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8" y="-27537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htop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93EFACA7-50FF-81BF-45E4-B5B3FD773E0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1FB601BB-BC4E-095A-76FE-50AE399B3747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82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7FAB625-E116-E547-3DEB-A231ED3760A1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9BC245BA-DC0B-EB1A-A5D2-754AC3893BE1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34873925-9CBF-2ED0-36A2-BEA827E0A244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02B0B7A9-C458-BF49-C16F-7E04FFB906ED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65C63A39-9322-3E4E-3175-72936FB4A15C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52FFDD-AF67-9D76-D872-05E112141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22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751536"/>
      </p:ext>
    </p:extLst>
  </p:cSld>
  <p:clrMapOvr>
    <a:masterClrMapping/>
  </p:clrMapOvr>
  <p:transition spd="slow"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8EE46-E0B7-EF67-042C-081D3B84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9457188E-65C3-6B0F-5BAF-56C7D074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492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dcgmi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D0F0F8C7-387C-54D7-BBFE-EECA1BB2D60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19931A83-017C-89CE-1E2F-FC6FE0B1D89D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83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3AEE1F76-38E8-3EEA-2157-A5B145861170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E1F26BA5-7740-54F5-1929-7088ABD8A3A4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54999432-FF5F-B958-C34B-25C38293D3D6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801CB3D0-4F9B-1201-A27C-FF121D780C2A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8A9B29DC-4437-D523-9EBA-275AEE31B32E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1A76D8-D3B3-90FC-9E46-0C23825E4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5560"/>
            <a:ext cx="12192000" cy="629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03627"/>
      </p:ext>
    </p:extLst>
  </p:cSld>
  <p:clrMapOvr>
    <a:masterClrMapping/>
  </p:clrMapOvr>
  <p:transition spd="slow"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9755-C525-B476-AF2C-234C3261E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8EA1CC2-615C-58D7-359E-CFF44BCCA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ABD336CE-22BB-6E84-DDA0-03223E10734D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4C9CC45D-5D7D-D10F-C652-0A938967F284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Profiling…will be later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568ACCAC-EF50-D980-A840-7B6084280A9D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3FC85B9B-A4F2-63DF-4BDE-C15E8DB8FC07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78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64185BA-5495-BF3E-CCEF-973974A4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C537ADBB-B8D9-C08E-E653-9C7C468D4396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A2BFDBF-96C6-C8BA-BD1E-A7DBE1275965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Continuing with the S’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5D4D6133-BFE7-F90D-F68E-4948213CA1A0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BE456379-F52C-CE62-0FB7-438431150BCC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8609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Second S: Software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/TensorFlow vs </a:t>
            </a: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Numpy</a:t>
            </a:r>
            <a:endParaRPr lang="en-GB" sz="2000" spc="-1" dirty="0">
              <a:solidFill>
                <a:srgbClr val="000000"/>
              </a:solidFill>
              <a:latin typeface="Calibri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PyTorch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 and TensorFlow have GPU support, </a:t>
            </a: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Numpy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 does not</a:t>
            </a:r>
          </a:p>
          <a:p>
            <a:pPr marL="269875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Support for CUDA (Nvidia), </a:t>
            </a: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ROCm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 (AMD),  </a:t>
            </a:r>
            <a:br>
              <a:rPr lang="en-GB" sz="2000" spc="-1" dirty="0">
                <a:solidFill>
                  <a:srgbClr val="000000"/>
                </a:solidFill>
                <a:latin typeface="Calibri"/>
              </a:rPr>
            </a:br>
            <a:r>
              <a:rPr lang="en-GB" sz="2000" spc="-1" dirty="0">
                <a:solidFill>
                  <a:srgbClr val="000000"/>
                </a:solidFill>
                <a:latin typeface="Calibri"/>
              </a:rPr>
              <a:t>&lt;insert exotic hardware here&gt;?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E.g.: Intel </a:t>
            </a: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SapphireRapids</a:t>
            </a:r>
            <a:endParaRPr lang="en-GB" sz="1600" spc="-1" dirty="0">
              <a:solidFill>
                <a:srgbClr val="000000"/>
              </a:solidFill>
              <a:latin typeface="Calibri"/>
              <a:cs typeface="Arial"/>
            </a:endParaRP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  <a:ea typeface="+mn-lt"/>
                <a:cs typeface="+mn-lt"/>
              </a:rPr>
              <a:t>IPEX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: </a:t>
            </a:r>
            <a:r>
              <a:rPr lang="en-GB" sz="2000" spc="-1" dirty="0">
                <a:ea typeface="+mn-lt"/>
                <a:cs typeface="+mn-lt"/>
                <a:hlinkClick r:id="rId3"/>
              </a:rPr>
              <a:t>https://github.com/intel/intel-extension-for-pytorch</a:t>
            </a:r>
            <a:endParaRPr lang="en-GB" sz="1600" spc="-1" dirty="0">
              <a:latin typeface="Calibri"/>
              <a:ea typeface="+mn-lt"/>
              <a:cs typeface="+mn-lt"/>
            </a:endParaRP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LUMI </a:t>
            </a:r>
            <a:r>
              <a:rPr lang="en-GB" sz="2000" spc="-1" dirty="0">
                <a:ea typeface="+mn-lt"/>
                <a:cs typeface="+mn-lt"/>
                <a:hlinkClick r:id="rId4"/>
              </a:rPr>
              <a:t>https://www.lumi-supercomputer.eu/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  <a:ea typeface="+mn-lt"/>
                <a:cs typeface="+mn-lt"/>
              </a:rPr>
              <a:t>GDRDMA / SHARP / </a:t>
            </a:r>
            <a:r>
              <a:rPr lang="en-GB" sz="2000" spc="-1" dirty="0" err="1">
                <a:latin typeface="Calibri"/>
                <a:ea typeface="+mn-lt"/>
                <a:cs typeface="+mn-lt"/>
              </a:rPr>
              <a:t>cuDNN</a:t>
            </a:r>
            <a:r>
              <a:rPr lang="en-GB" sz="2000" spc="-1" dirty="0">
                <a:latin typeface="Calibri"/>
                <a:ea typeface="+mn-lt"/>
                <a:cs typeface="+mn-lt"/>
              </a:rPr>
              <a:t> / etc / etc / etc</a:t>
            </a:r>
            <a:br>
              <a:rPr lang="en-GB" sz="2000" spc="-1" dirty="0">
                <a:latin typeface="Calibri"/>
                <a:ea typeface="+mn-lt"/>
                <a:cs typeface="+mn-lt"/>
              </a:rPr>
            </a:br>
            <a:r>
              <a:rPr lang="en-GB" sz="2000" spc="-1" dirty="0">
                <a:latin typeface="Calibri"/>
                <a:ea typeface="+mn-lt"/>
                <a:cs typeface="+mn-lt"/>
              </a:rPr>
              <a:t>Not withstanding all the sys level dependencies</a:t>
            </a:r>
            <a:endParaRPr lang="en-GB" sz="2000" spc="-1" dirty="0">
              <a:ea typeface="+mn-lt"/>
              <a:cs typeface="+mn-lt"/>
              <a:hlinkClick r:id="rId4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  <a:ea typeface="+mn-lt"/>
                <a:cs typeface="+mn-lt"/>
              </a:rPr>
              <a:t>Support for lower precision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  <a:ea typeface="+mn-lt"/>
                <a:cs typeface="+mn-lt"/>
              </a:rPr>
              <a:t>BFloat16, Float16? FP8? FP4?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86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8E0B80-3616-250F-EA71-C6F91AA67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3883" y="3709440"/>
            <a:ext cx="4583114" cy="30306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F2664F-0E54-9084-39F5-C1C64343C8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7181" y="601154"/>
            <a:ext cx="4856518" cy="282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355075"/>
      </p:ext>
    </p:extLst>
  </p:cSld>
  <p:clrMapOvr>
    <a:masterClrMapping/>
  </p:clrMapOvr>
  <p:transition spd="slow"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Third S: Stack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Is my software compiled for my hardware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Pip install … 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Module load </a:t>
            </a:r>
            <a:r>
              <a:rPr lang="en-GB" sz="1600" spc="-1" dirty="0" err="1">
                <a:ea typeface="+mn-lt"/>
                <a:cs typeface="+mn-lt"/>
              </a:rPr>
              <a:t>PyTorch</a:t>
            </a:r>
            <a:r>
              <a:rPr lang="en-GB" sz="1600" spc="-1" dirty="0">
                <a:ea typeface="+mn-lt"/>
                <a:cs typeface="+mn-lt"/>
              </a:rPr>
              <a:t>/2.1.2-foss-2023a-CUDA-12.1.1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  <a:ea typeface="+mn-lt"/>
                <a:cs typeface="+mn-lt"/>
              </a:rPr>
              <a:t>Use containers!</a:t>
            </a:r>
          </a:p>
          <a:p>
            <a:pPr marL="908050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https://catalog.ngc.nvidia.com/orgs/nvidia/containers/pytorch</a:t>
            </a:r>
            <a:endParaRPr lang="en-GB" sz="1600" spc="-1" dirty="0">
              <a:latin typeface="Calibri"/>
              <a:ea typeface="+mn-lt"/>
              <a:cs typeface="+mn-lt"/>
            </a:endParaRPr>
          </a:p>
          <a:p>
            <a:pPr marL="269875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Again: Consider the hardware/platform that you’re using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GPU: Nvidia/CUDA? AMD/</a:t>
            </a: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ROCm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? 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CPUs: AVX512?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Cerebras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 / Gaudi3 / etc. / etc.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87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25C250-33E1-FD51-4588-F371C3CC0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883" y="3709440"/>
            <a:ext cx="4583114" cy="30306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7E4A50-40B0-2903-60D1-07F66B9C69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181" y="601154"/>
            <a:ext cx="4856518" cy="282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912297"/>
      </p:ext>
    </p:extLst>
  </p:cSld>
  <p:clrMapOvr>
    <a:masterClrMapping/>
  </p:clrMapOvr>
  <p:transition spd="slow">
    <p:fad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System + Software + Stack</a:t>
            </a:r>
            <a:br>
              <a:rPr lang="en-GB" sz="3200" b="1" spc="-1" dirty="0">
                <a:solidFill>
                  <a:srgbClr val="000000"/>
                </a:solidFill>
                <a:latin typeface="Calibri"/>
              </a:rPr>
            </a:b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Wait ... so what happens in torch?</a:t>
            </a:r>
            <a:endParaRPr lang="en-GB" sz="3200" b="1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You call torch 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200" spc="-1" dirty="0">
                <a:solidFill>
                  <a:srgbClr val="000000"/>
                </a:solidFill>
                <a:latin typeface="Calibri"/>
              </a:rPr>
              <a:t>E.g. </a:t>
            </a:r>
            <a:r>
              <a:rPr lang="en-GB" sz="1200" spc="-1" dirty="0" err="1">
                <a:solidFill>
                  <a:srgbClr val="000000"/>
                </a:solidFill>
                <a:latin typeface="Calibri"/>
              </a:rPr>
              <a:t>scatter_add</a:t>
            </a:r>
            <a:r>
              <a:rPr lang="en-GB" sz="1200" spc="-1" dirty="0">
                <a:solidFill>
                  <a:srgbClr val="000000"/>
                </a:solidFill>
                <a:latin typeface="Calibri"/>
              </a:rPr>
              <a:t>_ -&gt; Message passing in Graph-NNs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(Manual) Dispatching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Torch (python) determines the most appropriate function to call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cs typeface="Calibri"/>
              </a:rPr>
              <a:t>Dispatching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1600" spc="-1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Torch (C++/CU) calls the CPU/GPU kernel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cs typeface="Calibri"/>
              </a:rPr>
              <a:t>Dispatching 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400" spc="-1" dirty="0">
                <a:solidFill>
                  <a:srgbClr val="000000"/>
                </a:solidFill>
                <a:latin typeface="Calibri"/>
              </a:rPr>
              <a:t>Low-level C++/CU library performs actual calculation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cs typeface="Calibri"/>
              </a:rPr>
              <a:t>Dispatching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ea typeface="+mn-lt"/>
                <a:cs typeface="+mn-lt"/>
              </a:rPr>
              <a:t>PyTorch</a:t>
            </a:r>
            <a:r>
              <a:rPr lang="en-GB" sz="2000" spc="-1" dirty="0">
                <a:ea typeface="+mn-lt"/>
                <a:cs typeface="+mn-lt"/>
              </a:rPr>
              <a:t> Dispatcher: </a:t>
            </a:r>
          </a:p>
          <a:p>
            <a:pPr marL="41275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2000" spc="-1" dirty="0">
                <a:ea typeface="+mn-lt"/>
                <a:cs typeface="+mn-lt"/>
                <a:hlinkClick r:id="rId3"/>
              </a:rPr>
              <a:t>http://blog.ezyang.com/2020/09/lets-talk-about-the-pytorch-dispatcher/</a:t>
            </a:r>
            <a:endParaRPr lang="en-GB" sz="2000" spc="-1" dirty="0">
              <a:ea typeface="+mn-lt"/>
              <a:cs typeface="+mn-lt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88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Picture 2" descr="A drawing of a hand with a few icons&#10;&#10;AI-generated content may be incorrect.">
            <a:extLst>
              <a:ext uri="{FF2B5EF4-FFF2-40B4-BE49-F238E27FC236}">
                <a16:creationId xmlns:a16="http://schemas.microsoft.com/office/drawing/2014/main" id="{7D7DA8A8-B97A-9647-3A82-B7729B747B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193" y="0"/>
            <a:ext cx="4114807" cy="308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582245"/>
      </p:ext>
    </p:extLst>
  </p:cSld>
  <p:clrMapOvr>
    <a:masterClrMapping/>
  </p:clrMapOvr>
  <p:transition spd="slow">
    <p:fad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In practice: </a:t>
            </a:r>
            <a:r>
              <a:rPr lang="en-GB" sz="3200" b="1" spc="-1" err="1">
                <a:solidFill>
                  <a:srgbClr val="000000"/>
                </a:solidFill>
                <a:latin typeface="Calibri"/>
              </a:rPr>
              <a:t>PyTorch</a:t>
            </a:r>
            <a:r>
              <a:rPr lang="en-GB" sz="3200" b="1" spc="-1">
                <a:solidFill>
                  <a:srgbClr val="000000"/>
                </a:solidFill>
                <a:latin typeface="Calibri"/>
              </a:rPr>
              <a:t> + </a:t>
            </a:r>
            <a:r>
              <a:rPr lang="en-GB" sz="3200" b="1" spc="-1" err="1">
                <a:solidFill>
                  <a:srgbClr val="000000"/>
                </a:solidFill>
                <a:latin typeface="Calibri"/>
              </a:rPr>
              <a:t>Snellius</a:t>
            </a:r>
            <a:endParaRPr lang="en-US" sz="3200" b="0" strike="noStrike" spc="-1" err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We only have NVIDIA GPUs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72x4=288 NVIDIA A100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88x4=352 NVIDIA H100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Makes optimization a bit easier for you</a:t>
            </a:r>
            <a:endParaRPr lang="en-GB" sz="2000" b="0" strike="noStrike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You only need to spend a year sifting through documentation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ea typeface="+mn-lt"/>
                <a:cs typeface="+mn-lt"/>
                <a:hlinkClick r:id="rId3"/>
              </a:rPr>
              <a:t>https://servicedesk.surf.nl/wiki/display/WIKI/Deep+Learning+on+A100+GPUs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Or ask us... :)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Every EINF/NWO small grants has a default of 4 consultancy hours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89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94034"/>
      </p:ext>
    </p:extLst>
  </p:cSld>
  <p:clrMapOvr>
    <a:masterClrMapping/>
  </p:clrMapOvr>
  <p:transition spd="slow">
    <p:fad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err="1">
                <a:solidFill>
                  <a:srgbClr val="000000"/>
                </a:solidFill>
                <a:latin typeface="Calibri"/>
              </a:rPr>
              <a:t>Rapidfire</a:t>
            </a:r>
            <a:r>
              <a:rPr lang="en-GB" sz="3200" b="1" spc="-1">
                <a:solidFill>
                  <a:srgbClr val="000000"/>
                </a:solidFill>
                <a:latin typeface="Calibri"/>
              </a:rPr>
              <a:t>: implementation details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How fast do you want to go?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What is your goal?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Largest model possible?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Best validation performance?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Submit a paper to ISC ‘25?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90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, vectorafbeeldingen, sushi&#10;&#10;Automatisch gegenereerde beschrijving">
            <a:extLst>
              <a:ext uri="{FF2B5EF4-FFF2-40B4-BE49-F238E27FC236}">
                <a16:creationId xmlns:a16="http://schemas.microsoft.com/office/drawing/2014/main" id="{0B92D053-0B0B-96EC-E1CC-2CB2E09B5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997" y="345146"/>
            <a:ext cx="2743200" cy="2743200"/>
          </a:xfrm>
          <a:prstGeom prst="rect">
            <a:avLst/>
          </a:prstGeom>
        </p:spPr>
      </p:pic>
      <p:pic>
        <p:nvPicPr>
          <p:cNvPr id="3" name="Afbeelding 3">
            <a:extLst>
              <a:ext uri="{FF2B5EF4-FFF2-40B4-BE49-F238E27FC236}">
                <a16:creationId xmlns:a16="http://schemas.microsoft.com/office/drawing/2014/main" id="{CF36BB38-B2F5-E81C-4088-8D17B0824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20" y="3794331"/>
            <a:ext cx="7997825" cy="258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53909"/>
      </p:ext>
    </p:extLst>
  </p:cSld>
  <p:clrMapOvr>
    <a:masterClrMapping/>
  </p:clrMapOvr>
  <p:transition spd="slow">
    <p:fad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Rapidfire</a:t>
            </a: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: implementation details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Some useful resources: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ea typeface="+mn-lt"/>
                <a:cs typeface="+mn-lt"/>
                <a:hlinkClick r:id="rId3"/>
              </a:rPr>
              <a:t>https://pytorch.org/docs/stable/notes/cuda.html</a:t>
            </a:r>
            <a:endParaRPr lang="en-GB" sz="1600" spc="-1" dirty="0">
              <a:latin typeface="Calibri"/>
              <a:ea typeface="+mn-lt"/>
              <a:cs typeface="+mn-lt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1600" spc="-1" dirty="0">
                <a:cs typeface="Arial"/>
                <a:hlinkClick r:id="rId4"/>
              </a:rPr>
              <a:t>https</a:t>
            </a:r>
            <a:r>
              <a:rPr lang="en-GB" sz="1600" spc="-1" dirty="0">
                <a:solidFill>
                  <a:srgbClr val="0077C8"/>
                </a:solidFill>
                <a:cs typeface="Arial"/>
                <a:hlinkClick r:id="rId4"/>
              </a:rPr>
              <a:t>://docs.nvidia.com/deeplearning/performance/dl-performance-memory-limited/index.html</a:t>
            </a:r>
            <a:endParaRPr lang="en-GB" sz="1600" spc="-1" dirty="0">
              <a:solidFill>
                <a:srgbClr val="0077C8"/>
              </a:solidFill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1600" spc="-1" dirty="0">
                <a:solidFill>
                  <a:srgbClr val="0077C8"/>
                </a:solidFill>
                <a:cs typeface="Arial"/>
                <a:hlinkClick r:id="rId5"/>
              </a:rPr>
              <a:t>https://docs.nvidia.com/deeplearning/performance/index.html</a:t>
            </a:r>
            <a:endParaRPr lang="en-US" sz="1600" spc="-1" dirty="0"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Duncan: </a:t>
            </a:r>
            <a:r>
              <a:rPr lang="en-GB" sz="2000" i="1" spc="-1" dirty="0">
                <a:solidFill>
                  <a:srgbClr val="000000"/>
                </a:solidFill>
                <a:latin typeface="Arial"/>
                <a:cs typeface="Arial"/>
              </a:rPr>
              <a:t>"You can take any piece of code, spend 6 months optimizing it, and then write a paper about it"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91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, vectorafbeeldingen, sushi&#10;&#10;Automatisch gegenereerde beschrijving">
            <a:extLst>
              <a:ext uri="{FF2B5EF4-FFF2-40B4-BE49-F238E27FC236}">
                <a16:creationId xmlns:a16="http://schemas.microsoft.com/office/drawing/2014/main" id="{0B92D053-0B0B-96EC-E1CC-2CB2E09B5E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1997" y="345146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88460"/>
      </p:ext>
    </p:extLst>
  </p:cSld>
  <p:clrMapOvr>
    <a:masterClrMapping/>
  </p:clrMapOvr>
  <p:transition spd="slow">
    <p:fad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0: "oh my god": 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  <a:cs typeface="Arial"/>
              </a:rPr>
              <a:t>torch.amp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14508" y="573352"/>
            <a:ext cx="9507316" cy="52834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If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mixed precision isn’t working, probably you are doing something wrong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Gives you a free 2x+ speed boost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FP16 is probably better, BF16 is easier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FP8 is coming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92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E475C9-CED3-5189-4B99-5512539D3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769" y="3638386"/>
            <a:ext cx="6047553" cy="2646262"/>
          </a:xfrm>
          <a:prstGeom prst="rect">
            <a:avLst/>
          </a:prstGeom>
        </p:spPr>
      </p:pic>
      <p:pic>
        <p:nvPicPr>
          <p:cNvPr id="4" name="Picture 3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EDEDB78E-6E84-8BFB-4D35-646C303CC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0930"/>
            <a:ext cx="5935098" cy="334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22117"/>
      </p:ext>
    </p:extLst>
  </p:cSld>
  <p:clrMapOvr>
    <a:masterClrMapping/>
  </p:clrMapOvr>
  <p:transition spd="slow">
    <p:fad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9E8EC-A57F-8314-2F92-67E5DA38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4D14ED34-F5F5-F0DD-3B35-FB6D25C8C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0: "oh my god": 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  <a:cs typeface="Arial"/>
              </a:rPr>
              <a:t>torch.compile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973ABB89-AE67-F418-9537-3E4AD139CA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14508" y="573352"/>
            <a:ext cx="8983012" cy="52834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Arial"/>
                <a:cs typeface="Arial"/>
              </a:rPr>
              <a:t>1 CPU core is pinned to 1 GPU (used to be worse)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Arial"/>
                <a:cs typeface="Arial"/>
              </a:rPr>
              <a:t>CPU cannot keep up with the giant that is the GPU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Arial"/>
                <a:cs typeface="Arial"/>
              </a:rPr>
              <a:t>Still (somewhat) need to know the magic incantation: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12DABA9B-CCB1-D431-DD42-9D6B6224B82F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93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B6632C83-094C-5C04-69E5-08FE6859F0C4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F5339C71-9DCB-B6A3-A5C6-15EA7C748C99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2BA35D25-606C-9ACF-E671-9CCFA6967C8E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D1DFEF66-4086-C994-2471-78C722A169D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29A4CB3A-3545-AA2A-0CBE-2D2EF42CA45D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2" name="Afbeelding 1" descr="Shadow of the Colossus review – a game of majesty and melancholy steps back  into the light | Games | The Guardian">
            <a:extLst>
              <a:ext uri="{FF2B5EF4-FFF2-40B4-BE49-F238E27FC236}">
                <a16:creationId xmlns:a16="http://schemas.microsoft.com/office/drawing/2014/main" id="{36BE5178-ADF3-6E3D-53CF-6D11E0C74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951" y="88977"/>
            <a:ext cx="4083901" cy="3046606"/>
          </a:xfrm>
          <a:prstGeom prst="rect">
            <a:avLst/>
          </a:prstGeom>
        </p:spPr>
      </p:pic>
      <p:pic>
        <p:nvPicPr>
          <p:cNvPr id="6" name="Afbeelding 5" descr="factory">
            <a:extLst>
              <a:ext uri="{FF2B5EF4-FFF2-40B4-BE49-F238E27FC236}">
                <a16:creationId xmlns:a16="http://schemas.microsoft.com/office/drawing/2014/main" id="{BC1395AE-170C-7310-D60A-ED2FE1F3C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449" y="3130431"/>
            <a:ext cx="4081345" cy="3626550"/>
          </a:xfrm>
          <a:prstGeom prst="rect">
            <a:avLst/>
          </a:prstGeom>
        </p:spPr>
      </p:pic>
      <p:pic>
        <p:nvPicPr>
          <p:cNvPr id="8" name="Afbeelding 7" descr="factory">
            <a:extLst>
              <a:ext uri="{FF2B5EF4-FFF2-40B4-BE49-F238E27FC236}">
                <a16:creationId xmlns:a16="http://schemas.microsoft.com/office/drawing/2014/main" id="{65D54FB2-1E98-C888-60EF-F4D97C9F7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229" y="3127237"/>
            <a:ext cx="4016297" cy="3651525"/>
          </a:xfrm>
          <a:prstGeom prst="rect">
            <a:avLst/>
          </a:prstGeom>
        </p:spPr>
      </p:pic>
      <p:pic>
        <p:nvPicPr>
          <p:cNvPr id="9" name="Afbeelding 8" descr="chart">
            <a:extLst>
              <a:ext uri="{FF2B5EF4-FFF2-40B4-BE49-F238E27FC236}">
                <a16:creationId xmlns:a16="http://schemas.microsoft.com/office/drawing/2014/main" id="{886599FB-9B3F-B5AE-E63C-60C4CDC3DF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" y="2981848"/>
            <a:ext cx="4248613" cy="3793620"/>
          </a:xfrm>
          <a:prstGeom prst="rect">
            <a:avLst/>
          </a:prstGeom>
        </p:spPr>
      </p:pic>
      <p:pic>
        <p:nvPicPr>
          <p:cNvPr id="10" name="Afbeelding 9" descr="Afbeelding met tekst, Lettertype, schermopname, lijn&#10;&#10;Automatisch gegenereerde beschrijving">
            <a:extLst>
              <a:ext uri="{FF2B5EF4-FFF2-40B4-BE49-F238E27FC236}">
                <a16:creationId xmlns:a16="http://schemas.microsoft.com/office/drawing/2014/main" id="{E264643D-5720-A308-98A1-FB5AF5BF09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693" y="2349075"/>
            <a:ext cx="84391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03034"/>
      </p:ext>
    </p:extLst>
  </p:cSld>
  <p:clrMapOvr>
    <a:masterClrMapping/>
  </p:clrMapOvr>
  <p:transition spd="slow">
    <p:fade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94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5" descr="Afbeelding met tafel&#10;&#10;Automatisch gegenereerde beschrijving">
            <a:extLst>
              <a:ext uri="{FF2B5EF4-FFF2-40B4-BE49-F238E27FC236}">
                <a16:creationId xmlns:a16="http://schemas.microsoft.com/office/drawing/2014/main" id="{6ED36146-42C7-C63F-037E-DE94E5DCC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6" y="2340428"/>
            <a:ext cx="12093574" cy="4550664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51F16950-2F07-C126-F203-E7E430A52827}"/>
              </a:ext>
            </a:extLst>
          </p:cNvPr>
          <p:cNvSpPr txBox="1">
            <a:spLocks/>
          </p:cNvSpPr>
          <p:nvPr/>
        </p:nvSpPr>
        <p:spPr>
          <a:xfrm>
            <a:off x="676200" y="15528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−"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i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Make sure every single layer/input/operation is done on multiples of 2, and probably preferable multiples of 8</a:t>
            </a:r>
          </a:p>
        </p:txBody>
      </p:sp>
    </p:spTree>
    <p:extLst>
      <p:ext uri="{BB962C8B-B14F-4D97-AF65-F5344CB8AC3E}">
        <p14:creationId xmlns:p14="http://schemas.microsoft.com/office/powerpoint/2010/main" val="1834884858"/>
      </p:ext>
    </p:extLst>
  </p:cSld>
  <p:clrMapOvr>
    <a:masterClrMapping/>
  </p:clrMapOvr>
  <p:transition spd="slow">
    <p:fade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55CFE-EC98-50F3-AD05-C81CAB9E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39349BF3-83D5-FB0E-327A-FA573765C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F45D0ECE-8521-D428-7DF2-73AA4009679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33F34B05-DDFE-F6EE-129A-A11EF115FA43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95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3AFEA02-7AF7-67B4-5B3B-DC6A092F12EA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9DCD77B1-410A-8866-50A7-F6FD57C37221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F6082525-B2F0-F179-BAE3-7F043041EB5B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9593888D-30B7-961D-4035-DD69B16FF9AE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AF103791-F395-859F-757D-4746D65B63B0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061BFF25-EE3C-B424-FFF3-FADCAF5E6478}"/>
              </a:ext>
            </a:extLst>
          </p:cNvPr>
          <p:cNvSpPr txBox="1">
            <a:spLocks/>
          </p:cNvSpPr>
          <p:nvPr/>
        </p:nvSpPr>
        <p:spPr>
          <a:xfrm>
            <a:off x="676200" y="15528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−"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i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Make sure every single layer/input/operation is done on multiples of 2, and probably preferable multiples of 8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32323A4-127B-39D4-98FE-E3EFCECA5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336478"/>
            <a:ext cx="12270090" cy="377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6466"/>
      </p:ext>
    </p:extLst>
  </p:cSld>
  <p:clrMapOvr>
    <a:masterClrMapping/>
  </p:clrMapOvr>
  <p:transition spd="slow">
    <p:fade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E404-6D2C-1D60-1408-92A39E01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E0031383-D852-7545-9692-C1C508F2C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8A739DF4-58B9-57C9-E708-FEBEEF8574D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Avoid CPU-GPU sync</a:t>
            </a: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Create tensors directly on the device</a:t>
            </a: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br>
              <a:rPr lang="en-GB" sz="1200" spc="-1" dirty="0">
                <a:solidFill>
                  <a:srgbClr val="000000"/>
                </a:solidFill>
                <a:latin typeface="Arial"/>
                <a:cs typeface="Arial"/>
              </a:rPr>
            </a:br>
            <a:endParaRPr lang="en-GB" sz="12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C1092067-89A1-0876-000E-FB1FE369E9F9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96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BF1FD4F1-E1A5-4243-62DB-A1FC6F3516D5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EEE1D38C-0D75-83A5-6958-2BBB9D345094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FE813371-2B12-85FC-F76C-5653839D61E5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C8C90004-E7EE-46FA-88D6-1C9D47EA943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44487F0D-80CA-B4B7-69F1-0CC43A416D55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5">
            <a:extLst>
              <a:ext uri="{FF2B5EF4-FFF2-40B4-BE49-F238E27FC236}">
                <a16:creationId xmlns:a16="http://schemas.microsoft.com/office/drawing/2014/main" id="{2C016500-D03F-0FAD-317F-933A968A58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66"/>
          <a:stretch/>
        </p:blipFill>
        <p:spPr>
          <a:xfrm>
            <a:off x="330426" y="5278945"/>
            <a:ext cx="8236941" cy="145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38F1A5-AF4A-D438-5FBA-24858DAAA101}"/>
              </a:ext>
            </a:extLst>
          </p:cNvPr>
          <p:cNvSpPr txBox="1"/>
          <p:nvPr/>
        </p:nvSpPr>
        <p:spPr>
          <a:xfrm>
            <a:off x="6534670" y="2782474"/>
            <a:ext cx="824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✅ </a:t>
            </a:r>
          </a:p>
        </p:txBody>
      </p:sp>
      <p:pic>
        <p:nvPicPr>
          <p:cNvPr id="3" name="Picture 2" descr="Bad idea / Good idea Meme Generator - Imgflip">
            <a:extLst>
              <a:ext uri="{FF2B5EF4-FFF2-40B4-BE49-F238E27FC236}">
                <a16:creationId xmlns:a16="http://schemas.microsoft.com/office/drawing/2014/main" id="{AD1D36D8-1DC4-D760-DD69-505BBE258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9" b="2017"/>
          <a:stretch/>
        </p:blipFill>
        <p:spPr bwMode="auto">
          <a:xfrm>
            <a:off x="4721995" y="952034"/>
            <a:ext cx="6396726" cy="4927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close up of a word&#10;&#10;AI-generated content may be incorrect.">
            <a:extLst>
              <a:ext uri="{FF2B5EF4-FFF2-40B4-BE49-F238E27FC236}">
                <a16:creationId xmlns:a16="http://schemas.microsoft.com/office/drawing/2014/main" id="{7E1DC08D-C0CC-BBAD-6E81-6092D839C2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288" y="1977701"/>
            <a:ext cx="2838632" cy="785902"/>
          </a:xfrm>
          <a:prstGeom prst="rect">
            <a:avLst/>
          </a:prstGeom>
        </p:spPr>
      </p:pic>
      <p:pic>
        <p:nvPicPr>
          <p:cNvPr id="9" name="Picture 8" descr="A computer code with text&#10;&#10;AI-generated content may be incorrect.">
            <a:extLst>
              <a:ext uri="{FF2B5EF4-FFF2-40B4-BE49-F238E27FC236}">
                <a16:creationId xmlns:a16="http://schemas.microsoft.com/office/drawing/2014/main" id="{EAABF550-4A33-BDFC-4D38-6DC677962D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399" y="4189176"/>
            <a:ext cx="3667947" cy="132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47468"/>
      </p:ext>
    </p:extLst>
  </p:cSld>
  <p:clrMapOvr>
    <a:masterClrMapping/>
  </p:clrMapOvr>
  <p:transition spd="slow">
    <p:fade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27BF4-AC7E-D76A-B2C3-A3497E5B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B8440FBE-9F59-47A0-96AA-FFCBE708B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001AD3E8-A9ED-AE26-A525-E901E9397EF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2556" y="1143604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Avoid doing these inside a training loop if possible:</a:t>
            </a:r>
            <a:br>
              <a:rPr lang="en-GB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F0F06E18-B143-B140-2DE2-21C69E7D7FD6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97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FF2A9145-947B-A5A1-6587-31A8A43C1090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C4F3A042-9B02-4E5C-CFB1-A62828A289B1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9BB8F131-225A-3CE8-5C6D-BF9CCB92F543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31FABE60-D209-2885-1B01-1FF31248256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2F536526-60EF-2247-F21F-8954EA4EA66E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6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3665F321-F656-9ACA-A354-CC4F1982B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840" y="2349875"/>
            <a:ext cx="9957647" cy="3629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E42DC7-D802-CBF9-F94F-55A7E22DDA79}"/>
              </a:ext>
            </a:extLst>
          </p:cNvPr>
          <p:cNvSpPr txBox="1"/>
          <p:nvPr/>
        </p:nvSpPr>
        <p:spPr>
          <a:xfrm>
            <a:off x="5959040" y="5958023"/>
            <a:ext cx="6108788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This forces </a:t>
            </a:r>
            <a:r>
              <a:rPr lang="en-GB" sz="1400" dirty="0" err="1"/>
              <a:t>PyTorch</a:t>
            </a:r>
            <a:r>
              <a:rPr lang="en-GB" sz="1400" dirty="0"/>
              <a:t> to copy data from GPU to CPU, slowing performance.</a:t>
            </a:r>
            <a:endParaRPr lang="en-NL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2C645D-FE97-9FB5-EE2D-BF1CED8780DD}"/>
              </a:ext>
            </a:extLst>
          </p:cNvPr>
          <p:cNvCxnSpPr>
            <a:cxnSpLocks/>
          </p:cNvCxnSpPr>
          <p:nvPr/>
        </p:nvCxnSpPr>
        <p:spPr>
          <a:xfrm flipH="1" flipV="1">
            <a:off x="5582667" y="5681618"/>
            <a:ext cx="376373" cy="386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17867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4EB0F-4762-D3D4-E6FA-B45118A6A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CEB8A7D4-4C82-9CAD-FACC-631318CA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F22EC75F-C9B9-CBD9-BC69-92B031D6790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16240" y="1077715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Don't aggregate tensors which still require grad, e.g.: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losses.append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(loss) (:o)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instead, detach (</a:t>
            </a: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loss.detach</a:t>
            </a: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())</a:t>
            </a:r>
            <a:br>
              <a:rPr lang="en-GB" sz="1200" spc="-1" dirty="0">
                <a:solidFill>
                  <a:srgbClr val="000000"/>
                </a:solidFill>
                <a:latin typeface="Arial"/>
                <a:cs typeface="Arial"/>
              </a:rPr>
            </a:br>
            <a:endParaRPr lang="en-GB" sz="12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9E64FFD8-7A8F-4AAC-8AE5-0206F164F11B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98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0B41BAD-F64C-92FF-309A-39821E7538A3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1E57614D-54A8-6512-7DF2-75151651F4EA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3C844159-507E-42F0-ED94-E93DFBC15A72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DB0DF2F7-D8C3-EE37-D0FA-460AC922C50F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D879B570-FCC3-7A5D-7EDD-E482F9F651A9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4F66AB-924C-886D-F532-91B3737CF2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2" y="2961885"/>
            <a:ext cx="10396448" cy="2818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5FECB6-E925-759A-CD2E-2ACF173BA65B}"/>
              </a:ext>
            </a:extLst>
          </p:cNvPr>
          <p:cNvSpPr txBox="1"/>
          <p:nvPr/>
        </p:nvSpPr>
        <p:spPr>
          <a:xfrm>
            <a:off x="5841040" y="2357201"/>
            <a:ext cx="5905582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Each loss in </a:t>
            </a:r>
            <a:r>
              <a:rPr lang="en-GB" sz="1400" dirty="0" err="1"/>
              <a:t>losses.append</a:t>
            </a:r>
            <a:r>
              <a:rPr lang="en-GB" sz="1400" dirty="0"/>
              <a:t>(loss) stores the entire computation graph. </a:t>
            </a:r>
            <a:r>
              <a:rPr lang="en-GB" sz="1400" dirty="0" err="1"/>
              <a:t>PyTorch</a:t>
            </a:r>
            <a:r>
              <a:rPr lang="en-GB" sz="1400" dirty="0"/>
              <a:t> stores extra gradients unnecessarily!</a:t>
            </a:r>
            <a:endParaRPr lang="en-NL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40444A-307D-D510-BC5D-E4480127966D}"/>
              </a:ext>
            </a:extLst>
          </p:cNvPr>
          <p:cNvCxnSpPr>
            <a:cxnSpLocks/>
          </p:cNvCxnSpPr>
          <p:nvPr/>
        </p:nvCxnSpPr>
        <p:spPr>
          <a:xfrm flipH="1">
            <a:off x="3736623" y="2779732"/>
            <a:ext cx="2104417" cy="1871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70640C-1920-2812-A703-B4573D3103AE}"/>
              </a:ext>
            </a:extLst>
          </p:cNvPr>
          <p:cNvSpPr txBox="1"/>
          <p:nvPr/>
        </p:nvSpPr>
        <p:spPr>
          <a:xfrm>
            <a:off x="5226504" y="5962438"/>
            <a:ext cx="5003796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detach() creates a new tensor with the same values but removes the gradient tracking.</a:t>
            </a:r>
            <a:endParaRPr lang="en-NL" sz="14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E105AB7-1210-5AB6-9B19-31E24F9DBB49}"/>
              </a:ext>
            </a:extLst>
          </p:cNvPr>
          <p:cNvCxnSpPr>
            <a:cxnSpLocks/>
          </p:cNvCxnSpPr>
          <p:nvPr/>
        </p:nvCxnSpPr>
        <p:spPr>
          <a:xfrm flipH="1" flipV="1">
            <a:off x="4357512" y="5557064"/>
            <a:ext cx="868992" cy="56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37341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16240" y="968581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torch.backends.cuda.matmul.allow_tf32 = True</a:t>
            </a:r>
            <a:endParaRPr lang="nl-NL" dirty="0"/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The default in </a:t>
            </a: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 (silently)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torch.set_float32_matmul_precision('high')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torch.backends.cudnn.benchmark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= True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Empirically benchmarks to find fastest method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Align bytes: multiples of 2, 8, 1024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DNN libraries want nicely aligned memory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torch.channels_last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Helps with memory alignment and reduces cache misses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Compile: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2.0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Big speedup, but sensitive to implementation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99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1BF109-1D74-7BC9-A96F-E3A56F33C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70" y="5174106"/>
            <a:ext cx="4597400" cy="1066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497DAF-6847-9965-9E0A-FB7D7E05C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240" y="5174106"/>
            <a:ext cx="4775200" cy="1079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4EAEBA-6F9A-2C80-E4BE-5F8FA06FDA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760" y="6270886"/>
            <a:ext cx="7772400" cy="5120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07CE38-F6FC-BACE-E58B-D86C540F3B67}"/>
              </a:ext>
            </a:extLst>
          </p:cNvPr>
          <p:cNvSpPr txBox="1"/>
          <p:nvPr/>
        </p:nvSpPr>
        <p:spPr>
          <a:xfrm>
            <a:off x="7138700" y="872640"/>
            <a:ext cx="4471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little reason </a:t>
            </a:r>
            <a:r>
              <a:rPr lang="en-GB" sz="1400" i="1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GB" sz="1400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to use TensorFloat32 </a:t>
            </a:r>
            <a:r>
              <a:rPr lang="en-GB" sz="1400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</a:t>
            </a:r>
            <a:endParaRPr lang="en-NL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1D5802-F904-12C9-3B5B-E7FD8958958B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096000" y="1072695"/>
            <a:ext cx="1042700" cy="54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C3AC53-F74A-B814-27FE-C87489A7D069}"/>
              </a:ext>
            </a:extLst>
          </p:cNvPr>
          <p:cNvSpPr txBox="1"/>
          <p:nvPr/>
        </p:nvSpPr>
        <p:spPr>
          <a:xfrm>
            <a:off x="6722650" y="1576942"/>
            <a:ext cx="4953110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Helps maintain accuracy in cases where TF32 might introduce minor errors</a:t>
            </a:r>
            <a:endParaRPr lang="en-NL" sz="1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AC30D4-29D1-FC65-B112-423CAD7272E7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679949" y="1831910"/>
            <a:ext cx="1042701" cy="52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6C147F-3C92-1672-0D5C-8A774CD567A1}"/>
              </a:ext>
            </a:extLst>
          </p:cNvPr>
          <p:cNvSpPr txBox="1"/>
          <p:nvPr/>
        </p:nvSpPr>
        <p:spPr>
          <a:xfrm>
            <a:off x="7488595" y="3460538"/>
            <a:ext cx="4573690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Stores images in NHWC format instead of NCHW (optimizes GPU cache usage)</a:t>
            </a:r>
            <a:endParaRPr lang="en-NL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28055A-EAFC-E574-AA7B-E6305B9128C3}"/>
              </a:ext>
            </a:extLst>
          </p:cNvPr>
          <p:cNvCxnSpPr>
            <a:cxnSpLocks/>
          </p:cNvCxnSpPr>
          <p:nvPr/>
        </p:nvCxnSpPr>
        <p:spPr>
          <a:xfrm flipH="1">
            <a:off x="3285067" y="3772407"/>
            <a:ext cx="4218358" cy="38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23346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7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Level 2: Danger zone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torch.backends.cuda.matmul.allow_fp16_reduced_precision_reduction = True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Lol: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2000" spc="-1" dirty="0">
                <a:ea typeface="+mn-lt"/>
                <a:cs typeface="+mn-lt"/>
              </a:rPr>
              <a:t>torch.backends.cuda.matmul.allow_bf16_reduced_precision_reduction = True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Torch.set_float32_matmul_precision('medium')</a:t>
            </a:r>
            <a:endParaRPr lang="en-US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Cast model and data to (B)Float16 before the forward pass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We're not supposed to...but: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100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&#10;&#10;Automatisch gegenereerde beschrijving">
            <a:extLst>
              <a:ext uri="{FF2B5EF4-FFF2-40B4-BE49-F238E27FC236}">
                <a16:creationId xmlns:a16="http://schemas.microsoft.com/office/drawing/2014/main" id="{763B3421-2C79-FBA0-BDB3-57F0833F0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353" y="1753948"/>
            <a:ext cx="7996159" cy="572938"/>
          </a:xfrm>
          <a:prstGeom prst="rect">
            <a:avLst/>
          </a:prstGeom>
        </p:spPr>
      </p:pic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455" y="4419158"/>
            <a:ext cx="1478492" cy="19654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DCE398-D0F1-470F-102E-9ECF169A517A}"/>
              </a:ext>
            </a:extLst>
          </p:cNvPr>
          <p:cNvSpPr txBox="1"/>
          <p:nvPr/>
        </p:nvSpPr>
        <p:spPr>
          <a:xfrm>
            <a:off x="5959039" y="219409"/>
            <a:ext cx="6108788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Lower precision (FP16 or BF16) for matrix reductions instead of higher precision (FP32, advised). Can cause numerical instability!</a:t>
            </a:r>
            <a:endParaRPr lang="en-NL" sz="1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E6B202-43CB-8B21-B8D5-2F886CF5CDE2}"/>
              </a:ext>
            </a:extLst>
          </p:cNvPr>
          <p:cNvCxnSpPr>
            <a:cxnSpLocks/>
          </p:cNvCxnSpPr>
          <p:nvPr/>
        </p:nvCxnSpPr>
        <p:spPr>
          <a:xfrm flipH="1">
            <a:off x="9561689" y="827153"/>
            <a:ext cx="876708" cy="586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3E4A6E-5B33-B6FA-0FA9-F0F4C826281A}"/>
              </a:ext>
            </a:extLst>
          </p:cNvPr>
          <p:cNvCxnSpPr>
            <a:cxnSpLocks/>
          </p:cNvCxnSpPr>
          <p:nvPr/>
        </p:nvCxnSpPr>
        <p:spPr>
          <a:xfrm flipH="1">
            <a:off x="9537209" y="852519"/>
            <a:ext cx="901188" cy="1329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CD84707-DAE4-7FED-FC14-80907AAC9923}"/>
              </a:ext>
            </a:extLst>
          </p:cNvPr>
          <p:cNvSpPr txBox="1"/>
          <p:nvPr/>
        </p:nvSpPr>
        <p:spPr>
          <a:xfrm>
            <a:off x="6046652" y="2741726"/>
            <a:ext cx="610878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trades some accuracy for faster compute. Can affect model convergence</a:t>
            </a:r>
            <a:endParaRPr lang="en-NL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39EF1B-0CB4-8359-003F-754C9DB9BC53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5678311" y="2941781"/>
            <a:ext cx="368341" cy="200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648EA7E-5615-BF4A-2835-B66B24EC57FE}"/>
              </a:ext>
            </a:extLst>
          </p:cNvPr>
          <p:cNvSpPr txBox="1"/>
          <p:nvPr/>
        </p:nvSpPr>
        <p:spPr>
          <a:xfrm>
            <a:off x="6522374" y="4999996"/>
            <a:ext cx="5510849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Forces all computations to use lower precision, instead of letting </a:t>
            </a:r>
            <a:r>
              <a:rPr lang="en-GB" sz="1400" dirty="0" err="1"/>
              <a:t>autocast</a:t>
            </a:r>
            <a:r>
              <a:rPr lang="en-GB" sz="1400" dirty="0"/>
              <a:t>() to choose </a:t>
            </a:r>
            <a:endParaRPr lang="en-NL" sz="1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E41E917-D780-01AB-E3ED-30437B114D6C}"/>
              </a:ext>
            </a:extLst>
          </p:cNvPr>
          <p:cNvCxnSpPr>
            <a:cxnSpLocks/>
          </p:cNvCxnSpPr>
          <p:nvPr/>
        </p:nvCxnSpPr>
        <p:spPr>
          <a:xfrm flipH="1" flipV="1">
            <a:off x="5678311" y="3910829"/>
            <a:ext cx="1207911" cy="1089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42047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22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latin typeface="Calibri"/>
              </a:rPr>
              <a:t>Or: Change your model</a:t>
            </a: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Worst case scenario: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101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3" name="Afbeelding 3">
            <a:extLst>
              <a:ext uri="{FF2B5EF4-FFF2-40B4-BE49-F238E27FC236}">
                <a16:creationId xmlns:a16="http://schemas.microsoft.com/office/drawing/2014/main" id="{60664DDD-B0AA-0BAC-77E4-652D5830D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" y="2022455"/>
            <a:ext cx="12165013" cy="1701838"/>
          </a:xfrm>
          <a:prstGeom prst="rect">
            <a:avLst/>
          </a:prstGeom>
        </p:spPr>
      </p:pic>
      <p:pic>
        <p:nvPicPr>
          <p:cNvPr id="4" name="Afbeelding 4">
            <a:extLst>
              <a:ext uri="{FF2B5EF4-FFF2-40B4-BE49-F238E27FC236}">
                <a16:creationId xmlns:a16="http://schemas.microsoft.com/office/drawing/2014/main" id="{21FFE97D-BE6E-9AAC-991D-03EC04688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088" y="3161692"/>
            <a:ext cx="8902699" cy="348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568654"/>
      </p:ext>
    </p:extLst>
  </p:cSld>
  <p:clrMapOvr>
    <a:masterClrMapping/>
  </p:clrMapOvr>
  <p:transition spd="slow">
    <p:fade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5716F-DE4D-7677-D20C-465CA7AB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81F951FC-A7FF-FB15-2895-9180D45DD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latin typeface="Calibri"/>
              </a:rPr>
              <a:t>Or: Change your model</a:t>
            </a: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84C2000A-EF03-1431-79EF-07ECDD3575A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12437" y="970926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Change model architecture to improve performance characteristics, e.g.: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Use </a:t>
            </a:r>
            <a:r>
              <a:rPr lang="en-GB" sz="1100" spc="-1" dirty="0" err="1">
                <a:solidFill>
                  <a:srgbClr val="000000"/>
                </a:solidFill>
                <a:latin typeface="Arial"/>
                <a:cs typeface="Arial"/>
              </a:rPr>
              <a:t>LoRA</a:t>
            </a: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 for fine-tuning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Use pre-trained model aka zero shot (@train VAE for latent space creation or use pre-trained model)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E.g. Llama, DINOv2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Incorporate </a:t>
            </a:r>
            <a:r>
              <a:rPr lang="en-GB" sz="1100" spc="-1" dirty="0" err="1">
                <a:solidFill>
                  <a:srgbClr val="000000"/>
                </a:solidFill>
                <a:latin typeface="Arial"/>
                <a:cs typeface="Arial"/>
              </a:rPr>
              <a:t>dataloading</a:t>
            </a: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 operations into the model instead of CPU pipeline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 err="1">
                <a:solidFill>
                  <a:srgbClr val="000000"/>
                </a:solidFill>
                <a:latin typeface="Arial"/>
                <a:cs typeface="Arial"/>
              </a:rPr>
              <a:t>ViT</a:t>
            </a: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 vs CNN vs GNN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Change non-linearities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Multiples of 2,8,1024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Channels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Hidden size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Vocab size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Batch size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Input resolution/sequence length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Everything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For transformers: 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Patching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100" spc="-1" dirty="0">
                <a:solidFill>
                  <a:srgbClr val="000000"/>
                </a:solidFill>
                <a:latin typeface="Arial"/>
                <a:cs typeface="Arial"/>
              </a:rPr>
              <a:t>Masked attention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1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lvl="1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11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1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8E859C55-D5DC-31E1-DF64-276D364B3E96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102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B5DA00F-6A37-690A-60FA-98FC580117EE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8FCA34F8-8417-FCC7-0F15-DA2B967A25B3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E0D72F69-ABA9-3D35-A13A-379C4FB8ACD3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439A953F-FDBC-C3EC-92B3-EEA96823A1B5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E48D71EA-AE8D-C84A-860C-746B4584BC57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45BD415B-0503-1652-91B9-0C2285BEB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5" name="Picture 4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5194710C-8C79-4873-01DD-EDDF106D65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271" y="2518200"/>
            <a:ext cx="8298249" cy="43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14548"/>
      </p:ext>
    </p:extLst>
  </p:cSld>
  <p:clrMapOvr>
    <a:masterClrMapping/>
  </p:clrMapOvr>
  <p:transition spd="slow">
    <p:fade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Always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Have a baseline</a:t>
            </a:r>
            <a:endParaRPr lang="nl-NL"/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Check convergence statistics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103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2" name="Afbeelding 2" descr="Afbeelding met grafiek&#10;&#10;Automatisch gegenereerde beschrijving">
            <a:extLst>
              <a:ext uri="{FF2B5EF4-FFF2-40B4-BE49-F238E27FC236}">
                <a16:creationId xmlns:a16="http://schemas.microsoft.com/office/drawing/2014/main" id="{9313A08F-5E86-B1D2-6626-505D0D8B4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25" y="2495662"/>
            <a:ext cx="5783263" cy="35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74145"/>
      </p:ext>
    </p:extLst>
  </p:cSld>
  <p:clrMapOvr>
    <a:masterClrMapping/>
  </p:clrMapOvr>
  <p:transition spd="slow">
    <p:fade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Profile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lvl="1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Get a grip on your model’s performance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Profile</a:t>
            </a:r>
            <a:endParaRPr lang="nl-NL" dirty="0"/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Profile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Profile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104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wiel&#10;&#10;Automatisch gegenereerde beschrijving">
            <a:extLst>
              <a:ext uri="{FF2B5EF4-FFF2-40B4-BE49-F238E27FC236}">
                <a16:creationId xmlns:a16="http://schemas.microsoft.com/office/drawing/2014/main" id="{990048BE-1D46-0CDB-88C9-F4FB31A52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650" y="5357721"/>
            <a:ext cx="2743200" cy="142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12013"/>
      </p:ext>
    </p:extLst>
  </p:cSld>
  <p:clrMapOvr>
    <a:masterClrMapping/>
  </p:clrMapOvr>
  <p:transition spd="slow">
    <p:fade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47204-C478-6CF8-2D9A-B71AABBA9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AE8607C-C392-2EB5-F656-CF9E9D839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87B89263-AC10-5925-0218-94FA3565CA9D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7638A75-00E2-DD1F-828E-DCFA25184CFC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600" b="1" dirty="0">
                <a:solidFill>
                  <a:srgbClr val="FFFFFF"/>
                </a:solidFill>
                <a:latin typeface="Aptos"/>
              </a:rPr>
              <a:t>On that note: Profiling!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99B5521B-C6BE-43F5-A73D-903E587569FB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B9EB54BF-32F8-E858-55B8-4C60104C8734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779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C2F21-6207-5954-4BD6-68C930E7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2" descr="Afbeelding met wiel&#10;&#10;Automatisch gegenereerde beschrijving">
            <a:extLst>
              <a:ext uri="{FF2B5EF4-FFF2-40B4-BE49-F238E27FC236}">
                <a16:creationId xmlns:a16="http://schemas.microsoft.com/office/drawing/2014/main" id="{628423C9-D829-5811-848A-5D96B93CA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666" y="5333657"/>
            <a:ext cx="2743200" cy="1428934"/>
          </a:xfrm>
          <a:prstGeom prst="rect">
            <a:avLst/>
          </a:prstGeom>
        </p:spPr>
      </p:pic>
      <p:sp>
        <p:nvSpPr>
          <p:cNvPr id="938" name="PlaceHolder 1">
            <a:extLst>
              <a:ext uri="{FF2B5EF4-FFF2-40B4-BE49-F238E27FC236}">
                <a16:creationId xmlns:a16="http://schemas.microsoft.com/office/drawing/2014/main" id="{CC5DA91E-2155-30E4-4895-380836D4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Profile</a:t>
            </a:r>
            <a:endParaRPr lang="nl-NL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EE6DF855-2CD5-8A1A-8BFE-6A76E1A9A38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800100" lvl="1" indent="-342900">
              <a:lnSpc>
                <a:spcPct val="100000"/>
              </a:lnSpc>
              <a:buClr>
                <a:srgbClr val="EA7600"/>
              </a:buClr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Notebook available at 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  <a:hlinkClick r:id="rId4"/>
              </a:rPr>
              <a:t>https://github.com/SURF-ML/HPML-course-materials/blob/august2025/Day2/notebooks/PyTorch_profiling.ipynb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800100" lvl="1" indent="-342900">
              <a:lnSpc>
                <a:spcPct val="100000"/>
              </a:lnSpc>
              <a:buClr>
                <a:srgbClr val="EA7600"/>
              </a:buClr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Reference traces are in https://github.com/SURF-ML/HPML-course-materials/tree/august2025/Day2/notebooks/logs</a:t>
            </a:r>
          </a:p>
          <a:p>
            <a:pPr marL="800100" lvl="1" indent="-342900">
              <a:lnSpc>
                <a:spcPct val="100000"/>
              </a:lnSpc>
              <a:buClr>
                <a:srgbClr val="EA7600"/>
              </a:buClr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```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python3 -m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venv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venv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source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venv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/bin/activate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pip install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git+https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://github.com/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/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kineto.git#subdirectory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tb_plugin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git clone --depth=1 </a:t>
            </a:r>
            <a:r>
              <a:rPr lang="en-GB" sz="2000" spc="-1" dirty="0"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https://github.com/SURF-ML/HPML-course-materials.git</a:t>
            </a:r>
            <a:br>
              <a:rPr lang="en-GB" sz="2000" spc="-1" dirty="0">
                <a:latin typeface="Arial"/>
                <a:cs typeface="Arial"/>
              </a:rPr>
            </a:br>
            <a:r>
              <a:rPr lang="en-GB" sz="2000" spc="-1" dirty="0" err="1">
                <a:latin typeface="Arial"/>
                <a:cs typeface="Arial"/>
              </a:rPr>
              <a:t>tensorboard</a:t>
            </a:r>
            <a:r>
              <a:rPr lang="en-GB" sz="2000" spc="-1" dirty="0">
                <a:latin typeface="Arial"/>
                <a:cs typeface="Arial"/>
              </a:rPr>
              <a:t> --</a:t>
            </a:r>
            <a:r>
              <a:rPr lang="en-GB" sz="2000" spc="-1" dirty="0" err="1">
                <a:latin typeface="Arial"/>
                <a:cs typeface="Arial"/>
              </a:rPr>
              <a:t>logdir</a:t>
            </a:r>
            <a:r>
              <a:rPr lang="en-GB" sz="2000" spc="-1" dirty="0">
                <a:latin typeface="Arial"/>
                <a:cs typeface="Arial"/>
              </a:rPr>
              <a:t> HPML-course-materials/Day2/notebooks/logs/</a:t>
            </a:r>
            <a:br>
              <a:rPr lang="en-GB" sz="2000" spc="-1" dirty="0">
                <a:latin typeface="Arial"/>
                <a:cs typeface="Arial"/>
              </a:rPr>
            </a:br>
            <a:r>
              <a:rPr lang="en-GB" sz="2000" spc="-1" dirty="0">
                <a:latin typeface="Arial"/>
                <a:cs typeface="Arial"/>
              </a:rPr>
              <a:t>```</a:t>
            </a:r>
            <a:br>
              <a:rPr lang="en-GB" sz="2000" spc="-1" dirty="0">
                <a:latin typeface="Arial"/>
                <a:cs typeface="Arial"/>
              </a:rPr>
            </a:br>
            <a:endParaRPr lang="en-GB" sz="2000" spc="-1" dirty="0">
              <a:latin typeface="Arial"/>
              <a:cs typeface="Arial"/>
            </a:endParaRPr>
          </a:p>
          <a:p>
            <a:pPr marL="800100" lvl="1" indent="-342900">
              <a:lnSpc>
                <a:spcPct val="100000"/>
              </a:lnSpc>
              <a:buClr>
                <a:srgbClr val="EA7600"/>
              </a:buClr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E00228E6-A0AF-35E9-0876-FA464E1D493B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106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0D5459BD-C153-2099-50D9-DD597B8F0F4C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EFC92CA4-371B-53AE-5232-3AF391AE283A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6515E3BE-3D45-607E-A1A7-B7F1E20E7E0B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48CC3998-876B-B75C-FD5C-CCA0A8CD02F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416A1926-09F3-5763-7943-4D287A3B0C3E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02466"/>
      </p:ext>
    </p:extLst>
  </p:cSld>
  <p:clrMapOvr>
    <a:masterClrMapping/>
  </p:clrMapOvr>
  <p:transition spd="slow">
    <p:fade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C7F73-157D-F6F4-FD97-44454E295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4114854-148E-5248-5CEC-83F0A8124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orange</a:t>
            </a:r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F8E013A9-1483-1597-7DB2-D21F3DD964AE}"/>
              </a:ext>
            </a:extLst>
          </p:cNvPr>
          <p:cNvSpPr txBox="1">
            <a:spLocks/>
          </p:cNvSpPr>
          <p:nvPr/>
        </p:nvSpPr>
        <p:spPr>
          <a:xfrm>
            <a:off x="193040" y="216852"/>
            <a:ext cx="11805920" cy="6424295"/>
          </a:xfrm>
          <a:prstGeom prst="roundRect">
            <a:avLst>
              <a:gd name="adj" fmla="val 3563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6DA44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448B6F55-4340-ED9E-D31B-3FF4881688B6}"/>
              </a:ext>
            </a:extLst>
          </p:cNvPr>
          <p:cNvSpPr txBox="1"/>
          <p:nvPr/>
        </p:nvSpPr>
        <p:spPr>
          <a:xfrm>
            <a:off x="902978" y="2987073"/>
            <a:ext cx="9521181" cy="9402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600" b="1" dirty="0">
                <a:solidFill>
                  <a:srgbClr val="FFFFFF"/>
                </a:solidFill>
                <a:latin typeface="Aptos"/>
              </a:rPr>
              <a:t>Bonus</a:t>
            </a: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: AI Factory</a:t>
            </a:r>
          </a:p>
        </p:txBody>
      </p:sp>
      <p:sp>
        <p:nvSpPr>
          <p:cNvPr id="11" name="Tijdelijke aanduiding voor tekst 12">
            <a:extLst>
              <a:ext uri="{FF2B5EF4-FFF2-40B4-BE49-F238E27FC236}">
                <a16:creationId xmlns:a16="http://schemas.microsoft.com/office/drawing/2014/main" id="{51BF86EC-3F79-B3FE-1738-457168371CD7}"/>
              </a:ext>
            </a:extLst>
          </p:cNvPr>
          <p:cNvSpPr txBox="1">
            <a:spLocks/>
          </p:cNvSpPr>
          <p:nvPr/>
        </p:nvSpPr>
        <p:spPr>
          <a:xfrm>
            <a:off x="708207" y="3123000"/>
            <a:ext cx="36000" cy="612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rgbClr val="F19153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9992ACDE-D167-1DEC-1A50-B6C464C7B17A}"/>
              </a:ext>
            </a:extLst>
          </p:cNvPr>
          <p:cNvSpPr txBox="1">
            <a:spLocks/>
          </p:cNvSpPr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100000"/>
              <a:buFontTx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20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7303A"/>
              </a:buClr>
              <a:buSzPct val="100000"/>
              <a:buFontTx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57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A15784-66AE-E08A-230C-E324228692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78396-4D5F-3B62-1F02-E69153D064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F9DF40-9A7D-EC33-232A-17D6B1AB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factories recap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0E3EA3-57EE-A024-6A65-767C2FF2EF5F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 dirty="0"/>
              <a:t>Initiative by the EU to close the AI-gap</a:t>
            </a:r>
            <a:br>
              <a:rPr lang="en-US" dirty="0"/>
            </a:br>
            <a:r>
              <a:rPr lang="en-US" dirty="0"/>
              <a:t>to our ‘friends’ to the west </a:t>
            </a:r>
            <a:br>
              <a:rPr lang="en-US" dirty="0"/>
            </a:br>
            <a:r>
              <a:rPr lang="en-US" dirty="0"/>
              <a:t>and to our ‘friends’ to the east</a:t>
            </a:r>
          </a:p>
          <a:p>
            <a:r>
              <a:rPr lang="en-US" dirty="0"/>
              <a:t>Bootstrapping AI development</a:t>
            </a:r>
            <a:br>
              <a:rPr lang="en-US" dirty="0"/>
            </a:br>
            <a:r>
              <a:rPr lang="en-US" dirty="0"/>
              <a:t>and AI uptake in Europe</a:t>
            </a:r>
          </a:p>
          <a:p>
            <a:r>
              <a:rPr lang="en-US" dirty="0"/>
              <a:t>Budget ‘fluid’; up to EC discretion</a:t>
            </a:r>
            <a:br>
              <a:rPr lang="en-US" dirty="0"/>
            </a:br>
            <a:r>
              <a:rPr lang="en-US" dirty="0"/>
              <a:t>So far ~€1.5 billion granted</a:t>
            </a:r>
            <a:br>
              <a:rPr lang="en-US" dirty="0"/>
            </a:br>
            <a:r>
              <a:rPr lang="en-US" dirty="0"/>
              <a:t>Up to €200 million matched per site</a:t>
            </a:r>
          </a:p>
          <a:p>
            <a:r>
              <a:rPr lang="en-US" dirty="0"/>
              <a:t>AI Gigafactories also announced:</a:t>
            </a:r>
            <a:br>
              <a:rPr lang="en-US" dirty="0"/>
            </a:br>
            <a:r>
              <a:rPr lang="en-US" dirty="0"/>
              <a:t>~€20 billion available</a:t>
            </a:r>
          </a:p>
          <a:p>
            <a:r>
              <a:rPr lang="en-US" dirty="0"/>
              <a:t>‘Create AI aligned with EU values’</a:t>
            </a:r>
          </a:p>
          <a:p>
            <a:r>
              <a:rPr lang="en-US" dirty="0"/>
              <a:t>We want to build an AI factory,</a:t>
            </a:r>
            <a:br>
              <a:rPr lang="en-US" dirty="0"/>
            </a:br>
            <a:r>
              <a:rPr lang="en-US" dirty="0"/>
              <a:t>ready end of 2026 in The Netherlands</a:t>
            </a:r>
            <a:endParaRPr lang="en-NL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C7EC0915-F252-48DB-6B17-5514B8621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979" y="4978"/>
            <a:ext cx="6853022" cy="685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1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6CC92-B06B-662C-8625-4976EAC54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4D9E99-82CF-4D08-CFA1-571C99625C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D4D59-738B-343D-EA44-A9E82EFE1D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EDC8BA-3229-9704-86FD-CEAECB1F4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factories recap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6570D3-BD65-1443-0CEB-492374873AA7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5162" y="1592262"/>
            <a:ext cx="4371302" cy="4060393"/>
          </a:xfrm>
        </p:spPr>
        <p:txBody>
          <a:bodyPr/>
          <a:lstStyle/>
          <a:p>
            <a:r>
              <a:rPr lang="en-US" dirty="0"/>
              <a:t>We want to build an AI factory,</a:t>
            </a:r>
            <a:br>
              <a:rPr lang="en-US" dirty="0"/>
            </a:br>
            <a:r>
              <a:rPr lang="en-US" dirty="0"/>
              <a:t>ready end of 2026 in The Netherlands</a:t>
            </a:r>
          </a:p>
          <a:p>
            <a:r>
              <a:rPr lang="en-US" dirty="0"/>
              <a:t>Seems Lithuania and the Netherlands are </a:t>
            </a:r>
            <a:br>
              <a:rPr lang="en-US" dirty="0"/>
            </a:br>
            <a:r>
              <a:rPr lang="en-US" dirty="0"/>
              <a:t>competing in the same round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br>
              <a:rPr lang="en-US" dirty="0">
                <a:sym typeface="Wingdings" panose="05000000000000000000" pitchFamily="2" charset="2"/>
              </a:rPr>
            </a:b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https://www.madeinvilnius.lt/en/business/Vilnius-market/The-ambition-is-to-have-one-of-the-most-powerful-di-centers-in-Europe-in-Lithuania./</a:t>
            </a:r>
            <a:endParaRPr lang="en-NL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8F33EB53-D254-6634-3164-11C3A5721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979" y="4978"/>
            <a:ext cx="6853022" cy="685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0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71A76-19F8-0B67-ED10-3DC01103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265AE2-1158-BEB3-E89D-76BD86488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224A6-38B4-989B-547E-2834B7692B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D91D02-FA07-4C8A-845B-9599A1928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factories setup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9FB30B-C7D8-7CAF-6B47-B5DE9E4A2585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 dirty="0"/>
              <a:t>Technically:</a:t>
            </a:r>
          </a:p>
          <a:p>
            <a:pPr lvl="1"/>
            <a:r>
              <a:rPr lang="en-US" dirty="0"/>
              <a:t>“AI factory” -&gt; expertise center</a:t>
            </a:r>
          </a:p>
          <a:p>
            <a:pPr lvl="1"/>
            <a:r>
              <a:rPr lang="en-US" dirty="0"/>
              <a:t>“AI facility” -&gt; supercomputer</a:t>
            </a:r>
          </a:p>
          <a:p>
            <a:r>
              <a:rPr lang="en-US" dirty="0"/>
              <a:t>“AI factory” sometimes means both</a:t>
            </a:r>
          </a:p>
          <a:p>
            <a:endParaRPr lang="en-US" dirty="0"/>
          </a:p>
          <a:p>
            <a:r>
              <a:rPr lang="en-US" dirty="0"/>
              <a:t>Dutch AIF:</a:t>
            </a:r>
          </a:p>
          <a:p>
            <a:pPr lvl="1"/>
            <a:r>
              <a:rPr lang="en-US" dirty="0"/>
              <a:t>200M euro total budget</a:t>
            </a:r>
          </a:p>
          <a:p>
            <a:pPr lvl="1"/>
            <a:r>
              <a:rPr lang="en-US" dirty="0"/>
              <a:t>1/3</a:t>
            </a:r>
            <a:r>
              <a:rPr lang="en-US" baseline="30000" dirty="0"/>
              <a:t>rd</a:t>
            </a:r>
            <a:r>
              <a:rPr lang="en-US" dirty="0"/>
              <a:t> of the budget towards facility</a:t>
            </a:r>
          </a:p>
          <a:p>
            <a:pPr lvl="1"/>
            <a:r>
              <a:rPr lang="en-US" dirty="0"/>
              <a:t>Operational Q4 2026</a:t>
            </a:r>
          </a:p>
          <a:p>
            <a:endParaRPr lang="en-US" dirty="0"/>
          </a:p>
          <a:p>
            <a:endParaRPr lang="en-NL" dirty="0"/>
          </a:p>
        </p:txBody>
      </p:sp>
      <p:pic>
        <p:nvPicPr>
          <p:cNvPr id="8" name="Picture 7" descr="A building with many logos&#10;&#10;AI-generated content may be incorrect.">
            <a:extLst>
              <a:ext uri="{FF2B5EF4-FFF2-40B4-BE49-F238E27FC236}">
                <a16:creationId xmlns:a16="http://schemas.microsoft.com/office/drawing/2014/main" id="{C1C5D940-C636-87E4-FF24-3A33CACEA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057" y="0"/>
            <a:ext cx="5529943" cy="36866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83EE98-9DD0-8B6D-5F42-8B1F417B8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057" y="3755580"/>
            <a:ext cx="5529943" cy="310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4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DF39B-1A2F-0C7C-9F3D-709E2EDB3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6029AA30-7C2A-97EE-0582-916BCB5987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219" y="6239960"/>
            <a:ext cx="932400" cy="475200"/>
          </a:xfrm>
        </p:spPr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C8DBB6F-8D44-7793-1F78-0663456443E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7788F2F-3E03-8879-5C06-F8BBDA6FC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Do we even need an AI factory?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A60A9997-4EF8-894C-023B-1D104D56A795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5162" y="1406397"/>
            <a:ext cx="11014354" cy="4729290"/>
          </a:xfrm>
        </p:spPr>
        <p:txBody>
          <a:bodyPr/>
          <a:lstStyle/>
          <a:p>
            <a:pPr marL="628650" lvl="7" indent="-285750">
              <a:buFont typeface="Arial" panose="020B0604020202020204" pitchFamily="34" charset="0"/>
              <a:buChar char="•"/>
            </a:pPr>
            <a:r>
              <a:rPr lang="nl-NL" sz="2800" dirty="0"/>
              <a:t>You tell me </a:t>
            </a:r>
            <a:r>
              <a:rPr lang="nl-NL" sz="2800" dirty="0">
                <a:sym typeface="Wingdings" panose="05000000000000000000" pitchFamily="2" charset="2"/>
              </a:rPr>
              <a:t></a:t>
            </a:r>
          </a:p>
          <a:p>
            <a:pPr marL="628650" lvl="7" indent="-285750">
              <a:buFont typeface="Arial" panose="020B0604020202020204" pitchFamily="34" charset="0"/>
              <a:buChar char="•"/>
            </a:pPr>
            <a:r>
              <a:rPr lang="nl-NL" sz="2800" dirty="0">
                <a:sym typeface="Wingdings" panose="05000000000000000000" pitchFamily="2" charset="2"/>
              </a:rPr>
              <a:t>Current (national) hardware is not sufficient for current &amp; next-gen workloads</a:t>
            </a:r>
          </a:p>
          <a:p>
            <a:pPr marL="628650" lvl="7" indent="-285750">
              <a:buFont typeface="Arial" panose="020B0604020202020204" pitchFamily="34" charset="0"/>
              <a:buChar char="•"/>
            </a:pPr>
            <a:endParaRPr lang="nl-NL" sz="2800" dirty="0">
              <a:sym typeface="Wingdings" panose="05000000000000000000" pitchFamily="2" charset="2"/>
            </a:endParaRPr>
          </a:p>
          <a:p>
            <a:pPr lvl="6" indent="0">
              <a:buNone/>
            </a:pPr>
            <a:r>
              <a:rPr lang="nl-NL" sz="2800" dirty="0">
                <a:sym typeface="Wingdings" panose="05000000000000000000" pitchFamily="2" charset="2"/>
              </a:rPr>
              <a:t>National perspective: </a:t>
            </a:r>
          </a:p>
          <a:p>
            <a:pPr marL="800100" lvl="6" indent="-457200">
              <a:buFont typeface="Arial" panose="020B0604020202020204" pitchFamily="34" charset="0"/>
              <a:buChar char="•"/>
            </a:pPr>
            <a:r>
              <a:rPr lang="nl-NL" sz="2800" dirty="0">
                <a:sym typeface="Wingdings" panose="05000000000000000000" pitchFamily="2" charset="2"/>
              </a:rPr>
              <a:t>Data sovereignty &amp; country borders are important (UMC’s)</a:t>
            </a:r>
          </a:p>
          <a:p>
            <a:pPr marL="800100" lvl="6" indent="-457200">
              <a:buFont typeface="Arial" panose="020B0604020202020204" pitchFamily="34" charset="0"/>
              <a:buChar char="•"/>
            </a:pPr>
            <a:r>
              <a:rPr lang="nl-NL" sz="2800" dirty="0">
                <a:sym typeface="Wingdings" panose="05000000000000000000" pitchFamily="2" charset="2"/>
              </a:rPr>
              <a:t>Foster national ecosystem</a:t>
            </a:r>
          </a:p>
          <a:p>
            <a:pPr marL="800100" lvl="6" indent="-457200">
              <a:buFont typeface="Arial" panose="020B0604020202020204" pitchFamily="34" charset="0"/>
              <a:buChar char="•"/>
            </a:pPr>
            <a:endParaRPr lang="nl-NL" sz="2800" dirty="0">
              <a:sym typeface="Wingdings" panose="05000000000000000000" pitchFamily="2" charset="2"/>
            </a:endParaRPr>
          </a:p>
          <a:p>
            <a:pPr lvl="7" indent="0">
              <a:buNone/>
            </a:pPr>
            <a:endParaRPr lang="nl-NL" sz="2800" dirty="0">
              <a:sym typeface="Wingdings" panose="05000000000000000000" pitchFamily="2" charset="2"/>
            </a:endParaRPr>
          </a:p>
          <a:p>
            <a:pPr marL="628650" lvl="7" indent="-285750">
              <a:buFont typeface="Arial" panose="020B0604020202020204" pitchFamily="34" charset="0"/>
              <a:buChar char="•"/>
            </a:pPr>
            <a:endParaRPr lang="nl-NL" sz="2800" dirty="0">
              <a:sym typeface="Wingdings" panose="05000000000000000000" pitchFamily="2" charset="2"/>
            </a:endParaRPr>
          </a:p>
          <a:p>
            <a:pPr lvl="7" indent="0">
              <a:buNone/>
            </a:pPr>
            <a:endParaRPr lang="nl-NL" sz="2800" dirty="0">
              <a:sym typeface="Wingdings" panose="05000000000000000000" pitchFamily="2" charset="2"/>
            </a:endParaRPr>
          </a:p>
          <a:p>
            <a:pPr marL="628650" lvl="7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2047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C6192-3B69-96F6-5068-27F77434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6F4FEA30-D067-C202-4B13-882C66EC00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219" y="6239960"/>
            <a:ext cx="932400" cy="475200"/>
          </a:xfrm>
        </p:spPr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2D0E92B-78E9-B3DC-500A-C9DABD0F55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A7EBFB1-CBD8-0764-FC9A-370F452C5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Do we even need an AI factory?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F1509266-7763-487C-40C6-0868254E24EC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5162" y="1406397"/>
            <a:ext cx="11014354" cy="4729290"/>
          </a:xfrm>
        </p:spPr>
        <p:txBody>
          <a:bodyPr/>
          <a:lstStyle/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nl-NL" dirty="0"/>
              <a:t>Our perspective:</a:t>
            </a:r>
          </a:p>
          <a:p>
            <a:pPr marL="628650" lvl="6" indent="-285750">
              <a:buFont typeface="Arial" panose="020B0604020202020204" pitchFamily="34" charset="0"/>
              <a:buChar char="•"/>
            </a:pPr>
            <a:r>
              <a:rPr lang="nl-NL" dirty="0"/>
              <a:t>On average, the HPML teams gets 3-4 tickets per day regarding AI</a:t>
            </a:r>
          </a:p>
          <a:p>
            <a:pPr marL="628650" lvl="7" indent="-285750">
              <a:buFont typeface="Arial" panose="020B0604020202020204" pitchFamily="34" charset="0"/>
              <a:buChar char="•"/>
            </a:pPr>
            <a:r>
              <a:rPr lang="nl-NL" dirty="0"/>
              <a:t>Application support and compute resource requests, on average taking 1-4hrs (one person fulltime) </a:t>
            </a:r>
          </a:p>
          <a:p>
            <a:pPr marL="628650" lvl="6" indent="-285750">
              <a:buFont typeface="Arial" panose="020B0604020202020204" pitchFamily="34" charset="0"/>
              <a:buChar char="•"/>
            </a:pPr>
            <a:r>
              <a:rPr lang="nl-NL" dirty="0"/>
              <a:t>AI says we practically get infinite tickets a day at the end of 2026</a:t>
            </a:r>
            <a:br>
              <a:rPr lang="nl-NL" dirty="0"/>
            </a:br>
            <a:r>
              <a:rPr lang="nl-NL" dirty="0"/>
              <a:t>(Actually ~15, extrapolated, 5 people fulltime)</a:t>
            </a:r>
          </a:p>
          <a:p>
            <a:pPr marL="628650" lvl="6" indent="-285750">
              <a:buFont typeface="Arial" panose="020B0604020202020204" pitchFamily="34" charset="0"/>
              <a:buChar char="•"/>
            </a:pPr>
            <a:r>
              <a:rPr lang="nl-NL" dirty="0"/>
              <a:t>Not withstanding larger application support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nl-NL" dirty="0"/>
              <a:t>Industry perspective:</a:t>
            </a:r>
          </a:p>
          <a:p>
            <a:pPr marL="628650" lvl="6" indent="-285750">
              <a:buFont typeface="Arial" panose="020B0604020202020204" pitchFamily="34" charset="0"/>
              <a:buChar char="•"/>
            </a:pPr>
            <a:r>
              <a:rPr lang="nl-NL" dirty="0"/>
              <a:t>AI has firmly taken over the HPC world</a:t>
            </a:r>
          </a:p>
          <a:p>
            <a:pPr marL="628650" lvl="6" indent="-285750">
              <a:buFont typeface="Arial" panose="020B0604020202020204" pitchFamily="34" charset="0"/>
              <a:buChar char="•"/>
            </a:pPr>
            <a:r>
              <a:rPr lang="nl-NL" dirty="0"/>
              <a:t>“AI is the new HPC” -&gt;</a:t>
            </a:r>
            <a:br>
              <a:rPr lang="nl-NL" dirty="0"/>
            </a:br>
            <a:r>
              <a:rPr lang="nl-NL" dirty="0"/>
              <a:t>AMD: “in 2025 ~30M datacenter GPUs datacenter </a:t>
            </a:r>
            <a:br>
              <a:rPr lang="nl-NL" dirty="0"/>
            </a:br>
            <a:r>
              <a:rPr lang="nl-NL" dirty="0"/>
              <a:t>were sold, of which ~500k for HPC applications”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nl-NL" dirty="0"/>
              <a:t>Public perspective:</a:t>
            </a:r>
          </a:p>
          <a:p>
            <a:pPr marL="628650" lvl="7" indent="-285750">
              <a:buFont typeface="Arial" panose="020B0604020202020204" pitchFamily="34" charset="0"/>
              <a:buChar char="•"/>
            </a:pPr>
            <a:r>
              <a:rPr lang="nl-NL" dirty="0"/>
              <a:t>Data and compute sovereignity</a:t>
            </a:r>
            <a:br>
              <a:rPr lang="nl-NL" dirty="0"/>
            </a:br>
            <a:r>
              <a:rPr lang="nl-NL" dirty="0"/>
              <a:t>is of paramount importance</a:t>
            </a:r>
          </a:p>
          <a:p>
            <a:pPr marL="628650" lvl="7" indent="-285750">
              <a:buFont typeface="Arial" panose="020B0604020202020204" pitchFamily="34" charset="0"/>
              <a:buChar char="•"/>
            </a:pPr>
            <a:r>
              <a:rPr lang="nl-NL" dirty="0"/>
              <a:t>AI factories and Gigafactories</a:t>
            </a:r>
          </a:p>
          <a:p>
            <a:pPr marL="628650" lvl="7" indent="-285750">
              <a:buFontTx/>
              <a:buChar char="-"/>
            </a:pPr>
            <a:endParaRPr lang="nl-NL" dirty="0"/>
          </a:p>
          <a:p>
            <a:pPr marL="285750" lvl="3" indent="-285750">
              <a:buFontTx/>
              <a:buChar char="-"/>
            </a:pPr>
            <a:endParaRPr lang="nl-NL" dirty="0"/>
          </a:p>
          <a:p>
            <a:pPr marL="285750" lvl="3" indent="-285750">
              <a:buFontTx/>
              <a:buChar char="-"/>
            </a:pPr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450038-78B2-9D6A-B7B8-AB8DF92FD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171" y="2945081"/>
            <a:ext cx="5234852" cy="3912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F37EE9-071D-F505-1335-CE279124D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664" y="5539387"/>
            <a:ext cx="1326632" cy="132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78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4396F1B-EB90-366A-59DE-06E78FF67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058" y="3306727"/>
            <a:ext cx="7762535" cy="3537116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0FFB61-6571-3806-9C8F-37A39A46D0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704C2-3FD2-C1DF-C62E-E96912AD05F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9EC12C-CEC1-EDCD-A97B-9948CFAC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to design the AI factory for?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E8643A-205E-C224-89D5-5710B2E35310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 dirty="0"/>
              <a:t>50/50 split between EuroHPC JU and The Netherlands</a:t>
            </a:r>
          </a:p>
          <a:p>
            <a:pPr lvl="1"/>
            <a:r>
              <a:rPr lang="en-US" dirty="0"/>
              <a:t>EuroHPC jobs almost per definition are large applications</a:t>
            </a:r>
          </a:p>
          <a:p>
            <a:r>
              <a:rPr lang="en-US" dirty="0"/>
              <a:t>Dutch Research?</a:t>
            </a:r>
          </a:p>
          <a:p>
            <a:pPr lvl="1"/>
            <a:r>
              <a:rPr lang="en-US" dirty="0"/>
              <a:t>Primarily ‘just’ need many GPUs, less emphasis on large jobs</a:t>
            </a:r>
          </a:p>
          <a:p>
            <a:r>
              <a:rPr lang="en-US" dirty="0"/>
              <a:t>SME?</a:t>
            </a:r>
          </a:p>
          <a:p>
            <a:pPr lvl="1"/>
            <a:r>
              <a:rPr lang="en-US" dirty="0"/>
              <a:t>Data security very important</a:t>
            </a:r>
          </a:p>
          <a:p>
            <a:pPr lvl="1"/>
            <a:r>
              <a:rPr lang="en-US" dirty="0"/>
              <a:t>More inference / always online type jobs</a:t>
            </a:r>
          </a:p>
          <a:p>
            <a:r>
              <a:rPr lang="en-US" dirty="0"/>
              <a:t>Public?</a:t>
            </a:r>
          </a:p>
          <a:p>
            <a:pPr lvl="1"/>
            <a:r>
              <a:rPr lang="en-US" dirty="0"/>
              <a:t>Again, data security</a:t>
            </a:r>
          </a:p>
          <a:p>
            <a:pPr lvl="1"/>
            <a:r>
              <a:rPr lang="en-US" dirty="0"/>
              <a:t>Small jobs?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3700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FFABF2-621F-0CBB-2A20-DBCA6FAA7C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30FF1-1F4E-7DC4-8C52-77146FCECE7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163422-0821-C5B5-AC58-747A06EF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to design the AI factory for?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498084-8AD6-0D55-5E3E-FD6E642FECB3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 dirty="0"/>
              <a:t>Again, what to optimize for?</a:t>
            </a:r>
          </a:p>
          <a:p>
            <a:r>
              <a:rPr lang="en-US" dirty="0"/>
              <a:t>Do we want/need 10 vans or 1 Ferrari?</a:t>
            </a:r>
          </a:p>
          <a:p>
            <a:r>
              <a:rPr lang="en-US" dirty="0"/>
              <a:t>Critical scale for certain training runs (‘small’ Large-LMs)</a:t>
            </a:r>
          </a:p>
          <a:p>
            <a:pPr lvl="1"/>
            <a:r>
              <a:rPr lang="en-US" dirty="0"/>
              <a:t>Probably in the order of ~2k GPUs IFF tightly coupled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>
                <a:hlinkClick r:id="rId2"/>
              </a:rPr>
              <a:t>https://arxiv.org/pdf/2412.19437</a:t>
            </a:r>
            <a:r>
              <a:rPr lang="en-US" b="1" dirty="0"/>
              <a:t>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707100-8141-52C6-D681-5CCD735FB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777" y="0"/>
            <a:ext cx="52508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332CE3-E002-A8D8-B861-A84A0C1A39BE}"/>
              </a:ext>
            </a:extLst>
          </p:cNvPr>
          <p:cNvSpPr txBox="1"/>
          <p:nvPr/>
        </p:nvSpPr>
        <p:spPr>
          <a:xfrm>
            <a:off x="9459045" y="6664669"/>
            <a:ext cx="2512679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US" sz="1000" dirty="0"/>
              <a:t>Source: https://arxiv.org/html/2410.21680v1</a:t>
            </a:r>
            <a:endParaRPr lang="en-NL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2C3CED-0D18-9DED-9549-39E865EAED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533" y="5090672"/>
            <a:ext cx="3032632" cy="170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07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46442E-C565-6C61-50E4-E3BE148AA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981" y="2181735"/>
            <a:ext cx="6062019" cy="4684287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B61628-0EDA-AB7C-AC86-4855B415EC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6D647-D0EB-468C-DA97-F1F5F3552D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154E84-32F4-BCA5-4F4E-E27E042DB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innovations for AI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9FB700-1EDC-4614-B12E-40E05E12DFAC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5162" y="1149379"/>
            <a:ext cx="7428606" cy="4429497"/>
          </a:xfrm>
        </p:spPr>
        <p:txBody>
          <a:bodyPr/>
          <a:lstStyle/>
          <a:p>
            <a:endParaRPr lang="en-US" dirty="0"/>
          </a:p>
          <a:p>
            <a:r>
              <a:rPr lang="en-US" dirty="0" err="1"/>
              <a:t>Matmuls</a:t>
            </a:r>
            <a:r>
              <a:rPr lang="en-US" dirty="0"/>
              <a:t> are unreasonably efficient</a:t>
            </a:r>
          </a:p>
          <a:p>
            <a:r>
              <a:rPr lang="en-US" dirty="0"/>
              <a:t>Reduced precision (FP64 is dead)</a:t>
            </a:r>
          </a:p>
          <a:p>
            <a:pPr lvl="1"/>
            <a:r>
              <a:rPr lang="en-US" sz="1400" dirty="0"/>
              <a:t>double whammy of increased FLOPS</a:t>
            </a:r>
            <a:br>
              <a:rPr lang="en-US" sz="1400" dirty="0"/>
            </a:br>
            <a:r>
              <a:rPr lang="en-US" sz="1400" dirty="0"/>
              <a:t>and reduced memory footprint</a:t>
            </a:r>
            <a:br>
              <a:rPr lang="en-US" sz="1400" dirty="0"/>
            </a:br>
            <a:r>
              <a:rPr lang="en-US" sz="1400" dirty="0"/>
              <a:t>(many workloads are </a:t>
            </a:r>
            <a:r>
              <a:rPr lang="en-US" sz="1400" dirty="0" err="1"/>
              <a:t>membw</a:t>
            </a:r>
            <a:r>
              <a:rPr lang="en-US" sz="1400" dirty="0"/>
              <a:t> bound)</a:t>
            </a:r>
          </a:p>
          <a:p>
            <a:r>
              <a:rPr lang="en-US" dirty="0"/>
              <a:t>High-bandwidth domains:</a:t>
            </a:r>
          </a:p>
          <a:p>
            <a:pPr lvl="1"/>
            <a:r>
              <a:rPr lang="en-US" sz="1400" dirty="0"/>
              <a:t>order-of-magnitude faster interconnect than current interconnect</a:t>
            </a:r>
          </a:p>
          <a:p>
            <a:pPr lvl="1"/>
            <a:r>
              <a:rPr lang="en-US" sz="1400" dirty="0"/>
              <a:t>Enables model sharding (FSDP, Tensor-Parallel, </a:t>
            </a:r>
            <a:r>
              <a:rPr lang="en-US" sz="1400" dirty="0" err="1"/>
              <a:t>MoE</a:t>
            </a:r>
            <a:r>
              <a:rPr lang="en-US" sz="1400" dirty="0"/>
              <a:t>)</a:t>
            </a:r>
            <a:br>
              <a:rPr lang="en-US" sz="1400" dirty="0"/>
            </a:br>
            <a:r>
              <a:rPr lang="en-US" sz="1400" dirty="0"/>
              <a:t>Bigger models are simply better (given enough data)</a:t>
            </a:r>
          </a:p>
          <a:p>
            <a:pPr lvl="1"/>
            <a:r>
              <a:rPr lang="en-US" sz="1400" dirty="0"/>
              <a:t>Pods</a:t>
            </a:r>
            <a:endParaRPr lang="en-NL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228B99-DF29-6028-82A5-F1572B4B4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8" y="99665"/>
            <a:ext cx="4636361" cy="235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71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E7CF59-7ADC-A566-F8EA-CD27A9C9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49BC2-BA79-2061-5308-787E89AD7B7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6FB7C0-E7C8-3ACB-BE33-CD2107E2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where does that leave us?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1828CE-3BBD-C43A-B7A2-8A4333CA58C6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5162" y="1592262"/>
            <a:ext cx="9270078" cy="40603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Disclaimer time:</a:t>
            </a:r>
          </a:p>
          <a:p>
            <a:r>
              <a:rPr lang="en-US" dirty="0"/>
              <a:t>None of this is final</a:t>
            </a:r>
          </a:p>
          <a:p>
            <a:r>
              <a:rPr lang="en-US" dirty="0"/>
              <a:t>Good ideas are always appreciated</a:t>
            </a:r>
          </a:p>
          <a:p>
            <a:r>
              <a:rPr lang="en-US" dirty="0"/>
              <a:t>Fully dependent on funding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HW design TL;DR: (Goes without saying) optimize both for capability and cost-effectiveness</a:t>
            </a:r>
          </a:p>
          <a:p>
            <a:r>
              <a:rPr lang="en-US" dirty="0"/>
              <a:t>Exascale 16-bit TFLOPS</a:t>
            </a:r>
          </a:p>
          <a:p>
            <a:r>
              <a:rPr lang="en-US" dirty="0"/>
              <a:t>Power envelope: 5MW</a:t>
            </a:r>
          </a:p>
          <a:p>
            <a:r>
              <a:rPr lang="en-US" dirty="0"/>
              <a:t>Compute: as many big AI GPUs as possible</a:t>
            </a:r>
          </a:p>
          <a:p>
            <a:r>
              <a:rPr lang="en-US" dirty="0"/>
              <a:t>Storage: tiered</a:t>
            </a:r>
          </a:p>
          <a:p>
            <a:r>
              <a:rPr lang="en-US" dirty="0"/>
              <a:t>Network: optimized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5094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BD97E6-255B-54BB-BAD4-37B1114004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3072" y="6298280"/>
            <a:ext cx="932400" cy="475200"/>
          </a:xfrm>
        </p:spPr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10F41-EACB-F47B-EE9D-742BD26A8C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8FF3B9-4FB0-F874-3BD2-123DF35F6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B3D147-AF18-1130-68FD-D52B633DB06F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 dirty="0"/>
              <a:t>Performance  partition: 1k GPUs</a:t>
            </a:r>
          </a:p>
          <a:p>
            <a:pPr lvl="1"/>
            <a:r>
              <a:rPr lang="en-US" dirty="0"/>
              <a:t>Big GPUs, Big interconnect</a:t>
            </a:r>
            <a:br>
              <a:rPr lang="en-US" dirty="0"/>
            </a:br>
            <a:r>
              <a:rPr lang="en-US" dirty="0"/>
              <a:t>PFLOPS per GPU, 200GB+ HBM VRAM</a:t>
            </a:r>
          </a:p>
          <a:p>
            <a:pPr lvl="1"/>
            <a:r>
              <a:rPr lang="en-US" dirty="0"/>
              <a:t>Focus on training or big-model inference</a:t>
            </a:r>
          </a:p>
          <a:p>
            <a:pPr lvl="1"/>
            <a:r>
              <a:rPr lang="en-US" dirty="0"/>
              <a:t>120-240kW+ per rack</a:t>
            </a:r>
          </a:p>
          <a:p>
            <a:r>
              <a:rPr lang="en-US" strike="sngStrike" dirty="0"/>
              <a:t>Efficient partition</a:t>
            </a:r>
          </a:p>
          <a:p>
            <a:pPr lvl="1"/>
            <a:r>
              <a:rPr lang="en-US" strike="sngStrike" dirty="0"/>
              <a:t>Cost effective GPUs</a:t>
            </a:r>
          </a:p>
          <a:p>
            <a:pPr lvl="1"/>
            <a:r>
              <a:rPr lang="en-US" strike="sngStrike" dirty="0"/>
              <a:t>No interconnect</a:t>
            </a:r>
          </a:p>
          <a:p>
            <a:pPr lvl="1"/>
            <a:r>
              <a:rPr lang="en-US" strike="sngStrike" dirty="0"/>
              <a:t>Online inference</a:t>
            </a:r>
          </a:p>
          <a:p>
            <a:r>
              <a:rPr lang="en-US" dirty="0"/>
              <a:t>CPU partition</a:t>
            </a:r>
          </a:p>
          <a:p>
            <a:pPr lvl="1"/>
            <a:r>
              <a:rPr lang="en-US" dirty="0"/>
              <a:t>Pre/Post processing and CPU-based ML</a:t>
            </a:r>
          </a:p>
          <a:p>
            <a:r>
              <a:rPr lang="en-US" dirty="0"/>
              <a:t>Specialized partition</a:t>
            </a:r>
          </a:p>
          <a:p>
            <a:pPr lvl="1"/>
            <a:r>
              <a:rPr lang="en-US" dirty="0"/>
              <a:t>Exotic hardware for specific use cases</a:t>
            </a:r>
          </a:p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E01853-D8FA-78FA-B3C2-E0C77C855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164" y="207468"/>
            <a:ext cx="6434836" cy="30660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198CA0-117F-2C38-F5C8-6085A5329F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207" y="3334702"/>
            <a:ext cx="4905981" cy="356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12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3A2476-CA17-B1E1-5FF2-C466245279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4B1C1-B977-6C81-711D-0DC738DACCA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A76CD7-34BA-98C6-8535-7D436B07C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33BD30-75CA-A70E-64EB-D507793B1E3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5162" y="1592262"/>
            <a:ext cx="8559254" cy="4060393"/>
          </a:xfrm>
        </p:spPr>
        <p:txBody>
          <a:bodyPr/>
          <a:lstStyle/>
          <a:p>
            <a:r>
              <a:rPr lang="en-US" dirty="0"/>
              <a:t>Tiered:</a:t>
            </a:r>
          </a:p>
          <a:p>
            <a:pPr lvl="1"/>
            <a:r>
              <a:rPr lang="en-US" dirty="0"/>
              <a:t>‘Hot’ storage: all-NVMe SSD scratch</a:t>
            </a:r>
          </a:p>
          <a:p>
            <a:pPr lvl="2"/>
            <a:r>
              <a:rPr lang="en-US" dirty="0"/>
              <a:t>ML workloads are very often continuous-load high-</a:t>
            </a:r>
            <a:r>
              <a:rPr lang="en-US" dirty="0" err="1"/>
              <a:t>IOps</a:t>
            </a:r>
            <a:endParaRPr lang="en-US" dirty="0"/>
          </a:p>
          <a:p>
            <a:pPr lvl="2"/>
            <a:r>
              <a:rPr lang="en-US" dirty="0"/>
              <a:t>No node-local storage! (?)</a:t>
            </a:r>
          </a:p>
          <a:p>
            <a:pPr lvl="1"/>
            <a:r>
              <a:rPr lang="en-US" dirty="0"/>
              <a:t>‘Warm’ storage: performant spinning disk parallel fs</a:t>
            </a:r>
          </a:p>
          <a:p>
            <a:pPr lvl="2"/>
            <a:r>
              <a:rPr lang="en-US" dirty="0"/>
              <a:t>Backbone of the system</a:t>
            </a:r>
          </a:p>
          <a:p>
            <a:pPr lvl="1"/>
            <a:r>
              <a:rPr lang="en-US" dirty="0"/>
              <a:t>‘Lukewarm’ storage: object store</a:t>
            </a:r>
          </a:p>
          <a:p>
            <a:pPr lvl="2"/>
            <a:r>
              <a:rPr lang="en-US" dirty="0"/>
              <a:t>Data ingress, and integration with cloud and other EU systems</a:t>
            </a:r>
          </a:p>
          <a:p>
            <a:pPr lvl="1"/>
            <a:r>
              <a:rPr lang="en-US" dirty="0"/>
              <a:t>‘Cold’ storage: tape</a:t>
            </a:r>
          </a:p>
          <a:p>
            <a:pPr lvl="2"/>
            <a:r>
              <a:rPr lang="en-US" dirty="0"/>
              <a:t>Not generally available to users, but used as cost-effective backend for data storage and archival purposes</a:t>
            </a:r>
          </a:p>
          <a:p>
            <a:pPr lvl="2"/>
            <a:endParaRPr lang="en-US" dirty="0"/>
          </a:p>
          <a:p>
            <a:pPr marL="361950" lvl="2" indent="0">
              <a:buNone/>
            </a:pPr>
            <a:endParaRPr lang="en-US" dirty="0"/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4907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5358E9-97EA-EA80-1F80-BBFCD0D614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940B7-D27A-05DF-D2E2-26E6CDC53E8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3A3163-E72D-29B3-87F6-BD180035C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Interconnect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017442-654A-8244-24F4-288C4C823135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 dirty="0"/>
              <a:t>Probably 4-8 GPU’s per node all-to-all</a:t>
            </a:r>
          </a:p>
          <a:p>
            <a:pPr lvl="1"/>
            <a:r>
              <a:rPr lang="en-US" dirty="0"/>
              <a:t>Memory is large enough to not need Pods</a:t>
            </a:r>
          </a:p>
          <a:p>
            <a:r>
              <a:rPr lang="en-US" dirty="0"/>
              <a:t>Big ‘scale-out’ network is probably not necessary</a:t>
            </a:r>
          </a:p>
          <a:p>
            <a:pPr lvl="1"/>
            <a:r>
              <a:rPr lang="en-US" dirty="0"/>
              <a:t>We are too small for that</a:t>
            </a:r>
          </a:p>
          <a:p>
            <a:pPr lvl="1"/>
            <a:r>
              <a:rPr lang="en-US" dirty="0"/>
              <a:t>E.g.: two supplementary</a:t>
            </a:r>
            <a:br>
              <a:rPr lang="en-US" dirty="0"/>
            </a:br>
            <a:r>
              <a:rPr lang="en-US" dirty="0"/>
              <a:t>800Gbps NICs per node</a:t>
            </a: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dataloading</a:t>
            </a:r>
            <a:r>
              <a:rPr lang="en-US" dirty="0"/>
              <a:t> or scale-out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1273D6-1A80-1208-0FFD-3C91ED748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521" y="0"/>
            <a:ext cx="6173480" cy="3429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B1B097-79CA-C264-6AF4-3AF2F47C7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589" y="3664780"/>
            <a:ext cx="9371411" cy="308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25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19D218-9E6A-F969-E0DD-E27B1D3ED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742A6AE-6DFF-7482-EB69-16B8CB433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861" y="-67056"/>
            <a:ext cx="7261040" cy="699211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6F62ED-D2B9-C48F-384D-B48C7BDBE9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EA8B2-760B-9111-1E6C-C3DDFF0A69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207291-3C85-20AF-3E0B-17A458E9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Interconnect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C15E1C-F8EB-4CDC-A018-1FDCBB760631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 dirty="0"/>
              <a:t>All-copper ‘scale-up’ </a:t>
            </a:r>
          </a:p>
          <a:p>
            <a:pPr lvl="1"/>
            <a:r>
              <a:rPr lang="en-US" dirty="0"/>
              <a:t>8Tbps+ </a:t>
            </a:r>
            <a:r>
              <a:rPr lang="en-US" b="1" dirty="0"/>
              <a:t>per GPU</a:t>
            </a:r>
            <a:r>
              <a:rPr lang="en-US" dirty="0"/>
              <a:t> BW, connected directly to the GPU</a:t>
            </a:r>
          </a:p>
          <a:p>
            <a:pPr lvl="1"/>
            <a:r>
              <a:rPr lang="en-US" dirty="0"/>
              <a:t>For reference: Snellius GPU nodes = 2x200Gpbs divided over 4 GPUs</a:t>
            </a:r>
          </a:p>
          <a:p>
            <a:pPr lvl="1"/>
            <a:r>
              <a:rPr lang="en-US" dirty="0"/>
              <a:t>Single layer of switches connect up-to 256 GPUs</a:t>
            </a:r>
          </a:p>
          <a:p>
            <a:r>
              <a:rPr lang="en-US" dirty="0"/>
              <a:t>Big ‘scale-out’ network is probably not necessary</a:t>
            </a:r>
          </a:p>
          <a:p>
            <a:pPr lvl="1"/>
            <a:r>
              <a:rPr lang="en-US" dirty="0"/>
              <a:t>We are too small for that</a:t>
            </a:r>
          </a:p>
          <a:p>
            <a:pPr lvl="1"/>
            <a:r>
              <a:rPr lang="en-US" dirty="0"/>
              <a:t>E.g.: single supplementary</a:t>
            </a:r>
            <a:br>
              <a:rPr lang="en-US" dirty="0"/>
            </a:br>
            <a:r>
              <a:rPr lang="en-US" dirty="0"/>
              <a:t>800Gbps NIC per node</a:t>
            </a: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dataloading</a:t>
            </a:r>
            <a:r>
              <a:rPr lang="en-US" dirty="0"/>
              <a:t> or scale-out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F2AF47-7460-0F01-39CE-E22EE6C1F0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521" y="3468014"/>
            <a:ext cx="4669971" cy="33899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FF9BFD-2D7E-83CB-C753-ADCE5BE2C7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88958"/>
            <a:ext cx="4135521" cy="19690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7BC44A-7566-C8D3-4040-386DBE538B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5140" y="-67056"/>
            <a:ext cx="3578919" cy="19878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A4498A2-1687-C235-E3BE-11B59372FD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604057"/>
            <a:ext cx="2877228" cy="94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c44e48b3bafe6335c8658b98a8833334aa899c4"/>
</p:tagLst>
</file>

<file path=ppt/theme/theme1.xml><?xml version="1.0" encoding="utf-8"?>
<a:theme xmlns:a="http://schemas.openxmlformats.org/drawingml/2006/main" name="Template Slidebuilder - SURF">
  <a:themeElements>
    <a:clrScheme name="SURF">
      <a:dk1>
        <a:srgbClr val="000000"/>
      </a:dk1>
      <a:lt1>
        <a:srgbClr val="FFFFFF"/>
      </a:lt1>
      <a:dk2>
        <a:srgbClr val="070809"/>
      </a:dk2>
      <a:lt2>
        <a:srgbClr val="FFFFFF"/>
      </a:lt2>
      <a:accent1>
        <a:srgbClr val="EE7628"/>
      </a:accent1>
      <a:accent2>
        <a:srgbClr val="F6DA44"/>
      </a:accent2>
      <a:accent3>
        <a:srgbClr val="177ABF"/>
      </a:accent3>
      <a:accent4>
        <a:srgbClr val="2CA055"/>
      </a:accent4>
      <a:accent5>
        <a:srgbClr val="7B2882"/>
      </a:accent5>
      <a:accent6>
        <a:srgbClr val="E7303A"/>
      </a:accent6>
      <a:hlink>
        <a:srgbClr val="CCCBCB"/>
      </a:hlink>
      <a:folHlink>
        <a:srgbClr val="211F26"/>
      </a:folHlink>
    </a:clrScheme>
    <a:fontScheme name="SURF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190F0B-833F-43B9-8FDD-EFC0F7B49B29}">
  <we:reference id="5b784de7-d1ba-46fc-b40c-e70ff4de9d93" version="1.0.0.3" store="\\PPTDC\Shared Folders\Documenten\Ferry\Opdrachtgevers\Slidebuilder" storeType="Filesystem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7788</TotalTime>
  <Words>7575</Words>
  <Application>Microsoft Office PowerPoint</Application>
  <PresentationFormat>Widescreen</PresentationFormat>
  <Paragraphs>1818</Paragraphs>
  <Slides>120</Slides>
  <Notes>65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120</vt:i4>
      </vt:variant>
    </vt:vector>
  </HeadingPairs>
  <TitlesOfParts>
    <vt:vector size="130" baseType="lpstr">
      <vt:lpstr>Aptos</vt:lpstr>
      <vt:lpstr>Arial</vt:lpstr>
      <vt:lpstr>Calibri</vt:lpstr>
      <vt:lpstr>Calibri,Sans-Serif</vt:lpstr>
      <vt:lpstr>Cambria Math</vt:lpstr>
      <vt:lpstr>Courier New</vt:lpstr>
      <vt:lpstr>Helvetica Neue</vt:lpstr>
      <vt:lpstr>Times New Roman</vt:lpstr>
      <vt:lpstr>Wingdings</vt:lpstr>
      <vt:lpstr>Template Slidebuilder - SURF</vt:lpstr>
      <vt:lpstr>PowerPoint Presentation</vt:lpstr>
      <vt:lpstr>In this presentation</vt:lpstr>
      <vt:lpstr>In this presentation</vt:lpstr>
      <vt:lpstr>Chapter orange</vt:lpstr>
      <vt:lpstr>Who am I</vt:lpstr>
      <vt:lpstr>Snellius</vt:lpstr>
      <vt:lpstr>Access mechanisms</vt:lpstr>
      <vt:lpstr>Chapter orange</vt:lpstr>
      <vt:lpstr>The three S'</vt:lpstr>
      <vt:lpstr>System</vt:lpstr>
      <vt:lpstr>System</vt:lpstr>
      <vt:lpstr>Fundamental bottlenecks</vt:lpstr>
      <vt:lpstr>Fundamental bottlenecks</vt:lpstr>
      <vt:lpstr>Fundamental bottlenecks</vt:lpstr>
      <vt:lpstr>Fundamental bottlenecks</vt:lpstr>
      <vt:lpstr>Fundamental bottlenecks</vt:lpstr>
      <vt:lpstr>Some context</vt:lpstr>
      <vt:lpstr>Chapter orange</vt:lpstr>
      <vt:lpstr>Hardware overview</vt:lpstr>
      <vt:lpstr>Hardware overview</vt:lpstr>
      <vt:lpstr>Hardware overview</vt:lpstr>
      <vt:lpstr>Hardware overview</vt:lpstr>
      <vt:lpstr>Hardware overview</vt:lpstr>
      <vt:lpstr>Hardware overview</vt:lpstr>
      <vt:lpstr>Performance in practice</vt:lpstr>
      <vt:lpstr>Chapter orange</vt:lpstr>
      <vt:lpstr>Tensor cores</vt:lpstr>
      <vt:lpstr>Lower precision for DL</vt:lpstr>
      <vt:lpstr>Lower precision for DL</vt:lpstr>
      <vt:lpstr>Lower precision for DL</vt:lpstr>
      <vt:lpstr>Lower precision for DL</vt:lpstr>
      <vt:lpstr>Nvidia Hopper (e.g. H100)</vt:lpstr>
      <vt:lpstr>Nvidia Blackwell GPUs (e.g. B300)</vt:lpstr>
      <vt:lpstr>Thinking about the distribution of your data &amp; model becomes even more important</vt:lpstr>
      <vt:lpstr>Thinking about the distribution of your data &amp; model becomes even more important</vt:lpstr>
      <vt:lpstr>Thinking about the distribution of your data &amp; model becomes even more important</vt:lpstr>
      <vt:lpstr>Chapter orange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Practically</vt:lpstr>
      <vt:lpstr>Chapter orange</vt:lpstr>
      <vt:lpstr>Types of parallelization</vt:lpstr>
      <vt:lpstr>Types of parallelization</vt:lpstr>
      <vt:lpstr>Types of parallelization</vt:lpstr>
      <vt:lpstr>Data Parallelism</vt:lpstr>
      <vt:lpstr>Model parallelism</vt:lpstr>
      <vt:lpstr>Model parallelism: Pipeline parallelism</vt:lpstr>
      <vt:lpstr>Model parallelism: Tensor parallelism</vt:lpstr>
      <vt:lpstr>Model parallelism: Sequence parallel</vt:lpstr>
      <vt:lpstr>FSDP Workflow</vt:lpstr>
      <vt:lpstr>Hybrid model/data parallelism</vt:lpstr>
      <vt:lpstr>3D Parallelism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type of parallelism is applicable? Ease-of-implementation</vt:lpstr>
      <vt:lpstr>What type of parallelism is applicable? Ease-of-implementation</vt:lpstr>
      <vt:lpstr>What type of parallelism is applicable? Ease-of-implementation</vt:lpstr>
      <vt:lpstr>So….. What type of parallelization? Optimal performance</vt:lpstr>
      <vt:lpstr>Do I need to parallelise?</vt:lpstr>
      <vt:lpstr>Parallelization tools/wrappers</vt:lpstr>
      <vt:lpstr>Fit your distribution method to your system</vt:lpstr>
      <vt:lpstr>So you want to do multi-gpu?</vt:lpstr>
      <vt:lpstr>Chapter orange</vt:lpstr>
      <vt:lpstr>Monitoring pyramid</vt:lpstr>
      <vt:lpstr>nvidia-smi</vt:lpstr>
      <vt:lpstr>nvidia-smi</vt:lpstr>
      <vt:lpstr>nvtop</vt:lpstr>
      <vt:lpstr>htop</vt:lpstr>
      <vt:lpstr>dcgmi</vt:lpstr>
      <vt:lpstr>Chapter orange</vt:lpstr>
      <vt:lpstr>Chapter orange</vt:lpstr>
      <vt:lpstr>Second S: Software</vt:lpstr>
      <vt:lpstr>Third S: Stack</vt:lpstr>
      <vt:lpstr>System + Software + Stack Wait ... so what happens in torch?</vt:lpstr>
      <vt:lpstr>In practice: PyTorch + Snellius</vt:lpstr>
      <vt:lpstr>Rapidfire: implementation details</vt:lpstr>
      <vt:lpstr>Rapidfire: implementation details</vt:lpstr>
      <vt:lpstr>Level 0: "oh my god": torch.amp</vt:lpstr>
      <vt:lpstr>Level 0: "oh my god": torch.compile</vt:lpstr>
      <vt:lpstr>Level 1: Shouldn't impact model convergence:</vt:lpstr>
      <vt:lpstr>Level 1: Shouldn't impact model convergence:</vt:lpstr>
      <vt:lpstr>Level 1: Shouldn't impact model convergence:</vt:lpstr>
      <vt:lpstr>Level 1: Shouldn't impact model convergence:</vt:lpstr>
      <vt:lpstr>Level 1: Shouldn't impact model convergence:</vt:lpstr>
      <vt:lpstr>Level 1: Shouldn't impact model convergence:</vt:lpstr>
      <vt:lpstr>Level 2: Danger zone</vt:lpstr>
      <vt:lpstr>Or: Change your model</vt:lpstr>
      <vt:lpstr>Or: Change your model</vt:lpstr>
      <vt:lpstr>Always</vt:lpstr>
      <vt:lpstr>Profile</vt:lpstr>
      <vt:lpstr>Chapter orange</vt:lpstr>
      <vt:lpstr>Profile</vt:lpstr>
      <vt:lpstr>Chapter orange</vt:lpstr>
      <vt:lpstr>AI factories recap</vt:lpstr>
      <vt:lpstr>AI factories recap</vt:lpstr>
      <vt:lpstr>AI factories setup</vt:lpstr>
      <vt:lpstr>Do we even need an AI factory?</vt:lpstr>
      <vt:lpstr>Do we even need an AI factory?</vt:lpstr>
      <vt:lpstr>Who to design the AI factory for?</vt:lpstr>
      <vt:lpstr>Who to design the AI factory for?</vt:lpstr>
      <vt:lpstr>Critical innovations for AI</vt:lpstr>
      <vt:lpstr>So where does that leave us?</vt:lpstr>
      <vt:lpstr>Compute</vt:lpstr>
      <vt:lpstr>Storage</vt:lpstr>
      <vt:lpstr>Interconnect</vt:lpstr>
      <vt:lpstr>Interconnect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PowerMockup</dc:title>
  <dc:creator>PPT Solutions</dc:creator>
  <cp:lastModifiedBy>Robert Jan Schlimbach</cp:lastModifiedBy>
  <cp:revision>31</cp:revision>
  <dcterms:created xsi:type="dcterms:W3CDTF">2015-03-11T15:56:36Z</dcterms:created>
  <dcterms:modified xsi:type="dcterms:W3CDTF">2025-11-13T15:28:46Z</dcterms:modified>
</cp:coreProperties>
</file>