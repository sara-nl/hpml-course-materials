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1"/>
  </p:notesMasterIdLst>
  <p:handoutMasterIdLst>
    <p:handoutMasterId r:id="rId12"/>
  </p:handoutMasterIdLst>
  <p:sldIdLst>
    <p:sldId id="513" r:id="rId3"/>
    <p:sldId id="524" r:id="rId4"/>
    <p:sldId id="514" r:id="rId5"/>
    <p:sldId id="503" r:id="rId6"/>
    <p:sldId id="523" r:id="rId7"/>
    <p:sldId id="522" r:id="rId8"/>
    <p:sldId id="516" r:id="rId9"/>
    <p:sldId id="518" r:id="rId10"/>
  </p:sldIdLst>
  <p:sldSz cx="12192000" cy="6858000"/>
  <p:notesSz cx="6858000" cy="9144000"/>
  <p:custDataLst>
    <p:tags r:id="rId13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22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58" autoAdjust="0"/>
    <p:restoredTop sz="93357" autoAdjust="0"/>
  </p:normalViewPr>
  <p:slideViewPr>
    <p:cSldViewPr snapToGrid="0">
      <p:cViewPr varScale="1">
        <p:scale>
          <a:sx n="116" d="100"/>
          <a:sy n="116" d="100"/>
        </p:scale>
        <p:origin x="105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29-01-2025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29-01-2025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29-01-2025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29-01-2025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29-01-2025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29-01-2025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29-01-2025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upyter.snellius.surf.nl/jhssrf01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Tutorial –  30 January &amp; 5 February 2025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Trainers: Simone van </a:t>
            </a:r>
            <a:r>
              <a:rPr lang="en-US" dirty="0" err="1"/>
              <a:t>Bruggen</a:t>
            </a:r>
            <a:r>
              <a:rPr lang="en-US" dirty="0"/>
              <a:t>, Monica </a:t>
            </a:r>
            <a:r>
              <a:rPr lang="en-US" dirty="0" err="1"/>
              <a:t>Rotulo</a:t>
            </a:r>
            <a:r>
              <a:rPr lang="en-US" dirty="0"/>
              <a:t>, Robert Jan </a:t>
            </a:r>
            <a:r>
              <a:rPr lang="en-US" dirty="0" err="1"/>
              <a:t>Schlimbach</a:t>
            </a:r>
            <a:r>
              <a:rPr lang="en-US" dirty="0"/>
              <a:t> and Lars Veefkind</a:t>
            </a:r>
          </a:p>
          <a:p>
            <a:r>
              <a:rPr lang="en-US" dirty="0"/>
              <a:t>Machine Learning Advisors at SURF in HPML Team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Bryan Cardenas Guevara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dr. Erik Bekkers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Day 1: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 to Deep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Using the </a:t>
            </a:r>
            <a:r>
              <a:rPr lang="en-US" dirty="0" err="1"/>
              <a:t>PyTorch</a:t>
            </a:r>
            <a:r>
              <a:rPr lang="en-US" dirty="0"/>
              <a:t>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Fully connected networks, Convolutional networks, Transformers</a:t>
            </a:r>
          </a:p>
          <a:p>
            <a:pPr marL="0" indent="0">
              <a:buNone/>
            </a:pPr>
            <a:r>
              <a:rPr lang="en-US" dirty="0"/>
              <a:t>Day 2: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Parallel computing for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Software installations on HPC systems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1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014469"/>
            <a:ext cx="8974163" cy="5696574"/>
          </a:xfrm>
        </p:spPr>
        <p:txBody>
          <a:bodyPr/>
          <a:lstStyle/>
          <a:p>
            <a:r>
              <a:rPr lang="nl-NL" sz="1600" dirty="0"/>
              <a:t>9:30 – 9:45	</a:t>
            </a:r>
            <a:r>
              <a:rPr lang="nl-NL" sz="1600" dirty="0" err="1"/>
              <a:t>Welcome</a:t>
            </a:r>
            <a:r>
              <a:rPr lang="nl-NL" sz="1600" dirty="0"/>
              <a:t> </a:t>
            </a:r>
            <a:r>
              <a:rPr lang="nl-NL" sz="1600" dirty="0" err="1"/>
              <a:t>and</a:t>
            </a:r>
            <a:r>
              <a:rPr lang="nl-NL" sz="1600" dirty="0"/>
              <a:t> course </a:t>
            </a:r>
            <a:r>
              <a:rPr lang="nl-NL" sz="1600" dirty="0" err="1"/>
              <a:t>overview</a:t>
            </a:r>
            <a:r>
              <a:rPr lang="nl-NL" sz="1600" dirty="0"/>
              <a:t> </a:t>
            </a:r>
          </a:p>
          <a:p>
            <a:r>
              <a:rPr lang="nl-NL" sz="1600" dirty="0"/>
              <a:t>9:45 – 10:30	</a:t>
            </a:r>
            <a:r>
              <a:rPr lang="nl-NL" sz="1600" dirty="0" err="1"/>
              <a:t>Introduction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ML &amp; DL basic </a:t>
            </a:r>
            <a:r>
              <a:rPr lang="nl-NL" sz="1600" dirty="0" err="1"/>
              <a:t>principles</a:t>
            </a:r>
            <a:endParaRPr lang="nl-NL" sz="1600" dirty="0"/>
          </a:p>
          <a:p>
            <a:r>
              <a:rPr lang="nl-NL" sz="1600" dirty="0"/>
              <a:t>10:30 – 10:50         </a:t>
            </a:r>
            <a:r>
              <a:rPr lang="nl-NL" sz="1600" dirty="0" err="1"/>
              <a:t>Introduction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</a:t>
            </a:r>
            <a:r>
              <a:rPr lang="nl-NL" sz="1600" dirty="0" err="1"/>
              <a:t>PyTorch</a:t>
            </a:r>
            <a:r>
              <a:rPr lang="nl-NL" sz="1600" dirty="0"/>
              <a:t> (notebook) </a:t>
            </a:r>
          </a:p>
          <a:p>
            <a:r>
              <a:rPr lang="nl-NL" sz="1600" dirty="0"/>
              <a:t>10:50 – 11:05	Coffee break</a:t>
            </a:r>
          </a:p>
          <a:p>
            <a:r>
              <a:rPr lang="nl-NL" sz="1600" dirty="0"/>
              <a:t>11:05 – 11:45	</a:t>
            </a:r>
            <a:r>
              <a:rPr lang="en-US" sz="1600" dirty="0"/>
              <a:t>Hands-on: Fully connected network </a:t>
            </a:r>
          </a:p>
          <a:p>
            <a:r>
              <a:rPr lang="nl-NL" sz="1600" dirty="0"/>
              <a:t>11:45 – 12:00	</a:t>
            </a:r>
            <a:r>
              <a:rPr lang="nl-NL" sz="1600" dirty="0" err="1"/>
              <a:t>Recap</a:t>
            </a:r>
            <a:r>
              <a:rPr lang="nl-NL" sz="1600" dirty="0"/>
              <a:t> Hands-on</a:t>
            </a:r>
          </a:p>
          <a:p>
            <a:r>
              <a:rPr lang="nl-NL" sz="1600" dirty="0"/>
              <a:t>12:00 – 13:00         Lunch Break</a:t>
            </a:r>
          </a:p>
          <a:p>
            <a:r>
              <a:rPr lang="nl-NL" sz="1600" dirty="0"/>
              <a:t>13:00 – 14:00	</a:t>
            </a:r>
            <a:r>
              <a:rPr lang="en-US" sz="1600" dirty="0"/>
              <a:t>Convolutional neural networks</a:t>
            </a:r>
          </a:p>
          <a:p>
            <a:r>
              <a:rPr lang="en-US" sz="1600" dirty="0"/>
              <a:t>14:00 – 14:45         Hands-on: Convolutional neural networks </a:t>
            </a:r>
          </a:p>
          <a:p>
            <a:r>
              <a:rPr lang="en-US" sz="1600" dirty="0"/>
              <a:t>14:45 – 15:00         Recap hands-on </a:t>
            </a:r>
          </a:p>
          <a:p>
            <a:r>
              <a:rPr lang="en-US" sz="1600" dirty="0"/>
              <a:t>15:00</a:t>
            </a:r>
            <a:r>
              <a:rPr lang="nl-NL" sz="1600" dirty="0"/>
              <a:t> – </a:t>
            </a:r>
            <a:r>
              <a:rPr lang="en-US" sz="1600" dirty="0"/>
              <a:t>15:15	Coffee Break</a:t>
            </a:r>
            <a:endParaRPr lang="nl-NL" sz="1600" dirty="0"/>
          </a:p>
          <a:p>
            <a:r>
              <a:rPr lang="nl-NL" sz="1600" dirty="0"/>
              <a:t>15:15 – 16:00	</a:t>
            </a:r>
            <a:r>
              <a:rPr lang="en-US" sz="1600" dirty="0"/>
              <a:t>Self-attention / Transformers </a:t>
            </a:r>
            <a:endParaRPr lang="nl-NL" sz="1600" dirty="0"/>
          </a:p>
          <a:p>
            <a:r>
              <a:rPr lang="nl-NL" sz="1600" dirty="0"/>
              <a:t>16:00 – 16:45	Hands-on / demo notebook: </a:t>
            </a:r>
            <a:r>
              <a:rPr lang="nl-NL" sz="1600" dirty="0" err="1"/>
              <a:t>Transformers</a:t>
            </a:r>
            <a:endParaRPr lang="nl-NL" sz="1600" dirty="0"/>
          </a:p>
          <a:p>
            <a:r>
              <a:rPr lang="nl-NL" sz="1600" dirty="0"/>
              <a:t>16:45 – 17:00	</a:t>
            </a:r>
            <a:r>
              <a:rPr lang="nl-NL" sz="1600" dirty="0" err="1"/>
              <a:t>Questions</a:t>
            </a:r>
            <a:r>
              <a:rPr lang="nl-NL" sz="1600" dirty="0"/>
              <a:t>, </a:t>
            </a:r>
            <a:r>
              <a:rPr lang="nl-NL" sz="1600" dirty="0" err="1"/>
              <a:t>wrap</a:t>
            </a:r>
            <a:r>
              <a:rPr lang="nl-NL" sz="1600" dirty="0"/>
              <a:t>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852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2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nl-NL" sz="1600" dirty="0"/>
              <a:t>9:30 – 10:45	Software installations on HPC systems (Robert Jan </a:t>
            </a:r>
            <a:r>
              <a:rPr lang="nl-NL" sz="1600" dirty="0" err="1"/>
              <a:t>Schlimbach</a:t>
            </a:r>
            <a:r>
              <a:rPr lang="nl-NL" sz="1600" dirty="0"/>
              <a:t>)</a:t>
            </a:r>
          </a:p>
          <a:p>
            <a:r>
              <a:rPr lang="nl-NL" sz="1600" dirty="0"/>
              <a:t>10:45 – 11:00	Coffee break</a:t>
            </a:r>
          </a:p>
          <a:p>
            <a:r>
              <a:rPr lang="nl-NL" sz="1600" dirty="0"/>
              <a:t>11:00 – 11:30	</a:t>
            </a:r>
            <a:r>
              <a:rPr lang="en-US" sz="1600" dirty="0"/>
              <a:t>Packed file formats (Robert Jan </a:t>
            </a:r>
            <a:r>
              <a:rPr lang="en-US" sz="1600" dirty="0" err="1"/>
              <a:t>Schlimbach</a:t>
            </a:r>
            <a:r>
              <a:rPr lang="en-US" sz="1600" dirty="0"/>
              <a:t>)</a:t>
            </a:r>
          </a:p>
          <a:p>
            <a:r>
              <a:rPr lang="nl-NL" sz="1600" dirty="0"/>
              <a:t>11:30 – 12:15	Hands-on: </a:t>
            </a:r>
            <a:r>
              <a:rPr lang="en-US" sz="1600" dirty="0"/>
              <a:t>Packed file formats (Robert Jan </a:t>
            </a:r>
            <a:r>
              <a:rPr lang="en-US" sz="1600" dirty="0" err="1"/>
              <a:t>Schlimbach</a:t>
            </a:r>
            <a:r>
              <a:rPr lang="en-US" sz="1600" dirty="0"/>
              <a:t>)</a:t>
            </a:r>
            <a:endParaRPr lang="nl-NL" sz="1600" dirty="0"/>
          </a:p>
          <a:p>
            <a:r>
              <a:rPr lang="nl-NL" sz="1600" dirty="0"/>
              <a:t>12:15 – 13:15	Lunch Break</a:t>
            </a:r>
          </a:p>
          <a:p>
            <a:r>
              <a:rPr lang="nl-NL" sz="1600" dirty="0"/>
              <a:t>13:15 – 14:45	</a:t>
            </a:r>
            <a:r>
              <a:rPr lang="en-US" sz="1600" dirty="0"/>
              <a:t>Parallel Computing for Deep Learning (Lars Veefkind)</a:t>
            </a:r>
          </a:p>
          <a:p>
            <a:r>
              <a:rPr lang="en-US" sz="1600" dirty="0"/>
              <a:t>14:45</a:t>
            </a:r>
            <a:r>
              <a:rPr lang="nl-NL" sz="1600" dirty="0"/>
              <a:t> – </a:t>
            </a:r>
            <a:r>
              <a:rPr lang="en-US" sz="1600" dirty="0"/>
              <a:t>15:00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Hardware and software features to accelerate deep learning (Lars Veefkind)</a:t>
            </a:r>
            <a:endParaRPr lang="nl-NL" sz="1600" dirty="0"/>
          </a:p>
          <a:p>
            <a:r>
              <a:rPr lang="nl-NL" sz="1600" dirty="0"/>
              <a:t>15:45 – 16:45	Profiling to understand your neural network’s performance (</a:t>
            </a:r>
            <a:r>
              <a:rPr lang="en-US" sz="1600" dirty="0"/>
              <a:t>Robert Jan Schlimbach</a:t>
            </a:r>
            <a:r>
              <a:rPr lang="nl-NL" sz="1600" dirty="0"/>
              <a:t>)</a:t>
            </a:r>
          </a:p>
          <a:p>
            <a:r>
              <a:rPr lang="nl-NL" sz="1600" dirty="0"/>
              <a:t>16:45 – 17:00	Questions, wrap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Access to the Dutch National Supercomputer (</a:t>
            </a:r>
            <a:r>
              <a:rPr lang="en-US" dirty="0" err="1"/>
              <a:t>Snellius</a:t>
            </a:r>
            <a:r>
              <a:rPr lang="en-US" dirty="0"/>
              <a:t>) for this course</a:t>
            </a:r>
          </a:p>
          <a:p>
            <a:r>
              <a:rPr lang="en-US" dirty="0" err="1"/>
              <a:t>Snellius</a:t>
            </a:r>
            <a:r>
              <a:rPr lang="en-US" dirty="0"/>
              <a:t> Supercomputer (CPU-based </a:t>
            </a:r>
            <a:r>
              <a:rPr lang="en-US" dirty="0" err="1"/>
              <a:t>Jupyter</a:t>
            </a:r>
            <a:r>
              <a:rPr lang="en-US" dirty="0"/>
              <a:t> Notebook environment, CPU batch jobs)</a:t>
            </a:r>
          </a:p>
          <a:p>
            <a:pPr marL="569913" lvl="1"/>
            <a:r>
              <a:rPr lang="en-US" dirty="0"/>
              <a:t>Did you get a login ‘</a:t>
            </a:r>
            <a:r>
              <a:rPr lang="en-US" dirty="0" err="1"/>
              <a:t>scurXXX</a:t>
            </a:r>
            <a:r>
              <a:rPr lang="en-US" dirty="0"/>
              <a:t>’?</a:t>
            </a:r>
          </a:p>
          <a:p>
            <a:pPr marL="569913" lvl="1"/>
            <a:r>
              <a:rPr lang="en-US" dirty="0"/>
              <a:t>The e-mail contains a link to choose a password – please do so</a:t>
            </a:r>
          </a:p>
          <a:p>
            <a:pPr marL="569913" lvl="1"/>
            <a:r>
              <a:rPr lang="en-US" dirty="0"/>
              <a:t>Log in to </a:t>
            </a:r>
            <a:r>
              <a:rPr lang="en-US" dirty="0">
                <a:hlinkClick r:id="rId3"/>
              </a:rPr>
              <a:t>https://portal.cua.surf.nl/</a:t>
            </a:r>
            <a:r>
              <a:rPr lang="en-US" dirty="0"/>
              <a:t> and accept the End User Agreement</a:t>
            </a:r>
          </a:p>
          <a:p>
            <a:pPr marL="569913" lvl="1"/>
            <a:r>
              <a:rPr lang="en-US" dirty="0"/>
              <a:t>Try to login at </a:t>
            </a:r>
            <a:r>
              <a:rPr lang="en-US" dirty="0">
                <a:hlinkClick r:id="rId4"/>
              </a:rPr>
              <a:t>https://jupyter.snellius.surf.nl/jhssrf019</a:t>
            </a:r>
            <a:endParaRPr lang="en-US" dirty="0"/>
          </a:p>
          <a:p>
            <a:pPr marL="569913" lvl="1"/>
            <a:r>
              <a:rPr lang="en-US" dirty="0"/>
              <a:t>Select the ‘course hours’ profile, and click ‘spawn’</a:t>
            </a:r>
          </a:p>
          <a:p>
            <a:endParaRPr lang="en-US" dirty="0"/>
          </a:p>
          <a:p>
            <a:r>
              <a:rPr lang="en-US" dirty="0"/>
              <a:t>If you did not receive a login, or starting a notebook server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19047</TotalTime>
  <Words>596</Words>
  <Application>Microsoft Macintosh PowerPoint</Application>
  <PresentationFormat>Widescreen</PresentationFormat>
  <Paragraphs>86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Machine Learning Tutorial –  30 January &amp; 5 February 2025</vt:lpstr>
      <vt:lpstr>Credit where credit is due</vt:lpstr>
      <vt:lpstr>About EuroCC &amp; EuroHPC JU</vt:lpstr>
      <vt:lpstr>About SURF</vt:lpstr>
      <vt:lpstr>Course plan</vt:lpstr>
      <vt:lpstr>Course plan Day 1</vt:lpstr>
      <vt:lpstr>Course plan Day 2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534</cp:revision>
  <cp:lastPrinted>2019-06-12T07:01:08Z</cp:lastPrinted>
  <dcterms:created xsi:type="dcterms:W3CDTF">2018-10-01T11:25:03Z</dcterms:created>
  <dcterms:modified xsi:type="dcterms:W3CDTF">2025-01-29T15:36:08Z</dcterms:modified>
  <cp:category/>
</cp:coreProperties>
</file>