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7.xml" ContentType="application/vnd.openxmlformats-officedocument.theme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8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9.xml" ContentType="application/vnd.openxmlformats-officedocument.theme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0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11.xml" ContentType="application/vnd.openxmlformats-officedocument.theme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theme/theme12.xml" ContentType="application/vnd.openxmlformats-officedocument.theme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13.xml" ContentType="application/vnd.openxmlformats-officedocument.theme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theme/theme14.xml" ContentType="application/vnd.openxmlformats-officedocument.theme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theme/theme15.xml" ContentType="application/vnd.openxmlformats-officedocument.theme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theme/theme16.xml" ContentType="application/vnd.openxmlformats-officedocument.theme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theme/theme17.xml" ContentType="application/vnd.openxmlformats-officedocument.theme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theme/theme18.xml" ContentType="application/vnd.openxmlformats-officedocument.theme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theme/theme19.xml" ContentType="application/vnd.openxmlformats-officedocument.theme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theme/theme20.xml" ContentType="application/vnd.openxmlformats-officedocument.theme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9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65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25" r:id="rId31"/>
    <p:sldId id="309" r:id="rId32"/>
    <p:sldId id="308" r:id="rId33"/>
    <p:sldId id="322" r:id="rId34"/>
    <p:sldId id="323" r:id="rId35"/>
    <p:sldId id="324" r:id="rId36"/>
    <p:sldId id="325" r:id="rId37"/>
    <p:sldId id="326" r:id="rId38"/>
    <p:sldId id="532" r:id="rId39"/>
    <p:sldId id="303" r:id="rId40"/>
    <p:sldId id="302" r:id="rId41"/>
    <p:sldId id="301" r:id="rId42"/>
    <p:sldId id="300" r:id="rId43"/>
    <p:sldId id="299" r:id="rId44"/>
    <p:sldId id="321" r:id="rId45"/>
    <p:sldId id="531" r:id="rId46"/>
    <p:sldId id="279" r:id="rId47"/>
    <p:sldId id="288" r:id="rId48"/>
    <p:sldId id="287" r:id="rId49"/>
    <p:sldId id="286" r:id="rId50"/>
    <p:sldId id="285" r:id="rId51"/>
    <p:sldId id="317" r:id="rId52"/>
    <p:sldId id="284" r:id="rId53"/>
    <p:sldId id="319" r:id="rId54"/>
    <p:sldId id="295" r:id="rId55"/>
    <p:sldId id="529" r:id="rId56"/>
    <p:sldId id="526" r:id="rId57"/>
    <p:sldId id="530" r:id="rId58"/>
    <p:sldId id="291" r:id="rId59"/>
    <p:sldId id="282" r:id="rId60"/>
    <p:sldId id="292" r:id="rId61"/>
    <p:sldId id="533" r:id="rId62"/>
    <p:sldId id="293" r:id="rId63"/>
    <p:sldId id="294" r:id="rId6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62"/>
    <p:restoredTop sz="94475"/>
  </p:normalViewPr>
  <p:slideViewPr>
    <p:cSldViewPr snapToGrid="0">
      <p:cViewPr varScale="1">
        <p:scale>
          <a:sx n="119" d="100"/>
          <a:sy n="119" d="100"/>
        </p:scale>
        <p:origin x="9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63" Type="http://schemas.openxmlformats.org/officeDocument/2006/relationships/slide" Target="slides/slide42.xml"/><Relationship Id="rId68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71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66" Type="http://schemas.openxmlformats.org/officeDocument/2006/relationships/commentAuthors" Target="commentAuthor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40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slide" Target="slides/slide43.xml"/><Relationship Id="rId69" Type="http://schemas.openxmlformats.org/officeDocument/2006/relationships/theme" Target="theme/theme1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67" Type="http://schemas.openxmlformats.org/officeDocument/2006/relationships/presProps" Target="presProps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slide" Target="slides/slide4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slide" Target="slides/slide39.xml"/><Relationship Id="rId65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Relationship Id="rId34" Type="http://schemas.openxmlformats.org/officeDocument/2006/relationships/slide" Target="slides/slide13.xml"/><Relationship Id="rId50" Type="http://schemas.openxmlformats.org/officeDocument/2006/relationships/slide" Target="slides/slide29.xml"/><Relationship Id="rId55" Type="http://schemas.openxmlformats.org/officeDocument/2006/relationships/slide" Target="slides/slide34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C4845-059E-E129-F7C0-84ABAE7F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26ACA935-9802-B5DD-86DD-73BA3046C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8195796C-2455-ED59-A059-933CA57673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73189C1-A766-3C3C-195B-94DF57BD4B5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188071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3D06-A37B-C00E-7C6B-445803C06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4BED263-B719-4EFF-CFCF-E19CACD5F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404ADE15-5A2D-F184-5D65-32F92A2977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3787B4DD-C181-EE66-F08C-D2F347A280B8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60434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6320-44D6-065A-2FC7-49DBA31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6296E1CE-9D22-1889-2BE6-0519AAA7E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1F13CDCA-7DEE-2F0B-AA77-7C5439BA8C8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9ECD347-1225-4FE2-45BB-53D77AE81A83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83311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E2D71-BB6E-AED5-0BC6-7F6586B3A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B3DFD432-E8AE-2800-05A5-EB29F2E08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A8188AAD-26E8-25E6-5863-EBA103DD6F6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5489ED2F-A0C2-5C57-0B40-4EDD3BF51D4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91902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6.png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05-11-2025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05-11-2025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05-11-2025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05-11-2025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1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6.xml"/><Relationship Id="rId7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5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4.xml"/><Relationship Id="rId5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83.xml"/><Relationship Id="rId4" Type="http://schemas.openxmlformats.org/officeDocument/2006/relationships/slideLayout" Target="../slideLayouts/slideLayout77.xml"/><Relationship Id="rId9" Type="http://schemas.openxmlformats.org/officeDocument/2006/relationships/slideLayout" Target="../slideLayouts/slideLayout82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3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8.xml"/><Relationship Id="rId7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7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5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2" Type="http://schemas.openxmlformats.org/officeDocument/2006/relationships/slideLayout" Target="../slideLayouts/slideLayout99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7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6.xml"/><Relationship Id="rId12" Type="http://schemas.openxmlformats.org/officeDocument/2006/relationships/slideLayout" Target="../slideLayouts/slideLayout121.xml"/><Relationship Id="rId2" Type="http://schemas.openxmlformats.org/officeDocument/2006/relationships/slideLayout" Target="../slideLayouts/slideLayout111.xml"/><Relationship Id="rId1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8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slideLayout" Target="../slideLayouts/slideLayout133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1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40.xml"/><Relationship Id="rId12" Type="http://schemas.openxmlformats.org/officeDocument/2006/relationships/slideLayout" Target="../slideLayouts/slideLayout145.xml"/><Relationship Id="rId2" Type="http://schemas.openxmlformats.org/officeDocument/2006/relationships/slideLayout" Target="../slideLayouts/slideLayout135.xml"/><Relationship Id="rId1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3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42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3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57.xml"/><Relationship Id="rId2" Type="http://schemas.openxmlformats.org/officeDocument/2006/relationships/slideLayout" Target="../slideLayouts/slideLayout147.xml"/><Relationship Id="rId1" Type="http://schemas.openxmlformats.org/officeDocument/2006/relationships/slideLayout" Target="../slideLayouts/slideLayout146.xml"/><Relationship Id="rId6" Type="http://schemas.openxmlformats.org/officeDocument/2006/relationships/slideLayout" Target="../slideLayouts/slideLayout151.xml"/><Relationship Id="rId11" Type="http://schemas.openxmlformats.org/officeDocument/2006/relationships/slideLayout" Target="../slideLayouts/slideLayout156.xml"/><Relationship Id="rId5" Type="http://schemas.openxmlformats.org/officeDocument/2006/relationships/slideLayout" Target="../slideLayouts/slideLayout15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5.xml"/><Relationship Id="rId4" Type="http://schemas.openxmlformats.org/officeDocument/2006/relationships/slideLayout" Target="../slideLayouts/slideLayout149.xml"/><Relationship Id="rId9" Type="http://schemas.openxmlformats.org/officeDocument/2006/relationships/slideLayout" Target="../slideLayouts/slideLayout154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5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59.xml"/><Relationship Id="rId1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8.xml"/><Relationship Id="rId5" Type="http://schemas.openxmlformats.org/officeDocument/2006/relationships/slideLayout" Target="../slideLayouts/slideLayout16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67.xml"/><Relationship Id="rId4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6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7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2.xml"/><Relationship Id="rId7" Type="http://schemas.openxmlformats.org/officeDocument/2006/relationships/slideLayout" Target="../slideLayouts/slideLayout176.xml"/><Relationship Id="rId12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70.xml"/><Relationship Id="rId6" Type="http://schemas.openxmlformats.org/officeDocument/2006/relationships/slideLayout" Target="../slideLayouts/slideLayout175.xml"/><Relationship Id="rId11" Type="http://schemas.openxmlformats.org/officeDocument/2006/relationships/slideLayout" Target="../slideLayouts/slideLayout180.xml"/><Relationship Id="rId5" Type="http://schemas.openxmlformats.org/officeDocument/2006/relationships/slideLayout" Target="../slideLayouts/slideLayout174.xml"/><Relationship Id="rId10" Type="http://schemas.openxmlformats.org/officeDocument/2006/relationships/slideLayout" Target="../slideLayouts/slideLayout179.xml"/><Relationship Id="rId4" Type="http://schemas.openxmlformats.org/officeDocument/2006/relationships/slideLayout" Target="../slideLayouts/slideLayout173.xml"/><Relationship Id="rId9" Type="http://schemas.openxmlformats.org/officeDocument/2006/relationships/slideLayout" Target="../slideLayouts/slideLayout178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9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8.xml"/><Relationship Id="rId12" Type="http://schemas.openxmlformats.org/officeDocument/2006/relationships/slideLayout" Target="../slideLayouts/slideLayout193.xml"/><Relationship Id="rId2" Type="http://schemas.openxmlformats.org/officeDocument/2006/relationships/slideLayout" Target="../slideLayouts/slideLayout183.xml"/><Relationship Id="rId1" Type="http://schemas.openxmlformats.org/officeDocument/2006/relationships/slideLayout" Target="../slideLayouts/slideLayout182.xml"/><Relationship Id="rId6" Type="http://schemas.openxmlformats.org/officeDocument/2006/relationships/slideLayout" Target="../slideLayouts/slideLayout187.xml"/><Relationship Id="rId11" Type="http://schemas.openxmlformats.org/officeDocument/2006/relationships/slideLayout" Target="../slideLayouts/slideLayout192.xml"/><Relationship Id="rId5" Type="http://schemas.openxmlformats.org/officeDocument/2006/relationships/slideLayout" Target="../slideLayouts/slideLayout186.xml"/><Relationship Id="rId10" Type="http://schemas.openxmlformats.org/officeDocument/2006/relationships/slideLayout" Target="../slideLayouts/slideLayout191.xml"/><Relationship Id="rId4" Type="http://schemas.openxmlformats.org/officeDocument/2006/relationships/slideLayout" Target="../slideLayouts/slideLayout185.xml"/><Relationship Id="rId9" Type="http://schemas.openxmlformats.org/officeDocument/2006/relationships/slideLayout" Target="../slideLayouts/slideLayout190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1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6.xml"/><Relationship Id="rId7" Type="http://schemas.openxmlformats.org/officeDocument/2006/relationships/slideLayout" Target="../slideLayouts/slideLayout200.xml"/><Relationship Id="rId12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195.xml"/><Relationship Id="rId1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202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3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8.xml"/><Relationship Id="rId7" Type="http://schemas.openxmlformats.org/officeDocument/2006/relationships/slideLayout" Target="../slideLayouts/slideLayout212.xml"/><Relationship Id="rId12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0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6.xml"/><Relationship Id="rId6" Type="http://schemas.openxmlformats.org/officeDocument/2006/relationships/slideLayout" Target="../slideLayouts/slideLayout211.xml"/><Relationship Id="rId11" Type="http://schemas.openxmlformats.org/officeDocument/2006/relationships/slideLayout" Target="../slideLayouts/slideLayout216.xml"/><Relationship Id="rId5" Type="http://schemas.openxmlformats.org/officeDocument/2006/relationships/slideLayout" Target="../slideLayouts/slideLayout210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15.xml"/><Relationship Id="rId4" Type="http://schemas.openxmlformats.org/officeDocument/2006/relationships/slideLayout" Target="../slideLayouts/slideLayout209.xml"/><Relationship Id="rId9" Type="http://schemas.openxmlformats.org/officeDocument/2006/relationships/slideLayout" Target="../slideLayouts/slideLayout214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5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0.xml"/><Relationship Id="rId7" Type="http://schemas.openxmlformats.org/officeDocument/2006/relationships/slideLayout" Target="../slideLayouts/slideLayout224.xml"/><Relationship Id="rId12" Type="http://schemas.openxmlformats.org/officeDocument/2006/relationships/slideLayout" Target="../slideLayouts/slideLayout229.xml"/><Relationship Id="rId2" Type="http://schemas.openxmlformats.org/officeDocument/2006/relationships/slideLayout" Target="../slideLayouts/slideLayout219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8.xml"/><Relationship Id="rId6" Type="http://schemas.openxmlformats.org/officeDocument/2006/relationships/slideLayout" Target="../slideLayouts/slideLayout223.xml"/><Relationship Id="rId11" Type="http://schemas.openxmlformats.org/officeDocument/2006/relationships/slideLayout" Target="../slideLayouts/slideLayout228.xml"/><Relationship Id="rId5" Type="http://schemas.openxmlformats.org/officeDocument/2006/relationships/slideLayout" Target="../slideLayouts/slideLayout22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27.xml"/><Relationship Id="rId4" Type="http://schemas.openxmlformats.org/officeDocument/2006/relationships/slideLayout" Target="../slideLayouts/slideLayout221.xml"/><Relationship Id="rId9" Type="http://schemas.openxmlformats.org/officeDocument/2006/relationships/slideLayout" Target="../slideLayouts/slideLayout226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7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6.xml"/><Relationship Id="rId12" Type="http://schemas.openxmlformats.org/officeDocument/2006/relationships/slideLayout" Target="../slideLayouts/slideLayout241.xml"/><Relationship Id="rId2" Type="http://schemas.openxmlformats.org/officeDocument/2006/relationships/slideLayout" Target="../slideLayouts/slideLayout231.xml"/><Relationship Id="rId1" Type="http://schemas.openxmlformats.org/officeDocument/2006/relationships/slideLayout" Target="../slideLayouts/slideLayout230.xml"/><Relationship Id="rId6" Type="http://schemas.openxmlformats.org/officeDocument/2006/relationships/slideLayout" Target="../slideLayouts/slideLayout235.xml"/><Relationship Id="rId11" Type="http://schemas.openxmlformats.org/officeDocument/2006/relationships/slideLayout" Target="../slideLayouts/slideLayout240.xml"/><Relationship Id="rId5" Type="http://schemas.openxmlformats.org/officeDocument/2006/relationships/slideLayout" Target="../slideLayouts/slideLayout234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39.xml"/><Relationship Id="rId4" Type="http://schemas.openxmlformats.org/officeDocument/2006/relationships/slideLayout" Target="../slideLayouts/slideLayout233.xml"/><Relationship Id="rId9" Type="http://schemas.openxmlformats.org/officeDocument/2006/relationships/slideLayout" Target="../slideLayouts/slideLayout238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9.xml"/><Relationship Id="rId13" Type="http://schemas.openxmlformats.org/officeDocument/2006/relationships/slideLayout" Target="../slideLayouts/slideLayout254.xml"/><Relationship Id="rId18" Type="http://schemas.openxmlformats.org/officeDocument/2006/relationships/theme" Target="../theme/theme21.xml"/><Relationship Id="rId3" Type="http://schemas.openxmlformats.org/officeDocument/2006/relationships/slideLayout" Target="../slideLayouts/slideLayout244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248.xml"/><Relationship Id="rId12" Type="http://schemas.openxmlformats.org/officeDocument/2006/relationships/slideLayout" Target="../slideLayouts/slideLayout253.xml"/><Relationship Id="rId17" Type="http://schemas.openxmlformats.org/officeDocument/2006/relationships/slideLayout" Target="../slideLayouts/slideLayout258.xml"/><Relationship Id="rId25" Type="http://schemas.openxmlformats.org/officeDocument/2006/relationships/image" Target="../media/image13.png"/><Relationship Id="rId2" Type="http://schemas.openxmlformats.org/officeDocument/2006/relationships/slideLayout" Target="../slideLayouts/slideLayout243.xml"/><Relationship Id="rId16" Type="http://schemas.openxmlformats.org/officeDocument/2006/relationships/slideLayout" Target="../slideLayouts/slideLayout257.xml"/><Relationship Id="rId20" Type="http://schemas.openxmlformats.org/officeDocument/2006/relationships/image" Target="../media/image8.svg"/><Relationship Id="rId1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7.xml"/><Relationship Id="rId11" Type="http://schemas.openxmlformats.org/officeDocument/2006/relationships/slideLayout" Target="../slideLayouts/slideLayout252.xml"/><Relationship Id="rId24" Type="http://schemas.openxmlformats.org/officeDocument/2006/relationships/image" Target="../media/image12.png"/><Relationship Id="rId5" Type="http://schemas.openxmlformats.org/officeDocument/2006/relationships/slideLayout" Target="../slideLayouts/slideLayout246.xml"/><Relationship Id="rId15" Type="http://schemas.openxmlformats.org/officeDocument/2006/relationships/slideLayout" Target="../slideLayouts/slideLayout256.xml"/><Relationship Id="rId23" Type="http://schemas.openxmlformats.org/officeDocument/2006/relationships/image" Target="../media/image11.png"/><Relationship Id="rId10" Type="http://schemas.openxmlformats.org/officeDocument/2006/relationships/slideLayout" Target="../slideLayouts/slideLayout251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50.xml"/><Relationship Id="rId14" Type="http://schemas.openxmlformats.org/officeDocument/2006/relationships/slideLayout" Target="../slideLayouts/slideLayout255.xml"/><Relationship Id="rId22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5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spaces/WIKI/pages/30660245/Environment+Modul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SATA, NVMe or full PCI-E, Network?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High Bandwidth Memory (HBM) or Double Data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How much? Enough for a </a:t>
            </a:r>
            <a:r>
              <a:rPr lang="en-GB" sz="1600" spc="-1" dirty="0" err="1">
                <a:cs typeface="Arial"/>
              </a:rPr>
              <a:t>RAMdisk</a:t>
            </a:r>
            <a:r>
              <a:rPr lang="en-GB" sz="1600" spc="-1" dirty="0">
                <a:cs typeface="Arial"/>
              </a:rPr>
              <a:t>? (/dev/</a:t>
            </a:r>
            <a:r>
              <a:rPr lang="en-GB" sz="1600" spc="-1" dirty="0" err="1">
                <a:cs typeface="Arial"/>
              </a:rPr>
              <a:t>shm</a:t>
            </a:r>
            <a:r>
              <a:rPr lang="en-GB" sz="1600" spc="-1" dirty="0">
                <a:cs typeface="Arial"/>
              </a:rPr>
              <a:t>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AMD? Good raw performance,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 is improving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NVIDIA? Optimized for AI with good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support.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Intel? Technically supported in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4B8C8-0F66-2ED2-1A48-2790AB937D1F}"/>
              </a:ext>
            </a:extLst>
          </p:cNvPr>
          <p:cNvSpPr txBox="1"/>
          <p:nvPr/>
        </p:nvSpPr>
        <p:spPr>
          <a:xfrm>
            <a:off x="890100" y="6299654"/>
            <a:ext cx="8972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800" spc="-1" dirty="0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8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)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Deep</a:t>
            </a:r>
            <a:r>
              <a:rPr lang="nl-NL" dirty="0"/>
              <a:t>/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Networks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</a:t>
            </a:r>
            <a:r>
              <a:rPr lang="nl-NL" dirty="0"/>
              <a:t> images)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But: </a:t>
            </a:r>
            <a:r>
              <a:rPr lang="nl-NL" dirty="0" err="1"/>
              <a:t>unified</a:t>
            </a:r>
            <a:r>
              <a:rPr lang="nl-NL" dirty="0"/>
              <a:t> memory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400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bandwitdh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 sync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kumimoji="0" lang="nl-NL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Some</a:t>
            </a:r>
            <a:r>
              <a:rPr kumimoji="0" lang="nl-N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context</a:t>
            </a:r>
            <a:endParaRPr lang="nl-NL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93925"/>
              </p:ext>
            </p:extLst>
          </p:nvPr>
        </p:nvGraphicFramePr>
        <p:xfrm>
          <a:off x="3235319" y="78889"/>
          <a:ext cx="7858683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40-120M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Robot Fetch time (Tape)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+- 60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731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slowly</a:t>
            </a:r>
            <a:r>
              <a:rPr lang="nl-NL" dirty="0"/>
              <a:t>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Specialized</a:t>
            </a:r>
            <a:r>
              <a:rPr lang="nl-NL" dirty="0"/>
              <a:t> hardware </a:t>
            </a:r>
            <a:r>
              <a:rPr lang="nl-NL" dirty="0" err="1"/>
              <a:t>losing</a:t>
            </a:r>
            <a:r>
              <a:rPr lang="nl-NL" dirty="0"/>
              <a:t> </a:t>
            </a:r>
            <a:r>
              <a:rPr lang="nl-NL" dirty="0" err="1"/>
              <a:t>favour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11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4452836" y="2002279"/>
            <a:ext cx="6411268" cy="40522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610470" y="6114451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4111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13</a:t>
            </a:fld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A4822B-7344-0809-9283-8F375777C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022437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0.69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-122171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GPUs</a:t>
            </a:r>
            <a:r>
              <a:rPr lang="nl-NL" dirty="0"/>
              <a:t> support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, has </a:t>
            </a:r>
            <a:r>
              <a:rPr lang="nl-NL" dirty="0" err="1"/>
              <a:t>higher</a:t>
            </a:r>
            <a:r>
              <a:rPr lang="nl-NL" dirty="0"/>
              <a:t> performance</a:t>
            </a:r>
          </a:p>
        </p:txBody>
      </p: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BDB8C-DE9E-3178-7B69-D2C63FE8E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078322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59D99F-2F82-21E9-1F25-820EC2E3F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39470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132FC6-94F1-3435-3466-5AC0D800E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81959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16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17A1B-AC7E-455E-CB4E-A8BC02067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41726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6863201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398369" y="369332"/>
            <a:ext cx="443802" cy="697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7B324-1AEE-D9E1-E4C0-114FD8049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in practice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165B87-0A40-BDA1-1A4B-C41FB84F6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958173"/>
            <a:ext cx="8974163" cy="4456846"/>
          </a:xfrm>
        </p:spPr>
        <p:txBody>
          <a:bodyPr/>
          <a:lstStyle/>
          <a:p>
            <a:r>
              <a:rPr lang="en-US" dirty="0"/>
              <a:t>In practice, the performance can be different (depending on software)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EC745-8DEA-01B4-0F5A-AF622F0719E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D2D0E-D091-A820-D223-4BE8D193B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146153D-AA2E-9A40-9E19-EAC2DC03B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4259" y="1833963"/>
            <a:ext cx="6588145" cy="4542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216B5EE-3EB9-1630-C5E5-2ACF73060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49" y="1833963"/>
            <a:ext cx="6866423" cy="455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0307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Volta/Turing (e.g. V100, </a:t>
            </a:r>
            <a:r>
              <a:rPr lang="nl-NL" dirty="0" err="1"/>
              <a:t>TitanRTX</a:t>
            </a:r>
            <a:r>
              <a:rPr lang="nl-NL" dirty="0"/>
              <a:t>, RTX 2080Ti)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Features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INT8 &amp; FP16 support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(Volta) Tensor </a:t>
            </a:r>
            <a:r>
              <a:rPr lang="nl-NL" dirty="0" err="1"/>
              <a:t>cores</a:t>
            </a:r>
            <a:r>
              <a:rPr lang="nl-NL" dirty="0"/>
              <a:t>: </a:t>
            </a:r>
            <a:r>
              <a:rPr lang="nl-NL" dirty="0" err="1"/>
              <a:t>fused</a:t>
            </a:r>
            <a:r>
              <a:rPr lang="nl-NL" dirty="0"/>
              <a:t> </a:t>
            </a:r>
            <a:r>
              <a:rPr lang="nl-NL" dirty="0" err="1"/>
              <a:t>multiply-add</a:t>
            </a:r>
            <a:r>
              <a:rPr lang="nl-NL" dirty="0"/>
              <a:t> units </a:t>
            </a:r>
            <a:r>
              <a:rPr lang="nl-NL" dirty="0" err="1"/>
              <a:t>that</a:t>
            </a:r>
            <a:r>
              <a:rPr lang="nl-NL" dirty="0"/>
              <a:t> support mixed </a:t>
            </a:r>
            <a:r>
              <a:rPr lang="nl-NL" dirty="0" err="1"/>
              <a:t>precision</a:t>
            </a:r>
            <a:r>
              <a:rPr lang="nl-NL" dirty="0"/>
              <a:t> (</a:t>
            </a:r>
            <a:r>
              <a:rPr lang="nl-NL" dirty="0" err="1"/>
              <a:t>multiply</a:t>
            </a:r>
            <a:r>
              <a:rPr lang="nl-NL" dirty="0"/>
              <a:t> in FP16, </a:t>
            </a:r>
            <a:r>
              <a:rPr lang="nl-NL" dirty="0" err="1"/>
              <a:t>add</a:t>
            </a:r>
            <a:r>
              <a:rPr lang="nl-NL" dirty="0"/>
              <a:t> in FP32). High performance: 120 TFLOPS (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time).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High </a:t>
            </a:r>
            <a:r>
              <a:rPr lang="nl-NL" dirty="0" err="1"/>
              <a:t>bandwidth</a:t>
            </a:r>
            <a:r>
              <a:rPr lang="nl-NL" dirty="0"/>
              <a:t> memory, 2nd </a:t>
            </a:r>
            <a:r>
              <a:rPr lang="nl-NL" dirty="0" err="1"/>
              <a:t>generation</a:t>
            </a:r>
            <a:r>
              <a:rPr lang="nl-NL" dirty="0"/>
              <a:t> (HBM2) (vs. DDR)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128" y="2883452"/>
            <a:ext cx="7172473" cy="19167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5529" y="935379"/>
            <a:ext cx="6108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Generally, </a:t>
            </a:r>
            <a:r>
              <a:rPr lang="nl-NL" i="1" dirty="0" err="1"/>
              <a:t>you</a:t>
            </a:r>
            <a:r>
              <a:rPr lang="nl-NL" dirty="0"/>
              <a:t> are </a:t>
            </a:r>
            <a:r>
              <a:rPr lang="nl-NL" dirty="0" err="1"/>
              <a:t>responsible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specifying</a:t>
            </a:r>
            <a:r>
              <a:rPr lang="nl-NL" dirty="0"/>
              <a:t> a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: DL </a:t>
            </a:r>
            <a:r>
              <a:rPr lang="nl-NL" dirty="0" err="1"/>
              <a:t>frameworks</a:t>
            </a:r>
            <a:r>
              <a:rPr lang="nl-NL" dirty="0"/>
              <a:t> </a:t>
            </a:r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impact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, </a:t>
            </a:r>
            <a:r>
              <a:rPr lang="nl-NL" dirty="0" err="1"/>
              <a:t>convergence</a:t>
            </a:r>
            <a:r>
              <a:rPr lang="nl-NL" dirty="0"/>
              <a:t>, </a:t>
            </a:r>
            <a:r>
              <a:rPr lang="nl-NL" dirty="0" err="1"/>
              <a:t>etc</a:t>
            </a:r>
            <a:endParaRPr lang="nl-NL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5041935" y="1443210"/>
            <a:ext cx="510513" cy="317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B6F0BB-8228-7398-F504-1F879F2EC3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091565"/>
              </p:ext>
            </p:extLst>
          </p:nvPr>
        </p:nvGraphicFramePr>
        <p:xfrm>
          <a:off x="829815" y="1219811"/>
          <a:ext cx="9775726" cy="4565520"/>
        </p:xfrm>
        <a:graphic>
          <a:graphicData uri="http://schemas.openxmlformats.org/drawingml/2006/table">
            <a:tbl>
              <a:tblPr/>
              <a:tblGrid>
                <a:gridCol w="1946467">
                  <a:extLst>
                    <a:ext uri="{9D8B030D-6E8A-4147-A177-3AD203B41FA5}">
                      <a16:colId xmlns:a16="http://schemas.microsoft.com/office/drawing/2014/main" val="373531038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2004116965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516198633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3553388252"/>
                    </a:ext>
                  </a:extLst>
                </a:gridCol>
                <a:gridCol w="1989858">
                  <a:extLst>
                    <a:ext uri="{9D8B030D-6E8A-4147-A177-3AD203B41FA5}">
                      <a16:colId xmlns:a16="http://schemas.microsoft.com/office/drawing/2014/main" val="12857226"/>
                    </a:ext>
                  </a:extLst>
                </a:gridCol>
              </a:tblGrid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Model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Throughput (img/s)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Speedup (compared to FP32)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Loss (1st iteration)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8776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455.9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7.457645893096924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96202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750.6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1.65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7.456507205963135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88346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1087.6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2.38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7.45703125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79406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212.7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6.9077839851379395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53773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550.3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2.59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6.907783508300781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82350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1099.8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5.17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6.90625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32008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391.9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6.96142053604126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559250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591.5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1.51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6.961450576782227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48615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876.2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dirty="0">
                          <a:effectLst/>
                        </a:rPr>
                        <a:t>6.9609375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091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Hopper (e.g. </a:t>
            </a:r>
            <a:r>
              <a:rPr lang="nl-NL"/>
              <a:t>H100)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233363" indent="-233363"/>
            <a:r>
              <a:rPr lang="nl-NL" sz="1400" dirty="0"/>
              <a:t>FP8 support</a:t>
            </a:r>
          </a:p>
          <a:p>
            <a:pPr marL="233363" indent="-233363"/>
            <a:r>
              <a:rPr lang="nl-NL" sz="1400" dirty="0" err="1"/>
              <a:t>Transformer</a:t>
            </a:r>
            <a:r>
              <a:rPr lang="nl-NL" sz="1400" dirty="0"/>
              <a:t> Engine </a:t>
            </a:r>
            <a:r>
              <a:rPr lang="nl-NL" sz="1400" dirty="0" err="1"/>
              <a:t>for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</a:t>
            </a:r>
            <a:r>
              <a:rPr lang="nl-NL" sz="1400" dirty="0" err="1"/>
              <a:t>specific</a:t>
            </a:r>
            <a:r>
              <a:rPr lang="nl-NL" sz="1400" dirty="0"/>
              <a:t> </a:t>
            </a:r>
            <a:r>
              <a:rPr lang="nl-NL" sz="1400" dirty="0" err="1"/>
              <a:t>improvements</a:t>
            </a:r>
            <a:endParaRPr lang="nl-NL" sz="1400" dirty="0"/>
          </a:p>
          <a:p>
            <a:pPr marL="233363" indent="-233363"/>
            <a:r>
              <a:rPr lang="nl-NL" sz="1400" dirty="0"/>
              <a:t>Grace Hopper Superchip (GH200)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H200 GPU + Grace Hopper CPU on 1 chip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Faster</a:t>
            </a:r>
            <a:r>
              <a:rPr lang="nl-NL" sz="1400" dirty="0"/>
              <a:t> </a:t>
            </a:r>
            <a:r>
              <a:rPr lang="nl-NL" sz="1400" dirty="0" err="1"/>
              <a:t>communication</a:t>
            </a:r>
            <a:r>
              <a:rPr lang="nl-NL" sz="1400" dirty="0"/>
              <a:t> </a:t>
            </a:r>
            <a:r>
              <a:rPr lang="nl-NL" sz="1400" dirty="0" err="1"/>
              <a:t>between</a:t>
            </a:r>
            <a:r>
              <a:rPr lang="nl-NL" sz="1400" dirty="0"/>
              <a:t> CPU </a:t>
            </a:r>
            <a:r>
              <a:rPr lang="nl-NL" sz="1400" dirty="0" err="1"/>
              <a:t>and</a:t>
            </a:r>
            <a:r>
              <a:rPr lang="nl-NL" sz="1400" dirty="0"/>
              <a:t> GPU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Unified</a:t>
            </a:r>
            <a:r>
              <a:rPr lang="nl-NL" sz="1400" dirty="0"/>
              <a:t> GPU + CPU memory </a:t>
            </a:r>
            <a:r>
              <a:rPr lang="nl-NL" sz="1400" dirty="0" err="1"/>
              <a:t>for</a:t>
            </a:r>
            <a:r>
              <a:rPr lang="nl-NL" sz="1400" dirty="0"/>
              <a:t> large </a:t>
            </a:r>
            <a:r>
              <a:rPr lang="nl-NL" sz="1400" dirty="0" err="1"/>
              <a:t>models</a:t>
            </a:r>
            <a:r>
              <a:rPr lang="nl-NL" sz="1400" dirty="0"/>
              <a:t>.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(Low Power) LPDDR5x </a:t>
            </a:r>
            <a:r>
              <a:rPr lang="nl-NL" sz="1400" dirty="0" err="1"/>
              <a:t>for</a:t>
            </a:r>
            <a:r>
              <a:rPr lang="nl-NL" sz="1400" dirty="0"/>
              <a:t> more </a:t>
            </a:r>
            <a:r>
              <a:rPr lang="nl-NL" sz="1400" dirty="0" err="1"/>
              <a:t>efficient</a:t>
            </a:r>
            <a:r>
              <a:rPr lang="nl-NL" sz="1400" dirty="0"/>
              <a:t> </a:t>
            </a:r>
            <a:r>
              <a:rPr lang="nl-NL" sz="1400" dirty="0" err="1"/>
              <a:t>inference</a:t>
            </a:r>
            <a:r>
              <a:rPr lang="nl-NL" sz="1400" dirty="0"/>
              <a:t>.</a:t>
            </a:r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522288" lvl="1" indent="-222250"/>
            <a:endParaRPr lang="nl-NL" sz="1400" dirty="0"/>
          </a:p>
          <a:p>
            <a:pPr lvl="2"/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24</a:t>
            </a:fld>
            <a:endParaRPr lang="nl-NL"/>
          </a:p>
        </p:txBody>
      </p:sp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7365" y="1086885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49D49C-1971-2FA2-33F3-379D5A0567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857"/>
          <a:stretch/>
        </p:blipFill>
        <p:spPr>
          <a:xfrm>
            <a:off x="592141" y="4103649"/>
            <a:ext cx="5257800" cy="262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4FB7B-DCB7-DBCB-9C22-B10707F6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8506-4B39-A044-EDD0-17F56C95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Blackwell </a:t>
            </a:r>
            <a:r>
              <a:rPr lang="nl-NL" dirty="0" err="1"/>
              <a:t>GPUs</a:t>
            </a:r>
            <a:r>
              <a:rPr lang="nl-NL" dirty="0"/>
              <a:t> (e.g. (G)B200, RTX 5090)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867F02-19B4-19EC-D5CC-2E5E8F4BB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r>
              <a:rPr lang="nl-NL" sz="1400" dirty="0"/>
              <a:t>FP4 support</a:t>
            </a:r>
          </a:p>
          <a:p>
            <a:r>
              <a:rPr lang="nl-NL" sz="1400" dirty="0"/>
              <a:t>Second-</a:t>
            </a:r>
            <a:r>
              <a:rPr lang="nl-NL" sz="1400" dirty="0" err="1"/>
              <a:t>generation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Engine</a:t>
            </a:r>
          </a:p>
          <a:p>
            <a:r>
              <a:rPr lang="nl-NL" sz="1400" dirty="0"/>
              <a:t>Grace Blackwell Superchips (e.g. GB200)</a:t>
            </a:r>
          </a:p>
          <a:p>
            <a:pPr marL="577850" indent="-266700"/>
            <a:r>
              <a:rPr lang="nl-NL" sz="1400" dirty="0"/>
              <a:t>2 Blackwell </a:t>
            </a:r>
            <a:r>
              <a:rPr lang="nl-NL" sz="1400" dirty="0" err="1"/>
              <a:t>GPUs</a:t>
            </a:r>
            <a:r>
              <a:rPr lang="nl-NL" sz="1400" dirty="0"/>
              <a:t> (B200) </a:t>
            </a:r>
            <a:r>
              <a:rPr lang="nl-NL" sz="1400" dirty="0" err="1"/>
              <a:t>with</a:t>
            </a:r>
            <a:r>
              <a:rPr lang="nl-NL" sz="1400" dirty="0"/>
              <a:t> 1 Grace CPU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ADBA8-4969-EE44-B074-3E34820D6E1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14BF9-0200-CAAB-C8D1-58069B34B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25</a:t>
            </a:fld>
            <a:endParaRPr lang="nl-NL"/>
          </a:p>
        </p:txBody>
      </p:sp>
      <p:pic>
        <p:nvPicPr>
          <p:cNvPr id="11" name="Picture 4" descr="7f899dffe16b4de2bfe03da0c1f57bc6">
            <a:extLst>
              <a:ext uri="{FF2B5EF4-FFF2-40B4-BE49-F238E27FC236}">
                <a16:creationId xmlns:a16="http://schemas.microsoft.com/office/drawing/2014/main" id="{72D28F08-3BD3-6BD9-46E5-AF218716D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8590" y="758039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8E416CA-DCEA-C8B4-AD29-31522D138433}"/>
              </a:ext>
            </a:extLst>
          </p:cNvPr>
          <p:cNvSpPr txBox="1"/>
          <p:nvPr/>
        </p:nvSpPr>
        <p:spPr>
          <a:xfrm>
            <a:off x="4477056" y="4370789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E2m1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F9A7C-8DEF-87AA-762F-9240C9C06D52}"/>
              </a:ext>
            </a:extLst>
          </p:cNvPr>
          <p:cNvSpPr txBox="1"/>
          <p:nvPr/>
        </p:nvSpPr>
        <p:spPr>
          <a:xfrm>
            <a:off x="4477055" y="5192116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E3m0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BC8D72-41EF-A0C6-A884-55A1A7377253}"/>
              </a:ext>
            </a:extLst>
          </p:cNvPr>
          <p:cNvGrpSpPr/>
          <p:nvPr/>
        </p:nvGrpSpPr>
        <p:grpSpPr>
          <a:xfrm>
            <a:off x="5240342" y="4133263"/>
            <a:ext cx="1342872" cy="798218"/>
            <a:chOff x="6427457" y="4133263"/>
            <a:chExt cx="1342872" cy="798218"/>
          </a:xfrm>
        </p:grpSpPr>
        <p:pic>
          <p:nvPicPr>
            <p:cNvPr id="12" name="Picture 4" descr="7f899dffe16b4de2bfe03da0c1f57bc6">
              <a:extLst>
                <a:ext uri="{FF2B5EF4-FFF2-40B4-BE49-F238E27FC236}">
                  <a16:creationId xmlns:a16="http://schemas.microsoft.com/office/drawing/2014/main" id="{C103D5A8-4F1B-79BF-1962-2B3E628999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31" t="49676" r="70546" b="28678"/>
            <a:stretch/>
          </p:blipFill>
          <p:spPr bwMode="auto">
            <a:xfrm>
              <a:off x="6427457" y="4133263"/>
              <a:ext cx="107663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4" descr="7f899dffe16b4de2bfe03da0c1f57bc6">
              <a:extLst>
                <a:ext uri="{FF2B5EF4-FFF2-40B4-BE49-F238E27FC236}">
                  <a16:creationId xmlns:a16="http://schemas.microsoft.com/office/drawing/2014/main" id="{A82C9CE9-CEEC-8377-80CF-7D9C61FA683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96" t="49676" r="70487" b="28678"/>
            <a:stretch/>
          </p:blipFill>
          <p:spPr bwMode="auto">
            <a:xfrm>
              <a:off x="697036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 descr="7f899dffe16b4de2bfe03da0c1f57bc6">
              <a:extLst>
                <a:ext uri="{FF2B5EF4-FFF2-40B4-BE49-F238E27FC236}">
                  <a16:creationId xmlns:a16="http://schemas.microsoft.com/office/drawing/2014/main" id="{C29F2106-21D2-ED4B-18A2-0B77E118E0B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583" t="49676" r="62301" b="28678"/>
            <a:stretch/>
          </p:blipFill>
          <p:spPr bwMode="auto">
            <a:xfrm>
              <a:off x="750045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" name="Picture 4" descr="7f899dffe16b4de2bfe03da0c1f57bc6">
            <a:extLst>
              <a:ext uri="{FF2B5EF4-FFF2-40B4-BE49-F238E27FC236}">
                <a16:creationId xmlns:a16="http://schemas.microsoft.com/office/drawing/2014/main" id="{DA303676-142C-B964-2191-765FB5740E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30" t="49676" r="66485" b="28678"/>
          <a:stretch/>
        </p:blipFill>
        <p:spPr bwMode="auto">
          <a:xfrm>
            <a:off x="5246750" y="4867604"/>
            <a:ext cx="1342872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7f899dffe16b4de2bfe03da0c1f57bc6">
            <a:extLst>
              <a:ext uri="{FF2B5EF4-FFF2-40B4-BE49-F238E27FC236}">
                <a16:creationId xmlns:a16="http://schemas.microsoft.com/office/drawing/2014/main" id="{2CB7DC3A-E37E-71A8-6D70-3CEEEE1A37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96" t="49676" r="70487" b="28678"/>
          <a:stretch/>
        </p:blipFill>
        <p:spPr bwMode="auto">
          <a:xfrm>
            <a:off x="5789353" y="4867604"/>
            <a:ext cx="269876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C132661-DA15-9CD1-5BF2-9F4FE4C9C517}"/>
              </a:ext>
            </a:extLst>
          </p:cNvPr>
          <p:cNvSpPr txBox="1"/>
          <p:nvPr/>
        </p:nvSpPr>
        <p:spPr>
          <a:xfrm>
            <a:off x="9276656" y="4411551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5FC56E-0722-0D28-DFBA-1A0C017E31E9}"/>
              </a:ext>
            </a:extLst>
          </p:cNvPr>
          <p:cNvSpPr txBox="1"/>
          <p:nvPr/>
        </p:nvSpPr>
        <p:spPr>
          <a:xfrm>
            <a:off x="9277589" y="5111325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0.25</a:t>
            </a:r>
          </a:p>
        </p:txBody>
      </p:sp>
    </p:spTree>
    <p:extLst>
      <p:ext uri="{BB962C8B-B14F-4D97-AF65-F5344CB8AC3E}">
        <p14:creationId xmlns:p14="http://schemas.microsoft.com/office/powerpoint/2010/main" val="119273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48880" y="63329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And on CPU:</a:t>
            </a:r>
            <a:br>
              <a:rPr lang="en-GB" sz="3200" b="1" spc="-1" dirty="0">
                <a:solidFill>
                  <a:srgbClr val="000000"/>
                </a:solidFill>
                <a:latin typeface="Calibri"/>
              </a:rPr>
            </a:b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F9D51D-2BDD-5857-0D6C-A33B0182D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604" y="1009172"/>
            <a:ext cx="6348612" cy="5848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CA429-4150-E167-BFB9-BA2B620D6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7" y="1008812"/>
            <a:ext cx="6067356" cy="5848828"/>
          </a:xfrm>
          <a:prstGeom prst="rect">
            <a:avLst/>
          </a:prstGeom>
        </p:spPr>
      </p:pic>
      <p:sp>
        <p:nvSpPr>
          <p:cNvPr id="6" name="PlaceHolder 1">
            <a:extLst>
              <a:ext uri="{FF2B5EF4-FFF2-40B4-BE49-F238E27FC236}">
                <a16:creationId xmlns:a16="http://schemas.microsoft.com/office/drawing/2014/main" id="{0C60B82A-4B70-52BE-FAF1-157A7A78EB23}"/>
              </a:ext>
            </a:extLst>
          </p:cNvPr>
          <p:cNvSpPr txBox="1">
            <a:spLocks/>
          </p:cNvSpPr>
          <p:nvPr/>
        </p:nvSpPr>
        <p:spPr>
          <a:xfrm>
            <a:off x="2831051" y="424527"/>
            <a:ext cx="107140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Rome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282B0A60-756F-99D0-F651-928EF12C14DC}"/>
              </a:ext>
            </a:extLst>
          </p:cNvPr>
          <p:cNvSpPr txBox="1">
            <a:spLocks/>
          </p:cNvSpPr>
          <p:nvPr/>
        </p:nvSpPr>
        <p:spPr>
          <a:xfrm>
            <a:off x="8458306" y="424527"/>
            <a:ext cx="117763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Genoa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Second S: Software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 FP8?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  <a:hlinkClick r:id="rId3"/>
              </a:rPr>
              <a:t>https://servicedesk.surf.nl/wiki/spaces/WIKI/pages/30660245/Environment+Modules</a:t>
            </a:r>
            <a:r>
              <a:rPr lang="en-GB" sz="1600" spc="-1" dirty="0">
                <a:latin typeface="Calibri"/>
                <a:ea typeface="+mn-lt"/>
                <a:cs typeface="+mn-lt"/>
              </a:rPr>
              <a:t> 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Consider the hardware/platform that you’re using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GPU: Nvidia/CUDA? AMD/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? 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CPUs: AVX512?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2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2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</a:t>
            </a:r>
            <a:endParaRPr lang="en-GB" sz="1600" spc="-1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400" spc="-1" dirty="0">
                <a:solidFill>
                  <a:srgbClr val="000000"/>
                </a:solidFill>
                <a:latin typeface="Calibri"/>
              </a:rPr>
              <a:t>Low-level C++/CU library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</a:p>
          <a:p>
            <a:pPr marL="41275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Some useful resources: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cs typeface="Arial"/>
                <a:hlinkClick r:id="rId4"/>
              </a:rPr>
              <a:t>https</a:t>
            </a:r>
            <a:r>
              <a:rPr lang="en-GB" sz="16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GB" sz="1600" spc="-1" dirty="0">
              <a:solidFill>
                <a:srgbClr val="0077C8"/>
              </a:solidFill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US" sz="1600" spc="-1" dirty="0"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it”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E404-6D2C-1D60-1408-92A39E0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E0031383-D852-7545-9692-C1C508F2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A739DF4-58B9-57C9-E708-FEBEEF8574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C1092067-89A1-0876-000E-FB1FE369E9F9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F1FD4F1-E1A5-4243-62DB-A1FC6F3516D5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EE1D38C-0D75-83A5-6958-2BBB9D34509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E813371-2B12-85FC-F76C-5653839D61E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8C90004-E7EE-46FA-88D6-1C9D47EA943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44487F0D-80CA-B4B7-69F1-0CC43A416D55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2C016500-D03F-0FAD-317F-933A968A5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66"/>
          <a:stretch/>
        </p:blipFill>
        <p:spPr>
          <a:xfrm>
            <a:off x="330426" y="5278945"/>
            <a:ext cx="8236941" cy="14562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38F1A5-AF4A-D438-5FBA-24858DAAA101}"/>
              </a:ext>
            </a:extLst>
          </p:cNvPr>
          <p:cNvSpPr txBox="1"/>
          <p:nvPr/>
        </p:nvSpPr>
        <p:spPr>
          <a:xfrm>
            <a:off x="6534670" y="2782474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  <p:pic>
        <p:nvPicPr>
          <p:cNvPr id="3" name="Picture 2" descr="Bad idea / Good idea Meme Generator - Imgflip">
            <a:extLst>
              <a:ext uri="{FF2B5EF4-FFF2-40B4-BE49-F238E27FC236}">
                <a16:creationId xmlns:a16="http://schemas.microsoft.com/office/drawing/2014/main" id="{AD1D36D8-1DC4-D760-DD69-505BBE25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9" b="2017"/>
          <a:stretch/>
        </p:blipFill>
        <p:spPr bwMode="auto">
          <a:xfrm>
            <a:off x="4721995" y="952034"/>
            <a:ext cx="6396726" cy="492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 up of a word&#10;&#10;AI-generated content may be incorrect.">
            <a:extLst>
              <a:ext uri="{FF2B5EF4-FFF2-40B4-BE49-F238E27FC236}">
                <a16:creationId xmlns:a16="http://schemas.microsoft.com/office/drawing/2014/main" id="{7E1DC08D-C0CC-BBAD-6E81-6092D839C2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288" y="1977701"/>
            <a:ext cx="2838632" cy="785902"/>
          </a:xfrm>
          <a:prstGeom prst="rect">
            <a:avLst/>
          </a:prstGeom>
        </p:spPr>
      </p:pic>
      <p:pic>
        <p:nvPicPr>
          <p:cNvPr id="9" name="Picture 8" descr="A computer code with text&#10;&#10;AI-generated content may be incorrect.">
            <a:extLst>
              <a:ext uri="{FF2B5EF4-FFF2-40B4-BE49-F238E27FC236}">
                <a16:creationId xmlns:a16="http://schemas.microsoft.com/office/drawing/2014/main" id="{EAABF550-4A33-BDFC-4D38-6DC677962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99" y="4189176"/>
            <a:ext cx="3667947" cy="132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47468"/>
      </p:ext>
    </p:extLst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7BF4-AC7E-D76A-B2C3-A3497E5B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8440FBE-9F59-47A0-96AA-FFCBE708B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001AD3E8-A9ED-AE26-A525-E901E9397EF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2556" y="1143604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dirty="0">
                <a:latin typeface="Arial" panose="020B0604020202020204" pitchFamily="34" charset="0"/>
                <a:cs typeface="Arial" panose="020B0604020202020204" pitchFamily="34" charset="0"/>
              </a:rPr>
              <a:t>Avoid doing these inside a training loop if possible:</a:t>
            </a:r>
            <a:br>
              <a:rPr lang="en-GB" sz="2000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F0F06E18-B143-B140-2DE2-21C69E7D7FD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FF2A9145-947B-A5A1-6587-31A8A43C109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C4F3A042-9B02-4E5C-CFB1-A62828A289B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9BB8F131-225A-3CE8-5C6D-BF9CCB92F54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31FABE60-D209-2885-1B01-1FF31248256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F536526-60EF-2247-F21F-8954EA4EA66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3665F321-F656-9ACA-A354-CC4F1982B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40" y="2349875"/>
            <a:ext cx="9957647" cy="3629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42DC7-D802-CBF9-F94F-55A7E22DDA79}"/>
              </a:ext>
            </a:extLst>
          </p:cNvPr>
          <p:cNvSpPr txBox="1"/>
          <p:nvPr/>
        </p:nvSpPr>
        <p:spPr>
          <a:xfrm>
            <a:off x="5959040" y="5958023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This forces </a:t>
            </a:r>
            <a:r>
              <a:rPr lang="en-GB" sz="1400" dirty="0" err="1"/>
              <a:t>PyTorch</a:t>
            </a:r>
            <a:r>
              <a:rPr lang="en-GB" sz="1400" dirty="0"/>
              <a:t> to copy data from GPU to CPU, slowing performance.</a:t>
            </a:r>
            <a:endParaRPr lang="en-NL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2C645D-FE97-9FB5-EE2D-BF1CED8780DD}"/>
              </a:ext>
            </a:extLst>
          </p:cNvPr>
          <p:cNvCxnSpPr>
            <a:cxnSpLocks/>
          </p:cNvCxnSpPr>
          <p:nvPr/>
        </p:nvCxnSpPr>
        <p:spPr>
          <a:xfrm flipH="1" flipV="1">
            <a:off x="5582667" y="5681618"/>
            <a:ext cx="376373" cy="386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1786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4EB0F-4762-D3D4-E6FA-B45118A6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CEB8A7D4-4C82-9CAD-FACC-631318CA2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22EC75F-C9B9-CBD9-BC69-92B031D6790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6240" y="1077715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 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E64FFD8-7A8F-4AAC-8AE5-0206F164F11B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0B41BAD-F64C-92FF-309A-39821E7538A3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E57614D-54A8-6512-7DF2-75151651F4EA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C844159-507E-42F0-ED94-E93DFBC15A72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B0DF2F7-D8C3-EE37-D0FA-460AC922C50F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D879B570-FCC3-7A5D-7EDD-E482F9F651A9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4F66AB-924C-886D-F532-91B3737CF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302" y="2961885"/>
            <a:ext cx="10396448" cy="2818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5FECB6-E925-759A-CD2E-2ACF173BA65B}"/>
              </a:ext>
            </a:extLst>
          </p:cNvPr>
          <p:cNvSpPr txBox="1"/>
          <p:nvPr/>
        </p:nvSpPr>
        <p:spPr>
          <a:xfrm>
            <a:off x="5841040" y="2357201"/>
            <a:ext cx="5905582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Each loss in </a:t>
            </a:r>
            <a:r>
              <a:rPr lang="en-GB" sz="1400" dirty="0" err="1"/>
              <a:t>losses.append</a:t>
            </a:r>
            <a:r>
              <a:rPr lang="en-GB" sz="1400" dirty="0"/>
              <a:t>(loss) stores the entire computation graph. </a:t>
            </a:r>
            <a:r>
              <a:rPr lang="en-GB" sz="1400" dirty="0" err="1"/>
              <a:t>PyTorch</a:t>
            </a:r>
            <a:r>
              <a:rPr lang="en-GB" sz="1400" dirty="0"/>
              <a:t> stores extra gradients unnecessarily!</a:t>
            </a:r>
            <a:endParaRPr lang="en-NL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40444A-307D-D510-BC5D-E4480127966D}"/>
              </a:ext>
            </a:extLst>
          </p:cNvPr>
          <p:cNvCxnSpPr>
            <a:cxnSpLocks/>
          </p:cNvCxnSpPr>
          <p:nvPr/>
        </p:nvCxnSpPr>
        <p:spPr>
          <a:xfrm flipH="1">
            <a:off x="3736623" y="2779732"/>
            <a:ext cx="2104417" cy="1871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70640C-1920-2812-A703-B4573D3103AE}"/>
              </a:ext>
            </a:extLst>
          </p:cNvPr>
          <p:cNvSpPr txBox="1"/>
          <p:nvPr/>
        </p:nvSpPr>
        <p:spPr>
          <a:xfrm>
            <a:off x="5226504" y="5962438"/>
            <a:ext cx="5003796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detach() creates a new tensor with the same values but removes the gradient tracking.</a:t>
            </a:r>
            <a:endParaRPr lang="en-NL" sz="1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105AB7-1210-5AB6-9B19-31E24F9DBB49}"/>
              </a:ext>
            </a:extLst>
          </p:cNvPr>
          <p:cNvCxnSpPr>
            <a:cxnSpLocks/>
          </p:cNvCxnSpPr>
          <p:nvPr/>
        </p:nvCxnSpPr>
        <p:spPr>
          <a:xfrm flipH="1" flipV="1">
            <a:off x="4357512" y="5557064"/>
            <a:ext cx="868992" cy="561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7341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algorithm for some methods,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07CE38-F6FC-BACE-E58B-D86C540F3B67}"/>
              </a:ext>
            </a:extLst>
          </p:cNvPr>
          <p:cNvSpPr txBox="1"/>
          <p:nvPr/>
        </p:nvSpPr>
        <p:spPr>
          <a:xfrm>
            <a:off x="7138700" y="872640"/>
            <a:ext cx="4471419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little reason </a:t>
            </a:r>
            <a:r>
              <a:rPr lang="en-GB" sz="1400" i="1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to use TensorFloat32 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1D5802-F904-12C9-3B5B-E7FD8958958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6096000" y="1072695"/>
            <a:ext cx="1042700" cy="54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C3AC53-F74A-B814-27FE-C87489A7D069}"/>
              </a:ext>
            </a:extLst>
          </p:cNvPr>
          <p:cNvSpPr txBox="1"/>
          <p:nvPr/>
        </p:nvSpPr>
        <p:spPr>
          <a:xfrm>
            <a:off x="6722650" y="1576942"/>
            <a:ext cx="495311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Helps maintain accuracy in cases where TF32 might introduce minor errors</a:t>
            </a:r>
            <a:endParaRPr lang="en-NL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AC30D4-29D1-FC65-B112-423CAD7272E7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679949" y="1831910"/>
            <a:ext cx="1042701" cy="52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56C147F-3C92-1672-0D5C-8A774CD567A1}"/>
              </a:ext>
            </a:extLst>
          </p:cNvPr>
          <p:cNvSpPr txBox="1"/>
          <p:nvPr/>
        </p:nvSpPr>
        <p:spPr>
          <a:xfrm>
            <a:off x="7488595" y="3460538"/>
            <a:ext cx="457369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Stores images in NHWC format instead of NCHW (optimizes GPU cache usage)</a:t>
            </a:r>
            <a:endParaRPr lang="en-NL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8055A-EAFC-E574-AA7B-E6305B9128C3}"/>
              </a:ext>
            </a:extLst>
          </p:cNvPr>
          <p:cNvCxnSpPr>
            <a:cxnSpLocks/>
          </p:cNvCxnSpPr>
          <p:nvPr/>
        </p:nvCxnSpPr>
        <p:spPr>
          <a:xfrm flipH="1">
            <a:off x="3285067" y="3772407"/>
            <a:ext cx="4218358" cy="38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DCE398-D0F1-470F-102E-9ECF169A517A}"/>
              </a:ext>
            </a:extLst>
          </p:cNvPr>
          <p:cNvSpPr txBox="1"/>
          <p:nvPr/>
        </p:nvSpPr>
        <p:spPr>
          <a:xfrm>
            <a:off x="5959039" y="219409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Lower precision (FP16 or BF16) for matrix reductions instead of higher precision (FP32, advised). Can cause numerical instability!</a:t>
            </a:r>
            <a:endParaRPr lang="en-NL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E6B202-43CB-8B21-B8D5-2F886CF5CDE2}"/>
              </a:ext>
            </a:extLst>
          </p:cNvPr>
          <p:cNvCxnSpPr>
            <a:cxnSpLocks/>
          </p:cNvCxnSpPr>
          <p:nvPr/>
        </p:nvCxnSpPr>
        <p:spPr>
          <a:xfrm flipH="1">
            <a:off x="9561689" y="827153"/>
            <a:ext cx="876708" cy="58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3E4A6E-5B33-B6FA-0FA9-F0F4C826281A}"/>
              </a:ext>
            </a:extLst>
          </p:cNvPr>
          <p:cNvCxnSpPr>
            <a:cxnSpLocks/>
          </p:cNvCxnSpPr>
          <p:nvPr/>
        </p:nvCxnSpPr>
        <p:spPr>
          <a:xfrm flipH="1">
            <a:off x="9537209" y="852519"/>
            <a:ext cx="901188" cy="13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D84707-DAE4-7FED-FC14-80907AAC9923}"/>
              </a:ext>
            </a:extLst>
          </p:cNvPr>
          <p:cNvSpPr txBox="1"/>
          <p:nvPr/>
        </p:nvSpPr>
        <p:spPr>
          <a:xfrm>
            <a:off x="6046652" y="2741726"/>
            <a:ext cx="610878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trades some accuracy for faster compute. Can affect model convergence</a:t>
            </a:r>
            <a:endParaRPr lang="en-NL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39EF1B-0CB4-8359-003F-754C9DB9BC53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5678311" y="2941781"/>
            <a:ext cx="368341" cy="200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648EA7E-5615-BF4A-2835-B66B24EC57FE}"/>
              </a:ext>
            </a:extLst>
          </p:cNvPr>
          <p:cNvSpPr txBox="1"/>
          <p:nvPr/>
        </p:nvSpPr>
        <p:spPr>
          <a:xfrm>
            <a:off x="6522374" y="4999996"/>
            <a:ext cx="5510849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Forces all computations to use lower precision, instead of letting </a:t>
            </a:r>
            <a:r>
              <a:rPr lang="en-GB" sz="1400" dirty="0" err="1"/>
              <a:t>autocast</a:t>
            </a:r>
            <a:r>
              <a:rPr lang="en-GB" sz="1400" dirty="0"/>
              <a:t>() to choose </a:t>
            </a:r>
            <a:endParaRPr lang="en-NL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41E917-D780-01AB-E3ED-30437B114D6C}"/>
              </a:ext>
            </a:extLst>
          </p:cNvPr>
          <p:cNvCxnSpPr>
            <a:cxnSpLocks/>
          </p:cNvCxnSpPr>
          <p:nvPr/>
        </p:nvCxnSpPr>
        <p:spPr>
          <a:xfrm flipH="1" flipV="1">
            <a:off x="5678311" y="3910829"/>
            <a:ext cx="1207911" cy="1089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5716F-DE4D-7677-D20C-465CA7ABC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81F951FC-A7FF-FB15-2895-9180D45DD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4C2000A-EF03-1431-79EF-07ECDD3575A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Change model architecture to improve performance characteristics, e.g.: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LoRA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for fine-tuning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pre-trained model aka zero shot 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  <a:t>E.g. </a:t>
            </a:r>
            <a:r>
              <a:rPr lang="en-GB" sz="1200" spc="-1">
                <a:solidFill>
                  <a:srgbClr val="000000"/>
                </a:solidFill>
                <a:latin typeface="Arial"/>
                <a:cs typeface="Arial"/>
              </a:rPr>
              <a:t>DINOv2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Arial"/>
                <a:cs typeface="Arial"/>
              </a:rPr>
              <a:t>Incorporate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dataloading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operations into the model instead of CPU pipeline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ViT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vs CNN vs GNN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Change non-linearities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Multiples of 2,8,1024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Channels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Hidden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Vocab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Batch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Input resolution/sequence length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Everything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For transformers: 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Patching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Masked attention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8E859C55-D5DC-31E1-DF64-276D364B3E9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B5DA00F-6A37-690A-60FA-98FC580117EE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8FCA34F8-8417-FCC7-0F15-DA2B967A25B3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E0D72F69-ABA9-3D35-A13A-379C4FB8ACD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439A953F-FDBC-C3EC-92B3-EEA96823A1B5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E48D71EA-AE8D-C84A-860C-746B4584BC57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45BD415B-0503-1652-91B9-0C2285BEB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5" name="Picture 4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5194710C-8C79-4873-01DD-EDDF106D65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6371" y="3137040"/>
            <a:ext cx="7056389" cy="369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614548"/>
      </p:ext>
    </p:extLst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Profile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nl-NL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wiel&#10;&#10;Automatisch gegenereerde beschrijving">
            <a:extLst>
              <a:ext uri="{FF2B5EF4-FFF2-40B4-BE49-F238E27FC236}">
                <a16:creationId xmlns:a16="http://schemas.microsoft.com/office/drawing/2014/main" id="{990048BE-1D46-0CDB-88C9-F4FB31A52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650" y="5357721"/>
            <a:ext cx="2743200" cy="142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14411</TotalTime>
  <Words>3645</Words>
  <Application>Microsoft Macintosh PowerPoint</Application>
  <PresentationFormat>Widescreen</PresentationFormat>
  <Paragraphs>1218</Paragraphs>
  <Slides>43</Slides>
  <Notes>27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43</vt:i4>
      </vt:variant>
    </vt:vector>
  </HeadingPairs>
  <TitlesOfParts>
    <vt:vector size="70" baseType="lpstr">
      <vt:lpstr>Arial</vt:lpstr>
      <vt:lpstr>Calibri</vt:lpstr>
      <vt:lpstr>Calibri,Sans-Serif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Performance in practice</vt:lpstr>
      <vt:lpstr>Nvidia Volta/Turing (e.g. V100, TitanRTX, RTX 2080Ti)</vt:lpstr>
      <vt:lpstr>Nvidia Ampere GPUs (e.g. A100, RTX 3090)</vt:lpstr>
      <vt:lpstr>Nvidia Ampere GPUs (e.g. A100, RTX 3090)</vt:lpstr>
      <vt:lpstr>Nvidia Ampere GPUs (e.g. A100, RTX 3090)</vt:lpstr>
      <vt:lpstr>Nvidia Ampere GPUs (e.g. A100, RTX 3090)</vt:lpstr>
      <vt:lpstr>Nvidia Hopper (e.g. H100)</vt:lpstr>
      <vt:lpstr>Nvidia Blackwell GPUs (e.g. (G)B200, RTX 5090)</vt:lpstr>
      <vt:lpstr>And on CPU: 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Change your model</vt:lpstr>
      <vt:lpstr>Always</vt:lpstr>
      <vt:lpstr>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Lars Veefkind</cp:lastModifiedBy>
  <cp:revision>207</cp:revision>
  <dcterms:modified xsi:type="dcterms:W3CDTF">2025-11-05T09:17:11Z</dcterms:modified>
  <dc:language>en-US</dc:language>
</cp:coreProperties>
</file>