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53"/>
  </p:notesMasterIdLst>
  <p:handoutMasterIdLst>
    <p:handoutMasterId r:id="rId54"/>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472" r:id="rId17"/>
    <p:sldId id="523" r:id="rId18"/>
    <p:sldId id="525" r:id="rId19"/>
    <p:sldId id="513" r:id="rId20"/>
    <p:sldId id="526" r:id="rId21"/>
    <p:sldId id="519" r:id="rId22"/>
    <p:sldId id="524" r:id="rId23"/>
    <p:sldId id="520" r:id="rId24"/>
    <p:sldId id="518" r:id="rId25"/>
    <p:sldId id="527" r:id="rId26"/>
    <p:sldId id="521" r:id="rId27"/>
    <p:sldId id="474" r:id="rId28"/>
    <p:sldId id="476" r:id="rId29"/>
    <p:sldId id="478" r:id="rId30"/>
    <p:sldId id="504" r:id="rId31"/>
    <p:sldId id="479" r:id="rId32"/>
    <p:sldId id="492" r:id="rId33"/>
    <p:sldId id="493" r:id="rId34"/>
    <p:sldId id="495" r:id="rId35"/>
    <p:sldId id="480" r:id="rId36"/>
    <p:sldId id="481" r:id="rId37"/>
    <p:sldId id="482" r:id="rId38"/>
    <p:sldId id="486" r:id="rId39"/>
    <p:sldId id="496" r:id="rId40"/>
    <p:sldId id="485" r:id="rId41"/>
    <p:sldId id="487" r:id="rId42"/>
    <p:sldId id="488" r:id="rId43"/>
    <p:sldId id="489" r:id="rId44"/>
    <p:sldId id="490" r:id="rId45"/>
    <p:sldId id="497" r:id="rId46"/>
    <p:sldId id="506" r:id="rId47"/>
    <p:sldId id="509" r:id="rId48"/>
    <p:sldId id="500" r:id="rId49"/>
    <p:sldId id="498" r:id="rId50"/>
    <p:sldId id="491" r:id="rId51"/>
    <p:sldId id="522" r:id="rId52"/>
  </p:sldIdLst>
  <p:sldSz cx="12192000" cy="6858000"/>
  <p:notesSz cx="6858000" cy="9144000"/>
  <p:custDataLst>
    <p:tags r:id="rId55"/>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472"/>
            <p14:sldId id="523"/>
            <p14:sldId id="525"/>
            <p14:sldId id="513"/>
            <p14:sldId id="526"/>
            <p14:sldId id="519"/>
            <p14:sldId id="524"/>
            <p14:sldId id="520"/>
            <p14:sldId id="518"/>
            <p14:sldId id="527"/>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497"/>
            <p14:sldId id="506"/>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240" autoAdjust="0"/>
    <p:restoredTop sz="74547" autoAdjust="0"/>
  </p:normalViewPr>
  <p:slideViewPr>
    <p:cSldViewPr snapToGrid="0">
      <p:cViewPr>
        <p:scale>
          <a:sx n="146" d="100"/>
          <a:sy n="146" d="100"/>
        </p:scale>
        <p:origin x="3576" y="63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gs" Target="tags/tag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notesMaster" Target="notesMasters/notesMaster1.xml"/><Relationship Id="rId58"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commentAuthors" Target="commentAuthor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07-04-2025</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07-04-2025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Pipeline parallelism combines both data and model parallelism. a) shows the model parallelism, with the training in b. Each color indicates a part of the model. However, since device 0 has to wait for the output of device 1, there is a lot of wait-time in model parallel training. Essentially, all of the white space in this top figure represents devices that are idling. We can do this in a more efficient way using pipeline parallelism. In pipeline parallelism, we also share the model over various devices, as indicated by the different colors. However, instead of computing the forward pass on the full batch, we cut the batch into 4 smaller pieces. Once the forward pass is done on the first piece, device number 1 can start _its_ forward pass. (F0,X means: this device holds part ‘0’ of the model, and processes mini-batch X)</a:t>
            </a:r>
          </a:p>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15</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F7A0-72B9-006A-FD6D-612FF36BA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29ED7-E442-1F6C-5931-84E41613B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37FD-5F57-59C3-9FFE-E559671407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4D0DEA4B-A1E9-82FE-EDBA-D10B72968185}"/>
              </a:ext>
            </a:extLst>
          </p:cNvPr>
          <p:cNvSpPr>
            <a:spLocks noGrp="1"/>
          </p:cNvSpPr>
          <p:nvPr>
            <p:ph type="sldNum" sz="quarter" idx="10"/>
          </p:nvPr>
        </p:nvSpPr>
        <p:spPr/>
        <p:txBody>
          <a:bodyPr/>
          <a:lstStyle/>
          <a:p>
            <a:fld id="{544D7F65-5299-4383-99A9-3EF851E1080D}" type="slidenum">
              <a:rPr lang="nl-NL" smtClean="0"/>
              <a:t>17</a:t>
            </a:fld>
            <a:endParaRPr lang="nl-NL"/>
          </a:p>
        </p:txBody>
      </p:sp>
    </p:spTree>
    <p:extLst>
      <p:ext uri="{BB962C8B-B14F-4D97-AF65-F5344CB8AC3E}">
        <p14:creationId xmlns:p14="http://schemas.microsoft.com/office/powerpoint/2010/main" val="27853535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30</a:t>
            </a:fld>
            <a:endParaRPr lang="nl-NL"/>
          </a:p>
        </p:txBody>
      </p:sp>
    </p:spTree>
    <p:extLst>
      <p:ext uri="{BB962C8B-B14F-4D97-AF65-F5344CB8AC3E}">
        <p14:creationId xmlns:p14="http://schemas.microsoft.com/office/powerpoint/2010/main" val="1446803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is for “the short version”, we can use the other slides explaining MPI for the long version.</a:t>
            </a:r>
          </a:p>
        </p:txBody>
      </p:sp>
      <p:sp>
        <p:nvSpPr>
          <p:cNvPr id="4" name="Slide Number Placeholder 3"/>
          <p:cNvSpPr>
            <a:spLocks noGrp="1"/>
          </p:cNvSpPr>
          <p:nvPr>
            <p:ph type="sldNum" sz="quarter" idx="5"/>
          </p:nvPr>
        </p:nvSpPr>
        <p:spPr/>
        <p:txBody>
          <a:bodyPr/>
          <a:lstStyle/>
          <a:p>
            <a:fld id="{544D7F65-5299-4383-99A9-3EF851E1080D}" type="slidenum">
              <a:rPr lang="nl-NL" smtClean="0"/>
              <a:t>45</a:t>
            </a:fld>
            <a:endParaRPr lang="nl-NL"/>
          </a:p>
        </p:txBody>
      </p:sp>
    </p:spTree>
    <p:extLst>
      <p:ext uri="{BB962C8B-B14F-4D97-AF65-F5344CB8AC3E}">
        <p14:creationId xmlns:p14="http://schemas.microsoft.com/office/powerpoint/2010/main" val="30995272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46</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47</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49</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6.jpeg"/><Relationship Id="rId7" Type="http://schemas.openxmlformats.org/officeDocument/2006/relationships/image" Target="../media/image20.jpg"/><Relationship Id="rId2" Type="http://schemas.openxmlformats.org/officeDocument/2006/relationships/image" Target="../media/image15.jpeg"/><Relationship Id="rId1" Type="http://schemas.openxmlformats.org/officeDocument/2006/relationships/slideMaster" Target="../slideMasters/slideMaster2.xml"/><Relationship Id="rId6" Type="http://schemas.openxmlformats.org/officeDocument/2006/relationships/image" Target="../media/image19.jpeg"/><Relationship Id="rId5" Type="http://schemas.openxmlformats.org/officeDocument/2006/relationships/image" Target="../media/image18.jpg"/><Relationship Id="rId4"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0.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2.png"/><Relationship Id="rId7" Type="http://schemas.openxmlformats.org/officeDocument/2006/relationships/image" Target="../media/image26.jpeg"/><Relationship Id="rId2" Type="http://schemas.openxmlformats.org/officeDocument/2006/relationships/image" Target="../media/image21.png"/><Relationship Id="rId1" Type="http://schemas.openxmlformats.org/officeDocument/2006/relationships/slideMaster" Target="../slideMasters/slideMaster2.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07-04-2025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07-04-2025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07-04-2025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07-04-2025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07-04-2025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7.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6.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07-04-2025</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1">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2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2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2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microsoft.com/office/2007/relationships/hdphoto" Target="../media/hdphoto4.wdp"/><Relationship Id="rId3" Type="http://schemas.openxmlformats.org/officeDocument/2006/relationships/image" Target="../media/image29.jpeg"/><Relationship Id="rId7" Type="http://schemas.microsoft.com/office/2007/relationships/hdphoto" Target="../media/hdphoto1.wdp"/><Relationship Id="rId12" Type="http://schemas.openxmlformats.org/officeDocument/2006/relationships/image" Target="../media/image3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32.png"/><Relationship Id="rId11" Type="http://schemas.microsoft.com/office/2007/relationships/hdphoto" Target="../media/hdphoto3.wdp"/><Relationship Id="rId5" Type="http://schemas.openxmlformats.org/officeDocument/2006/relationships/image" Target="../media/image31.jpeg"/><Relationship Id="rId10" Type="http://schemas.openxmlformats.org/officeDocument/2006/relationships/image" Target="../media/image34.png"/><Relationship Id="rId4" Type="http://schemas.openxmlformats.org/officeDocument/2006/relationships/image" Target="../media/image30.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0.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29.jpeg"/><Relationship Id="rId12" Type="http://schemas.openxmlformats.org/officeDocument/2006/relationships/image" Target="../media/image33.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8.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2.png"/><Relationship Id="rId4" Type="http://schemas.openxmlformats.org/officeDocument/2006/relationships/image" Target="../media/image6.png"/><Relationship Id="rId9" Type="http://schemas.openxmlformats.org/officeDocument/2006/relationships/image" Target="../media/image31.jpe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png"/><Relationship Id="rId7" Type="http://schemas.openxmlformats.org/officeDocument/2006/relationships/image" Target="../media/image28.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37.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4.png"/><Relationship Id="rId7" Type="http://schemas.openxmlformats.org/officeDocument/2006/relationships/image" Target="../media/image4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hyperlink" Target="https://arxiv.org/abs/2105.13120"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www.tensorflow.org/guide/distributed_training" TargetMode="External"/><Relationship Id="rId7" Type="http://schemas.openxmlformats.org/officeDocument/2006/relationships/image" Target="../media/image5.png"/><Relationship Id="rId2" Type="http://schemas.openxmlformats.org/officeDocument/2006/relationships/hyperlink" Target="https://pytorch.org/docs/stable/distributed.html" TargetMode="Externa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hyperlink" Target="https://huggingface.co/docs/transformers/main/en/accelerate" TargetMode="External"/><Relationship Id="rId4" Type="http://schemas.openxmlformats.org/officeDocument/2006/relationships/hyperlink" Target="https://pytorch.org/docs/stable/fsdp.html" TargetMode="External"/><Relationship Id="rId9"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1.png"/><Relationship Id="rId7" Type="http://schemas.openxmlformats.org/officeDocument/2006/relationships/image" Target="../media/image45.png"/><Relationship Id="rId2" Type="http://schemas.openxmlformats.org/officeDocument/2006/relationships/image" Target="../media/image401.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1.png"/><Relationship Id="rId4" Type="http://schemas.openxmlformats.org/officeDocument/2006/relationships/image" Target="../media/image421.png"/></Relationships>
</file>

<file path=ppt/slides/_rels/slide2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3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0.png"/><Relationship Id="rId7" Type="http://schemas.openxmlformats.org/officeDocument/2006/relationships/image" Target="../media/image51.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4.gi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dirty="0"/>
              <a:t>benefits of parallellization</a:t>
            </a:r>
          </a:p>
          <a:p>
            <a:r>
              <a:rPr lang="nl-NL" dirty="0"/>
              <a:t>parallellization strategies </a:t>
            </a:r>
          </a:p>
          <a:p>
            <a:r>
              <a:rPr lang="nl-NL" dirty="0"/>
              <a:t>Hands-on: </a:t>
            </a:r>
            <a:r>
              <a:rPr lang="en-US" dirty="0"/>
              <a:t>hyperparameter grid search on an HPC system</a:t>
            </a:r>
            <a:endParaRPr lang="nl-NL" dirty="0"/>
          </a:p>
          <a:p>
            <a:r>
              <a:rPr lang="nl-NL" dirty="0"/>
              <a:t>parallel stochastic gradient descent (SGD)</a:t>
            </a:r>
          </a:p>
          <a:p>
            <a:r>
              <a:rPr lang="nl-NL" dirty="0"/>
              <a:t>synchronous </a:t>
            </a:r>
            <a:r>
              <a:rPr lang="nl-NL" dirty="0">
                <a:solidFill>
                  <a:schemeClr val="bg1">
                    <a:lumMod val="50000"/>
                  </a:schemeClr>
                </a:solidFill>
              </a:rPr>
              <a:t>and asynchronous </a:t>
            </a:r>
            <a:r>
              <a:rPr lang="nl-NL" dirty="0"/>
              <a:t>parallel SGD</a:t>
            </a:r>
          </a:p>
          <a:p>
            <a:r>
              <a:rPr lang="nl-NL"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marL="404813" lvl="4" indent="287338">
              <a:buFont typeface="Arial" panose="020B0604020202020204" pitchFamily="34" charset="0"/>
              <a:buChar char="•"/>
            </a:pPr>
            <a:r>
              <a:rPr lang="nl-NL" dirty="0"/>
              <a:t>Pipeline parallel</a:t>
            </a:r>
          </a:p>
          <a:p>
            <a:pPr marL="404813" lvl="4" indent="287338">
              <a:buFont typeface="Arial" panose="020B0604020202020204" pitchFamily="34" charset="0"/>
              <a:buChar char="•"/>
            </a:pPr>
            <a:r>
              <a:rPr lang="nl-NL" dirty="0"/>
              <a:t>Tensor parallel</a:t>
            </a:r>
          </a:p>
          <a:p>
            <a:pPr marL="404813" lvl="4" indent="287338">
              <a:buFont typeface="Arial" panose="020B0604020202020204" pitchFamily="34" charset="0"/>
              <a:buChar char="•"/>
            </a:pPr>
            <a:r>
              <a:rPr lang="nl-NL" dirty="0" err="1"/>
              <a:t>Sequence</a:t>
            </a:r>
            <a:r>
              <a:rPr lang="nl-NL" dirty="0"/>
              <a:t> parallel </a:t>
            </a:r>
          </a:p>
          <a:p>
            <a:pPr>
              <a:buFont typeface="Arial" panose="020B0604020202020204" pitchFamily="34" charset="0"/>
              <a:buChar char="•"/>
            </a:pPr>
            <a:r>
              <a:rPr lang="nl-NL" dirty="0" err="1"/>
              <a:t>Hybrid</a:t>
            </a:r>
            <a:r>
              <a:rPr lang="nl-NL" dirty="0"/>
              <a:t> data/model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202901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a:buFont typeface="Arial" panose="020B0604020202020204" pitchFamily="34" charset="0"/>
              <a:buChar char="•"/>
            </a:pPr>
            <a:endParaRPr lang="en-US"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2050" name="Picture 2">
            <a:extLst>
              <a:ext uri="{FF2B5EF4-FFF2-40B4-BE49-F238E27FC236}">
                <a16:creationId xmlns:a16="http://schemas.microsoft.com/office/drawing/2014/main" id="{94D5BAFE-129D-4635-74E5-F99C969C62C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127990" y="787410"/>
            <a:ext cx="1831881" cy="7799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6233165" y="4229594"/>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78DE4852-B2DD-E276-3A31-6D273C86EA9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with computation</a:t>
            </a:r>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pic>
        <p:nvPicPr>
          <p:cNvPr id="6" name="Picture 2">
            <a:extLst>
              <a:ext uri="{FF2B5EF4-FFF2-40B4-BE49-F238E27FC236}">
                <a16:creationId xmlns:a16="http://schemas.microsoft.com/office/drawing/2014/main" id="{422C42B5-6256-04F4-E1EE-731CC5CCB40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a:t>
            </a:r>
            <a:r>
              <a:rPr lang="nl-NL" dirty="0" err="1"/>
              <a:t>parallelism</a:t>
            </a:r>
            <a:r>
              <a:rPr lang="nl-NL" dirty="0"/>
              <a:t>: 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3921067" y="3899213"/>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pic>
        <p:nvPicPr>
          <p:cNvPr id="7" name="Picture 2">
            <a:extLst>
              <a:ext uri="{FF2B5EF4-FFF2-40B4-BE49-F238E27FC236}">
                <a16:creationId xmlns:a16="http://schemas.microsoft.com/office/drawing/2014/main" id="{68E35373-28C9-8D3E-425B-EE5B81CA8D2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278227" y="872921"/>
            <a:ext cx="2090094" cy="8898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65B6-772B-F1E7-F903-E0AF69BFE2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B189D-38BF-CC91-7288-9C4C311966AE}"/>
              </a:ext>
            </a:extLst>
          </p:cNvPr>
          <p:cNvSpPr>
            <a:spLocks noGrp="1"/>
          </p:cNvSpPr>
          <p:nvPr>
            <p:ph type="title"/>
          </p:nvPr>
        </p:nvSpPr>
        <p:spPr/>
        <p:txBody>
          <a:bodyPr/>
          <a:lstStyle/>
          <a:p>
            <a:r>
              <a:rPr lang="nl-NL" dirty="0"/>
              <a:t>Model </a:t>
            </a:r>
            <a:r>
              <a:rPr lang="nl-NL" dirty="0" err="1"/>
              <a:t>parallelism</a:t>
            </a:r>
            <a:r>
              <a:rPr lang="nl-NL" dirty="0"/>
              <a:t>: </a:t>
            </a:r>
            <a:r>
              <a:rPr lang="nl-NL" dirty="0" err="1"/>
              <a:t>Sequence</a:t>
            </a:r>
            <a:r>
              <a:rPr lang="nl-NL" dirty="0"/>
              <a:t> parallel</a:t>
            </a:r>
          </a:p>
        </p:txBody>
      </p:sp>
      <p:sp>
        <p:nvSpPr>
          <p:cNvPr id="3" name="Vertical Text Placeholder 2">
            <a:extLst>
              <a:ext uri="{FF2B5EF4-FFF2-40B4-BE49-F238E27FC236}">
                <a16:creationId xmlns:a16="http://schemas.microsoft.com/office/drawing/2014/main" id="{C9AFBC2B-0557-4AC4-0F6B-142347EE2C44}"/>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Split longer sequences (e.g. sentences) across devices.</a:t>
            </a:r>
          </a:p>
          <a:p>
            <a:pPr>
              <a:buFont typeface="Arial" panose="020B0604020202020204" pitchFamily="34" charset="0"/>
              <a:buChar char="•"/>
            </a:pPr>
            <a:r>
              <a:rPr lang="en-US" dirty="0"/>
              <a:t>Higher maximum batch size and throughput compared to tensor parallel</a:t>
            </a:r>
          </a:p>
        </p:txBody>
      </p:sp>
      <p:sp>
        <p:nvSpPr>
          <p:cNvPr id="4" name="Text Placeholder 3">
            <a:extLst>
              <a:ext uri="{FF2B5EF4-FFF2-40B4-BE49-F238E27FC236}">
                <a16:creationId xmlns:a16="http://schemas.microsoft.com/office/drawing/2014/main" id="{B8884301-7AE9-B7C7-43EE-169D86B3C9F6}"/>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48509F1-ADA9-3236-C480-90C07F151659}"/>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22" name="Rectangle 3">
            <a:extLst>
              <a:ext uri="{FF2B5EF4-FFF2-40B4-BE49-F238E27FC236}">
                <a16:creationId xmlns:a16="http://schemas.microsoft.com/office/drawing/2014/main" id="{7414F149-C04F-81EF-E02E-7D088F812511}"/>
              </a:ext>
            </a:extLst>
          </p:cNvPr>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3"/>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4"/>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5"/>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6"/>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4100" name="Picture 4">
            <a:extLst>
              <a:ext uri="{FF2B5EF4-FFF2-40B4-BE49-F238E27FC236}">
                <a16:creationId xmlns:a16="http://schemas.microsoft.com/office/drawing/2014/main" id="{7EB1A6B2-A552-A8CF-D35B-FE570E8FB85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248074" y="941365"/>
            <a:ext cx="2086584" cy="85558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23BED4C-2BA8-14F0-5390-07E1C0120707}"/>
              </a:ext>
            </a:extLst>
          </p:cNvPr>
          <p:cNvPicPr>
            <a:picLocks noChangeAspect="1"/>
          </p:cNvPicPr>
          <p:nvPr/>
        </p:nvPicPr>
        <p:blipFill>
          <a:blip r:embed="rId8"/>
          <a:stretch>
            <a:fillRect/>
          </a:stretch>
        </p:blipFill>
        <p:spPr>
          <a:xfrm>
            <a:off x="-815254" y="3291514"/>
            <a:ext cx="11652284" cy="2885674"/>
          </a:xfrm>
          <a:prstGeom prst="rect">
            <a:avLst/>
          </a:prstGeom>
        </p:spPr>
      </p:pic>
      <p:sp>
        <p:nvSpPr>
          <p:cNvPr id="10" name="CustomShape 2">
            <a:extLst>
              <a:ext uri="{FF2B5EF4-FFF2-40B4-BE49-F238E27FC236}">
                <a16:creationId xmlns:a16="http://schemas.microsoft.com/office/drawing/2014/main" id="{5A2CD48E-560F-3484-B7F1-659B413EDF80}"/>
              </a:ext>
            </a:extLst>
          </p:cNvPr>
          <p:cNvSpPr/>
          <p:nvPr/>
        </p:nvSpPr>
        <p:spPr>
          <a:xfrm>
            <a:off x="6116162" y="6310148"/>
            <a:ext cx="4985259"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en-US" sz="1600" b="0" i="0" u="none" strike="noStrike" dirty="0">
                <a:solidFill>
                  <a:srgbClr val="222222"/>
                </a:solidFill>
                <a:effectLst/>
                <a:latin typeface="Arial" panose="020B0604020202020204" pitchFamily="34" charset="0"/>
              </a:rPr>
              <a:t>Li, </a:t>
            </a:r>
            <a:r>
              <a:rPr lang="en-US" sz="1600" b="0" i="0" u="none" strike="noStrike" dirty="0" err="1">
                <a:solidFill>
                  <a:srgbClr val="222222"/>
                </a:solidFill>
                <a:effectLst/>
                <a:latin typeface="Arial" panose="020B0604020202020204" pitchFamily="34" charset="0"/>
              </a:rPr>
              <a:t>Shenggui</a:t>
            </a:r>
            <a:r>
              <a:rPr lang="en-US" sz="1600" b="0" i="0" u="none" strike="noStrike" dirty="0">
                <a:solidFill>
                  <a:srgbClr val="222222"/>
                </a:solidFill>
                <a:effectLst/>
                <a:latin typeface="Arial" panose="020B0604020202020204" pitchFamily="34" charset="0"/>
              </a:rPr>
              <a:t>, et al. </a:t>
            </a:r>
            <a:r>
              <a:rPr lang="en-US" sz="1600" b="0" i="1" u="none" strike="noStrike" dirty="0" err="1">
                <a:solidFill>
                  <a:srgbClr val="222222"/>
                </a:solidFill>
                <a:effectLst/>
                <a:latin typeface="Arial" panose="020B0604020202020204" pitchFamily="34" charset="0"/>
              </a:rPr>
              <a:t>arXiv</a:t>
            </a:r>
            <a:r>
              <a:rPr lang="en-US" sz="1600" b="0" i="1" u="none" strike="noStrike" dirty="0">
                <a:solidFill>
                  <a:srgbClr val="222222"/>
                </a:solidFill>
                <a:effectLst/>
                <a:latin typeface="Arial" panose="020B0604020202020204" pitchFamily="34" charset="0"/>
              </a:rPr>
              <a:t> preprint:</a:t>
            </a:r>
            <a:r>
              <a:rPr lang="en-US" sz="1600" b="0" i="1" u="none" strike="noStrike" dirty="0">
                <a:solidFill>
                  <a:srgbClr val="222222"/>
                </a:solidFill>
                <a:effectLst/>
                <a:latin typeface="Arial" panose="020B0604020202020204" pitchFamily="34" charset="0"/>
                <a:hlinkClick r:id="rId9"/>
              </a:rPr>
              <a:t>2105.13120</a:t>
            </a:r>
            <a:r>
              <a:rPr lang="en-US" sz="1600" b="0" i="0" u="none" strike="noStrike" dirty="0">
                <a:solidFill>
                  <a:srgbClr val="222222"/>
                </a:solidFill>
                <a:effectLst/>
                <a:latin typeface="Arial" panose="020B0604020202020204" pitchFamily="34" charset="0"/>
              </a:rPr>
              <a:t> (2021).</a:t>
            </a:r>
            <a:endParaRPr lang="nl-NL" sz="1600" b="0" strike="noStrike" spc="-1" dirty="0">
              <a:latin typeface="Calibri"/>
            </a:endParaRPr>
          </a:p>
        </p:txBody>
      </p:sp>
    </p:spTree>
    <p:extLst>
      <p:ext uri="{BB962C8B-B14F-4D97-AF65-F5344CB8AC3E}">
        <p14:creationId xmlns:p14="http://schemas.microsoft.com/office/powerpoint/2010/main" val="165860213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rot="5400000">
            <a:off x="5591553" y="4201312"/>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rot="5400000">
            <a:off x="5446491" y="1651970"/>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A7BD-898A-79BD-D42B-953B985701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BF0FD-E609-FFDB-BEB7-D04AD31632AB}"/>
              </a:ext>
            </a:extLst>
          </p:cNvPr>
          <p:cNvSpPr>
            <a:spLocks noGrp="1"/>
          </p:cNvSpPr>
          <p:nvPr>
            <p:ph type="title"/>
          </p:nvPr>
        </p:nvSpPr>
        <p:spPr/>
        <p:txBody>
          <a:bodyPr/>
          <a:lstStyle/>
          <a:p>
            <a:r>
              <a:rPr lang="nl-NL" dirty="0"/>
              <a:t>3D </a:t>
            </a:r>
            <a:r>
              <a:rPr lang="nl-NL" dirty="0" err="1"/>
              <a:t>Parallelism</a:t>
            </a:r>
            <a:endParaRPr lang="nl-NL" dirty="0"/>
          </a:p>
        </p:txBody>
      </p:sp>
      <p:sp>
        <p:nvSpPr>
          <p:cNvPr id="4" name="Text Placeholder 3">
            <a:extLst>
              <a:ext uri="{FF2B5EF4-FFF2-40B4-BE49-F238E27FC236}">
                <a16:creationId xmlns:a16="http://schemas.microsoft.com/office/drawing/2014/main" id="{E147CA27-2C2E-267C-DD6D-249C495B1B7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86DC573C-FD64-D618-01F9-AE2543559BA6}"/>
              </a:ext>
            </a:extLst>
          </p:cNvPr>
          <p:cNvSpPr>
            <a:spLocks noGrp="1"/>
          </p:cNvSpPr>
          <p:nvPr>
            <p:ph type="sldNum" sz="quarter" idx="12"/>
          </p:nvPr>
        </p:nvSpPr>
        <p:spPr/>
        <p:txBody>
          <a:bodyPr/>
          <a:lstStyle/>
          <a:p>
            <a:fld id="{7AD0FE45-509C-4BDF-9EDE-64426F8DF3D2}" type="slidenum">
              <a:rPr lang="nl-NL" smtClean="0"/>
              <a:t>19</a:t>
            </a:fld>
            <a:endParaRPr lang="nl-NL"/>
          </a:p>
        </p:txBody>
      </p:sp>
      <p:sp>
        <p:nvSpPr>
          <p:cNvPr id="3" name="Vertical Text Placeholder 2">
            <a:extLst>
              <a:ext uri="{FF2B5EF4-FFF2-40B4-BE49-F238E27FC236}">
                <a16:creationId xmlns:a16="http://schemas.microsoft.com/office/drawing/2014/main" id="{277C3814-5E9F-B89D-2040-F845965698A7}"/>
              </a:ext>
            </a:extLst>
          </p:cNvPr>
          <p:cNvSpPr>
            <a:spLocks noGrp="1"/>
          </p:cNvSpPr>
          <p:nvPr>
            <p:ph type="body" orient="vert" idx="1"/>
          </p:nvPr>
        </p:nvSpPr>
        <p:spPr>
          <a:xfrm>
            <a:off x="523808" y="1145098"/>
            <a:ext cx="7619824" cy="3004871"/>
          </a:xfrm>
        </p:spPr>
        <p:txBody>
          <a:bodyPr/>
          <a:lstStyle/>
          <a:p>
            <a:pPr>
              <a:buFont typeface="Arial" panose="020B0604020202020204" pitchFamily="34" charset="0"/>
              <a:buChar char="•"/>
            </a:pPr>
            <a:r>
              <a:rPr lang="en-US" dirty="0"/>
              <a:t>Combined Data Parallel, Pipeline Parallel, Tensor Parallel</a:t>
            </a:r>
          </a:p>
          <a:p>
            <a:pPr>
              <a:buFont typeface="Arial" panose="020B0604020202020204" pitchFamily="34" charset="0"/>
              <a:buChar char="•"/>
            </a:pPr>
            <a:r>
              <a:rPr lang="en-US" dirty="0"/>
              <a:t>3D grid of devices</a:t>
            </a:r>
          </a:p>
          <a:p>
            <a:pPr marL="630238" indent="-265113">
              <a:buFont typeface="Arial" panose="020B0604020202020204" pitchFamily="34" charset="0"/>
              <a:buChar char="•"/>
            </a:pPr>
            <a:r>
              <a:rPr lang="en-US" dirty="0"/>
              <a:t>Each dimension deals with its own parallelization type</a:t>
            </a:r>
          </a:p>
          <a:p>
            <a:pPr marL="285750" indent="-285750">
              <a:buFont typeface="Arial" panose="020B0604020202020204" pitchFamily="34" charset="0"/>
              <a:buChar char="•"/>
            </a:pPr>
            <a:r>
              <a:rPr lang="en-US" dirty="0"/>
              <a:t>Physical location of GPUs with respect to each other matters</a:t>
            </a:r>
          </a:p>
          <a:p>
            <a:pPr marL="635000" indent="-304800">
              <a:buFont typeface="Arial" panose="020B0604020202020204" pitchFamily="34" charset="0"/>
              <a:buChar char="•"/>
            </a:pPr>
            <a:r>
              <a:rPr lang="en-US" dirty="0"/>
              <a:t>Data parallel between nodes</a:t>
            </a:r>
          </a:p>
          <a:p>
            <a:pPr marL="635000" indent="-304800">
              <a:buFont typeface="Arial" panose="020B0604020202020204" pitchFamily="34" charset="0"/>
              <a:buChar char="•"/>
            </a:pPr>
            <a:r>
              <a:rPr lang="en-US" dirty="0"/>
              <a:t>Tensor/pipeline parallel between GPUs in node.</a:t>
            </a:r>
          </a:p>
          <a:p>
            <a:pPr marL="630238" indent="-265113">
              <a:buFont typeface="Arial" panose="020B0604020202020204" pitchFamily="34" charset="0"/>
              <a:buChar char="•"/>
            </a:pPr>
            <a:endParaRPr lang="en-US" dirty="0"/>
          </a:p>
        </p:txBody>
      </p:sp>
      <p:pic>
        <p:nvPicPr>
          <p:cNvPr id="1026" name="Picture 2" descr="Colorful blocks showing  Mapping of workers in Figure 1 to GPUs on a system with eight nodes, each with four GPUs. Coloring denotes GPUs on the same node.">
            <a:extLst>
              <a:ext uri="{FF2B5EF4-FFF2-40B4-BE49-F238E27FC236}">
                <a16:creationId xmlns:a16="http://schemas.microsoft.com/office/drawing/2014/main" id="{D6490F2D-917C-3547-40C4-74913EFDAC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08885" y="2820712"/>
            <a:ext cx="5301762" cy="30620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150906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20</a:t>
            </a:fld>
            <a:endParaRPr lang="nl-NL"/>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AAC0-9309-C9A6-04E8-52E995A67D7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B7AB15-C5C6-54F7-B24F-BC9E207C562C}"/>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621F6D-1B19-19D7-3199-A3129564E900}"/>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0D53E424-44F5-9D94-D69B-B223133A6E2B}"/>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B1F11C36-C2DB-3D26-8BFC-C6FA27B0EE47}"/>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C3669F0B-BB84-7CC4-73FD-87D51789F90B}"/>
              </a:ext>
            </a:extLst>
          </p:cNvPr>
          <p:cNvSpPr>
            <a:spLocks noGrp="1"/>
          </p:cNvSpPr>
          <p:nvPr>
            <p:ph type="sldNum" sz="quarter" idx="12"/>
          </p:nvPr>
        </p:nvSpPr>
        <p:spPr/>
        <p:txBody>
          <a:bodyPr/>
          <a:lstStyle/>
          <a:p>
            <a:fld id="{7AD0FE45-509C-4BDF-9EDE-64426F8DF3D2}" type="slidenum">
              <a:rPr lang="nl-NL" smtClean="0"/>
              <a:t>21</a:t>
            </a:fld>
            <a:endParaRPr lang="nl-NL"/>
          </a:p>
        </p:txBody>
      </p:sp>
      <p:cxnSp>
        <p:nvCxnSpPr>
          <p:cNvPr id="8" name="Straight Arrow Connector 7">
            <a:extLst>
              <a:ext uri="{FF2B5EF4-FFF2-40B4-BE49-F238E27FC236}">
                <a16:creationId xmlns:a16="http://schemas.microsoft.com/office/drawing/2014/main" id="{8E306371-6DDB-79D4-030F-B8C7D660F319}"/>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CEC31BF-EEB3-5E65-D93D-6E0768CA818E}"/>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3750118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198392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22</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26155" y="3741576"/>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66037" y="4404050"/>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 Sequence</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marL="0" indent="0">
              <a:buNone/>
            </a:pPr>
            <a:endParaRPr lang="en-US" dirty="0"/>
          </a:p>
          <a:p>
            <a:pPr marL="0" indent="0">
              <a:buNone/>
            </a:pPr>
            <a:r>
              <a:rPr lang="en-US" dirty="0"/>
              <a:t>Note: use data parallel whenever you can. Use model / Pipeline parallel if you </a:t>
            </a:r>
            <a:r>
              <a:rPr lang="en-US" i="1" dirty="0"/>
              <a:t>really</a:t>
            </a:r>
            <a:r>
              <a:rPr lang="en-US" dirty="0"/>
              <a:t> need to. Even then, 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(e.g. data parallel @ CPU)</a:t>
            </a:r>
          </a:p>
          <a:p>
            <a:pPr>
              <a:buFont typeface="Arial" panose="020B0604020202020204" pitchFamily="34" charset="0"/>
              <a:buChar char="•"/>
            </a:pPr>
            <a:r>
              <a:rPr lang="en-US" dirty="0"/>
              <a:t>Reduced precision datatypes (discussed later today)</a:t>
            </a:r>
          </a:p>
          <a:p>
            <a:pPr>
              <a:buFont typeface="Arial" panose="020B0604020202020204" pitchFamily="34" charset="0"/>
              <a:buChar char="•"/>
            </a:pPr>
            <a:r>
              <a:rPr lang="en-US" dirty="0"/>
              <a:t>Low rank fine-tuning (</a:t>
            </a:r>
            <a:r>
              <a:rPr lang="en-US" dirty="0" err="1"/>
              <a:t>LoRA</a:t>
            </a:r>
            <a:r>
              <a:rPr lang="en-US" dirty="0"/>
              <a:t>/</a:t>
            </a:r>
            <a:r>
              <a:rPr lang="en-US" dirty="0" err="1"/>
              <a:t>QLoRA</a:t>
            </a: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23</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9DCB7-7FB7-4A8E-B1F9-13A02393E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C93FD2-D534-BD73-F119-DA52EDAF5514}"/>
              </a:ext>
            </a:extLst>
          </p:cNvPr>
          <p:cNvSpPr>
            <a:spLocks noGrp="1"/>
          </p:cNvSpPr>
          <p:nvPr>
            <p:ph type="title"/>
          </p:nvPr>
        </p:nvSpPr>
        <p:spPr/>
        <p:txBody>
          <a:bodyPr/>
          <a:lstStyle/>
          <a:p>
            <a:r>
              <a:rPr lang="nl-NL" dirty="0" err="1"/>
              <a:t>Parallelization</a:t>
            </a:r>
            <a:r>
              <a:rPr lang="nl-NL" dirty="0"/>
              <a:t> tools/</a:t>
            </a:r>
            <a:r>
              <a:rPr lang="nl-NL" dirty="0" err="1"/>
              <a:t>wrappers</a:t>
            </a:r>
            <a:endParaRPr lang="nl-NL" dirty="0"/>
          </a:p>
        </p:txBody>
      </p:sp>
      <p:sp>
        <p:nvSpPr>
          <p:cNvPr id="3" name="Vertical Text Placeholder 2">
            <a:extLst>
              <a:ext uri="{FF2B5EF4-FFF2-40B4-BE49-F238E27FC236}">
                <a16:creationId xmlns:a16="http://schemas.microsoft.com/office/drawing/2014/main" id="{D34D55CD-71D2-FE51-3AE8-2DAE2A03E336}"/>
              </a:ext>
            </a:extLst>
          </p:cNvPr>
          <p:cNvSpPr>
            <a:spLocks noGrp="1"/>
          </p:cNvSpPr>
          <p:nvPr>
            <p:ph type="body" orient="vert" idx="1"/>
          </p:nvPr>
        </p:nvSpPr>
        <p:spPr>
          <a:xfrm>
            <a:off x="523807" y="1145098"/>
            <a:ext cx="10182663" cy="4602559"/>
          </a:xfrm>
        </p:spPr>
        <p:txBody>
          <a:bodyPr/>
          <a:lstStyle/>
          <a:p>
            <a:pPr>
              <a:buFont typeface="Arial" panose="020B0604020202020204" pitchFamily="34" charset="0"/>
              <a:buChar char="•"/>
            </a:pPr>
            <a:r>
              <a:rPr lang="en-US" dirty="0" err="1"/>
              <a:t>torch.distributed</a:t>
            </a:r>
            <a:r>
              <a:rPr lang="en-US" dirty="0"/>
              <a:t>: </a:t>
            </a:r>
            <a:r>
              <a:rPr lang="en-US" dirty="0">
                <a:hlinkClick r:id="rId2"/>
              </a:rPr>
              <a:t>https://pytorch.org/docs/stable/distributed.html</a:t>
            </a:r>
            <a:r>
              <a:rPr lang="en-US" dirty="0"/>
              <a:t> </a:t>
            </a:r>
          </a:p>
          <a:p>
            <a:pPr>
              <a:buFont typeface="Arial" panose="020B0604020202020204" pitchFamily="34" charset="0"/>
              <a:buChar char="•"/>
            </a:pPr>
            <a:r>
              <a:rPr lang="en-US" dirty="0" err="1"/>
              <a:t>tf.distribute</a:t>
            </a:r>
            <a:r>
              <a:rPr lang="en-US" dirty="0"/>
              <a:t>: </a:t>
            </a:r>
            <a:r>
              <a:rPr lang="en-US" dirty="0">
                <a:hlinkClick r:id="rId3"/>
              </a:rPr>
              <a:t>https://www.tensorflow.org/guide/distributed_training</a:t>
            </a:r>
            <a:r>
              <a:rPr lang="en-US" dirty="0"/>
              <a:t> </a:t>
            </a:r>
          </a:p>
          <a:p>
            <a:pPr>
              <a:buFont typeface="Arial" panose="020B0604020202020204" pitchFamily="34" charset="0"/>
              <a:buChar char="•"/>
            </a:pPr>
            <a:r>
              <a:rPr lang="en-US" dirty="0"/>
              <a:t>Data parallel:</a:t>
            </a:r>
          </a:p>
          <a:p>
            <a:pPr marL="635000">
              <a:buFont typeface="Arial" panose="020B0604020202020204" pitchFamily="34" charset="0"/>
              <a:buChar char="•"/>
            </a:pPr>
            <a:r>
              <a:rPr lang="en-US" dirty="0" err="1"/>
              <a:t>PyTorch</a:t>
            </a:r>
            <a:r>
              <a:rPr lang="en-US" dirty="0"/>
              <a:t> Distributed Data Parallel (DDP)</a:t>
            </a:r>
          </a:p>
          <a:p>
            <a:pPr marL="303213" indent="-303213">
              <a:buFont typeface="Arial" panose="020B0604020202020204" pitchFamily="34" charset="0"/>
              <a:buChar char="•"/>
            </a:pPr>
            <a:r>
              <a:rPr lang="en-US" dirty="0"/>
              <a:t>Model parallel:</a:t>
            </a:r>
          </a:p>
          <a:p>
            <a:pPr marL="800100" indent="-357188">
              <a:buFont typeface="Arial" panose="020B0604020202020204" pitchFamily="34" charset="0"/>
              <a:buChar char="•"/>
            </a:pPr>
            <a:r>
              <a:rPr lang="en-US" dirty="0" err="1"/>
              <a:t>DeepSpeed</a:t>
            </a:r>
            <a:r>
              <a:rPr lang="en-US" dirty="0"/>
              <a:t> </a:t>
            </a:r>
            <a:r>
              <a:rPr lang="en-US" dirty="0" err="1"/>
              <a:t>ZeRO</a:t>
            </a:r>
            <a:endParaRPr lang="en-US" dirty="0"/>
          </a:p>
          <a:p>
            <a:pPr marL="800100" indent="-357188">
              <a:buFont typeface="Arial" panose="020B0604020202020204" pitchFamily="34" charset="0"/>
              <a:buChar char="•"/>
            </a:pPr>
            <a:r>
              <a:rPr lang="en-US" dirty="0"/>
              <a:t>Torch </a:t>
            </a:r>
            <a:r>
              <a:rPr lang="en-US" dirty="0" err="1"/>
              <a:t>FullyShardedDataParallel</a:t>
            </a:r>
            <a:r>
              <a:rPr lang="en-US" dirty="0"/>
              <a:t> (FSDP): </a:t>
            </a:r>
            <a:r>
              <a:rPr lang="en-US" dirty="0">
                <a:hlinkClick r:id="rId4"/>
              </a:rPr>
              <a:t>https://pytorch.org/docs/stable/fsdp.html</a:t>
            </a:r>
            <a:r>
              <a:rPr lang="en-US" dirty="0"/>
              <a:t> </a:t>
            </a:r>
          </a:p>
          <a:p>
            <a:pPr marL="1200150" indent="-357188">
              <a:buFont typeface="Arial" panose="020B0604020202020204" pitchFamily="34" charset="0"/>
              <a:buChar char="•"/>
            </a:pPr>
            <a:r>
              <a:rPr lang="en-US" dirty="0"/>
              <a:t>Wrapper of ZeRO-3</a:t>
            </a:r>
          </a:p>
          <a:p>
            <a:pPr marL="365125" indent="-365125">
              <a:buFont typeface="Arial" panose="020B0604020202020204" pitchFamily="34" charset="0"/>
              <a:buChar char="•"/>
            </a:pPr>
            <a:r>
              <a:rPr lang="en-US" dirty="0" err="1"/>
              <a:t>Huggingface’s</a:t>
            </a:r>
            <a:r>
              <a:rPr lang="en-US" dirty="0"/>
              <a:t> accelerate: </a:t>
            </a:r>
            <a:r>
              <a:rPr lang="en-US" dirty="0">
                <a:hlinkClick r:id="rId5"/>
              </a:rPr>
              <a:t>https://huggingface.co/docs/transformers/main/en/accelerate</a:t>
            </a:r>
            <a:r>
              <a:rPr lang="en-US" dirty="0"/>
              <a:t> </a:t>
            </a:r>
          </a:p>
          <a:p>
            <a:pPr marL="303213" indent="-303213">
              <a:buFont typeface="Arial" panose="020B0604020202020204" pitchFamily="34" charset="0"/>
              <a:buChar char="•"/>
            </a:pPr>
            <a:endParaRPr lang="en-US" dirty="0"/>
          </a:p>
          <a:p>
            <a:pPr marL="635000">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74DB135C-FB5C-386C-3D6B-BFA8919D8C3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4A7FCEDF-C961-8858-BBC5-6F26BBBDF728}"/>
              </a:ext>
            </a:extLst>
          </p:cNvPr>
          <p:cNvSpPr>
            <a:spLocks noGrp="1"/>
          </p:cNvSpPr>
          <p:nvPr>
            <p:ph type="sldNum" sz="quarter" idx="12"/>
          </p:nvPr>
        </p:nvSpPr>
        <p:spPr/>
        <p:txBody>
          <a:bodyPr/>
          <a:lstStyle/>
          <a:p>
            <a:fld id="{7AD0FE45-509C-4BDF-9EDE-64426F8DF3D2}" type="slidenum">
              <a:rPr lang="nl-NL" smtClean="0"/>
              <a:t>24</a:t>
            </a:fld>
            <a:endParaRPr lang="nl-NL"/>
          </a:p>
        </p:txBody>
      </p:sp>
      <p:sp>
        <p:nvSpPr>
          <p:cNvPr id="8" name="Vertical Text Placeholder 2">
            <a:extLst>
              <a:ext uri="{FF2B5EF4-FFF2-40B4-BE49-F238E27FC236}">
                <a16:creationId xmlns:a16="http://schemas.microsoft.com/office/drawing/2014/main" id="{41BEAFEE-662D-651C-AFB9-DEFAF13F6619}"/>
              </a:ext>
            </a:extLst>
          </p:cNvPr>
          <p:cNvSpPr txBox="1">
            <a:spLocks/>
          </p:cNvSpPr>
          <p:nvPr/>
        </p:nvSpPr>
        <p:spPr>
          <a:xfrm>
            <a:off x="7094424" y="2405135"/>
            <a:ext cx="8974163" cy="1409219"/>
          </a:xfrm>
          <a:prstGeom prst="rect">
            <a:avLst/>
          </a:prstGeom>
        </p:spPr>
        <p:txBody>
          <a:bodyPr vert="horz" lIns="0" tIns="0" rIns="0" bIns="0" rtlCol="0">
            <a:no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6"/>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7"/>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8"/>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9"/>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lvl="0">
              <a:buFont typeface="Arial" panose="020B0604020202020204" pitchFamily="34" charset="0"/>
              <a:buChar char="•"/>
            </a:pPr>
            <a:r>
              <a:rPr lang="en-US" b="1" dirty="0"/>
              <a:t>ZeRO-1: </a:t>
            </a:r>
            <a:r>
              <a:rPr lang="en-US" dirty="0"/>
              <a:t>Partition optimizer state</a:t>
            </a:r>
          </a:p>
          <a:p>
            <a:pPr lvl="0">
              <a:buFont typeface="Arial" panose="020B0604020202020204" pitchFamily="34" charset="0"/>
              <a:buChar char="•"/>
            </a:pPr>
            <a:r>
              <a:rPr lang="en-US" b="1" dirty="0"/>
              <a:t>ZeRO-2: </a:t>
            </a:r>
            <a:r>
              <a:rPr lang="en-US" dirty="0"/>
              <a:t>Partition gradients</a:t>
            </a:r>
          </a:p>
          <a:p>
            <a:pPr lvl="0">
              <a:buFont typeface="Arial" panose="020B0604020202020204" pitchFamily="34" charset="0"/>
              <a:buChar char="•"/>
            </a:pPr>
            <a:r>
              <a:rPr lang="en-US" b="1" dirty="0"/>
              <a:t>ZeRO-3: </a:t>
            </a:r>
            <a:r>
              <a:rPr lang="en-US" dirty="0"/>
              <a:t>Partition Model Weights </a:t>
            </a:r>
          </a:p>
          <a:p>
            <a:pPr marL="303213" lvl="0" indent="-303213">
              <a:buFont typeface="Arial" panose="020B0604020202020204" pitchFamily="34" charset="0"/>
              <a:buChar char="•"/>
            </a:pPr>
            <a:endParaRPr lang="en-US" dirty="0"/>
          </a:p>
          <a:p>
            <a:pPr marL="635000" lvl="0">
              <a:buFont typeface="Arial" panose="020B0604020202020204" pitchFamily="34" charset="0"/>
              <a:buChar char="•"/>
            </a:pPr>
            <a:endParaRPr lang="en-US" dirty="0"/>
          </a:p>
          <a:p>
            <a:pPr lvl="0">
              <a:buFont typeface="Arial" panose="020B0604020202020204" pitchFamily="34" charset="0"/>
              <a:buChar char="•"/>
            </a:pPr>
            <a:endParaRPr lang="en-US" dirty="0"/>
          </a:p>
        </p:txBody>
      </p:sp>
    </p:spTree>
    <p:extLst>
      <p:ext uri="{BB962C8B-B14F-4D97-AF65-F5344CB8AC3E}">
        <p14:creationId xmlns:p14="http://schemas.microsoft.com/office/powerpoint/2010/main" val="3699725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25</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using 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26</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 xmlns:p14="http://schemas.microsoft.com/office/powerpoint/2010/main" xmlns:p15="http://schemas.microsoft.com/office/powerpoint/2012/main"/>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28</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X</a:t>
                </a:r>
                <a:r>
                  <a:rPr lang="en-US" dirty="0"/>
                  <a:t> workers that each see </a:t>
                </a:r>
                <a:r>
                  <a:rPr lang="en-US" i="1" dirty="0"/>
                  <a:t>n</a:t>
                </a:r>
                <a:r>
                  <a:rPr lang="en-US" dirty="0"/>
                  <a:t> examples: batch size effectively n × X.</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𝑋</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𝑋</m:t>
                        </m:r>
                      </m:e>
                    </m:rad>
                  </m:oMath>
                </a14:m>
                <a:endParaRPr lang="en-US" dirty="0"/>
              </a:p>
              <a:p>
                <a:pPr marL="573088" lvl="1">
                  <a:buFont typeface="Arial" panose="020B0604020202020204" pitchFamily="34" charset="0"/>
                  <a:buChar char="•"/>
                </a:pPr>
                <a:r>
                  <a:rPr lang="en-US" dirty="0"/>
                  <a:t>Experiment!</a:t>
                </a:r>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839" t="-1613"/>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29</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30</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32</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can be difficult to scale: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Ok, so the most widely accepted approach is</a:t>
            </a:r>
          </a:p>
          <a:p>
            <a:pPr marL="0" indent="0">
              <a:buNone/>
            </a:pPr>
            <a:endParaRPr lang="en-US" dirty="0"/>
          </a:p>
          <a:p>
            <a:pPr marL="0" indent="0">
              <a:buNone/>
            </a:pPr>
            <a:r>
              <a:rPr lang="en-US" dirty="0"/>
              <a:t>distributed…</a:t>
            </a:r>
          </a:p>
          <a:p>
            <a:pPr marL="0" indent="0">
              <a:buNone/>
            </a:pPr>
            <a:r>
              <a:rPr lang="en-US" dirty="0"/>
              <a:t>data parallel…</a:t>
            </a:r>
          </a:p>
          <a:p>
            <a:pPr marL="0" indent="0">
              <a:buNone/>
            </a:pPr>
            <a:r>
              <a:rPr lang="en-US" dirty="0"/>
              <a:t>synchronous…</a:t>
            </a:r>
          </a:p>
          <a:p>
            <a:pPr marL="0" indent="0">
              <a:buNone/>
            </a:pPr>
            <a:r>
              <a:rPr lang="en-US" dirty="0"/>
              <a:t>SGD…</a:t>
            </a:r>
          </a:p>
          <a:p>
            <a:pPr marL="0" indent="0">
              <a:buNone/>
            </a:pPr>
            <a:endParaRPr lang="en-US" dirty="0"/>
          </a:p>
          <a:p>
            <a:pPr marL="0" indent="0">
              <a:buNone/>
            </a:pPr>
            <a:r>
              <a:rPr lang="en-US" dirty="0"/>
              <a:t>… but how do distributed deep learning frameworks aggregate their gradients in such a setup?</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MPI / NCCL</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often used to communicate gradients</a:t>
                </a:r>
              </a:p>
              <a:p>
                <a:pPr>
                  <a:buFont typeface="Arial" panose="020B0604020202020204" pitchFamily="34" charset="0"/>
                  <a:buChar char="•"/>
                </a:pPr>
                <a:r>
                  <a:rPr lang="en-US" dirty="0" err="1"/>
                  <a:t>MPI_AllReduce</a:t>
                </a:r>
                <a:r>
                  <a:rPr lang="en-US" dirty="0"/>
                  <a:t> aggregates and sums gradients (remember: </a:t>
                </a:r>
                <a14:m>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a14:m>
                <a:r>
                  <a:rPr lang="en-US" dirty="0"/>
                  <a:t>)</a:t>
                </a:r>
              </a:p>
              <a:p>
                <a:pPr>
                  <a:buFont typeface="Arial" panose="020B0604020202020204" pitchFamily="34" charset="0"/>
                  <a:buChar char="•"/>
                </a:pPr>
                <a:r>
                  <a:rPr lang="en-US" dirty="0"/>
                  <a:t>NVIDIA’s NCCL library contains an implementation of MPI routines optimized for GPU </a:t>
                </a:r>
                <a:r>
                  <a:rPr lang="en-US" dirty="0">
                    <a:sym typeface="Wingdings" panose="05000000000000000000" pitchFamily="2" charset="2"/>
                  </a:rPr>
                  <a:t> GPU communication</a:t>
                </a: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graphicFrame>
        <p:nvGraphicFramePr>
          <p:cNvPr id="6" name="Table 5">
            <a:extLst>
              <a:ext uri="{FF2B5EF4-FFF2-40B4-BE49-F238E27FC236}">
                <a16:creationId xmlns:a16="http://schemas.microsoft.com/office/drawing/2014/main" id="{4DD8B546-9762-4F03-8565-5DF9CB2ABF2D}"/>
              </a:ext>
            </a:extLst>
          </p:cNvPr>
          <p:cNvGraphicFramePr>
            <a:graphicFrameLocks noGrp="1"/>
          </p:cNvGraphicFramePr>
          <p:nvPr>
            <p:extLst>
              <p:ext uri="{D42A27DB-BD31-4B8C-83A1-F6EECF244321}">
                <p14:modId xmlns:p14="http://schemas.microsoft.com/office/powerpoint/2010/main" val="519747957"/>
              </p:ext>
            </p:extLst>
          </p:nvPr>
        </p:nvGraphicFramePr>
        <p:xfrm>
          <a:off x="2694030" y="36481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212CC074-5A96-4661-A15B-6DA042836CAE}"/>
              </a:ext>
            </a:extLst>
          </p:cNvPr>
          <p:cNvSpPr txBox="1"/>
          <p:nvPr/>
        </p:nvSpPr>
        <p:spPr>
          <a:xfrm>
            <a:off x="2064334" y="3658176"/>
            <a:ext cx="466794" cy="369332"/>
          </a:xfrm>
          <a:prstGeom prst="rect">
            <a:avLst/>
          </a:prstGeom>
          <a:noFill/>
        </p:spPr>
        <p:txBody>
          <a:bodyPr wrap="none" rtlCol="0">
            <a:spAutoFit/>
          </a:bodyPr>
          <a:lstStyle/>
          <a:p>
            <a:r>
              <a:rPr lang="en-US" dirty="0"/>
              <a:t>P0</a:t>
            </a:r>
          </a:p>
        </p:txBody>
      </p:sp>
      <p:sp>
        <p:nvSpPr>
          <p:cNvPr id="8" name="TextBox 7">
            <a:extLst>
              <a:ext uri="{FF2B5EF4-FFF2-40B4-BE49-F238E27FC236}">
                <a16:creationId xmlns:a16="http://schemas.microsoft.com/office/drawing/2014/main" id="{BE616869-4E1E-4D4B-BDD1-29243D2D84D1}"/>
              </a:ext>
            </a:extLst>
          </p:cNvPr>
          <p:cNvSpPr txBox="1"/>
          <p:nvPr/>
        </p:nvSpPr>
        <p:spPr>
          <a:xfrm>
            <a:off x="2064334" y="4027508"/>
            <a:ext cx="466794" cy="369332"/>
          </a:xfrm>
          <a:prstGeom prst="rect">
            <a:avLst/>
          </a:prstGeom>
          <a:noFill/>
        </p:spPr>
        <p:txBody>
          <a:bodyPr wrap="none" rtlCol="0">
            <a:spAutoFit/>
          </a:bodyPr>
          <a:lstStyle/>
          <a:p>
            <a:r>
              <a:rPr lang="en-US" dirty="0"/>
              <a:t>P1</a:t>
            </a:r>
          </a:p>
        </p:txBody>
      </p:sp>
      <p:sp>
        <p:nvSpPr>
          <p:cNvPr id="9" name="TextBox 8">
            <a:extLst>
              <a:ext uri="{FF2B5EF4-FFF2-40B4-BE49-F238E27FC236}">
                <a16:creationId xmlns:a16="http://schemas.microsoft.com/office/drawing/2014/main" id="{DE416E43-0A3D-4078-A71A-8B6C5DCA3311}"/>
              </a:ext>
            </a:extLst>
          </p:cNvPr>
          <p:cNvSpPr txBox="1"/>
          <p:nvPr/>
        </p:nvSpPr>
        <p:spPr>
          <a:xfrm>
            <a:off x="2064334" y="4396840"/>
            <a:ext cx="466794" cy="369332"/>
          </a:xfrm>
          <a:prstGeom prst="rect">
            <a:avLst/>
          </a:prstGeom>
          <a:noFill/>
        </p:spPr>
        <p:txBody>
          <a:bodyPr wrap="none" rtlCol="0">
            <a:spAutoFit/>
          </a:bodyPr>
          <a:lstStyle/>
          <a:p>
            <a:r>
              <a:rPr lang="en-US" dirty="0"/>
              <a:t>P2</a:t>
            </a:r>
          </a:p>
        </p:txBody>
      </p:sp>
      <p:sp>
        <p:nvSpPr>
          <p:cNvPr id="10" name="TextBox 9">
            <a:extLst>
              <a:ext uri="{FF2B5EF4-FFF2-40B4-BE49-F238E27FC236}">
                <a16:creationId xmlns:a16="http://schemas.microsoft.com/office/drawing/2014/main" id="{E8C7289C-CD71-44CE-8126-E133FF55499E}"/>
              </a:ext>
            </a:extLst>
          </p:cNvPr>
          <p:cNvSpPr txBox="1"/>
          <p:nvPr/>
        </p:nvSpPr>
        <p:spPr>
          <a:xfrm>
            <a:off x="2064334" y="4762156"/>
            <a:ext cx="466794" cy="369332"/>
          </a:xfrm>
          <a:prstGeom prst="rect">
            <a:avLst/>
          </a:prstGeom>
          <a:noFill/>
        </p:spPr>
        <p:txBody>
          <a:bodyPr wrap="none" rtlCol="0">
            <a:spAutoFit/>
          </a:bodyPr>
          <a:lstStyle/>
          <a:p>
            <a:r>
              <a:rPr lang="en-US" dirty="0"/>
              <a:t>P3</a:t>
            </a:r>
          </a:p>
        </p:txBody>
      </p:sp>
      <p:graphicFrame>
        <p:nvGraphicFramePr>
          <p:cNvPr id="11" name="Table 10">
            <a:extLst>
              <a:ext uri="{FF2B5EF4-FFF2-40B4-BE49-F238E27FC236}">
                <a16:creationId xmlns:a16="http://schemas.microsoft.com/office/drawing/2014/main" id="{8D0F587F-5885-4E7F-A2FD-56F2D5A0A5AF}"/>
              </a:ext>
            </a:extLst>
          </p:cNvPr>
          <p:cNvGraphicFramePr>
            <a:graphicFrameLocks noGrp="1"/>
          </p:cNvGraphicFramePr>
          <p:nvPr>
            <p:extLst>
              <p:ext uri="{D42A27DB-BD31-4B8C-83A1-F6EECF244321}">
                <p14:modId xmlns:p14="http://schemas.microsoft.com/office/powerpoint/2010/main" val="2607605282"/>
              </p:ext>
            </p:extLst>
          </p:nvPr>
        </p:nvGraphicFramePr>
        <p:xfrm>
          <a:off x="6838001" y="36481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2" name="TextBox 11">
            <a:extLst>
              <a:ext uri="{FF2B5EF4-FFF2-40B4-BE49-F238E27FC236}">
                <a16:creationId xmlns:a16="http://schemas.microsoft.com/office/drawing/2014/main" id="{C330D3DC-1B30-4DED-A91E-0D0C93D6AFC4}"/>
              </a:ext>
            </a:extLst>
          </p:cNvPr>
          <p:cNvSpPr txBox="1"/>
          <p:nvPr/>
        </p:nvSpPr>
        <p:spPr>
          <a:xfrm>
            <a:off x="6208306" y="3658176"/>
            <a:ext cx="466794" cy="369332"/>
          </a:xfrm>
          <a:prstGeom prst="rect">
            <a:avLst/>
          </a:prstGeom>
          <a:noFill/>
        </p:spPr>
        <p:txBody>
          <a:bodyPr wrap="none" rtlCol="0">
            <a:spAutoFit/>
          </a:bodyPr>
          <a:lstStyle/>
          <a:p>
            <a:r>
              <a:rPr lang="en-US" dirty="0"/>
              <a:t>P0</a:t>
            </a:r>
          </a:p>
        </p:txBody>
      </p:sp>
      <p:sp>
        <p:nvSpPr>
          <p:cNvPr id="13" name="TextBox 12">
            <a:extLst>
              <a:ext uri="{FF2B5EF4-FFF2-40B4-BE49-F238E27FC236}">
                <a16:creationId xmlns:a16="http://schemas.microsoft.com/office/drawing/2014/main" id="{B3EBF0BF-A012-45C4-8A68-CB8678285121}"/>
              </a:ext>
            </a:extLst>
          </p:cNvPr>
          <p:cNvSpPr txBox="1"/>
          <p:nvPr/>
        </p:nvSpPr>
        <p:spPr>
          <a:xfrm>
            <a:off x="6208306" y="4027508"/>
            <a:ext cx="466794" cy="369332"/>
          </a:xfrm>
          <a:prstGeom prst="rect">
            <a:avLst/>
          </a:prstGeom>
          <a:noFill/>
        </p:spPr>
        <p:txBody>
          <a:bodyPr wrap="none" rtlCol="0">
            <a:spAutoFit/>
          </a:bodyPr>
          <a:lstStyle/>
          <a:p>
            <a:r>
              <a:rPr lang="en-US" dirty="0"/>
              <a:t>P1</a:t>
            </a:r>
          </a:p>
        </p:txBody>
      </p:sp>
      <p:sp>
        <p:nvSpPr>
          <p:cNvPr id="14" name="TextBox 13">
            <a:extLst>
              <a:ext uri="{FF2B5EF4-FFF2-40B4-BE49-F238E27FC236}">
                <a16:creationId xmlns:a16="http://schemas.microsoft.com/office/drawing/2014/main" id="{236A5392-2045-4406-A628-9937495565A7}"/>
              </a:ext>
            </a:extLst>
          </p:cNvPr>
          <p:cNvSpPr txBox="1"/>
          <p:nvPr/>
        </p:nvSpPr>
        <p:spPr>
          <a:xfrm>
            <a:off x="6208306" y="4396840"/>
            <a:ext cx="466794" cy="369332"/>
          </a:xfrm>
          <a:prstGeom prst="rect">
            <a:avLst/>
          </a:prstGeom>
          <a:noFill/>
        </p:spPr>
        <p:txBody>
          <a:bodyPr wrap="none" rtlCol="0">
            <a:spAutoFit/>
          </a:bodyPr>
          <a:lstStyle/>
          <a:p>
            <a:r>
              <a:rPr lang="en-US" dirty="0"/>
              <a:t>P2</a:t>
            </a:r>
          </a:p>
        </p:txBody>
      </p:sp>
      <p:sp>
        <p:nvSpPr>
          <p:cNvPr id="15" name="TextBox 14">
            <a:extLst>
              <a:ext uri="{FF2B5EF4-FFF2-40B4-BE49-F238E27FC236}">
                <a16:creationId xmlns:a16="http://schemas.microsoft.com/office/drawing/2014/main" id="{A9BFC71C-BC1E-42B6-AE55-31D3C534BCE2}"/>
              </a:ext>
            </a:extLst>
          </p:cNvPr>
          <p:cNvSpPr txBox="1"/>
          <p:nvPr/>
        </p:nvSpPr>
        <p:spPr>
          <a:xfrm>
            <a:off x="6208306" y="4762156"/>
            <a:ext cx="466794" cy="369332"/>
          </a:xfrm>
          <a:prstGeom prst="rect">
            <a:avLst/>
          </a:prstGeom>
          <a:noFill/>
        </p:spPr>
        <p:txBody>
          <a:bodyPr wrap="none" rtlCol="0">
            <a:spAutoFit/>
          </a:bodyPr>
          <a:lstStyle/>
          <a:p>
            <a:r>
              <a:rPr lang="en-US" dirty="0"/>
              <a:t>P3</a:t>
            </a:r>
          </a:p>
        </p:txBody>
      </p:sp>
      <p:cxnSp>
        <p:nvCxnSpPr>
          <p:cNvPr id="16" name="Straight Arrow Connector 15">
            <a:extLst>
              <a:ext uri="{FF2B5EF4-FFF2-40B4-BE49-F238E27FC236}">
                <a16:creationId xmlns:a16="http://schemas.microsoft.com/office/drawing/2014/main" id="{2209AC5B-D275-4EA0-911D-5839372376A2}"/>
              </a:ext>
            </a:extLst>
          </p:cNvPr>
          <p:cNvCxnSpPr/>
          <p:nvPr/>
        </p:nvCxnSpPr>
        <p:spPr>
          <a:xfrm>
            <a:off x="4033179" y="43626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3EC9591-D3FC-4093-AFE8-F8752A4AD1F4}"/>
              </a:ext>
            </a:extLst>
          </p:cNvPr>
          <p:cNvSpPr txBox="1"/>
          <p:nvPr/>
        </p:nvSpPr>
        <p:spPr>
          <a:xfrm>
            <a:off x="4005774" y="4020476"/>
            <a:ext cx="1605696" cy="369332"/>
          </a:xfrm>
          <a:prstGeom prst="rect">
            <a:avLst/>
          </a:prstGeom>
          <a:noFill/>
        </p:spPr>
        <p:txBody>
          <a:bodyPr wrap="none" rtlCol="0">
            <a:spAutoFit/>
          </a:bodyPr>
          <a:lstStyle/>
          <a:p>
            <a:r>
              <a:rPr lang="en-US" dirty="0" err="1"/>
              <a:t>MPI_AllReduce</a:t>
            </a:r>
            <a:endParaRPr lang="en-US" dirty="0"/>
          </a:p>
        </p:txBody>
      </p:sp>
    </p:spTree>
    <p:extLst>
      <p:ext uri="{BB962C8B-B14F-4D97-AF65-F5344CB8AC3E}">
        <p14:creationId xmlns:p14="http://schemas.microsoft.com/office/powerpoint/2010/main" val="8079034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46</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i="1" dirty="0"/>
              <a:t>Synchronous</a:t>
            </a:r>
            <a:r>
              <a:rPr lang="en-US" dirty="0"/>
              <a:t> parallel SGD is the most common approach for distributed learning, because it is well understood</a:t>
            </a:r>
            <a:r>
              <a:rPr lang="en-US"/>
              <a:t>. </a:t>
            </a:r>
          </a:p>
          <a:p>
            <a:pPr>
              <a:buFont typeface="Arial" panose="020B0604020202020204" pitchFamily="34" charset="0"/>
              <a:buChar char="•"/>
            </a:pPr>
            <a:r>
              <a:rPr lang="en-US"/>
              <a:t>Use </a:t>
            </a:r>
            <a:r>
              <a:rPr lang="en-US" dirty="0"/>
              <a:t>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48</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49</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50</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18789</TotalTime>
  <Words>3489</Words>
  <Application>Microsoft Macintosh PowerPoint</Application>
  <PresentationFormat>Widescreen</PresentationFormat>
  <Paragraphs>601</Paragraphs>
  <Slides>50</Slides>
  <Notes>7</Notes>
  <HiddenSlides>4</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50</vt:i4>
      </vt:variant>
    </vt:vector>
  </HeadingPairs>
  <TitlesOfParts>
    <vt:vector size="59" baseType="lpstr">
      <vt:lpstr>Arial</vt:lpstr>
      <vt:lpstr>Calibri</vt:lpstr>
      <vt:lpstr>Cambria Math</vt:lpstr>
      <vt:lpstr>Helvetica Neue</vt:lpstr>
      <vt:lpstr>Open Sans</vt:lpstr>
      <vt:lpstr>Oswald</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Model parallelism: Pipeline parallelism</vt:lpstr>
      <vt:lpstr>Model parallelism: Tensor parallelism</vt:lpstr>
      <vt:lpstr>Model parallelism: Sequence parallel</vt:lpstr>
      <vt:lpstr>Hybrid model/data parallelism</vt:lpstr>
      <vt:lpstr>3D Parallelism</vt:lpstr>
      <vt:lpstr>What type of parallelism is applicable?</vt:lpstr>
      <vt:lpstr>What type of parallelism is applicable?</vt:lpstr>
      <vt:lpstr>What type of parallelism is applicable?</vt:lpstr>
      <vt:lpstr>What type of parallelism is applicable?</vt:lpstr>
      <vt:lpstr>Parallelization tools/wrappers</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Relevance of MPI for distributed deep learning</vt:lpstr>
      <vt:lpstr>MPI / NCCL</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538</cp:revision>
  <cp:lastPrinted>2019-06-12T07:01:08Z</cp:lastPrinted>
  <dcterms:created xsi:type="dcterms:W3CDTF">2018-10-01T11:25:03Z</dcterms:created>
  <dcterms:modified xsi:type="dcterms:W3CDTF">2025-04-07T12:42:45Z</dcterms:modified>
  <cp:category/>
</cp:coreProperties>
</file>