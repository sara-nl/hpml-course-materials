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22" autoAdjust="0"/>
    <p:restoredTop sz="93152" autoAdjust="0"/>
  </p:normalViewPr>
  <p:slideViewPr>
    <p:cSldViewPr snapToGrid="0">
      <p:cViewPr varScale="1">
        <p:scale>
          <a:sx n="121" d="100"/>
          <a:sy n="121" d="100"/>
        </p:scale>
        <p:origin x="712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02-07-2025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02-07-2025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RF-ML/HPML-course-materials" TargetMode="Externa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upyter.snellius.surf.nl/jhssrf02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</a:t>
            </a:r>
            <a:r>
              <a:rPr lang="en-US"/>
              <a:t>High Performance </a:t>
            </a:r>
            <a:r>
              <a:rPr lang="en-US" dirty="0"/>
              <a:t>Deep Learning </a:t>
            </a:r>
            <a:r>
              <a:rPr lang="en-US"/>
              <a:t>–  July 3</a:t>
            </a:r>
            <a:r>
              <a:rPr lang="en-US" baseline="30000"/>
              <a:t>rd</a:t>
            </a:r>
            <a:r>
              <a:rPr lang="en-US"/>
              <a:t> </a:t>
            </a:r>
            <a:r>
              <a:rPr lang="en-US" dirty="0"/>
              <a:t>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GitHub: </a:t>
            </a:r>
            <a:r>
              <a:rPr lang="en-US" dirty="0">
                <a:hlinkClick r:id="rId3"/>
              </a:rPr>
              <a:t>https://github.com/SURF-ML/HPML-course-materials</a:t>
            </a:r>
            <a:r>
              <a:rPr lang="en-US" dirty="0"/>
              <a:t> </a:t>
            </a:r>
          </a:p>
          <a:p>
            <a:r>
              <a:rPr lang="en-US" dirty="0"/>
              <a:t>Trainers: Robert Jan </a:t>
            </a:r>
            <a:r>
              <a:rPr lang="en-US" dirty="0" err="1"/>
              <a:t>Schlimbach</a:t>
            </a:r>
            <a:r>
              <a:rPr lang="en-US" dirty="0"/>
              <a:t> &amp; Lars Veefkind</a:t>
            </a:r>
          </a:p>
          <a:p>
            <a:r>
              <a:rPr lang="en-US" dirty="0"/>
              <a:t>Machine Learning Advisor at SURF in HPML Team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dr. Erik Bekkers 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Bryan Cardenas Guevara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Day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 to Deep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Fully connected networks, Convolutional networks, Transformers</a:t>
            </a:r>
          </a:p>
          <a:p>
            <a:pPr marL="0" indent="0">
              <a:buNone/>
            </a:pPr>
            <a:r>
              <a:rPr lang="en-US" dirty="0"/>
              <a:t>Day 2: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Parallel computing for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Software installations on HPC systems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1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en-US" dirty="0"/>
              <a:t>13:00 – 13:10 Welcome and course overview  </a:t>
            </a:r>
          </a:p>
          <a:p>
            <a:r>
              <a:rPr lang="en-US" dirty="0"/>
              <a:t>13:10 – 14:00 Introduction to ML &amp; DL basic principles  </a:t>
            </a:r>
          </a:p>
          <a:p>
            <a:r>
              <a:rPr lang="en-US" dirty="0"/>
              <a:t>14:00 – 14:20 Introduction to </a:t>
            </a:r>
            <a:r>
              <a:rPr lang="en-US" dirty="0" err="1"/>
              <a:t>PyTorch</a:t>
            </a:r>
            <a:r>
              <a:rPr lang="en-US" dirty="0"/>
              <a:t> (notebook)  </a:t>
            </a:r>
          </a:p>
          <a:p>
            <a:r>
              <a:rPr lang="en-US" dirty="0"/>
              <a:t>14:20 – 14:30 Coffee break </a:t>
            </a:r>
          </a:p>
          <a:p>
            <a:r>
              <a:rPr lang="en-US" dirty="0"/>
              <a:t>14:30 – 15:10 Hands-on: Fully connected network  </a:t>
            </a:r>
          </a:p>
          <a:p>
            <a:r>
              <a:rPr lang="en-US" dirty="0"/>
              <a:t>15:10 – 15:30 Recap Hands-on </a:t>
            </a:r>
          </a:p>
          <a:p>
            <a:r>
              <a:rPr lang="en-US" dirty="0"/>
              <a:t>15:30 – 16:30 Convolutional neural networks  </a:t>
            </a:r>
          </a:p>
          <a:p>
            <a:r>
              <a:rPr lang="en-US" dirty="0"/>
              <a:t>Bonus Hands-on: Convolutional neural networks  </a:t>
            </a:r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</a:t>
            </a:r>
          </a:p>
          <a:p>
            <a:r>
              <a:rPr lang="nl-NL" sz="1600" dirty="0"/>
              <a:t>10:45 – 11:55	Coffee break</a:t>
            </a:r>
          </a:p>
          <a:p>
            <a:r>
              <a:rPr lang="nl-NL" sz="1600" dirty="0"/>
              <a:t>10:55 – 11:10	</a:t>
            </a:r>
            <a:r>
              <a:rPr lang="en-US" sz="1600" dirty="0"/>
              <a:t>Packed file formats </a:t>
            </a:r>
          </a:p>
          <a:p>
            <a:r>
              <a:rPr lang="nl-NL" sz="1600" dirty="0"/>
              <a:t>11:10 – 11:30	Hands-on: </a:t>
            </a:r>
            <a:r>
              <a:rPr lang="en-US" sz="1600" dirty="0"/>
              <a:t>Packed file formats</a:t>
            </a:r>
          </a:p>
          <a:p>
            <a:r>
              <a:rPr lang="en-US" sz="1600" dirty="0"/>
              <a:t>11:30 – 12:30 	Keynote: Vlado </a:t>
            </a:r>
            <a:r>
              <a:rPr lang="en-US" sz="1600" dirty="0" err="1"/>
              <a:t>Menkovski</a:t>
            </a:r>
            <a:endParaRPr lang="nl-NL" sz="1600" dirty="0"/>
          </a:p>
          <a:p>
            <a:r>
              <a:rPr lang="nl-NL" sz="1600" dirty="0"/>
              <a:t>12:30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Hardware and software features to accelerate deep learning 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Parallel Computing for Deep Learning </a:t>
            </a:r>
            <a:endParaRPr lang="nl-NL" sz="1600" dirty="0"/>
          </a:p>
          <a:p>
            <a:r>
              <a:rPr lang="nl-NL" sz="1600" dirty="0"/>
              <a:t>15:45 – 16:45	Profiling to understand your neural </a:t>
            </a:r>
            <a:r>
              <a:rPr lang="nl-NL" sz="1600" dirty="0" err="1"/>
              <a:t>network’s</a:t>
            </a:r>
            <a:r>
              <a:rPr lang="nl-NL" sz="1600" dirty="0"/>
              <a:t> performance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Access to the Dutch National Supercomputer (</a:t>
            </a:r>
            <a:r>
              <a:rPr lang="en-US" dirty="0" err="1"/>
              <a:t>Snellius</a:t>
            </a:r>
            <a:r>
              <a:rPr lang="en-US" dirty="0"/>
              <a:t>) for this course</a:t>
            </a:r>
          </a:p>
          <a:p>
            <a:r>
              <a:rPr lang="en-US" dirty="0" err="1"/>
              <a:t>Snellius</a:t>
            </a:r>
            <a:r>
              <a:rPr lang="en-US" dirty="0"/>
              <a:t> Supercomputer (CPU-based </a:t>
            </a:r>
            <a:r>
              <a:rPr lang="en-US" dirty="0" err="1"/>
              <a:t>Jupyter</a:t>
            </a:r>
            <a:r>
              <a:rPr lang="en-US" dirty="0"/>
              <a:t> Notebook environment, CPU batch jobs)</a:t>
            </a:r>
          </a:p>
          <a:p>
            <a:pPr marL="569913" lvl="1"/>
            <a:r>
              <a:rPr lang="en-US" dirty="0"/>
              <a:t>Did you get a login ‘</a:t>
            </a:r>
            <a:r>
              <a:rPr lang="en-US" dirty="0" err="1"/>
              <a:t>scurXXX</a:t>
            </a:r>
            <a:r>
              <a:rPr lang="en-US" dirty="0"/>
              <a:t>’?</a:t>
            </a:r>
          </a:p>
          <a:p>
            <a:pPr marL="569913" lvl="1"/>
            <a:r>
              <a:rPr lang="en-US" dirty="0"/>
              <a:t>The e-mail contains a link to choose a password – please do so</a:t>
            </a:r>
          </a:p>
          <a:p>
            <a:pPr marL="569913" lvl="1"/>
            <a:r>
              <a:rPr lang="en-US" dirty="0"/>
              <a:t>Log in to </a:t>
            </a:r>
            <a:r>
              <a:rPr lang="en-US" dirty="0">
                <a:hlinkClick r:id="rId3"/>
              </a:rPr>
              <a:t>https://portal.cua.surf.nl/</a:t>
            </a:r>
            <a:r>
              <a:rPr lang="en-US" dirty="0"/>
              <a:t> and accept the End User Agreement</a:t>
            </a:r>
          </a:p>
          <a:p>
            <a:pPr marL="569913" lvl="1"/>
            <a:r>
              <a:rPr lang="en-US" dirty="0"/>
              <a:t>Try to login at </a:t>
            </a:r>
            <a:r>
              <a:rPr lang="en-US" dirty="0">
                <a:hlinkClick r:id="rId4"/>
              </a:rPr>
              <a:t>https://jupyter.snellius.surf.nl/jhssrf023</a:t>
            </a:r>
            <a:endParaRPr lang="en-US" dirty="0"/>
          </a:p>
          <a:p>
            <a:pPr marL="569913" lvl="1"/>
            <a:r>
              <a:rPr lang="en-US" dirty="0"/>
              <a:t>Select the ‘course hours’ profile, and click ‘spawn’</a:t>
            </a:r>
          </a:p>
          <a:p>
            <a:endParaRPr lang="en-US" dirty="0"/>
          </a:p>
          <a:p>
            <a:r>
              <a:rPr lang="en-US" dirty="0"/>
              <a:t>If you did not receive a login, or starting a notebook server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25889</TotalTime>
  <Words>533</Words>
  <Application>Microsoft Macintosh PowerPoint</Application>
  <PresentationFormat>Widescreen</PresentationFormat>
  <Paragraphs>83</Paragraphs>
  <Slides>8</Slides>
  <Notes>4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Intro High Performance Deep Learning –  July 3rd 2025</vt:lpstr>
      <vt:lpstr>Credit where credit is due</vt:lpstr>
      <vt:lpstr>About EuroCC &amp; EuroHPC JU</vt:lpstr>
      <vt:lpstr>About SURF</vt:lpstr>
      <vt:lpstr>Course plan</vt:lpstr>
      <vt:lpstr>Course plan Day 1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547</cp:revision>
  <cp:lastPrinted>2019-06-12T07:01:08Z</cp:lastPrinted>
  <dcterms:created xsi:type="dcterms:W3CDTF">2018-10-01T11:25:03Z</dcterms:created>
  <dcterms:modified xsi:type="dcterms:W3CDTF">2025-07-07T09:36:39Z</dcterms:modified>
  <cp:category/>
</cp:coreProperties>
</file>